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73" r:id="rId2"/>
    <p:sldId id="274" r:id="rId3"/>
    <p:sldId id="278" r:id="rId4"/>
    <p:sldId id="279" r:id="rId5"/>
    <p:sldId id="277" r:id="rId6"/>
    <p:sldId id="280" r:id="rId7"/>
    <p:sldId id="285" r:id="rId8"/>
    <p:sldId id="287" r:id="rId9"/>
    <p:sldId id="288" r:id="rId10"/>
    <p:sldId id="284" r:id="rId1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8" d="100"/>
          <a:sy n="78" d="100"/>
        </p:scale>
        <p:origin x="306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61441-2315-4560-9961-8BBBC4E09A42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D98DC1-A0BA-48E3-AE8A-AAF2B2D86E70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2869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42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014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118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00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7801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7615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7669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1159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91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5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29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B5BC2055-E945-4C59-BD52-301338CB33DE}" type="datetimeFigureOut">
              <a:rPr lang="es-CO" smtClean="0"/>
              <a:pPr/>
              <a:t>9/10/2025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86461F03-1CF7-4647-B508-E05092C4E645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103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Calibri" panose="020F0502020204030204" pitchFamily="34" charset="0"/>
              </a:rPr>
              <a:t>Effective Presentations EAL4650</a:t>
            </a:r>
            <a:br>
              <a:rPr lang="en-GB" sz="2400" dirty="0">
                <a:latin typeface="Calibri" panose="020F0502020204030204" pitchFamily="34" charset="0"/>
              </a:rPr>
            </a:br>
            <a:r>
              <a:rPr lang="en-GB" sz="2400" dirty="0">
                <a:latin typeface="Calibri" panose="020F0502020204030204" pitchFamily="34" charset="0"/>
              </a:rPr>
              <a:t>Matt Potter </a:t>
            </a:r>
            <a:br>
              <a:rPr lang="en-GB" dirty="0">
                <a:latin typeface="Calibri" panose="020F0502020204030204" pitchFamily="34" charset="0"/>
              </a:rPr>
            </a:br>
            <a:endParaRPr lang="es-CO" sz="2800" b="1" dirty="0"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438316" y="3376333"/>
            <a:ext cx="57246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b="1" dirty="0"/>
              <a:t>	</a:t>
            </a:r>
            <a:endParaRPr lang="es-CO" sz="3600" dirty="0">
              <a:latin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55576" y="1628800"/>
            <a:ext cx="64491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Calibri" panose="020F0502020204030204" pitchFamily="34" charset="0"/>
              </a:rPr>
              <a:t>Producing Effective Visual Supporting Aids</a:t>
            </a:r>
            <a:r>
              <a:rPr lang="en-GB" sz="3600" b="1" dirty="0">
                <a:latin typeface="Calibri" panose="020F0502020204030204" pitchFamily="34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422250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84D8-4E78-769A-66B4-86D7B89E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Outcomes</a:t>
            </a:r>
            <a:br>
              <a:rPr lang="en-US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F6-213A-6738-7C3F-0D32510A9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353" y="1988840"/>
            <a:ext cx="7290055" cy="4455368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By the end of the class, you be able to: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Design slides that support complex academic arguments while maintaining clarity.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Evaluate the rhetorical function of visual aids (do they </a:t>
            </a:r>
            <a:r>
              <a:rPr lang="en-US" sz="2400" i="1" dirty="0"/>
              <a:t>illustrate, persuade, or simplify</a:t>
            </a:r>
            <a:r>
              <a:rPr lang="en-US" sz="2400" dirty="0"/>
              <a:t>?).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Present visual evidence orally with precision, using academic signal language and appropriate register.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Cite and </a:t>
            </a:r>
            <a:r>
              <a:rPr lang="en-US" sz="2400" dirty="0" err="1"/>
              <a:t>contextualise</a:t>
            </a:r>
            <a:r>
              <a:rPr lang="en-US" sz="2400" dirty="0"/>
              <a:t> visual data to demonstrate scholarly integrity.</a:t>
            </a:r>
          </a:p>
          <a:p>
            <a:pPr>
              <a:buFont typeface="+mj-lt"/>
              <a:buAutoNum type="arabicPeriod"/>
            </a:pPr>
            <a:r>
              <a:rPr lang="en-US" sz="2400" dirty="0" err="1"/>
              <a:t>Practise</a:t>
            </a:r>
            <a:r>
              <a:rPr lang="en-US" sz="2400" dirty="0"/>
              <a:t> turning dense information into accessible, professional visuals.</a:t>
            </a:r>
          </a:p>
          <a:p>
            <a:pPr>
              <a:buFont typeface="+mj-lt"/>
              <a:buAutoNum type="arabicPeriod"/>
            </a:pPr>
            <a:endParaRPr lang="en-US" sz="24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2144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BBE9C-C23A-F272-37A9-E2BD5089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404664"/>
            <a:ext cx="7290054" cy="46752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major problems in Sub-Saharan African development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7764C-05E0-0E17-036E-BE48ED052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196752"/>
            <a:ext cx="8196392" cy="5661248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Sub-Saharan Africa continues to face widespread poverty, with a significant proportion of the population living below the international poverty line of $2.15 per day (Mahler et al. (2021b).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Political instability and weak governance undermine sustainable development, often discouraging foreign investment and eroding public trust in institutions.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Many countries in the region experience persistent challenges in healthcare provision, including high maternal and child mortality rates and limited access to essential medicines.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Educational systems frequently suffer from underfunding, inadequate infrastructure, and teacher shortages, limiting opportunities for human capital development.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Rapid population growth places immense pressure on already strained resources such as food, water, and housing.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Climate change disproportionately affects Sub-Saharan Africa, leading to increased droughts, floods, and food insecurity across vulnerable communities.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Infrastructure deficits, particularly in energy, transport, and digital connectivity, constrain economic diversification and integration into global markets.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Corruption and mismanagement of natural resource revenues reduce the potential benefits of resource wealth and perpetuate inequality.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Armed conflict, terrorism, and intercommunal violence disrupt social cohesion, displace populations, and divert resources away from development priorities.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region faces structural dependency on commodity exports, making economies vulnerable to external shocks and limiting </a:t>
            </a:r>
            <a:r>
              <a:rPr lang="en-US" dirty="0" err="1"/>
              <a:t>industrialisation</a:t>
            </a:r>
            <a:r>
              <a:rPr lang="en-US" dirty="0"/>
              <a:t> prospects.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767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59C7-1895-872F-E2A7-332A649BA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971576"/>
          </a:xfrm>
        </p:spPr>
        <p:txBody>
          <a:bodyPr>
            <a:normAutofit fontScale="90000"/>
          </a:bodyPr>
          <a:lstStyle/>
          <a:p>
            <a:r>
              <a:rPr lang="en-US" dirty="0"/>
              <a:t>Development Challenges in Sub-Saharan Africa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99964-0FCF-F9BD-9E44-D58CE9063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058" y="1338808"/>
            <a:ext cx="2880320" cy="2808312"/>
          </a:xfrm>
        </p:spPr>
        <p:txBody>
          <a:bodyPr>
            <a:normAutofit/>
          </a:bodyPr>
          <a:lstStyle/>
          <a:p>
            <a:pPr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dirty="0"/>
              <a:t>High rural poverty &amp; inequality</a:t>
            </a:r>
          </a:p>
          <a:p>
            <a:pPr marL="0" indent="0">
              <a:buNone/>
            </a:pPr>
            <a:r>
              <a:rPr lang="en-US" dirty="0"/>
              <a:t>Limited infrastructure investment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1DFA34-DCF3-8B34-64C6-63B871D302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12" t="27555" r="27163" b="15745"/>
          <a:stretch>
            <a:fillRect/>
          </a:stretch>
        </p:blipFill>
        <p:spPr>
          <a:xfrm>
            <a:off x="3302814" y="1340768"/>
            <a:ext cx="5589666" cy="49685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AE92A3-AB4A-4C50-222F-5C4C4EB6FEEC}"/>
              </a:ext>
            </a:extLst>
          </p:cNvPr>
          <p:cNvSpPr txBox="1"/>
          <p:nvPr/>
        </p:nvSpPr>
        <p:spPr>
          <a:xfrm>
            <a:off x="3635896" y="6272784"/>
            <a:ext cx="5474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1. Map of Extreme Poverty Changes in 2020 Due to COVID-19. Source: Mahler et al. (2021b). </a:t>
            </a:r>
          </a:p>
        </p:txBody>
      </p:sp>
    </p:spTree>
    <p:extLst>
      <p:ext uri="{BB962C8B-B14F-4D97-AF65-F5344CB8AC3E}">
        <p14:creationId xmlns:p14="http://schemas.microsoft.com/office/powerpoint/2010/main" val="934310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ACE6-C19F-3196-8F09-A5AB83ED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18" y="1412776"/>
            <a:ext cx="7290054" cy="17948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+mn-lt"/>
              </a:rPr>
              <a:t>Oral Delivery with Visuals – Academic Register</a:t>
            </a:r>
            <a:br>
              <a:rPr lang="en-US" b="1" dirty="0"/>
            </a:b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438C9-6507-BF48-D1CC-8DC79A865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576" y="1592264"/>
            <a:ext cx="8136904" cy="514910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Slides = visual cues; speaker = interpretation.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Avoid simply </a:t>
            </a:r>
            <a:r>
              <a:rPr lang="en-US" sz="2400" i="1" dirty="0"/>
              <a:t>reading slides aloud</a:t>
            </a:r>
            <a:r>
              <a:rPr lang="en-US" sz="2400" dirty="0"/>
              <a:t> — audiences expect </a:t>
            </a:r>
            <a:r>
              <a:rPr lang="en-US" sz="2400" i="1" dirty="0"/>
              <a:t>added value</a:t>
            </a:r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Balance spoken clarity with </a:t>
            </a:r>
            <a:r>
              <a:rPr lang="en-US" sz="2400" i="1" dirty="0"/>
              <a:t>academic register</a:t>
            </a:r>
            <a:r>
              <a:rPr lang="en-US" sz="24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Informal: </a:t>
            </a:r>
            <a:r>
              <a:rPr lang="en-US" sz="2400" i="1" dirty="0">
                <a:solidFill>
                  <a:srgbClr val="FF0000"/>
                </a:solidFill>
              </a:rPr>
              <a:t>“This chart </a:t>
            </a:r>
            <a:r>
              <a:rPr lang="en-US" sz="2400" i="1" dirty="0" err="1">
                <a:solidFill>
                  <a:srgbClr val="FF0000"/>
                </a:solidFill>
              </a:rPr>
              <a:t>kinda</a:t>
            </a:r>
            <a:r>
              <a:rPr lang="en-US" sz="2400" i="1" dirty="0">
                <a:solidFill>
                  <a:srgbClr val="FF0000"/>
                </a:solidFill>
              </a:rPr>
              <a:t> shows…”</a:t>
            </a:r>
            <a:endParaRPr lang="en-US" sz="24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Academic: </a:t>
            </a:r>
            <a:r>
              <a:rPr lang="en-US" sz="2400" i="1" dirty="0">
                <a:solidFill>
                  <a:srgbClr val="FF0000"/>
                </a:solidFill>
              </a:rPr>
              <a:t>“This chart illustrates the regional variation in…”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/>
              <a:t>Maintain academic tone: avoid slang, fillers (“like,” “you know”).</a:t>
            </a:r>
          </a:p>
          <a:p>
            <a:r>
              <a:rPr lang="en-US" sz="2400" b="1" dirty="0"/>
              <a:t>Weak: </a:t>
            </a:r>
            <a:r>
              <a:rPr lang="en-US" sz="2400" dirty="0"/>
              <a:t>“So yeah, this line goes up here.”</a:t>
            </a:r>
          </a:p>
          <a:p>
            <a:r>
              <a:rPr lang="en-US" sz="2400" b="1" dirty="0"/>
              <a:t>Intermediate: </a:t>
            </a:r>
            <a:r>
              <a:rPr lang="en-US" sz="2400" dirty="0"/>
              <a:t>“The line shows a rise between 2000 and 2010.”</a:t>
            </a:r>
          </a:p>
          <a:p>
            <a:r>
              <a:rPr lang="en-US" sz="2400" b="1" dirty="0"/>
              <a:t>Strong: </a:t>
            </a:r>
            <a:r>
              <a:rPr lang="en-US" sz="2400" dirty="0"/>
              <a:t>“This upward trajectory between 2000 and 2010 illustrates the acceleration of trade flows following China’s WTO accession, highlighting the intersection of institutional reform and global market integration.”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9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5C7FB-BB13-C625-CACB-28CBC17FA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0C0A-219B-D34D-1399-6C0044837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343" y="1592264"/>
            <a:ext cx="7290054" cy="179488"/>
          </a:xfrm>
        </p:spPr>
        <p:txBody>
          <a:bodyPr>
            <a:normAutofit fontScale="90000"/>
          </a:bodyPr>
          <a:lstStyle/>
          <a:p>
            <a:r>
              <a:rPr lang="en-US" b="1" cap="none" spc="0" dirty="0">
                <a:solidFill>
                  <a:srgbClr val="2E2B21"/>
                </a:solidFill>
                <a:latin typeface="Tw Cen MT" panose="020B0602020104020603"/>
                <a:ea typeface="+mn-ea"/>
                <a:cs typeface="+mn-cs"/>
              </a:rPr>
              <a:t>Signal language for presenting visuals</a:t>
            </a:r>
            <a:r>
              <a:rPr lang="en-US" cap="none" spc="0" dirty="0">
                <a:solidFill>
                  <a:srgbClr val="2E2B21"/>
                </a:solidFill>
                <a:latin typeface="Tw Cen MT" panose="020B0602020104020603"/>
                <a:ea typeface="+mn-ea"/>
                <a:cs typeface="+mn-cs"/>
              </a:rPr>
              <a:t>:</a:t>
            </a:r>
            <a:br>
              <a:rPr lang="en-US" cap="none" spc="0" dirty="0">
                <a:solidFill>
                  <a:srgbClr val="2E2B21"/>
                </a:solidFill>
                <a:latin typeface="Tw Cen MT" panose="020B0602020104020603"/>
                <a:ea typeface="+mn-ea"/>
                <a:cs typeface="+mn-cs"/>
              </a:rPr>
            </a:br>
            <a:br>
              <a:rPr lang="en-US" b="1" dirty="0"/>
            </a:br>
            <a:br>
              <a:rPr lang="en-US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F7626-1F6D-CA71-43EC-68720D748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592264"/>
            <a:ext cx="8124384" cy="5265736"/>
          </a:xfrm>
        </p:spPr>
        <p:txBody>
          <a:bodyPr>
            <a:normAutofit lnSpcReduction="10000"/>
          </a:bodyPr>
          <a:lstStyle/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Basic signal language:</a:t>
            </a: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“This slide illustrates…”</a:t>
            </a: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“As you can see from the diagram…”</a:t>
            </a: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“What this data suggests is…”</a:t>
            </a: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“In contrast to the previous chart…”</a:t>
            </a: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sz="2200" b="1" dirty="0">
                <a:solidFill>
                  <a:srgbClr val="2E2B21"/>
                </a:solidFill>
                <a:latin typeface="Tw Cen MT" panose="020B0602020104020603"/>
              </a:rPr>
              <a:t>Advanced Functional Signal Language</a:t>
            </a: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Introducing: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“Turning to this figure, we can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observe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…”</a:t>
            </a:r>
            <a:endParaRPr lang="en-US" sz="2200" dirty="0">
              <a:solidFill>
                <a:srgbClr val="2E2B21"/>
              </a:solidFill>
              <a:latin typeface="Tw Cen MT" panose="020B0602020104020603"/>
            </a:endParaRP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Highlighting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“The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most striking trend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here is the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sharp decline in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…”</a:t>
            </a:r>
            <a:endParaRPr lang="en-US" sz="2200" dirty="0">
              <a:solidFill>
                <a:srgbClr val="2E2B21"/>
              </a:solidFill>
              <a:latin typeface="Tw Cen MT" panose="020B0602020104020603"/>
            </a:endParaRP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Interpreting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“This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suggests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that economic </a:t>
            </a:r>
            <a:r>
              <a:rPr kumimoji="0" lang="en-US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liberalisation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had a measurable effect.”</a:t>
            </a:r>
            <a:endParaRPr lang="en-US" sz="2200" dirty="0">
              <a:solidFill>
                <a:srgbClr val="2E2B21"/>
              </a:solidFill>
              <a:latin typeface="Tw Cen MT" panose="020B0602020104020603"/>
            </a:endParaRP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Linking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: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“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Compared to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the previous slide, this data 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reinforces the argument that</a:t>
            </a: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…”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2E2B2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8290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E24E2-1558-450D-E8C5-BF9BF608D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560" y="428666"/>
            <a:ext cx="2160240" cy="6768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200" i="1" dirty="0"/>
              <a:t>“I will structure my talk around three key themes: first…, second…, and finally…”</a:t>
            </a:r>
          </a:p>
          <a:p>
            <a:pPr marL="0" indent="0">
              <a:buNone/>
            </a:pPr>
            <a:r>
              <a:rPr lang="en-GB" sz="2200" i="1" dirty="0"/>
              <a:t>Recent research by Chen and Patel (2021) supports the argument that…”</a:t>
            </a:r>
            <a:endParaRPr lang="en-GB" sz="2200" dirty="0"/>
          </a:p>
          <a:p>
            <a:pPr marL="0" indent="0">
              <a:buNone/>
            </a:pPr>
            <a:r>
              <a:rPr lang="en-GB" sz="2200" i="1" dirty="0"/>
              <a:t>“Imagine a situation where…”</a:t>
            </a:r>
            <a:endParaRPr lang="en-GB" sz="2200" dirty="0"/>
          </a:p>
          <a:p>
            <a:pPr marL="0" indent="0">
              <a:buNone/>
            </a:pPr>
            <a:r>
              <a:rPr lang="en-GB" sz="2200" i="1" dirty="0"/>
              <a:t>“This map highlights the areas most affected by…”</a:t>
            </a:r>
            <a:endParaRPr lang="en-GB" sz="2200" dirty="0"/>
          </a:p>
          <a:p>
            <a:pPr marL="0" indent="0">
              <a:buNone/>
            </a:pPr>
            <a:r>
              <a:rPr lang="en-GB" sz="2200" i="1" dirty="0"/>
              <a:t>“Notice how the data spikes at this point, indicating…”</a:t>
            </a:r>
            <a:endParaRPr lang="en-GB" sz="2200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79C34-32DD-57B2-B104-B8552F28C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87824" y="450672"/>
            <a:ext cx="2304256" cy="6811664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“This visual demonstrates the relationship between A and B.”</a:t>
            </a:r>
          </a:p>
          <a:p>
            <a:r>
              <a:rPr lang="en-GB" sz="2200" i="1" dirty="0"/>
              <a:t> “While A suggests one conclusion, B seems to indicate…”</a:t>
            </a:r>
            <a:endParaRPr lang="en-US" sz="2200" dirty="0"/>
          </a:p>
          <a:p>
            <a:r>
              <a:rPr lang="en-US" sz="2200" dirty="0"/>
              <a:t>“Now let’s turn to another aspect of the problem…”</a:t>
            </a:r>
          </a:p>
          <a:p>
            <a:r>
              <a:rPr lang="en-US" sz="2200" dirty="0"/>
              <a:t>“This is a particularly significant finding because…”</a:t>
            </a:r>
          </a:p>
          <a:p>
            <a:r>
              <a:rPr lang="en-GB" sz="2200" i="1" dirty="0"/>
              <a:t>“The evidence suggests that…”</a:t>
            </a:r>
            <a:endParaRPr lang="en-GB" sz="2200" dirty="0"/>
          </a:p>
          <a:p>
            <a:br>
              <a:rPr lang="en-US" dirty="0"/>
            </a:br>
            <a:endParaRPr lang="en-US" dirty="0"/>
          </a:p>
          <a:p>
            <a:endParaRPr lang="en-GB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C55CFDF-8768-8D5E-FB24-5CF3E3282842}"/>
              </a:ext>
            </a:extLst>
          </p:cNvPr>
          <p:cNvSpPr txBox="1">
            <a:spLocks/>
          </p:cNvSpPr>
          <p:nvPr/>
        </p:nvSpPr>
        <p:spPr>
          <a:xfrm>
            <a:off x="5004048" y="1844824"/>
            <a:ext cx="2016224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57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6E0EA-E143-D47B-93E2-A05A2E608B12}"/>
              </a:ext>
            </a:extLst>
          </p:cNvPr>
          <p:cNvSpPr txBox="1"/>
          <p:nvPr/>
        </p:nvSpPr>
        <p:spPr>
          <a:xfrm>
            <a:off x="6012160" y="305068"/>
            <a:ext cx="259228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Introducing Your Presentation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Referring to Visuals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Describing Graphic 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Transitioning Between Slides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 err="1"/>
              <a:t>Emphasising</a:t>
            </a:r>
            <a:r>
              <a:rPr lang="en-US" sz="2000" b="1" dirty="0"/>
              <a:t> Key Points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Comparing and Contrasting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Integrating Sources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Explaining Diagrams / Processes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Engaging the Audience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2000" b="1" dirty="0"/>
              <a:t>Summarising and Concluding</a:t>
            </a:r>
          </a:p>
        </p:txBody>
      </p:sp>
    </p:spTree>
    <p:extLst>
      <p:ext uri="{BB962C8B-B14F-4D97-AF65-F5344CB8AC3E}">
        <p14:creationId xmlns:p14="http://schemas.microsoft.com/office/powerpoint/2010/main" val="3228218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DBC11-1DB6-B2F2-0CF6-6F14A65EB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latin typeface="+mn-lt"/>
              </a:rPr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580E-69CA-7595-A5B7-3BDAE3A00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700808"/>
            <a:ext cx="7908360" cy="4608552"/>
          </a:xfrm>
        </p:spPr>
        <p:txBody>
          <a:bodyPr>
            <a:normAutofit fontScale="85000" lnSpcReduction="10000"/>
          </a:bodyPr>
          <a:lstStyle/>
          <a:p>
            <a:r>
              <a:rPr lang="en-GB" sz="2800" dirty="0"/>
              <a:t>Choose a graphic relevant to the chosen topic of your presentation. </a:t>
            </a:r>
          </a:p>
          <a:p>
            <a:r>
              <a:rPr lang="en-GB" sz="2800" dirty="0"/>
              <a:t>Design </a:t>
            </a:r>
            <a:r>
              <a:rPr lang="en-GB" sz="2800" b="1" dirty="0"/>
              <a:t>two</a:t>
            </a:r>
            <a:r>
              <a:rPr lang="en-GB" sz="2800" dirty="0"/>
              <a:t> slides: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 b="1" dirty="0"/>
              <a:t>Background and context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800" b="1" dirty="0"/>
              <a:t>The relevant graphic (table, map, chart, diagram, etc.) with accompanying bullet points and oral commentary</a:t>
            </a:r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r>
              <a:rPr lang="en-GB" sz="2800" dirty="0">
                <a:solidFill>
                  <a:srgbClr val="2E2B21"/>
                </a:solidFill>
                <a:latin typeface="Tw Cen MT" panose="020B0602020104020603"/>
              </a:rPr>
              <a:t>P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2E2B21"/>
                </a:solidFill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resent to the group using appropriate signal language.</a:t>
            </a:r>
          </a:p>
          <a:p>
            <a:pPr>
              <a:buNone/>
            </a:pPr>
            <a:r>
              <a:rPr lang="en-US" sz="2400" b="1" dirty="0"/>
              <a:t>Feedback rubric</a:t>
            </a:r>
            <a:r>
              <a:rPr lang="en-US" sz="2400" dirty="0"/>
              <a:t> </a:t>
            </a:r>
          </a:p>
          <a:p>
            <a:r>
              <a:rPr lang="en-US" sz="2400" i="1" dirty="0"/>
              <a:t>Slide readability (Poor–Good–Excellent)</a:t>
            </a:r>
            <a:endParaRPr lang="en-US" sz="2400" dirty="0"/>
          </a:p>
          <a:p>
            <a:r>
              <a:rPr lang="en-US" sz="2400" i="1" dirty="0"/>
              <a:t>Use of academic language (Informal–Appropriate–Sophisticated)</a:t>
            </a:r>
            <a:endParaRPr lang="en-US" sz="2400" dirty="0"/>
          </a:p>
          <a:p>
            <a:r>
              <a:rPr lang="en-US" sz="2400" i="1" dirty="0"/>
              <a:t>Oral delivery (Unclear–Clear–Engaging)</a:t>
            </a:r>
            <a:endParaRPr lang="en-US" sz="2400" dirty="0"/>
          </a:p>
          <a:p>
            <a:pPr marL="91440" marR="0" lvl="0" indent="-9144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9CBEBD"/>
              </a:buClr>
              <a:buSzPct val="100000"/>
              <a:buFont typeface="Tw Cen MT" panose="020B0602020104020603" pitchFamily="34" charset="0"/>
              <a:buChar char=" 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2E2B21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08568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15E1-641C-FE58-C4CA-0040C364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See QM+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FE416-EAEA-2070-5368-0B2E485CC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1BE75-25C9-C973-9A83-000897ED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89" t="22831" r="39763" b="25194"/>
          <a:stretch>
            <a:fillRect/>
          </a:stretch>
        </p:blipFill>
        <p:spPr>
          <a:xfrm>
            <a:off x="1115616" y="2286000"/>
            <a:ext cx="5904656" cy="382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75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D089E-C944-2BBC-24EB-9585F792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Conclusion: Key Takeaways</a:t>
            </a:r>
            <a:br>
              <a:rPr lang="en-US" sz="3200" b="1" dirty="0">
                <a:latin typeface="+mn-lt"/>
              </a:rPr>
            </a:br>
            <a:endParaRPr lang="en-GB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1195-218D-4596-17FF-F9013E1E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Slides should </a:t>
            </a:r>
            <a:r>
              <a:rPr lang="en-US" i="1" dirty="0"/>
              <a:t>clarify and amplify</a:t>
            </a:r>
            <a:r>
              <a:rPr lang="en-US" dirty="0"/>
              <a:t> the spoken message, not duplicate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Effective visual aids balance simplicity with sophistication.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Academic register in oral delivery enhances credibility.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Visual data, when interpreted critically and cited properly, strengthens arguments.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744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862</Words>
  <Application>Microsoft Office PowerPoint</Application>
  <PresentationFormat>On-screen Show (4:3)</PresentationFormat>
  <Paragraphs>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Tw Cen MT</vt:lpstr>
      <vt:lpstr>Tw Cen MT Condensed</vt:lpstr>
      <vt:lpstr>Wingdings 3</vt:lpstr>
      <vt:lpstr>Integral</vt:lpstr>
      <vt:lpstr>Effective Presentations EAL4650 Matt Potter  </vt:lpstr>
      <vt:lpstr>Learning Outcomes </vt:lpstr>
      <vt:lpstr>major problems in Sub-Saharan African development.</vt:lpstr>
      <vt:lpstr>Development Challenges in Sub-Saharan Africa</vt:lpstr>
      <vt:lpstr>Oral Delivery with Visuals – Academic Register  </vt:lpstr>
      <vt:lpstr>Signal language for presenting visuals:   </vt:lpstr>
      <vt:lpstr>PowerPoint Presentation</vt:lpstr>
      <vt:lpstr>Task</vt:lpstr>
      <vt:lpstr>See QM+ </vt:lpstr>
      <vt:lpstr>Conclusion: Key Takeaways </vt:lpstr>
    </vt:vector>
  </TitlesOfParts>
  <Company>Windows XP Titan Ultimate Edition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Use of Visual Material</dc:title>
  <dc:creator>Matt</dc:creator>
  <cp:lastModifiedBy>Martha Vanin</cp:lastModifiedBy>
  <cp:revision>25</cp:revision>
  <dcterms:created xsi:type="dcterms:W3CDTF">2017-04-06T19:09:57Z</dcterms:created>
  <dcterms:modified xsi:type="dcterms:W3CDTF">2025-10-09T15:27:11Z</dcterms:modified>
</cp:coreProperties>
</file>