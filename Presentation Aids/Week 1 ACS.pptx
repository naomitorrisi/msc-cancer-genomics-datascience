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6"/>
  </p:notesMasterIdLst>
  <p:handoutMasterIdLst>
    <p:handoutMasterId r:id="rId17"/>
  </p:handoutMasterIdLst>
  <p:sldIdLst>
    <p:sldId id="394" r:id="rId2"/>
    <p:sldId id="395" r:id="rId3"/>
    <p:sldId id="345" r:id="rId4"/>
    <p:sldId id="355" r:id="rId5"/>
    <p:sldId id="359" r:id="rId6"/>
    <p:sldId id="372" r:id="rId7"/>
    <p:sldId id="397" r:id="rId8"/>
    <p:sldId id="401" r:id="rId9"/>
    <p:sldId id="400" r:id="rId10"/>
    <p:sldId id="357" r:id="rId11"/>
    <p:sldId id="402" r:id="rId12"/>
    <p:sldId id="403" r:id="rId13"/>
    <p:sldId id="391" r:id="rId14"/>
    <p:sldId id="396" r:id="rId15"/>
  </p:sldIdLst>
  <p:sldSz cx="12192000" cy="6858000"/>
  <p:notesSz cx="6794500" cy="99314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6433" autoAdjust="0"/>
  </p:normalViewPr>
  <p:slideViewPr>
    <p:cSldViewPr snapToGrid="0">
      <p:cViewPr varScale="1">
        <p:scale>
          <a:sx n="73" d="100"/>
          <a:sy n="73" d="100"/>
        </p:scale>
        <p:origin x="117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CB8A6-5011-4A0E-B795-2E208CEB9BE9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7FCB1-5F28-44C0-AFF2-4014C29EB8F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528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E2349-14F2-464A-A332-49157F7B10B5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004DC-06EA-47E2-940D-1B20D288D61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160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200" dirty="0">
                <a:latin typeface="Calibri" panose="020F0502020204030204" pitchFamily="34" charset="0"/>
              </a:rPr>
              <a:t>Adapts to audience needs</a:t>
            </a:r>
          </a:p>
          <a:p>
            <a:pPr marL="0" indent="0">
              <a:buNone/>
            </a:pPr>
            <a:r>
              <a:rPr lang="en-GB" sz="1200" dirty="0">
                <a:latin typeface="Calibri" panose="020F0502020204030204" pitchFamily="34" charset="0"/>
              </a:rPr>
              <a:t>If audience doesn’t seem to understand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B004DC-06EA-47E2-940D-1B20D288D611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1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06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80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550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35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190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98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46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73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25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01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327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755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2DD16-1AB1-440E-93E9-DF0D4D0DC1BB}" type="datetimeFigureOut">
              <a:rPr lang="en-GB" smtClean="0"/>
              <a:pPr/>
              <a:t>17/03/2022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A2C73-6D41-447A-A7FE-4161C76E9ED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95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4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769EC-8BC8-4433-B48E-D4189F6CA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Effective Presentation Skills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7B4C8-DF7F-4CDE-88D5-E261FC43A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en-US" sz="2000" dirty="0"/>
              <a:t>EAL4650 </a:t>
            </a:r>
          </a:p>
          <a:p>
            <a:pPr algn="l"/>
            <a:r>
              <a:rPr lang="en-US" sz="2000" dirty="0"/>
              <a:t>Matt Potter m.potter@qmul.ac.uk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room of colourful chairs">
            <a:extLst>
              <a:ext uri="{FF2B5EF4-FFF2-40B4-BE49-F238E27FC236}">
                <a16:creationId xmlns:a16="http://schemas.microsoft.com/office/drawing/2014/main" id="{EDA84009-DA01-44A0-97BD-9BF62F0420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15" r="15974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73245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F515E-6416-49AF-A09D-B5734CAA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next 5 weeks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B177-A6BA-4F18-BF04-0A85068DB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Week 1. Audience Centered Speaking and Structure &amp; Organisation</a:t>
            </a:r>
          </a:p>
          <a:p>
            <a:pPr marL="0" indent="0">
              <a:buNone/>
            </a:pPr>
            <a:r>
              <a:rPr lang="en-US" dirty="0"/>
              <a:t>Week 2. Visual Aids &amp; Academic Register</a:t>
            </a:r>
          </a:p>
          <a:p>
            <a:pPr marL="0" indent="0">
              <a:buNone/>
            </a:pPr>
            <a:r>
              <a:rPr lang="en-US" dirty="0"/>
              <a:t>Week 3. Effective Oral </a:t>
            </a:r>
            <a:r>
              <a:rPr lang="en-US"/>
              <a:t>Delivery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Week 4. Handling Questions</a:t>
            </a:r>
          </a:p>
          <a:p>
            <a:pPr marL="0" indent="0">
              <a:buNone/>
            </a:pPr>
            <a:r>
              <a:rPr lang="en-US" dirty="0"/>
              <a:t>Week 5. PRACTICE</a:t>
            </a:r>
          </a:p>
        </p:txBody>
      </p:sp>
    </p:spTree>
    <p:extLst>
      <p:ext uri="{BB962C8B-B14F-4D97-AF65-F5344CB8AC3E}">
        <p14:creationId xmlns:p14="http://schemas.microsoft.com/office/powerpoint/2010/main" val="3760660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 b="1" dirty="0">
                <a:latin typeface="+mn-lt"/>
              </a:rPr>
              <a:t>Giving an Effective Presentation –</a:t>
            </a:r>
            <a:br>
              <a:rPr lang="en-GB" sz="3600" b="1" dirty="0">
                <a:latin typeface="+mn-lt"/>
              </a:rPr>
            </a:br>
            <a:r>
              <a:rPr lang="en-GB" sz="3600" b="1" dirty="0">
                <a:latin typeface="+mn-lt"/>
              </a:rPr>
              <a:t>today</a:t>
            </a:r>
          </a:p>
        </p:txBody>
      </p:sp>
      <p:pic>
        <p:nvPicPr>
          <p:cNvPr id="2054" name="Picture 6" descr="Image result for Effective Presentations 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17" b="20759"/>
          <a:stretch/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1800"/>
              <a:t>Audience Centered Speaking</a:t>
            </a:r>
          </a:p>
          <a:p>
            <a:pPr marL="742950" indent="-742950">
              <a:buFont typeface="+mj-lt"/>
              <a:buAutoNum type="arabicPeriod"/>
            </a:pPr>
            <a:endParaRPr lang="en-GB" sz="1800"/>
          </a:p>
          <a:p>
            <a:pPr marL="742950" indent="-742950">
              <a:buFont typeface="+mj-lt"/>
              <a:buAutoNum type="arabicPeriod"/>
            </a:pPr>
            <a:r>
              <a:rPr lang="en-GB" sz="1800"/>
              <a:t>Structuring and organising an academic presentation</a:t>
            </a:r>
          </a:p>
          <a:p>
            <a:pPr marL="742950" indent="-742950">
              <a:buFont typeface="+mj-lt"/>
              <a:buAutoNum type="arabicPeriod"/>
            </a:pPr>
            <a:endParaRPr lang="en-GB" sz="1800"/>
          </a:p>
          <a:p>
            <a:pPr marL="742950" indent="-742950">
              <a:buFont typeface="+mj-lt"/>
              <a:buAutoNum type="arabicPeriod"/>
            </a:pPr>
            <a:r>
              <a:rPr lang="en-GB" sz="1800"/>
              <a:t>Language for presentations</a:t>
            </a:r>
          </a:p>
          <a:p>
            <a:pPr marL="0" indent="0">
              <a:buNone/>
            </a:pPr>
            <a:endParaRPr lang="en-GB" sz="1800"/>
          </a:p>
          <a:p>
            <a:pPr marL="0" indent="0">
              <a:buNone/>
            </a:pP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34363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9158" y="803325"/>
            <a:ext cx="5259707" cy="1325563"/>
          </a:xfrm>
        </p:spPr>
        <p:txBody>
          <a:bodyPr>
            <a:normAutofit/>
          </a:bodyPr>
          <a:lstStyle/>
          <a:p>
            <a:r>
              <a:rPr lang="en-US" altLang="zh-CN" b="1" cap="none">
                <a:latin typeface="Calibri" panose="020F0502020204030204" pitchFamily="34" charset="0"/>
              </a:rPr>
              <a:t>What is an Audience Centered Speaker?</a:t>
            </a:r>
            <a:endParaRPr lang="zh-CN" altLang="en-US" b="1" cap="none">
              <a:latin typeface="Calibri" panose="020F050202020403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57DD0D3-F869-46D0-944C-6EC60E19E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36816" cy="5254922"/>
          </a:xfrm>
          <a:custGeom>
            <a:avLst/>
            <a:gdLst>
              <a:gd name="connsiteX0" fmla="*/ 0 w 6136816"/>
              <a:gd name="connsiteY0" fmla="*/ 0 h 5254922"/>
              <a:gd name="connsiteX1" fmla="*/ 6136816 w 6136816"/>
              <a:gd name="connsiteY1" fmla="*/ 0 h 5254922"/>
              <a:gd name="connsiteX2" fmla="*/ 6134892 w 6136816"/>
              <a:gd name="connsiteY2" fmla="*/ 111520 h 5254922"/>
              <a:gd name="connsiteX3" fmla="*/ 6066513 w 6136816"/>
              <a:gd name="connsiteY3" fmla="*/ 752995 h 5254922"/>
              <a:gd name="connsiteX4" fmla="*/ 140712 w 6136816"/>
              <a:gd name="connsiteY4" fmla="*/ 5219363 h 5254922"/>
              <a:gd name="connsiteX5" fmla="*/ 0 w 6136816"/>
              <a:gd name="connsiteY5" fmla="*/ 5199534 h 5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6816" h="5254922">
                <a:moveTo>
                  <a:pt x="0" y="0"/>
                </a:moveTo>
                <a:lnTo>
                  <a:pt x="6136816" y="0"/>
                </a:lnTo>
                <a:lnTo>
                  <a:pt x="6134892" y="111520"/>
                </a:lnTo>
                <a:cubicBezTo>
                  <a:pt x="6124961" y="323936"/>
                  <a:pt x="6102367" y="538040"/>
                  <a:pt x="6066513" y="752995"/>
                </a:cubicBezTo>
                <a:cubicBezTo>
                  <a:pt x="5592281" y="3596146"/>
                  <a:pt x="2972232" y="5545369"/>
                  <a:pt x="140712" y="5219363"/>
                </a:cubicBezTo>
                <a:lnTo>
                  <a:pt x="0" y="5199534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994E30-78E5-453F-BCE1-260E43765A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39" r="1889"/>
          <a:stretch/>
        </p:blipFill>
        <p:spPr>
          <a:xfrm>
            <a:off x="1" y="2"/>
            <a:ext cx="5863721" cy="4984915"/>
          </a:xfrm>
          <a:custGeom>
            <a:avLst/>
            <a:gdLst/>
            <a:ahLst/>
            <a:cxnLst/>
            <a:rect l="l" t="t" r="r" b="b"/>
            <a:pathLst>
              <a:path w="5863721" h="4984915">
                <a:moveTo>
                  <a:pt x="0" y="0"/>
                </a:moveTo>
                <a:lnTo>
                  <a:pt x="5863721" y="0"/>
                </a:lnTo>
                <a:lnTo>
                  <a:pt x="5844576" y="326138"/>
                </a:lnTo>
                <a:cubicBezTo>
                  <a:pt x="5833049" y="448313"/>
                  <a:pt x="5817094" y="570952"/>
                  <a:pt x="5796589" y="693884"/>
                </a:cubicBezTo>
                <a:cubicBezTo>
                  <a:pt x="5344573" y="3403845"/>
                  <a:pt x="2847261" y="5261756"/>
                  <a:pt x="148386" y="4951022"/>
                </a:cubicBezTo>
                <a:lnTo>
                  <a:pt x="0" y="4930112"/>
                </a:lnTo>
                <a:close/>
              </a:path>
            </a:pathLst>
          </a:cu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85151" y="2279017"/>
            <a:ext cx="5863721" cy="439684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latin typeface="Calibri" panose="020F0502020204030204" pitchFamily="34" charset="0"/>
              </a:rPr>
              <a:t>Focused on the needs of the audience</a:t>
            </a:r>
          </a:p>
          <a:p>
            <a:pPr marL="0" indent="0">
              <a:buNone/>
            </a:pPr>
            <a:r>
              <a:rPr lang="en-US" altLang="zh-CN" b="1" dirty="0">
                <a:latin typeface="Calibri" panose="020F0502020204030204" pitchFamily="34" charset="0"/>
              </a:rPr>
              <a:t>Purpose Driven </a:t>
            </a:r>
          </a:p>
          <a:p>
            <a:pPr marL="0" indent="0">
              <a:buNone/>
            </a:pPr>
            <a:r>
              <a:rPr lang="en-US" altLang="zh-CN" b="1" dirty="0">
                <a:latin typeface="Calibri" panose="020F0502020204030204" pitchFamily="34" charset="0"/>
              </a:rPr>
              <a:t>Any communicative act requires a clear purpose – an aim or objective</a:t>
            </a:r>
          </a:p>
          <a:p>
            <a:pPr marL="0" indent="0">
              <a:buNone/>
            </a:pPr>
            <a:r>
              <a:rPr lang="en-US" altLang="zh-CN" b="1" dirty="0">
                <a:latin typeface="Calibri" panose="020F0502020204030204" pitchFamily="34" charset="0"/>
              </a:rPr>
              <a:t>Structure and organisation of content designed to meet that objective</a:t>
            </a:r>
          </a:p>
          <a:p>
            <a:pPr marL="0" indent="0">
              <a:buNone/>
            </a:pPr>
            <a:r>
              <a:rPr lang="en-US" altLang="zh-CN" b="1" dirty="0">
                <a:latin typeface="Calibri" panose="020F0502020204030204" pitchFamily="34" charset="0"/>
              </a:rPr>
              <a:t>Content structured to ensure the audience can follow</a:t>
            </a:r>
          </a:p>
          <a:p>
            <a:pPr marL="0" indent="0">
              <a:buNone/>
            </a:pPr>
            <a:r>
              <a:rPr lang="en-US" altLang="zh-CN" b="1" dirty="0">
                <a:latin typeface="Calibri" panose="020F0502020204030204" pitchFamily="34" charset="0"/>
              </a:rPr>
              <a:t>Choices of 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</a:rPr>
              <a:t>content &amp; language</a:t>
            </a:r>
          </a:p>
          <a:p>
            <a:pPr marL="0" indent="0">
              <a:buNone/>
            </a:pPr>
            <a:endParaRPr lang="en-US" altLang="zh-CN" sz="1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231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348" y="383730"/>
            <a:ext cx="5323715" cy="1066585"/>
          </a:xfrm>
        </p:spPr>
        <p:txBody>
          <a:bodyPr anchor="b">
            <a:normAutofit fontScale="90000"/>
          </a:bodyPr>
          <a:lstStyle/>
          <a:p>
            <a:r>
              <a:rPr lang="en-US" altLang="zh-CN" sz="4000" b="1" cap="none" dirty="0">
                <a:latin typeface="Calibri" panose="020F0502020204030204" pitchFamily="34" charset="0"/>
              </a:rPr>
              <a:t>An Audience Centered Speaker…</a:t>
            </a:r>
            <a:endParaRPr lang="en-GB" sz="4000" b="1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971" y="1607121"/>
            <a:ext cx="6118141" cy="496466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</a:rPr>
              <a:t>Creates rapport with the audience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</a:rPr>
              <a:t>How? 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</a:rPr>
              <a:t>By carefully considering content structure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</a:rPr>
              <a:t>By carefully choosing signal language 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</a:rPr>
              <a:t>By carefully designing visuals to aid flow and highlight pivotal content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</a:rPr>
              <a:t>By engaging with the audience by speaking TO them not AT them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</a:rPr>
              <a:t>NVC – confident and open body language (Week 3)</a:t>
            </a:r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</a:rPr>
              <a:t>EYE CONTACT</a:t>
            </a:r>
          </a:p>
          <a:p>
            <a:pPr marL="742950" indent="-742950">
              <a:buFont typeface="+mj-lt"/>
              <a:buAutoNum type="arabicPeriod"/>
            </a:pPr>
            <a:endParaRPr lang="en-GB" sz="1700" dirty="0">
              <a:latin typeface="Calibri" panose="020F050202020403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Image result for An audience centered speake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64" r="26292" b="1"/>
          <a:stretch/>
        </p:blipFill>
        <p:spPr bwMode="auto">
          <a:xfrm>
            <a:off x="7075967" y="1278018"/>
            <a:ext cx="4170530" cy="433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64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>
                <a:solidFill>
                  <a:srgbClr val="FFFFFF"/>
                </a:solidFill>
                <a:latin typeface="Calibri" panose="020F0502020204030204" pitchFamily="34" charset="0"/>
              </a:rPr>
              <a:t>Part 1 - The Presentation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</a:rPr>
              <a:t>The </a:t>
            </a:r>
            <a:r>
              <a:rPr lang="en-GB" sz="2000" b="1" dirty="0">
                <a:latin typeface="Calibri" panose="020F0502020204030204" pitchFamily="34" charset="0"/>
              </a:rPr>
              <a:t>introduction</a:t>
            </a:r>
            <a:r>
              <a:rPr lang="en-GB" sz="2000" dirty="0">
                <a:latin typeface="Calibri" panose="020F0502020204030204" pitchFamily="34" charset="0"/>
              </a:rPr>
              <a:t> is arguably the most important part of the presentation. It contains key information for the audience.</a:t>
            </a:r>
          </a:p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</a:rPr>
              <a:t>It sets out a </a:t>
            </a:r>
            <a:r>
              <a:rPr lang="en-GB" sz="2000" b="1" dirty="0">
                <a:latin typeface="Calibri" panose="020F0502020204030204" pitchFamily="34" charset="0"/>
              </a:rPr>
              <a:t>structure</a:t>
            </a:r>
            <a:r>
              <a:rPr lang="en-GB" sz="2000" dirty="0">
                <a:latin typeface="Calibri" panose="020F0502020204030204" pitchFamily="34" charset="0"/>
              </a:rPr>
              <a:t> – and a presentation without clear structure will be </a:t>
            </a:r>
            <a:r>
              <a:rPr lang="en-GB" sz="2000" b="1" dirty="0">
                <a:latin typeface="Calibri" panose="020F0502020204030204" pitchFamily="34" charset="0"/>
              </a:rPr>
              <a:t>confusing!</a:t>
            </a:r>
          </a:p>
          <a:p>
            <a:pPr marL="0" indent="0">
              <a:buNone/>
            </a:pPr>
            <a:endParaRPr lang="en-GB" sz="2000" b="1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Outline the talk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When you’ll take questions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Announce length of talk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Introduce yourself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Signal the move to first section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Introduce the talk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Greeting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Identify the purpose of your talk</a:t>
            </a:r>
          </a:p>
          <a:p>
            <a:pPr marL="0" indent="0">
              <a:buNone/>
            </a:pPr>
            <a:endParaRPr lang="en-GB" sz="2000" b="1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GB" sz="20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40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21587-2EBE-4419-ABE9-5C1DD8B68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GB" sz="4000" b="1" cap="none" dirty="0">
                <a:solidFill>
                  <a:srgbClr val="FFFFFF"/>
                </a:solidFill>
                <a:latin typeface="Calibri" panose="020F0502020204030204" pitchFamily="34" charset="0"/>
              </a:rPr>
              <a:t>Structure &amp; Organisation -the Introduction</a:t>
            </a:r>
            <a:br>
              <a:rPr lang="en-GB" sz="4000" b="1" cap="none" dirty="0">
                <a:solidFill>
                  <a:srgbClr val="FFFFFF"/>
                </a:solidFill>
                <a:latin typeface="Calibri" panose="020F0502020204030204" pitchFamily="34" charset="0"/>
              </a:rPr>
            </a:br>
            <a:br>
              <a:rPr lang="en-GB" sz="4000" b="1" cap="none" dirty="0">
                <a:solidFill>
                  <a:srgbClr val="FFFFFF"/>
                </a:solidFill>
                <a:latin typeface="Calibri" panose="020F0502020204030204" pitchFamily="34" charset="0"/>
              </a:rPr>
            </a:br>
            <a:r>
              <a:rPr lang="en-GB" sz="4000" b="1" cap="none" dirty="0">
                <a:solidFill>
                  <a:srgbClr val="FFFFFF"/>
                </a:solidFill>
                <a:latin typeface="Calibri" panose="020F0502020204030204" pitchFamily="34" charset="0"/>
              </a:rPr>
              <a:t>Stage and Subtext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74B18-9ABE-48B8-86F3-692504ABAE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646771"/>
            <a:ext cx="3427283" cy="5925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Greeting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Introduce yourself 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Introduce your talk 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Identify the purpose of your talk 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Outline the talk 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Announce the length of your talk</a:t>
            </a:r>
            <a:endParaRPr lang="en-GB" dirty="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When questions will be taken </a:t>
            </a:r>
          </a:p>
          <a:p>
            <a:pPr marL="0" indent="0">
              <a:buNone/>
            </a:pPr>
            <a:r>
              <a:rPr lang="en-GB" b="1" dirty="0">
                <a:latin typeface="Calibri" panose="020F0502020204030204" pitchFamily="34" charset="0"/>
              </a:rPr>
              <a:t>Signal move to first section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5FC8B-C370-45A7-BAAB-9FB873D9B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89086" y="542693"/>
            <a:ext cx="3360220" cy="6029092"/>
          </a:xfrm>
        </p:spPr>
        <p:txBody>
          <a:bodyPr>
            <a:noAutofit/>
          </a:bodyPr>
          <a:lstStyle/>
          <a:p>
            <a:r>
              <a:rPr lang="en-GB" b="1" dirty="0">
                <a:latin typeface="Calibri" panose="020F0502020204030204" pitchFamily="34" charset="0"/>
              </a:rPr>
              <a:t>Ready to Start</a:t>
            </a:r>
          </a:p>
          <a:p>
            <a:r>
              <a:rPr lang="en-GB" b="1" dirty="0">
                <a:latin typeface="Calibri" panose="020F0502020204030204" pitchFamily="34" charset="0"/>
              </a:rPr>
              <a:t>WHO – credibility, reliability, authority</a:t>
            </a:r>
          </a:p>
          <a:p>
            <a:r>
              <a:rPr lang="en-GB" b="1" dirty="0">
                <a:latin typeface="Calibri" panose="020F0502020204030204" pitchFamily="34" charset="0"/>
              </a:rPr>
              <a:t>WHAT – general topic – connections &amp; expectations</a:t>
            </a:r>
          </a:p>
          <a:p>
            <a:r>
              <a:rPr lang="en-GB" b="1" dirty="0">
                <a:latin typeface="Calibri" panose="020F0502020204030204" pitchFamily="34" charset="0"/>
              </a:rPr>
              <a:t>WHY – more specific connections &amp; expectations</a:t>
            </a:r>
          </a:p>
          <a:p>
            <a:r>
              <a:rPr lang="en-GB" b="1" dirty="0">
                <a:latin typeface="Calibri" panose="020F0502020204030204" pitchFamily="34" charset="0"/>
              </a:rPr>
              <a:t>HOW – scope, depth, focus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86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BE5D-2AEE-4BE2-A222-8CD2B8924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2022"/>
          </a:xfrm>
        </p:spPr>
        <p:txBody>
          <a:bodyPr>
            <a:normAutofit fontScale="90000"/>
          </a:bodyPr>
          <a:lstStyle/>
          <a:p>
            <a:r>
              <a:rPr lang="en-US" dirty="0"/>
              <a:t>Transcript with moves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B976F-B5EC-4FF5-B4FE-994CEC00B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162"/>
            <a:ext cx="10515600" cy="5187801"/>
          </a:xfrm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Greeting: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morning everyone, thank you for coming.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myself: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name’s Matt Potter. I’m a post graduate student in the SPIR. 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talk: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Today, I would like to focus on Brexit. Brexit is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withdrawal of the United Kingdom from the European Union following the public referendum in June 2016. The Brexit agreement came into legal effect from the 1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st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January 2022. 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Introduce purpose: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purpose of my presentation today is to discuss the potential economic impact of Brexit both on the UK and the EU. A recent government report warned that Brexit would both reduce the EU's and the UK’s potential GDP and 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(thesis)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 would like to offer a set of recommendations to help mitigate the worst elements of this impact.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Outline: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order to discuss this further, I have separated my presentation into three parts: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the first section we will focus on the potential economic impacts on the UK’s economy over the next years.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Then we will move on to consider the parallel impact on the economy of the EU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the final section, I would like to present a set of recommendations that could help alleviate the worst economic effects of the Brexit on the UK and EU economies respectively.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Length of talk: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presentation will be relatively brief, and I will only take 10 minutes of your time.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Questions: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If you have any questions, please hold them until the end of the talk when I’ll be happy to answer them 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Announce start: 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Ok, let’s get started with section one. </a:t>
            </a:r>
            <a:endParaRPr lang="es-CO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2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61CD-6210-4572-8A80-F3A1B183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Funnel 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0ACFE-E0EF-4F6E-B57A-AFB16CB3BC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08593" y="2312555"/>
            <a:ext cx="3840813" cy="337747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71082-B206-4CCF-A4CE-39ECE589F2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Common in academic essay writing</a:t>
            </a:r>
          </a:p>
          <a:p>
            <a:r>
              <a:rPr lang="en-US" dirty="0"/>
              <a:t>Smooth flow of information from the general to the more specific</a:t>
            </a:r>
          </a:p>
        </p:txBody>
      </p:sp>
    </p:spTree>
    <p:extLst>
      <p:ext uri="{BB962C8B-B14F-4D97-AF65-F5344CB8AC3E}">
        <p14:creationId xmlns:p14="http://schemas.microsoft.com/office/powerpoint/2010/main" val="103932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757" y="849087"/>
            <a:ext cx="10678886" cy="788351"/>
          </a:xfrm>
        </p:spPr>
        <p:txBody>
          <a:bodyPr>
            <a:noAutofit/>
          </a:bodyPr>
          <a:lstStyle/>
          <a:p>
            <a:r>
              <a:rPr lang="en-US" sz="4000" b="1" cap="none" dirty="0">
                <a:latin typeface="Calibri" panose="020F0502020204030204" pitchFamily="34" charset="0"/>
              </a:rPr>
              <a:t>THE BODY – </a:t>
            </a:r>
            <a:r>
              <a:rPr lang="en-GB" sz="4000" b="1" cap="none" dirty="0">
                <a:latin typeface="Calibri" panose="020F0502020204030204" pitchFamily="34" charset="0"/>
              </a:rPr>
              <a:t>Movement Between Sections - </a:t>
            </a:r>
            <a:r>
              <a:rPr lang="en-US" sz="4000" b="1" cap="none" dirty="0">
                <a:latin typeface="Calibri" panose="020F0502020204030204" pitchFamily="34" charset="0"/>
              </a:rPr>
              <a:t>Transition Language</a:t>
            </a:r>
            <a:endParaRPr lang="en-GB" sz="4000" b="1" cap="none" dirty="0">
              <a:latin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2757" y="1036322"/>
            <a:ext cx="1094014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1828800" algn="l"/>
              </a:tabLst>
            </a:pPr>
            <a:endParaRPr lang="en-US" altLang="en-US" sz="16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2757" y="2136339"/>
            <a:ext cx="1053192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828800" algn="l"/>
              </a:tabLst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Introducing your first point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828800" algn="l"/>
              </a:tabLst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Finishing a point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828800" algn="l"/>
              </a:tabLst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Starting a new point</a:t>
            </a:r>
          </a:p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828800" algn="l"/>
              </a:tabLst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Referring to what you have said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Referring to what you will say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Signaling the end</a:t>
            </a:r>
            <a:endParaRPr lang="en-GB" altLang="en-US" sz="2800" dirty="0">
              <a:ea typeface="Ebrima" pitchFamily="2" charset="0"/>
              <a:cs typeface="Ebrima" pitchFamily="2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Summarizing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Concluding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ea typeface="Ebrima" pitchFamily="2" charset="0"/>
                <a:cs typeface="Ebrima" pitchFamily="2" charset="0"/>
              </a:rPr>
              <a:t>Inviting questions</a:t>
            </a:r>
          </a:p>
        </p:txBody>
      </p:sp>
      <p:pic>
        <p:nvPicPr>
          <p:cNvPr id="2050" name="Picture 2" descr="Image result for signpo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410" y="2527278"/>
            <a:ext cx="4747233" cy="318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22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QM+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9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https://qmplus.qmul.ac.uk/course/view.php?id=1508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9585" b="6863"/>
          <a:stretch/>
        </p:blipFill>
        <p:spPr>
          <a:xfrm>
            <a:off x="1213566" y="1999515"/>
            <a:ext cx="9764867" cy="458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4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QM+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99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https://qmplus.qmul.ac.uk/course/view.php?id=1508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784" t="14726" r="5322" b="5076"/>
          <a:stretch/>
        </p:blipFill>
        <p:spPr>
          <a:xfrm>
            <a:off x="849283" y="2394065"/>
            <a:ext cx="10694507" cy="397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5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result for Audience Centered Speaker?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4" r="2312" b="1"/>
          <a:stretch/>
        </p:blipFill>
        <p:spPr bwMode="auto">
          <a:xfrm>
            <a:off x="20" y="10"/>
            <a:ext cx="12188932" cy="6857990"/>
          </a:xfrm>
          <a:prstGeom prst="rect">
            <a:avLst/>
          </a:prstGeom>
          <a:noFill/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E8D2E83-FB3A-40E7-A9E5-7AB389D61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23809"/>
            <a:ext cx="11016943" cy="2262375"/>
          </a:xfrm>
          <a:custGeom>
            <a:avLst/>
            <a:gdLst>
              <a:gd name="connsiteX0" fmla="*/ 0 w 11016943"/>
              <a:gd name="connsiteY0" fmla="*/ 0 h 2262375"/>
              <a:gd name="connsiteX1" fmla="*/ 9969166 w 11016943"/>
              <a:gd name="connsiteY1" fmla="*/ 0 h 2262375"/>
              <a:gd name="connsiteX2" fmla="*/ 11016943 w 11016943"/>
              <a:gd name="connsiteY2" fmla="*/ 2262375 h 2262375"/>
              <a:gd name="connsiteX3" fmla="*/ 4942050 w 11016943"/>
              <a:gd name="connsiteY3" fmla="*/ 2262375 h 2262375"/>
              <a:gd name="connsiteX4" fmla="*/ 4582160 w 11016943"/>
              <a:gd name="connsiteY4" fmla="*/ 2262375 h 2262375"/>
              <a:gd name="connsiteX5" fmla="*/ 0 w 11016943"/>
              <a:gd name="connsiteY5" fmla="*/ 2262375 h 226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943" h="2262375">
                <a:moveTo>
                  <a:pt x="0" y="0"/>
                </a:moveTo>
                <a:lnTo>
                  <a:pt x="9969166" y="0"/>
                </a:lnTo>
                <a:lnTo>
                  <a:pt x="11016943" y="2262375"/>
                </a:lnTo>
                <a:lnTo>
                  <a:pt x="4942050" y="2262375"/>
                </a:lnTo>
                <a:lnTo>
                  <a:pt x="4582160" y="2262375"/>
                </a:lnTo>
                <a:lnTo>
                  <a:pt x="0" y="2262375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062" y="4185749"/>
            <a:ext cx="9265771" cy="622836"/>
          </a:xfrm>
        </p:spPr>
        <p:txBody>
          <a:bodyPr>
            <a:normAutofit/>
          </a:bodyPr>
          <a:lstStyle/>
          <a:p>
            <a:r>
              <a:rPr lang="en-US" sz="1700" b="1">
                <a:latin typeface="+mn-lt"/>
              </a:rPr>
              <a:t>Task 3: Effective Presentations Practice</a:t>
            </a:r>
            <a:br>
              <a:rPr lang="en-GB" sz="1700"/>
            </a:br>
            <a:endParaRPr lang="en-GB" sz="17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063" y="4856921"/>
            <a:ext cx="9565028" cy="124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>
                <a:latin typeface="Calibri" panose="020F0502020204030204" pitchFamily="34" charset="0"/>
              </a:rPr>
              <a:t>Just the introduction to a presentation on the topic of your choice</a:t>
            </a:r>
            <a:endParaRPr lang="en-GB" sz="1800"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>
                <a:latin typeface="Calibri" panose="020F0502020204030204" pitchFamily="34" charset="0"/>
              </a:rPr>
              <a:t>Use signal and transition language.</a:t>
            </a:r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741156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1BE0-DADF-41AC-9565-D0A88EDD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16CD2-3073-49AB-B780-D4D1CE0AA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 your short introduction and post the video to the Teams group here or email me directly for feedback</a:t>
            </a:r>
          </a:p>
          <a:p>
            <a:r>
              <a:rPr lang="en-US" dirty="0"/>
              <a:t>M.potter@qmul.ac.uk</a:t>
            </a:r>
          </a:p>
        </p:txBody>
      </p:sp>
    </p:spTree>
    <p:extLst>
      <p:ext uri="{BB962C8B-B14F-4D97-AF65-F5344CB8AC3E}">
        <p14:creationId xmlns:p14="http://schemas.microsoft.com/office/powerpoint/2010/main" val="27286111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6aebfa60-79e9-46e0-9752-f6402e9c7c7d"/>
  <p:tag name="WASPOLLED" val="DDDE871FA220470AA316DB1F05266979"/>
  <p:tag name="TPVERSION" val="8"/>
  <p:tag name="TPFULLVERSION" val="8.2.4.6"/>
  <p:tag name="PPTVERSION" val="16"/>
  <p:tag name="TPOS" val="2"/>
  <p:tag name="TPLASTSAVEVERSION" val="6.2 P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15057</TotalTime>
  <Words>778</Words>
  <Application>Microsoft Office PowerPoint</Application>
  <PresentationFormat>Widescreen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Effective Presentation Skills</vt:lpstr>
      <vt:lpstr>The next 5 weeks</vt:lpstr>
      <vt:lpstr>Giving an Effective Presentation – today</vt:lpstr>
      <vt:lpstr>What is an Audience Centered Speaker?</vt:lpstr>
      <vt:lpstr>An Audience Centered Speaker…</vt:lpstr>
      <vt:lpstr>Part 1 - The Presentation Structure</vt:lpstr>
      <vt:lpstr>Structure &amp; Organisation -the Introduction  Stage and Subtext</vt:lpstr>
      <vt:lpstr>Transcript with moves</vt:lpstr>
      <vt:lpstr>Funnel Introduction</vt:lpstr>
      <vt:lpstr>THE BODY – Movement Between Sections - Transition Language</vt:lpstr>
      <vt:lpstr>QM+</vt:lpstr>
      <vt:lpstr>QM+</vt:lpstr>
      <vt:lpstr>Task 3: Effective Presentations Practice </vt:lpstr>
      <vt:lpstr>Homework</vt:lpstr>
    </vt:vector>
  </TitlesOfParts>
  <Company>QMUL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Potter</dc:creator>
  <cp:lastModifiedBy>Martha Vanin</cp:lastModifiedBy>
  <cp:revision>171</cp:revision>
  <cp:lastPrinted>2015-09-29T11:40:43Z</cp:lastPrinted>
  <dcterms:created xsi:type="dcterms:W3CDTF">2015-09-01T09:55:03Z</dcterms:created>
  <dcterms:modified xsi:type="dcterms:W3CDTF">2022-03-17T15:11:56Z</dcterms:modified>
</cp:coreProperties>
</file>