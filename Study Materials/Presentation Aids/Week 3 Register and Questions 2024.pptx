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 id="2147483720" r:id="rId2"/>
    <p:sldMasterId id="2147483732" r:id="rId3"/>
    <p:sldMasterId id="2147483745" r:id="rId4"/>
  </p:sldMasterIdLst>
  <p:notesMasterIdLst>
    <p:notesMasterId r:id="rId37"/>
  </p:notesMasterIdLst>
  <p:sldIdLst>
    <p:sldId id="282" r:id="rId5"/>
    <p:sldId id="306" r:id="rId6"/>
    <p:sldId id="257" r:id="rId7"/>
    <p:sldId id="298" r:id="rId8"/>
    <p:sldId id="299" r:id="rId9"/>
    <p:sldId id="402" r:id="rId10"/>
    <p:sldId id="408" r:id="rId11"/>
    <p:sldId id="302" r:id="rId12"/>
    <p:sldId id="385" r:id="rId13"/>
    <p:sldId id="403" r:id="rId14"/>
    <p:sldId id="264" r:id="rId15"/>
    <p:sldId id="300" r:id="rId16"/>
    <p:sldId id="301" r:id="rId17"/>
    <p:sldId id="409" r:id="rId18"/>
    <p:sldId id="304" r:id="rId19"/>
    <p:sldId id="410" r:id="rId20"/>
    <p:sldId id="411" r:id="rId21"/>
    <p:sldId id="319" r:id="rId22"/>
    <p:sldId id="308" r:id="rId23"/>
    <p:sldId id="310" r:id="rId24"/>
    <p:sldId id="277" r:id="rId25"/>
    <p:sldId id="278" r:id="rId26"/>
    <p:sldId id="294" r:id="rId27"/>
    <p:sldId id="297" r:id="rId28"/>
    <p:sldId id="296" r:id="rId29"/>
    <p:sldId id="305" r:id="rId30"/>
    <p:sldId id="287" r:id="rId31"/>
    <p:sldId id="412" r:id="rId32"/>
    <p:sldId id="413" r:id="rId33"/>
    <p:sldId id="311" r:id="rId34"/>
    <p:sldId id="312" r:id="rId35"/>
    <p:sldId id="295" r:id="rId36"/>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8817" autoAdjust="0"/>
    <p:restoredTop sz="94660"/>
  </p:normalViewPr>
  <p:slideViewPr>
    <p:cSldViewPr>
      <p:cViewPr varScale="1">
        <p:scale>
          <a:sx n="46" d="100"/>
          <a:sy n="46" d="100"/>
        </p:scale>
        <p:origin x="264" y="33"/>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8661441-2315-4560-9961-8BBBC4E09A42}" type="datetimeFigureOut">
              <a:rPr lang="es-CO" smtClean="0"/>
              <a:pPr/>
              <a:t>17/10/2024</a:t>
            </a:fld>
            <a:endParaRPr lang="es-C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1D98DC1-A0BA-48E3-AE8A-AAF2B2D86E70}" type="slidenum">
              <a:rPr lang="es-CO" smtClean="0"/>
              <a:pPr/>
              <a:t>‹#›</a:t>
            </a:fld>
            <a:endParaRPr lang="es-CO"/>
          </a:p>
        </p:txBody>
      </p:sp>
    </p:spTree>
    <p:extLst>
      <p:ext uri="{BB962C8B-B14F-4D97-AF65-F5344CB8AC3E}">
        <p14:creationId xmlns:p14="http://schemas.microsoft.com/office/powerpoint/2010/main" val="1012869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xfrm>
            <a:off x="671513" y="808038"/>
            <a:ext cx="5391150" cy="4043362"/>
          </a:xfrm>
          <a:ln/>
        </p:spPr>
      </p:sp>
      <p:sp>
        <p:nvSpPr>
          <p:cNvPr id="747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Tree>
    <p:extLst>
      <p:ext uri="{BB962C8B-B14F-4D97-AF65-F5344CB8AC3E}">
        <p14:creationId xmlns:p14="http://schemas.microsoft.com/office/powerpoint/2010/main" val="313821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917575" y="744538"/>
            <a:ext cx="4962525" cy="3722687"/>
          </a:xfrm>
          <a:ln/>
        </p:spPr>
      </p:sp>
      <p:sp>
        <p:nvSpPr>
          <p:cNvPr id="84995" name="Rectangle 3"/>
          <p:cNvSpPr>
            <a:spLocks noGrp="1" noChangeArrowheads="1"/>
          </p:cNvSpPr>
          <p:nvPr>
            <p:ph type="body" idx="1"/>
          </p:nvPr>
        </p:nvSpPr>
        <p:spPr>
          <a:noFill/>
        </p:spPr>
        <p:txBody>
          <a:bodyPr/>
          <a:lstStyle/>
          <a:p>
            <a:pPr eaLnBrk="1" hangingPunct="1"/>
            <a:endParaRPr lang="en-GB" altLang="en-US"/>
          </a:p>
        </p:txBody>
      </p:sp>
    </p:spTree>
    <p:extLst>
      <p:ext uri="{BB962C8B-B14F-4D97-AF65-F5344CB8AC3E}">
        <p14:creationId xmlns:p14="http://schemas.microsoft.com/office/powerpoint/2010/main" val="36476900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7809F-B342-45E7-9B19-C35D728CF95C}"/>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EA024691-718A-463D-999D-1DB564D14D6D}"/>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D8E596C-4D51-45FE-9DBF-79A2725BC18D}"/>
              </a:ext>
            </a:extLst>
          </p:cNvPr>
          <p:cNvSpPr>
            <a:spLocks noGrp="1"/>
          </p:cNvSpPr>
          <p:nvPr>
            <p:ph type="dt" sz="half" idx="10"/>
          </p:nvPr>
        </p:nvSpPr>
        <p:spPr/>
        <p:txBody>
          <a:bodyPr/>
          <a:lstStyle/>
          <a:p>
            <a:fld id="{B5BC2055-E945-4C59-BD52-301338CB33DE}" type="datetimeFigureOut">
              <a:rPr lang="es-CO" smtClean="0"/>
              <a:pPr/>
              <a:t>17/10/2024</a:t>
            </a:fld>
            <a:endParaRPr lang="es-CO"/>
          </a:p>
        </p:txBody>
      </p:sp>
      <p:sp>
        <p:nvSpPr>
          <p:cNvPr id="5" name="Footer Placeholder 4">
            <a:extLst>
              <a:ext uri="{FF2B5EF4-FFF2-40B4-BE49-F238E27FC236}">
                <a16:creationId xmlns:a16="http://schemas.microsoft.com/office/drawing/2014/main" id="{C1A28E0F-4093-498C-B66B-22836FC545D4}"/>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AB56559E-52AC-487F-AADF-471CCCB6BC94}"/>
              </a:ext>
            </a:extLst>
          </p:cNvPr>
          <p:cNvSpPr>
            <a:spLocks noGrp="1"/>
          </p:cNvSpPr>
          <p:nvPr>
            <p:ph type="sldNum" sz="quarter" idx="12"/>
          </p:nvPr>
        </p:nvSpPr>
        <p:spPr/>
        <p:txBody>
          <a:bodyPr/>
          <a:lstStyle/>
          <a:p>
            <a:fld id="{86461F03-1CF7-4647-B508-E05092C4E645}" type="slidenum">
              <a:rPr lang="es-CO" smtClean="0"/>
              <a:pPr/>
              <a:t>‹#›</a:t>
            </a:fld>
            <a:endParaRPr lang="es-CO"/>
          </a:p>
        </p:txBody>
      </p:sp>
    </p:spTree>
    <p:extLst>
      <p:ext uri="{BB962C8B-B14F-4D97-AF65-F5344CB8AC3E}">
        <p14:creationId xmlns:p14="http://schemas.microsoft.com/office/powerpoint/2010/main" val="1192786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64905-7110-4A22-9556-16041561E0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202467-3487-4B04-BE68-F67A960C09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ED6A53-8236-474B-AAF4-10F554394D36}"/>
              </a:ext>
            </a:extLst>
          </p:cNvPr>
          <p:cNvSpPr>
            <a:spLocks noGrp="1"/>
          </p:cNvSpPr>
          <p:nvPr>
            <p:ph type="dt" sz="half" idx="10"/>
          </p:nvPr>
        </p:nvSpPr>
        <p:spPr/>
        <p:txBody>
          <a:bodyPr/>
          <a:lstStyle/>
          <a:p>
            <a:fld id="{B5BC2055-E945-4C59-BD52-301338CB33DE}" type="datetimeFigureOut">
              <a:rPr lang="es-CO" smtClean="0"/>
              <a:pPr/>
              <a:t>17/10/2024</a:t>
            </a:fld>
            <a:endParaRPr lang="es-CO"/>
          </a:p>
        </p:txBody>
      </p:sp>
      <p:sp>
        <p:nvSpPr>
          <p:cNvPr id="5" name="Footer Placeholder 4">
            <a:extLst>
              <a:ext uri="{FF2B5EF4-FFF2-40B4-BE49-F238E27FC236}">
                <a16:creationId xmlns:a16="http://schemas.microsoft.com/office/drawing/2014/main" id="{2ABB9ADE-0454-474A-8765-895E919D2826}"/>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7E7DCC69-083E-4B8A-976B-480720C2A223}"/>
              </a:ext>
            </a:extLst>
          </p:cNvPr>
          <p:cNvSpPr>
            <a:spLocks noGrp="1"/>
          </p:cNvSpPr>
          <p:nvPr>
            <p:ph type="sldNum" sz="quarter" idx="12"/>
          </p:nvPr>
        </p:nvSpPr>
        <p:spPr/>
        <p:txBody>
          <a:bodyPr/>
          <a:lstStyle/>
          <a:p>
            <a:fld id="{86461F03-1CF7-4647-B508-E05092C4E645}" type="slidenum">
              <a:rPr lang="es-CO" smtClean="0"/>
              <a:pPr/>
              <a:t>‹#›</a:t>
            </a:fld>
            <a:endParaRPr lang="es-CO"/>
          </a:p>
        </p:txBody>
      </p:sp>
    </p:spTree>
    <p:extLst>
      <p:ext uri="{BB962C8B-B14F-4D97-AF65-F5344CB8AC3E}">
        <p14:creationId xmlns:p14="http://schemas.microsoft.com/office/powerpoint/2010/main" val="227117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ADE9D-20BF-4FDE-AA0D-52643DABDE09}"/>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40406A36-AC1B-442C-A8BC-BFAAC2F137EF}"/>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418F5E-5787-4D60-9D85-7907AF870E4F}"/>
              </a:ext>
            </a:extLst>
          </p:cNvPr>
          <p:cNvSpPr>
            <a:spLocks noGrp="1"/>
          </p:cNvSpPr>
          <p:nvPr>
            <p:ph type="dt" sz="half" idx="10"/>
          </p:nvPr>
        </p:nvSpPr>
        <p:spPr/>
        <p:txBody>
          <a:bodyPr/>
          <a:lstStyle/>
          <a:p>
            <a:fld id="{B5BC2055-E945-4C59-BD52-301338CB33DE}" type="datetimeFigureOut">
              <a:rPr lang="es-CO" smtClean="0"/>
              <a:pPr/>
              <a:t>17/10/2024</a:t>
            </a:fld>
            <a:endParaRPr lang="es-CO"/>
          </a:p>
        </p:txBody>
      </p:sp>
      <p:sp>
        <p:nvSpPr>
          <p:cNvPr id="5" name="Footer Placeholder 4">
            <a:extLst>
              <a:ext uri="{FF2B5EF4-FFF2-40B4-BE49-F238E27FC236}">
                <a16:creationId xmlns:a16="http://schemas.microsoft.com/office/drawing/2014/main" id="{D5550096-20C1-4CCD-98BD-CA88423AA54C}"/>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75479D8E-2FCB-4660-A045-38F566DE4826}"/>
              </a:ext>
            </a:extLst>
          </p:cNvPr>
          <p:cNvSpPr>
            <a:spLocks noGrp="1"/>
          </p:cNvSpPr>
          <p:nvPr>
            <p:ph type="sldNum" sz="quarter" idx="12"/>
          </p:nvPr>
        </p:nvSpPr>
        <p:spPr/>
        <p:txBody>
          <a:bodyPr/>
          <a:lstStyle/>
          <a:p>
            <a:fld id="{86461F03-1CF7-4647-B508-E05092C4E645}" type="slidenum">
              <a:rPr lang="es-CO" smtClean="0"/>
              <a:pPr/>
              <a:t>‹#›</a:t>
            </a:fld>
            <a:endParaRPr lang="es-CO"/>
          </a:p>
        </p:txBody>
      </p:sp>
    </p:spTree>
    <p:extLst>
      <p:ext uri="{BB962C8B-B14F-4D97-AF65-F5344CB8AC3E}">
        <p14:creationId xmlns:p14="http://schemas.microsoft.com/office/powerpoint/2010/main" val="2927275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81704-E664-4D92-A303-506BF1C10C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579F37-22A4-402C-9B1C-4D99D5156595}"/>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538C8BC-0639-413C-B912-6E4F384CB4F5}"/>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F7C6DC-13E4-48BA-9D2C-0F4080269266}"/>
              </a:ext>
            </a:extLst>
          </p:cNvPr>
          <p:cNvSpPr>
            <a:spLocks noGrp="1"/>
          </p:cNvSpPr>
          <p:nvPr>
            <p:ph type="dt" sz="half" idx="10"/>
          </p:nvPr>
        </p:nvSpPr>
        <p:spPr/>
        <p:txBody>
          <a:bodyPr/>
          <a:lstStyle/>
          <a:p>
            <a:fld id="{B5BC2055-E945-4C59-BD52-301338CB33DE}" type="datetimeFigureOut">
              <a:rPr lang="es-CO" smtClean="0"/>
              <a:pPr/>
              <a:t>17/10/2024</a:t>
            </a:fld>
            <a:endParaRPr lang="es-CO"/>
          </a:p>
        </p:txBody>
      </p:sp>
      <p:sp>
        <p:nvSpPr>
          <p:cNvPr id="6" name="Footer Placeholder 5">
            <a:extLst>
              <a:ext uri="{FF2B5EF4-FFF2-40B4-BE49-F238E27FC236}">
                <a16:creationId xmlns:a16="http://schemas.microsoft.com/office/drawing/2014/main" id="{64686853-B916-424A-893F-7431A2E42C4A}"/>
              </a:ext>
            </a:extLst>
          </p:cNvPr>
          <p:cNvSpPr>
            <a:spLocks noGrp="1"/>
          </p:cNvSpPr>
          <p:nvPr>
            <p:ph type="ftr" sz="quarter" idx="11"/>
          </p:nvPr>
        </p:nvSpPr>
        <p:spPr/>
        <p:txBody>
          <a:bodyPr/>
          <a:lstStyle/>
          <a:p>
            <a:endParaRPr lang="es-CO"/>
          </a:p>
        </p:txBody>
      </p:sp>
      <p:sp>
        <p:nvSpPr>
          <p:cNvPr id="7" name="Slide Number Placeholder 6">
            <a:extLst>
              <a:ext uri="{FF2B5EF4-FFF2-40B4-BE49-F238E27FC236}">
                <a16:creationId xmlns:a16="http://schemas.microsoft.com/office/drawing/2014/main" id="{B1387E0C-828E-4FEC-8B8E-E0E4223FD304}"/>
              </a:ext>
            </a:extLst>
          </p:cNvPr>
          <p:cNvSpPr>
            <a:spLocks noGrp="1"/>
          </p:cNvSpPr>
          <p:nvPr>
            <p:ph type="sldNum" sz="quarter" idx="12"/>
          </p:nvPr>
        </p:nvSpPr>
        <p:spPr/>
        <p:txBody>
          <a:bodyPr/>
          <a:lstStyle/>
          <a:p>
            <a:fld id="{86461F03-1CF7-4647-B508-E05092C4E645}" type="slidenum">
              <a:rPr lang="es-CO" smtClean="0"/>
              <a:pPr/>
              <a:t>‹#›</a:t>
            </a:fld>
            <a:endParaRPr lang="es-CO"/>
          </a:p>
        </p:txBody>
      </p:sp>
    </p:spTree>
    <p:extLst>
      <p:ext uri="{BB962C8B-B14F-4D97-AF65-F5344CB8AC3E}">
        <p14:creationId xmlns:p14="http://schemas.microsoft.com/office/powerpoint/2010/main" val="3381725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49E25-69AE-4CDB-A50A-A036C3EBCB29}"/>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AEBC8A-C151-41E7-81C9-7539B281FE77}"/>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9B843D09-2C55-47FA-9FD2-1147C2B5F216}"/>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C395BB-9E65-4F05-8BD7-90C59CBA17ED}"/>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A5759A2-2A16-49CF-9333-FE0E35CB4A92}"/>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716865-E8E9-4195-A884-5C7F24D924DD}"/>
              </a:ext>
            </a:extLst>
          </p:cNvPr>
          <p:cNvSpPr>
            <a:spLocks noGrp="1"/>
          </p:cNvSpPr>
          <p:nvPr>
            <p:ph type="dt" sz="half" idx="10"/>
          </p:nvPr>
        </p:nvSpPr>
        <p:spPr/>
        <p:txBody>
          <a:bodyPr/>
          <a:lstStyle/>
          <a:p>
            <a:fld id="{B5BC2055-E945-4C59-BD52-301338CB33DE}" type="datetimeFigureOut">
              <a:rPr lang="es-CO" smtClean="0"/>
              <a:pPr/>
              <a:t>17/10/2024</a:t>
            </a:fld>
            <a:endParaRPr lang="es-CO"/>
          </a:p>
        </p:txBody>
      </p:sp>
      <p:sp>
        <p:nvSpPr>
          <p:cNvPr id="8" name="Footer Placeholder 7">
            <a:extLst>
              <a:ext uri="{FF2B5EF4-FFF2-40B4-BE49-F238E27FC236}">
                <a16:creationId xmlns:a16="http://schemas.microsoft.com/office/drawing/2014/main" id="{7767E497-97C4-40B5-BA31-179113CC3364}"/>
              </a:ext>
            </a:extLst>
          </p:cNvPr>
          <p:cNvSpPr>
            <a:spLocks noGrp="1"/>
          </p:cNvSpPr>
          <p:nvPr>
            <p:ph type="ftr" sz="quarter" idx="11"/>
          </p:nvPr>
        </p:nvSpPr>
        <p:spPr/>
        <p:txBody>
          <a:bodyPr/>
          <a:lstStyle/>
          <a:p>
            <a:endParaRPr lang="es-CO"/>
          </a:p>
        </p:txBody>
      </p:sp>
      <p:sp>
        <p:nvSpPr>
          <p:cNvPr id="9" name="Slide Number Placeholder 8">
            <a:extLst>
              <a:ext uri="{FF2B5EF4-FFF2-40B4-BE49-F238E27FC236}">
                <a16:creationId xmlns:a16="http://schemas.microsoft.com/office/drawing/2014/main" id="{D5827FD7-67DE-41D7-93F9-2DC2778CAD20}"/>
              </a:ext>
            </a:extLst>
          </p:cNvPr>
          <p:cNvSpPr>
            <a:spLocks noGrp="1"/>
          </p:cNvSpPr>
          <p:nvPr>
            <p:ph type="sldNum" sz="quarter" idx="12"/>
          </p:nvPr>
        </p:nvSpPr>
        <p:spPr/>
        <p:txBody>
          <a:bodyPr/>
          <a:lstStyle/>
          <a:p>
            <a:fld id="{86461F03-1CF7-4647-B508-E05092C4E645}" type="slidenum">
              <a:rPr lang="es-CO" smtClean="0"/>
              <a:pPr/>
              <a:t>‹#›</a:t>
            </a:fld>
            <a:endParaRPr lang="es-CO"/>
          </a:p>
        </p:txBody>
      </p:sp>
    </p:spTree>
    <p:extLst>
      <p:ext uri="{BB962C8B-B14F-4D97-AF65-F5344CB8AC3E}">
        <p14:creationId xmlns:p14="http://schemas.microsoft.com/office/powerpoint/2010/main" val="688265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9EE3B-3342-4EFB-A74A-85D88442BD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B94C1E-412E-472F-BE2C-23E0ACD3496F}"/>
              </a:ext>
            </a:extLst>
          </p:cNvPr>
          <p:cNvSpPr>
            <a:spLocks noGrp="1"/>
          </p:cNvSpPr>
          <p:nvPr>
            <p:ph type="dt" sz="half" idx="10"/>
          </p:nvPr>
        </p:nvSpPr>
        <p:spPr/>
        <p:txBody>
          <a:bodyPr/>
          <a:lstStyle/>
          <a:p>
            <a:fld id="{B5BC2055-E945-4C59-BD52-301338CB33DE}" type="datetimeFigureOut">
              <a:rPr lang="es-CO" smtClean="0"/>
              <a:pPr/>
              <a:t>17/10/2024</a:t>
            </a:fld>
            <a:endParaRPr lang="es-CO"/>
          </a:p>
        </p:txBody>
      </p:sp>
      <p:sp>
        <p:nvSpPr>
          <p:cNvPr id="4" name="Footer Placeholder 3">
            <a:extLst>
              <a:ext uri="{FF2B5EF4-FFF2-40B4-BE49-F238E27FC236}">
                <a16:creationId xmlns:a16="http://schemas.microsoft.com/office/drawing/2014/main" id="{111A6249-61FF-4562-BE5C-55801C49318F}"/>
              </a:ext>
            </a:extLst>
          </p:cNvPr>
          <p:cNvSpPr>
            <a:spLocks noGrp="1"/>
          </p:cNvSpPr>
          <p:nvPr>
            <p:ph type="ftr" sz="quarter" idx="11"/>
          </p:nvPr>
        </p:nvSpPr>
        <p:spPr/>
        <p:txBody>
          <a:bodyPr/>
          <a:lstStyle/>
          <a:p>
            <a:endParaRPr lang="es-CO"/>
          </a:p>
        </p:txBody>
      </p:sp>
      <p:sp>
        <p:nvSpPr>
          <p:cNvPr id="5" name="Slide Number Placeholder 4">
            <a:extLst>
              <a:ext uri="{FF2B5EF4-FFF2-40B4-BE49-F238E27FC236}">
                <a16:creationId xmlns:a16="http://schemas.microsoft.com/office/drawing/2014/main" id="{C1FE1DF6-C1D5-4CEC-B51F-E500766299B4}"/>
              </a:ext>
            </a:extLst>
          </p:cNvPr>
          <p:cNvSpPr>
            <a:spLocks noGrp="1"/>
          </p:cNvSpPr>
          <p:nvPr>
            <p:ph type="sldNum" sz="quarter" idx="12"/>
          </p:nvPr>
        </p:nvSpPr>
        <p:spPr/>
        <p:txBody>
          <a:bodyPr/>
          <a:lstStyle/>
          <a:p>
            <a:fld id="{86461F03-1CF7-4647-B508-E05092C4E645}" type="slidenum">
              <a:rPr lang="es-CO" smtClean="0"/>
              <a:pPr/>
              <a:t>‹#›</a:t>
            </a:fld>
            <a:endParaRPr lang="es-CO"/>
          </a:p>
        </p:txBody>
      </p:sp>
    </p:spTree>
    <p:extLst>
      <p:ext uri="{BB962C8B-B14F-4D97-AF65-F5344CB8AC3E}">
        <p14:creationId xmlns:p14="http://schemas.microsoft.com/office/powerpoint/2010/main" val="3291875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3200CC-A6E0-495B-A1E1-EA5A3DEB234D}"/>
              </a:ext>
            </a:extLst>
          </p:cNvPr>
          <p:cNvSpPr>
            <a:spLocks noGrp="1"/>
          </p:cNvSpPr>
          <p:nvPr>
            <p:ph type="dt" sz="half" idx="10"/>
          </p:nvPr>
        </p:nvSpPr>
        <p:spPr/>
        <p:txBody>
          <a:bodyPr/>
          <a:lstStyle/>
          <a:p>
            <a:fld id="{B5BC2055-E945-4C59-BD52-301338CB33DE}" type="datetimeFigureOut">
              <a:rPr lang="es-CO" smtClean="0"/>
              <a:pPr/>
              <a:t>17/10/2024</a:t>
            </a:fld>
            <a:endParaRPr lang="es-CO"/>
          </a:p>
        </p:txBody>
      </p:sp>
      <p:sp>
        <p:nvSpPr>
          <p:cNvPr id="3" name="Footer Placeholder 2">
            <a:extLst>
              <a:ext uri="{FF2B5EF4-FFF2-40B4-BE49-F238E27FC236}">
                <a16:creationId xmlns:a16="http://schemas.microsoft.com/office/drawing/2014/main" id="{F2F7BB7A-8889-4AAA-A21B-E476ADCF6A44}"/>
              </a:ext>
            </a:extLst>
          </p:cNvPr>
          <p:cNvSpPr>
            <a:spLocks noGrp="1"/>
          </p:cNvSpPr>
          <p:nvPr>
            <p:ph type="ftr" sz="quarter" idx="11"/>
          </p:nvPr>
        </p:nvSpPr>
        <p:spPr/>
        <p:txBody>
          <a:bodyPr/>
          <a:lstStyle/>
          <a:p>
            <a:endParaRPr lang="es-CO"/>
          </a:p>
        </p:txBody>
      </p:sp>
      <p:sp>
        <p:nvSpPr>
          <p:cNvPr id="4" name="Slide Number Placeholder 3">
            <a:extLst>
              <a:ext uri="{FF2B5EF4-FFF2-40B4-BE49-F238E27FC236}">
                <a16:creationId xmlns:a16="http://schemas.microsoft.com/office/drawing/2014/main" id="{DC25A45B-90B6-49DE-9111-2AB6E6FE9BAA}"/>
              </a:ext>
            </a:extLst>
          </p:cNvPr>
          <p:cNvSpPr>
            <a:spLocks noGrp="1"/>
          </p:cNvSpPr>
          <p:nvPr>
            <p:ph type="sldNum" sz="quarter" idx="12"/>
          </p:nvPr>
        </p:nvSpPr>
        <p:spPr/>
        <p:txBody>
          <a:bodyPr/>
          <a:lstStyle/>
          <a:p>
            <a:fld id="{86461F03-1CF7-4647-B508-E05092C4E645}" type="slidenum">
              <a:rPr lang="es-CO" smtClean="0"/>
              <a:pPr/>
              <a:t>‹#›</a:t>
            </a:fld>
            <a:endParaRPr lang="es-CO"/>
          </a:p>
        </p:txBody>
      </p:sp>
    </p:spTree>
    <p:extLst>
      <p:ext uri="{BB962C8B-B14F-4D97-AF65-F5344CB8AC3E}">
        <p14:creationId xmlns:p14="http://schemas.microsoft.com/office/powerpoint/2010/main" val="3368122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6AA39-95B9-443F-B5A7-15CDCF0FF42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1073763-114B-4204-8CE3-7DEC440A63B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D509AFD-8258-4E50-B29E-61D4E951BFA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97F573D-77A2-4955-A8C6-82B4E4BACF4F}"/>
              </a:ext>
            </a:extLst>
          </p:cNvPr>
          <p:cNvSpPr>
            <a:spLocks noGrp="1"/>
          </p:cNvSpPr>
          <p:nvPr>
            <p:ph type="dt" sz="half" idx="10"/>
          </p:nvPr>
        </p:nvSpPr>
        <p:spPr/>
        <p:txBody>
          <a:bodyPr/>
          <a:lstStyle/>
          <a:p>
            <a:fld id="{B5BC2055-E945-4C59-BD52-301338CB33DE}" type="datetimeFigureOut">
              <a:rPr lang="es-CO" smtClean="0"/>
              <a:pPr/>
              <a:t>17/10/2024</a:t>
            </a:fld>
            <a:endParaRPr lang="es-CO"/>
          </a:p>
        </p:txBody>
      </p:sp>
      <p:sp>
        <p:nvSpPr>
          <p:cNvPr id="6" name="Footer Placeholder 5">
            <a:extLst>
              <a:ext uri="{FF2B5EF4-FFF2-40B4-BE49-F238E27FC236}">
                <a16:creationId xmlns:a16="http://schemas.microsoft.com/office/drawing/2014/main" id="{06762265-53D0-4A57-944E-0A0B955F8203}"/>
              </a:ext>
            </a:extLst>
          </p:cNvPr>
          <p:cNvSpPr>
            <a:spLocks noGrp="1"/>
          </p:cNvSpPr>
          <p:nvPr>
            <p:ph type="ftr" sz="quarter" idx="11"/>
          </p:nvPr>
        </p:nvSpPr>
        <p:spPr/>
        <p:txBody>
          <a:bodyPr/>
          <a:lstStyle/>
          <a:p>
            <a:endParaRPr lang="es-CO"/>
          </a:p>
        </p:txBody>
      </p:sp>
      <p:sp>
        <p:nvSpPr>
          <p:cNvPr id="7" name="Slide Number Placeholder 6">
            <a:extLst>
              <a:ext uri="{FF2B5EF4-FFF2-40B4-BE49-F238E27FC236}">
                <a16:creationId xmlns:a16="http://schemas.microsoft.com/office/drawing/2014/main" id="{D30CB9A7-5F95-4D59-B762-D6A327210EE4}"/>
              </a:ext>
            </a:extLst>
          </p:cNvPr>
          <p:cNvSpPr>
            <a:spLocks noGrp="1"/>
          </p:cNvSpPr>
          <p:nvPr>
            <p:ph type="sldNum" sz="quarter" idx="12"/>
          </p:nvPr>
        </p:nvSpPr>
        <p:spPr/>
        <p:txBody>
          <a:bodyPr/>
          <a:lstStyle/>
          <a:p>
            <a:fld id="{86461F03-1CF7-4647-B508-E05092C4E645}" type="slidenum">
              <a:rPr lang="es-CO" smtClean="0"/>
              <a:pPr/>
              <a:t>‹#›</a:t>
            </a:fld>
            <a:endParaRPr lang="es-CO"/>
          </a:p>
        </p:txBody>
      </p:sp>
    </p:spTree>
    <p:extLst>
      <p:ext uri="{BB962C8B-B14F-4D97-AF65-F5344CB8AC3E}">
        <p14:creationId xmlns:p14="http://schemas.microsoft.com/office/powerpoint/2010/main" val="1512005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030F3-E665-47CE-A64E-F8DBA139F21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928A7A4-27F5-4AD9-900C-769717A66692}"/>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7F92363F-8823-48BE-A226-B16CB23C749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1760830-A3CB-4C44-B1A4-C19D2829B5C1}"/>
              </a:ext>
            </a:extLst>
          </p:cNvPr>
          <p:cNvSpPr>
            <a:spLocks noGrp="1"/>
          </p:cNvSpPr>
          <p:nvPr>
            <p:ph type="dt" sz="half" idx="10"/>
          </p:nvPr>
        </p:nvSpPr>
        <p:spPr/>
        <p:txBody>
          <a:bodyPr/>
          <a:lstStyle/>
          <a:p>
            <a:fld id="{B5BC2055-E945-4C59-BD52-301338CB33DE}" type="datetimeFigureOut">
              <a:rPr lang="es-CO" smtClean="0"/>
              <a:pPr/>
              <a:t>17/10/2024</a:t>
            </a:fld>
            <a:endParaRPr lang="es-CO"/>
          </a:p>
        </p:txBody>
      </p:sp>
      <p:sp>
        <p:nvSpPr>
          <p:cNvPr id="6" name="Footer Placeholder 5">
            <a:extLst>
              <a:ext uri="{FF2B5EF4-FFF2-40B4-BE49-F238E27FC236}">
                <a16:creationId xmlns:a16="http://schemas.microsoft.com/office/drawing/2014/main" id="{02887E61-6F99-4F3D-ADE4-218462DCCCCD}"/>
              </a:ext>
            </a:extLst>
          </p:cNvPr>
          <p:cNvSpPr>
            <a:spLocks noGrp="1"/>
          </p:cNvSpPr>
          <p:nvPr>
            <p:ph type="ftr" sz="quarter" idx="11"/>
          </p:nvPr>
        </p:nvSpPr>
        <p:spPr/>
        <p:txBody>
          <a:bodyPr/>
          <a:lstStyle/>
          <a:p>
            <a:endParaRPr lang="es-CO"/>
          </a:p>
        </p:txBody>
      </p:sp>
      <p:sp>
        <p:nvSpPr>
          <p:cNvPr id="7" name="Slide Number Placeholder 6">
            <a:extLst>
              <a:ext uri="{FF2B5EF4-FFF2-40B4-BE49-F238E27FC236}">
                <a16:creationId xmlns:a16="http://schemas.microsoft.com/office/drawing/2014/main" id="{2B7C2107-1D76-431A-94D0-8568BF7EF993}"/>
              </a:ext>
            </a:extLst>
          </p:cNvPr>
          <p:cNvSpPr>
            <a:spLocks noGrp="1"/>
          </p:cNvSpPr>
          <p:nvPr>
            <p:ph type="sldNum" sz="quarter" idx="12"/>
          </p:nvPr>
        </p:nvSpPr>
        <p:spPr/>
        <p:txBody>
          <a:bodyPr/>
          <a:lstStyle/>
          <a:p>
            <a:fld id="{86461F03-1CF7-4647-B508-E05092C4E645}" type="slidenum">
              <a:rPr lang="es-CO" smtClean="0"/>
              <a:pPr/>
              <a:t>‹#›</a:t>
            </a:fld>
            <a:endParaRPr lang="es-CO"/>
          </a:p>
        </p:txBody>
      </p:sp>
    </p:spTree>
    <p:extLst>
      <p:ext uri="{BB962C8B-B14F-4D97-AF65-F5344CB8AC3E}">
        <p14:creationId xmlns:p14="http://schemas.microsoft.com/office/powerpoint/2010/main" val="2519917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F86CF-E359-4E8D-A401-5C3232320D1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AFA444-7312-4046-B42C-C132517E57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6B1D92-4208-4550-BE3C-E24A8DE306CF}"/>
              </a:ext>
            </a:extLst>
          </p:cNvPr>
          <p:cNvSpPr>
            <a:spLocks noGrp="1"/>
          </p:cNvSpPr>
          <p:nvPr>
            <p:ph type="dt" sz="half" idx="10"/>
          </p:nvPr>
        </p:nvSpPr>
        <p:spPr/>
        <p:txBody>
          <a:bodyPr/>
          <a:lstStyle/>
          <a:p>
            <a:fld id="{B5BC2055-E945-4C59-BD52-301338CB33DE}" type="datetimeFigureOut">
              <a:rPr lang="es-CO" smtClean="0"/>
              <a:pPr/>
              <a:t>17/10/2024</a:t>
            </a:fld>
            <a:endParaRPr lang="es-CO"/>
          </a:p>
        </p:txBody>
      </p:sp>
      <p:sp>
        <p:nvSpPr>
          <p:cNvPr id="5" name="Footer Placeholder 4">
            <a:extLst>
              <a:ext uri="{FF2B5EF4-FFF2-40B4-BE49-F238E27FC236}">
                <a16:creationId xmlns:a16="http://schemas.microsoft.com/office/drawing/2014/main" id="{69C49B9F-70F2-43C5-BBEC-5ECD469E9872}"/>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1A960AD5-DC58-48FD-A65A-6230FB2FCA4A}"/>
              </a:ext>
            </a:extLst>
          </p:cNvPr>
          <p:cNvSpPr>
            <a:spLocks noGrp="1"/>
          </p:cNvSpPr>
          <p:nvPr>
            <p:ph type="sldNum" sz="quarter" idx="12"/>
          </p:nvPr>
        </p:nvSpPr>
        <p:spPr/>
        <p:txBody>
          <a:bodyPr/>
          <a:lstStyle/>
          <a:p>
            <a:fld id="{86461F03-1CF7-4647-B508-E05092C4E645}" type="slidenum">
              <a:rPr lang="es-CO" smtClean="0"/>
              <a:pPr/>
              <a:t>‹#›</a:t>
            </a:fld>
            <a:endParaRPr lang="es-CO"/>
          </a:p>
        </p:txBody>
      </p:sp>
    </p:spTree>
    <p:extLst>
      <p:ext uri="{BB962C8B-B14F-4D97-AF65-F5344CB8AC3E}">
        <p14:creationId xmlns:p14="http://schemas.microsoft.com/office/powerpoint/2010/main" val="73072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7FFA1D-B753-43C0-B16F-D79C713F9A61}"/>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803AD58-C6F5-4CBB-9223-4CD44DCA33C5}"/>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FA6622-DC87-4843-89E0-E2504232CD60}"/>
              </a:ext>
            </a:extLst>
          </p:cNvPr>
          <p:cNvSpPr>
            <a:spLocks noGrp="1"/>
          </p:cNvSpPr>
          <p:nvPr>
            <p:ph type="dt" sz="half" idx="10"/>
          </p:nvPr>
        </p:nvSpPr>
        <p:spPr/>
        <p:txBody>
          <a:bodyPr/>
          <a:lstStyle/>
          <a:p>
            <a:fld id="{B5BC2055-E945-4C59-BD52-301338CB33DE}" type="datetimeFigureOut">
              <a:rPr lang="es-CO" smtClean="0"/>
              <a:pPr/>
              <a:t>17/10/2024</a:t>
            </a:fld>
            <a:endParaRPr lang="es-CO"/>
          </a:p>
        </p:txBody>
      </p:sp>
      <p:sp>
        <p:nvSpPr>
          <p:cNvPr id="5" name="Footer Placeholder 4">
            <a:extLst>
              <a:ext uri="{FF2B5EF4-FFF2-40B4-BE49-F238E27FC236}">
                <a16:creationId xmlns:a16="http://schemas.microsoft.com/office/drawing/2014/main" id="{9AAD3844-5461-4022-9F1D-A314D4228693}"/>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95B971DF-317E-476A-A78A-CE953C624805}"/>
              </a:ext>
            </a:extLst>
          </p:cNvPr>
          <p:cNvSpPr>
            <a:spLocks noGrp="1"/>
          </p:cNvSpPr>
          <p:nvPr>
            <p:ph type="sldNum" sz="quarter" idx="12"/>
          </p:nvPr>
        </p:nvSpPr>
        <p:spPr/>
        <p:txBody>
          <a:bodyPr/>
          <a:lstStyle/>
          <a:p>
            <a:fld id="{86461F03-1CF7-4647-B508-E05092C4E645}" type="slidenum">
              <a:rPr lang="es-CO" smtClean="0"/>
              <a:pPr/>
              <a:t>‹#›</a:t>
            </a:fld>
            <a:endParaRPr lang="es-CO"/>
          </a:p>
        </p:txBody>
      </p:sp>
    </p:spTree>
    <p:extLst>
      <p:ext uri="{BB962C8B-B14F-4D97-AF65-F5344CB8AC3E}">
        <p14:creationId xmlns:p14="http://schemas.microsoft.com/office/powerpoint/2010/main" val="9158838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5BC2055-E945-4C59-BD52-301338CB33DE}" type="datetimeFigureOut">
              <a:rPr lang="es-CO" smtClean="0"/>
              <a:pPr/>
              <a:t>17/10/2024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86461F03-1CF7-4647-B508-E05092C4E645}" type="slidenum">
              <a:rPr lang="es-CO" smtClean="0"/>
              <a:pPr/>
              <a:t>‹#›</a:t>
            </a:fld>
            <a:endParaRPr lang="es-CO"/>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7953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BC2055-E945-4C59-BD52-301338CB33DE}" type="datetimeFigureOut">
              <a:rPr lang="es-CO" smtClean="0"/>
              <a:pPr/>
              <a:t>17/10/2024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86461F03-1CF7-4647-B508-E05092C4E645}" type="slidenum">
              <a:rPr lang="es-CO" smtClean="0"/>
              <a:pPr/>
              <a:t>‹#›</a:t>
            </a:fld>
            <a:endParaRPr lang="es-CO"/>
          </a:p>
        </p:txBody>
      </p:sp>
    </p:spTree>
    <p:extLst>
      <p:ext uri="{BB962C8B-B14F-4D97-AF65-F5344CB8AC3E}">
        <p14:creationId xmlns:p14="http://schemas.microsoft.com/office/powerpoint/2010/main" val="10701553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BC2055-E945-4C59-BD52-301338CB33DE}" type="datetimeFigureOut">
              <a:rPr lang="es-CO" smtClean="0"/>
              <a:pPr/>
              <a:t>17/10/2024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86461F03-1CF7-4647-B508-E05092C4E645}" type="slidenum">
              <a:rPr lang="es-CO" smtClean="0"/>
              <a:pPr/>
              <a:t>‹#›</a:t>
            </a:fld>
            <a:endParaRPr lang="es-CO"/>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7075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5BC2055-E945-4C59-BD52-301338CB33DE}" type="datetimeFigureOut">
              <a:rPr lang="es-CO" smtClean="0"/>
              <a:pPr/>
              <a:t>17/10/2024</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86461F03-1CF7-4647-B508-E05092C4E645}" type="slidenum">
              <a:rPr lang="es-CO" smtClean="0"/>
              <a:pPr/>
              <a:t>‹#›</a:t>
            </a:fld>
            <a:endParaRPr lang="es-CO"/>
          </a:p>
        </p:txBody>
      </p:sp>
    </p:spTree>
    <p:extLst>
      <p:ext uri="{BB962C8B-B14F-4D97-AF65-F5344CB8AC3E}">
        <p14:creationId xmlns:p14="http://schemas.microsoft.com/office/powerpoint/2010/main" val="37329782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BC2055-E945-4C59-BD52-301338CB33DE}" type="datetimeFigureOut">
              <a:rPr lang="es-CO" smtClean="0"/>
              <a:pPr/>
              <a:t>17/10/2024</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86461F03-1CF7-4647-B508-E05092C4E645}" type="slidenum">
              <a:rPr lang="es-CO" smtClean="0"/>
              <a:pPr/>
              <a:t>‹#›</a:t>
            </a:fld>
            <a:endParaRPr lang="es-CO"/>
          </a:p>
        </p:txBody>
      </p:sp>
    </p:spTree>
    <p:extLst>
      <p:ext uri="{BB962C8B-B14F-4D97-AF65-F5344CB8AC3E}">
        <p14:creationId xmlns:p14="http://schemas.microsoft.com/office/powerpoint/2010/main" val="34445211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5BC2055-E945-4C59-BD52-301338CB33DE}" type="datetimeFigureOut">
              <a:rPr lang="es-CO" smtClean="0"/>
              <a:pPr/>
              <a:t>17/10/2024</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86461F03-1CF7-4647-B508-E05092C4E645}" type="slidenum">
              <a:rPr lang="es-CO" smtClean="0"/>
              <a:pPr/>
              <a:t>‹#›</a:t>
            </a:fld>
            <a:endParaRPr lang="es-CO"/>
          </a:p>
        </p:txBody>
      </p:sp>
    </p:spTree>
    <p:extLst>
      <p:ext uri="{BB962C8B-B14F-4D97-AF65-F5344CB8AC3E}">
        <p14:creationId xmlns:p14="http://schemas.microsoft.com/office/powerpoint/2010/main" val="9561697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5BC2055-E945-4C59-BD52-301338CB33DE}" type="datetimeFigureOut">
              <a:rPr lang="es-CO" smtClean="0"/>
              <a:pPr/>
              <a:t>17/10/2024</a:t>
            </a:fld>
            <a:endParaRPr lang="es-CO"/>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CO"/>
          </a:p>
        </p:txBody>
      </p:sp>
      <p:sp>
        <p:nvSpPr>
          <p:cNvPr id="9" name="Slide Number Placeholder 8"/>
          <p:cNvSpPr>
            <a:spLocks noGrp="1"/>
          </p:cNvSpPr>
          <p:nvPr>
            <p:ph type="sldNum" sz="quarter" idx="12"/>
          </p:nvPr>
        </p:nvSpPr>
        <p:spPr/>
        <p:txBody>
          <a:bodyPr/>
          <a:lstStyle/>
          <a:p>
            <a:fld id="{86461F03-1CF7-4647-B508-E05092C4E645}" type="slidenum">
              <a:rPr lang="es-CO" smtClean="0"/>
              <a:pPr/>
              <a:t>‹#›</a:t>
            </a:fld>
            <a:endParaRPr lang="es-CO"/>
          </a:p>
        </p:txBody>
      </p:sp>
    </p:spTree>
    <p:extLst>
      <p:ext uri="{BB962C8B-B14F-4D97-AF65-F5344CB8AC3E}">
        <p14:creationId xmlns:p14="http://schemas.microsoft.com/office/powerpoint/2010/main" val="30336447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B5BC2055-E945-4C59-BD52-301338CB33DE}" type="datetimeFigureOut">
              <a:rPr lang="es-CO" smtClean="0"/>
              <a:pPr/>
              <a:t>17/10/2024</a:t>
            </a:fld>
            <a:endParaRPr lang="es-CO"/>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s-CO"/>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6461F03-1CF7-4647-B508-E05092C4E645}" type="slidenum">
              <a:rPr lang="es-CO" smtClean="0"/>
              <a:pPr/>
              <a:t>‹#›</a:t>
            </a:fld>
            <a:endParaRPr lang="es-CO"/>
          </a:p>
        </p:txBody>
      </p:sp>
    </p:spTree>
    <p:extLst>
      <p:ext uri="{BB962C8B-B14F-4D97-AF65-F5344CB8AC3E}">
        <p14:creationId xmlns:p14="http://schemas.microsoft.com/office/powerpoint/2010/main" val="9765395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5BC2055-E945-4C59-BD52-301338CB33DE}" type="datetimeFigureOut">
              <a:rPr lang="es-CO" smtClean="0"/>
              <a:pPr/>
              <a:t>17/10/2024</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86461F03-1CF7-4647-B508-E05092C4E645}" type="slidenum">
              <a:rPr lang="es-CO" smtClean="0"/>
              <a:pPr/>
              <a:t>‹#›</a:t>
            </a:fld>
            <a:endParaRPr lang="es-CO"/>
          </a:p>
        </p:txBody>
      </p:sp>
    </p:spTree>
    <p:extLst>
      <p:ext uri="{BB962C8B-B14F-4D97-AF65-F5344CB8AC3E}">
        <p14:creationId xmlns:p14="http://schemas.microsoft.com/office/powerpoint/2010/main" val="39675991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BC2055-E945-4C59-BD52-301338CB33DE}" type="datetimeFigureOut">
              <a:rPr lang="es-CO" smtClean="0"/>
              <a:pPr/>
              <a:t>17/10/2024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86461F03-1CF7-4647-B508-E05092C4E645}" type="slidenum">
              <a:rPr lang="es-CO" smtClean="0"/>
              <a:pPr/>
              <a:t>‹#›</a:t>
            </a:fld>
            <a:endParaRPr lang="es-CO"/>
          </a:p>
        </p:txBody>
      </p:sp>
    </p:spTree>
    <p:extLst>
      <p:ext uri="{BB962C8B-B14F-4D97-AF65-F5344CB8AC3E}">
        <p14:creationId xmlns:p14="http://schemas.microsoft.com/office/powerpoint/2010/main" val="29164304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BC2055-E945-4C59-BD52-301338CB33DE}" type="datetimeFigureOut">
              <a:rPr lang="es-CO" smtClean="0"/>
              <a:pPr/>
              <a:t>17/10/2024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86461F03-1CF7-4647-B508-E05092C4E645}" type="slidenum">
              <a:rPr lang="es-CO" smtClean="0"/>
              <a:pPr/>
              <a:t>‹#›</a:t>
            </a:fld>
            <a:endParaRPr lang="es-CO"/>
          </a:p>
        </p:txBody>
      </p:sp>
    </p:spTree>
    <p:extLst>
      <p:ext uri="{BB962C8B-B14F-4D97-AF65-F5344CB8AC3E}">
        <p14:creationId xmlns:p14="http://schemas.microsoft.com/office/powerpoint/2010/main" val="29188461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33"/>
            <a:ext cx="77724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48A87A34-81AB-432B-8DAE-1953F412C126}" type="datetimeFigureOut">
              <a:rPr lang="en-US" smtClean="0"/>
              <a:pPr/>
              <a:t>10/17/2024</a:t>
            </a:fld>
            <a:endParaRPr lang="en-US" dirty="0"/>
          </a:p>
        </p:txBody>
      </p:sp>
      <p:sp>
        <p:nvSpPr>
          <p:cNvPr id="5" name="4 Marcador de pie de página"/>
          <p:cNvSpPr>
            <a:spLocks noGrp="1"/>
          </p:cNvSpPr>
          <p:nvPr>
            <p:ph type="ftr" sz="quarter" idx="11"/>
          </p:nvPr>
        </p:nvSpPr>
        <p:spPr/>
        <p:txBody>
          <a:bodyPr/>
          <a:lstStyle/>
          <a:p>
            <a:endParaRPr lang="en-US" dirty="0"/>
          </a:p>
        </p:txBody>
      </p:sp>
      <p:sp>
        <p:nvSpPr>
          <p:cNvPr id="6" name="5 Marcador de número de diapositiva"/>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9338420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8A87A34-81AB-432B-8DAE-1953F412C126}" type="datetimeFigureOut">
              <a:rPr lang="en-US" smtClean="0"/>
              <a:pPr/>
              <a:t>10/17/2024</a:t>
            </a:fld>
            <a:endParaRPr lang="en-US" dirty="0"/>
          </a:p>
        </p:txBody>
      </p:sp>
      <p:sp>
        <p:nvSpPr>
          <p:cNvPr id="5" name="4 Marcador de pie de página"/>
          <p:cNvSpPr>
            <a:spLocks noGrp="1"/>
          </p:cNvSpPr>
          <p:nvPr>
            <p:ph type="ftr" sz="quarter" idx="11"/>
          </p:nvPr>
        </p:nvSpPr>
        <p:spPr/>
        <p:txBody>
          <a:bodyPr/>
          <a:lstStyle/>
          <a:p>
            <a:endParaRPr lang="en-US" dirty="0"/>
          </a:p>
        </p:txBody>
      </p:sp>
      <p:sp>
        <p:nvSpPr>
          <p:cNvPr id="6" name="5 Marcador de número de diapositiva"/>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3964153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8"/>
            <a:ext cx="7772400" cy="1362075"/>
          </a:xfrm>
        </p:spPr>
        <p:txBody>
          <a:bodyPr anchor="t"/>
          <a:lstStyle>
            <a:lvl1pPr algn="l">
              <a:defRPr sz="3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48A87A34-81AB-432B-8DAE-1953F412C126}" type="datetimeFigureOut">
              <a:rPr lang="en-US" smtClean="0"/>
              <a:pPr/>
              <a:t>10/17/2024</a:t>
            </a:fld>
            <a:endParaRPr lang="en-US" dirty="0"/>
          </a:p>
        </p:txBody>
      </p:sp>
      <p:sp>
        <p:nvSpPr>
          <p:cNvPr id="5" name="4 Marcador de pie de página"/>
          <p:cNvSpPr>
            <a:spLocks noGrp="1"/>
          </p:cNvSpPr>
          <p:nvPr>
            <p:ph type="ftr" sz="quarter" idx="11"/>
          </p:nvPr>
        </p:nvSpPr>
        <p:spPr/>
        <p:txBody>
          <a:bodyPr/>
          <a:lstStyle/>
          <a:p>
            <a:endParaRPr lang="en-US" dirty="0"/>
          </a:p>
        </p:txBody>
      </p:sp>
      <p:sp>
        <p:nvSpPr>
          <p:cNvPr id="6" name="5 Marcador de número de diapositiva"/>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4761430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457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4648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48A87A34-81AB-432B-8DAE-1953F412C126}" type="datetimeFigureOut">
              <a:rPr lang="en-US" smtClean="0"/>
              <a:pPr/>
              <a:t>10/17/2024</a:t>
            </a:fld>
            <a:endParaRPr lang="en-US" dirty="0"/>
          </a:p>
        </p:txBody>
      </p:sp>
      <p:sp>
        <p:nvSpPr>
          <p:cNvPr id="6" name="5 Marcador de pie de página"/>
          <p:cNvSpPr>
            <a:spLocks noGrp="1"/>
          </p:cNvSpPr>
          <p:nvPr>
            <p:ph type="ftr" sz="quarter" idx="11"/>
          </p:nvPr>
        </p:nvSpPr>
        <p:spPr/>
        <p:txBody>
          <a:bodyPr/>
          <a:lstStyle/>
          <a:p>
            <a:endParaRPr lang="en-US" dirty="0"/>
          </a:p>
        </p:txBody>
      </p:sp>
      <p:sp>
        <p:nvSpPr>
          <p:cNvPr id="7" name="6 Marcador de número de diapositiva"/>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3273219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4645029"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9"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48A87A34-81AB-432B-8DAE-1953F412C126}" type="datetimeFigureOut">
              <a:rPr lang="en-US" smtClean="0"/>
              <a:pPr/>
              <a:t>10/17/2024</a:t>
            </a:fld>
            <a:endParaRPr lang="en-US" dirty="0"/>
          </a:p>
        </p:txBody>
      </p:sp>
      <p:sp>
        <p:nvSpPr>
          <p:cNvPr id="8" name="7 Marcador de pie de página"/>
          <p:cNvSpPr>
            <a:spLocks noGrp="1"/>
          </p:cNvSpPr>
          <p:nvPr>
            <p:ph type="ftr" sz="quarter" idx="11"/>
          </p:nvPr>
        </p:nvSpPr>
        <p:spPr/>
        <p:txBody>
          <a:bodyPr/>
          <a:lstStyle/>
          <a:p>
            <a:endParaRPr lang="en-US" dirty="0"/>
          </a:p>
        </p:txBody>
      </p:sp>
      <p:sp>
        <p:nvSpPr>
          <p:cNvPr id="9" name="8 Marcador de número de diapositiva"/>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680210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48A87A34-81AB-432B-8DAE-1953F412C126}" type="datetimeFigureOut">
              <a:rPr lang="en-US" smtClean="0"/>
              <a:pPr/>
              <a:t>10/17/2024</a:t>
            </a:fld>
            <a:endParaRPr lang="en-US" dirty="0"/>
          </a:p>
        </p:txBody>
      </p:sp>
      <p:sp>
        <p:nvSpPr>
          <p:cNvPr id="4" name="3 Marcador de pie de página"/>
          <p:cNvSpPr>
            <a:spLocks noGrp="1"/>
          </p:cNvSpPr>
          <p:nvPr>
            <p:ph type="ftr" sz="quarter" idx="11"/>
          </p:nvPr>
        </p:nvSpPr>
        <p:spPr/>
        <p:txBody>
          <a:bodyPr/>
          <a:lstStyle/>
          <a:p>
            <a:endParaRPr lang="en-US" dirty="0"/>
          </a:p>
        </p:txBody>
      </p:sp>
      <p:sp>
        <p:nvSpPr>
          <p:cNvPr id="5" name="4 Marcador de número de diapositiva"/>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245792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8A87A34-81AB-432B-8DAE-1953F412C126}" type="datetimeFigureOut">
              <a:rPr lang="en-US" smtClean="0"/>
              <a:pPr/>
              <a:t>10/17/2024</a:t>
            </a:fld>
            <a:endParaRPr lang="en-US" dirty="0"/>
          </a:p>
        </p:txBody>
      </p:sp>
      <p:sp>
        <p:nvSpPr>
          <p:cNvPr id="3" name="2 Marcador de pie de página"/>
          <p:cNvSpPr>
            <a:spLocks noGrp="1"/>
          </p:cNvSpPr>
          <p:nvPr>
            <p:ph type="ftr" sz="quarter" idx="11"/>
          </p:nvPr>
        </p:nvSpPr>
        <p:spPr/>
        <p:txBody>
          <a:bodyPr/>
          <a:lstStyle/>
          <a:p>
            <a:endParaRPr lang="en-US" dirty="0"/>
          </a:p>
        </p:txBody>
      </p:sp>
      <p:sp>
        <p:nvSpPr>
          <p:cNvPr id="4" name="3 Marcador de número de diapositiva"/>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2776067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2" y="273050"/>
            <a:ext cx="3008313" cy="1162050"/>
          </a:xfrm>
        </p:spPr>
        <p:txBody>
          <a:bodyPr anchor="b"/>
          <a:lstStyle>
            <a:lvl1pPr algn="l">
              <a:defRPr sz="1500" b="1"/>
            </a:lvl1pPr>
          </a:lstStyle>
          <a:p>
            <a:r>
              <a:rPr lang="es-ES"/>
              <a:t>Haga clic para modificar el estilo de título del patrón</a:t>
            </a:r>
            <a:endParaRPr lang="es-CO"/>
          </a:p>
        </p:txBody>
      </p:sp>
      <p:sp>
        <p:nvSpPr>
          <p:cNvPr id="3" name="2 Marcador de contenido"/>
          <p:cNvSpPr>
            <a:spLocks noGrp="1"/>
          </p:cNvSpPr>
          <p:nvPr>
            <p:ph idx="1"/>
          </p:nvPr>
        </p:nvSpPr>
        <p:spPr>
          <a:xfrm>
            <a:off x="3575050" y="273058"/>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457202" y="1435103"/>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8A87A34-81AB-432B-8DAE-1953F412C126}" type="datetimeFigureOut">
              <a:rPr lang="en-US" smtClean="0"/>
              <a:pPr/>
              <a:t>10/17/2024</a:t>
            </a:fld>
            <a:endParaRPr lang="en-US" dirty="0"/>
          </a:p>
        </p:txBody>
      </p:sp>
      <p:sp>
        <p:nvSpPr>
          <p:cNvPr id="6" name="5 Marcador de pie de página"/>
          <p:cNvSpPr>
            <a:spLocks noGrp="1"/>
          </p:cNvSpPr>
          <p:nvPr>
            <p:ph type="ftr" sz="quarter" idx="11"/>
          </p:nvPr>
        </p:nvSpPr>
        <p:spPr/>
        <p:txBody>
          <a:bodyPr/>
          <a:lstStyle/>
          <a:p>
            <a:endParaRPr lang="en-US" dirty="0"/>
          </a:p>
        </p:txBody>
      </p:sp>
      <p:sp>
        <p:nvSpPr>
          <p:cNvPr id="7" name="6 Marcador de número de diapositiva"/>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639933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15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s-CO"/>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8A87A34-81AB-432B-8DAE-1953F412C126}" type="datetimeFigureOut">
              <a:rPr lang="en-US" smtClean="0"/>
              <a:pPr/>
              <a:t>10/17/2024</a:t>
            </a:fld>
            <a:endParaRPr lang="en-US" dirty="0"/>
          </a:p>
        </p:txBody>
      </p:sp>
      <p:sp>
        <p:nvSpPr>
          <p:cNvPr id="6" name="5 Marcador de pie de página"/>
          <p:cNvSpPr>
            <a:spLocks noGrp="1"/>
          </p:cNvSpPr>
          <p:nvPr>
            <p:ph type="ftr" sz="quarter" idx="11"/>
          </p:nvPr>
        </p:nvSpPr>
        <p:spPr/>
        <p:txBody>
          <a:bodyPr/>
          <a:lstStyle/>
          <a:p>
            <a:endParaRPr lang="en-US" dirty="0"/>
          </a:p>
        </p:txBody>
      </p:sp>
      <p:sp>
        <p:nvSpPr>
          <p:cNvPr id="7" name="6 Marcador de número de diapositiva"/>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4805698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8A87A34-81AB-432B-8DAE-1953F412C126}" type="datetimeFigureOut">
              <a:rPr lang="en-US" smtClean="0"/>
              <a:pPr/>
              <a:t>10/17/2024</a:t>
            </a:fld>
            <a:endParaRPr lang="en-US" dirty="0"/>
          </a:p>
        </p:txBody>
      </p:sp>
      <p:sp>
        <p:nvSpPr>
          <p:cNvPr id="5" name="4 Marcador de pie de página"/>
          <p:cNvSpPr>
            <a:spLocks noGrp="1"/>
          </p:cNvSpPr>
          <p:nvPr>
            <p:ph type="ftr" sz="quarter" idx="11"/>
          </p:nvPr>
        </p:nvSpPr>
        <p:spPr/>
        <p:txBody>
          <a:bodyPr/>
          <a:lstStyle/>
          <a:p>
            <a:endParaRPr lang="en-US" dirty="0"/>
          </a:p>
        </p:txBody>
      </p:sp>
      <p:sp>
        <p:nvSpPr>
          <p:cNvPr id="6" name="5 Marcador de número de diapositiva"/>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0005678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46"/>
            <a:ext cx="20574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457200" y="274646"/>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8A87A34-81AB-432B-8DAE-1953F412C126}" type="datetimeFigureOut">
              <a:rPr lang="en-US" smtClean="0"/>
              <a:pPr/>
              <a:t>10/17/2024</a:t>
            </a:fld>
            <a:endParaRPr lang="en-US" dirty="0"/>
          </a:p>
        </p:txBody>
      </p:sp>
      <p:sp>
        <p:nvSpPr>
          <p:cNvPr id="5" name="4 Marcador de pie de página"/>
          <p:cNvSpPr>
            <a:spLocks noGrp="1"/>
          </p:cNvSpPr>
          <p:nvPr>
            <p:ph type="ftr" sz="quarter" idx="11"/>
          </p:nvPr>
        </p:nvSpPr>
        <p:spPr/>
        <p:txBody>
          <a:bodyPr/>
          <a:lstStyle/>
          <a:p>
            <a:endParaRPr lang="en-US" dirty="0"/>
          </a:p>
        </p:txBody>
      </p:sp>
      <p:sp>
        <p:nvSpPr>
          <p:cNvPr id="6" name="5 Marcador de número de diapositiva"/>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1017135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2"/>
          <p:cNvSpPr>
            <a:spLocks noGrp="1"/>
          </p:cNvSpPr>
          <p:nvPr>
            <p:ph type="body"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8A87A34-81AB-432B-8DAE-1953F412C126}" type="datetimeFigureOut">
              <a:rPr lang="en-US" smtClean="0"/>
              <a:pPr/>
              <a:t>10/17/2024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94253584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65204-38F4-4BA1-A1F3-03021F43B83F}"/>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63F64FD-3DE9-42EB-84E0-437ABA7D804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D62F65F-E538-42FD-AB81-C49ABBA3638F}"/>
              </a:ext>
            </a:extLst>
          </p:cNvPr>
          <p:cNvSpPr>
            <a:spLocks noGrp="1"/>
          </p:cNvSpPr>
          <p:nvPr>
            <p:ph type="dt" sz="half" idx="10"/>
          </p:nvPr>
        </p:nvSpPr>
        <p:spPr/>
        <p:txBody>
          <a:bodyPr/>
          <a:lstStyle/>
          <a:p>
            <a:fld id="{263EDF59-78C9-4D93-9F99-0EBF1FFAAE3E}" type="datetimeFigureOut">
              <a:rPr lang="en-US" smtClean="0"/>
              <a:t>10/17/2024</a:t>
            </a:fld>
            <a:endParaRPr lang="en-US"/>
          </a:p>
        </p:txBody>
      </p:sp>
      <p:sp>
        <p:nvSpPr>
          <p:cNvPr id="5" name="Footer Placeholder 4">
            <a:extLst>
              <a:ext uri="{FF2B5EF4-FFF2-40B4-BE49-F238E27FC236}">
                <a16:creationId xmlns:a16="http://schemas.microsoft.com/office/drawing/2014/main" id="{C3A02DF1-76FF-42C2-B2DB-C3EB2548AB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E80972-345D-40C1-A326-5206A94D8850}"/>
              </a:ext>
            </a:extLst>
          </p:cNvPr>
          <p:cNvSpPr>
            <a:spLocks noGrp="1"/>
          </p:cNvSpPr>
          <p:nvPr>
            <p:ph type="sldNum" sz="quarter" idx="12"/>
          </p:nvPr>
        </p:nvSpPr>
        <p:spPr/>
        <p:txBody>
          <a:bodyPr/>
          <a:lstStyle/>
          <a:p>
            <a:fld id="{7A7BF1DE-D8D8-4BDD-BB7A-453FB40228BD}" type="slidenum">
              <a:rPr lang="en-US" smtClean="0"/>
              <a:t>‹#›</a:t>
            </a:fld>
            <a:endParaRPr lang="en-US"/>
          </a:p>
        </p:txBody>
      </p:sp>
    </p:spTree>
    <p:extLst>
      <p:ext uri="{BB962C8B-B14F-4D97-AF65-F5344CB8AC3E}">
        <p14:creationId xmlns:p14="http://schemas.microsoft.com/office/powerpoint/2010/main" val="280275528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4DED8-7A46-4066-A387-D183F1BBC1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42EFFB-4055-4E5C-B4A7-7011E15C5F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6B6539-E57E-4F65-A04E-77C3515CC912}"/>
              </a:ext>
            </a:extLst>
          </p:cNvPr>
          <p:cNvSpPr>
            <a:spLocks noGrp="1"/>
          </p:cNvSpPr>
          <p:nvPr>
            <p:ph type="dt" sz="half" idx="10"/>
          </p:nvPr>
        </p:nvSpPr>
        <p:spPr/>
        <p:txBody>
          <a:bodyPr/>
          <a:lstStyle/>
          <a:p>
            <a:fld id="{263EDF59-78C9-4D93-9F99-0EBF1FFAAE3E}" type="datetimeFigureOut">
              <a:rPr lang="en-US" smtClean="0"/>
              <a:t>10/17/2024</a:t>
            </a:fld>
            <a:endParaRPr lang="en-US"/>
          </a:p>
        </p:txBody>
      </p:sp>
      <p:sp>
        <p:nvSpPr>
          <p:cNvPr id="5" name="Footer Placeholder 4">
            <a:extLst>
              <a:ext uri="{FF2B5EF4-FFF2-40B4-BE49-F238E27FC236}">
                <a16:creationId xmlns:a16="http://schemas.microsoft.com/office/drawing/2014/main" id="{9613E33E-0460-4D99-B645-ADFC04EC27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AB36F4-E595-4CDB-97EA-E136F1BEF97F}"/>
              </a:ext>
            </a:extLst>
          </p:cNvPr>
          <p:cNvSpPr>
            <a:spLocks noGrp="1"/>
          </p:cNvSpPr>
          <p:nvPr>
            <p:ph type="sldNum" sz="quarter" idx="12"/>
          </p:nvPr>
        </p:nvSpPr>
        <p:spPr/>
        <p:txBody>
          <a:bodyPr/>
          <a:lstStyle/>
          <a:p>
            <a:fld id="{7A7BF1DE-D8D8-4BDD-BB7A-453FB40228BD}" type="slidenum">
              <a:rPr lang="en-US" smtClean="0"/>
              <a:t>‹#›</a:t>
            </a:fld>
            <a:endParaRPr lang="en-US"/>
          </a:p>
        </p:txBody>
      </p:sp>
    </p:spTree>
    <p:extLst>
      <p:ext uri="{BB962C8B-B14F-4D97-AF65-F5344CB8AC3E}">
        <p14:creationId xmlns:p14="http://schemas.microsoft.com/office/powerpoint/2010/main" val="32725058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BAC33-CD4F-4BDF-ACE5-AB968CCA2FA9}"/>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E27DCF2D-D2EA-43CD-8AC1-2D764CDFED74}"/>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10F296-C443-4685-B2F4-6C64AA863A2A}"/>
              </a:ext>
            </a:extLst>
          </p:cNvPr>
          <p:cNvSpPr>
            <a:spLocks noGrp="1"/>
          </p:cNvSpPr>
          <p:nvPr>
            <p:ph type="dt" sz="half" idx="10"/>
          </p:nvPr>
        </p:nvSpPr>
        <p:spPr/>
        <p:txBody>
          <a:bodyPr/>
          <a:lstStyle/>
          <a:p>
            <a:fld id="{263EDF59-78C9-4D93-9F99-0EBF1FFAAE3E}" type="datetimeFigureOut">
              <a:rPr lang="en-US" smtClean="0"/>
              <a:t>10/17/2024</a:t>
            </a:fld>
            <a:endParaRPr lang="en-US"/>
          </a:p>
        </p:txBody>
      </p:sp>
      <p:sp>
        <p:nvSpPr>
          <p:cNvPr id="5" name="Footer Placeholder 4">
            <a:extLst>
              <a:ext uri="{FF2B5EF4-FFF2-40B4-BE49-F238E27FC236}">
                <a16:creationId xmlns:a16="http://schemas.microsoft.com/office/drawing/2014/main" id="{A26AD605-E379-4C72-92E8-C6B5C8F4FC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F0BF96-7D0A-4FFE-B1DA-ABB06FD1A91C}"/>
              </a:ext>
            </a:extLst>
          </p:cNvPr>
          <p:cNvSpPr>
            <a:spLocks noGrp="1"/>
          </p:cNvSpPr>
          <p:nvPr>
            <p:ph type="sldNum" sz="quarter" idx="12"/>
          </p:nvPr>
        </p:nvSpPr>
        <p:spPr/>
        <p:txBody>
          <a:bodyPr/>
          <a:lstStyle/>
          <a:p>
            <a:fld id="{7A7BF1DE-D8D8-4BDD-BB7A-453FB40228BD}" type="slidenum">
              <a:rPr lang="en-US" smtClean="0"/>
              <a:t>‹#›</a:t>
            </a:fld>
            <a:endParaRPr lang="en-US"/>
          </a:p>
        </p:txBody>
      </p:sp>
    </p:spTree>
    <p:extLst>
      <p:ext uri="{BB962C8B-B14F-4D97-AF65-F5344CB8AC3E}">
        <p14:creationId xmlns:p14="http://schemas.microsoft.com/office/powerpoint/2010/main" val="11664086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B2923-B157-4DCE-A189-7C59DBEE63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70636B-566F-47E6-BF96-B93435A650DE}"/>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D97390-DE5D-41B8-AE61-45228DF357BA}"/>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1BAA19-3110-4102-9420-D5E631701A60}"/>
              </a:ext>
            </a:extLst>
          </p:cNvPr>
          <p:cNvSpPr>
            <a:spLocks noGrp="1"/>
          </p:cNvSpPr>
          <p:nvPr>
            <p:ph type="dt" sz="half" idx="10"/>
          </p:nvPr>
        </p:nvSpPr>
        <p:spPr/>
        <p:txBody>
          <a:bodyPr/>
          <a:lstStyle/>
          <a:p>
            <a:fld id="{263EDF59-78C9-4D93-9F99-0EBF1FFAAE3E}" type="datetimeFigureOut">
              <a:rPr lang="en-US" smtClean="0"/>
              <a:t>10/17/2024</a:t>
            </a:fld>
            <a:endParaRPr lang="en-US"/>
          </a:p>
        </p:txBody>
      </p:sp>
      <p:sp>
        <p:nvSpPr>
          <p:cNvPr id="6" name="Footer Placeholder 5">
            <a:extLst>
              <a:ext uri="{FF2B5EF4-FFF2-40B4-BE49-F238E27FC236}">
                <a16:creationId xmlns:a16="http://schemas.microsoft.com/office/drawing/2014/main" id="{A5A2CE1B-2EA9-4AFB-BCA2-B175171D8D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D25650-5EBE-4A0D-B69D-A657490831D0}"/>
              </a:ext>
            </a:extLst>
          </p:cNvPr>
          <p:cNvSpPr>
            <a:spLocks noGrp="1"/>
          </p:cNvSpPr>
          <p:nvPr>
            <p:ph type="sldNum" sz="quarter" idx="12"/>
          </p:nvPr>
        </p:nvSpPr>
        <p:spPr/>
        <p:txBody>
          <a:bodyPr/>
          <a:lstStyle/>
          <a:p>
            <a:fld id="{7A7BF1DE-D8D8-4BDD-BB7A-453FB40228BD}" type="slidenum">
              <a:rPr lang="en-US" smtClean="0"/>
              <a:t>‹#›</a:t>
            </a:fld>
            <a:endParaRPr lang="en-US"/>
          </a:p>
        </p:txBody>
      </p:sp>
    </p:spTree>
    <p:extLst>
      <p:ext uri="{BB962C8B-B14F-4D97-AF65-F5344CB8AC3E}">
        <p14:creationId xmlns:p14="http://schemas.microsoft.com/office/powerpoint/2010/main" val="29201007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613BB-E87F-43B0-A7B8-2CA8D4E4380F}"/>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651E8B-E0C6-4C87-AA0B-5AA47F9781ED}"/>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A18D0C6-2ADF-4118-9232-6C432D60D8DD}"/>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883695E-C98B-4D1A-9DA6-C09A8AB6F851}"/>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8E8856AB-8624-432D-B90A-9CFB6A147641}"/>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D7EBDC-C439-4472-9DFB-C2BF7477E20B}"/>
              </a:ext>
            </a:extLst>
          </p:cNvPr>
          <p:cNvSpPr>
            <a:spLocks noGrp="1"/>
          </p:cNvSpPr>
          <p:nvPr>
            <p:ph type="dt" sz="half" idx="10"/>
          </p:nvPr>
        </p:nvSpPr>
        <p:spPr/>
        <p:txBody>
          <a:bodyPr/>
          <a:lstStyle/>
          <a:p>
            <a:fld id="{263EDF59-78C9-4D93-9F99-0EBF1FFAAE3E}" type="datetimeFigureOut">
              <a:rPr lang="en-US" smtClean="0"/>
              <a:t>10/17/2024</a:t>
            </a:fld>
            <a:endParaRPr lang="en-US"/>
          </a:p>
        </p:txBody>
      </p:sp>
      <p:sp>
        <p:nvSpPr>
          <p:cNvPr id="8" name="Footer Placeholder 7">
            <a:extLst>
              <a:ext uri="{FF2B5EF4-FFF2-40B4-BE49-F238E27FC236}">
                <a16:creationId xmlns:a16="http://schemas.microsoft.com/office/drawing/2014/main" id="{5FF0F7B3-EEC8-4034-9445-746F492835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ED07C50-432A-4E81-85BE-C2F49D6D6FD5}"/>
              </a:ext>
            </a:extLst>
          </p:cNvPr>
          <p:cNvSpPr>
            <a:spLocks noGrp="1"/>
          </p:cNvSpPr>
          <p:nvPr>
            <p:ph type="sldNum" sz="quarter" idx="12"/>
          </p:nvPr>
        </p:nvSpPr>
        <p:spPr/>
        <p:txBody>
          <a:bodyPr/>
          <a:lstStyle/>
          <a:p>
            <a:fld id="{7A7BF1DE-D8D8-4BDD-BB7A-453FB40228BD}" type="slidenum">
              <a:rPr lang="en-US" smtClean="0"/>
              <a:t>‹#›</a:t>
            </a:fld>
            <a:endParaRPr lang="en-US"/>
          </a:p>
        </p:txBody>
      </p:sp>
    </p:spTree>
    <p:extLst>
      <p:ext uri="{BB962C8B-B14F-4D97-AF65-F5344CB8AC3E}">
        <p14:creationId xmlns:p14="http://schemas.microsoft.com/office/powerpoint/2010/main" val="394031516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31720-DFA6-4C31-BFDD-EEFA00D3A0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5ECAC7-AA33-4F98-B79C-E898243A9717}"/>
              </a:ext>
            </a:extLst>
          </p:cNvPr>
          <p:cNvSpPr>
            <a:spLocks noGrp="1"/>
          </p:cNvSpPr>
          <p:nvPr>
            <p:ph type="dt" sz="half" idx="10"/>
          </p:nvPr>
        </p:nvSpPr>
        <p:spPr/>
        <p:txBody>
          <a:bodyPr/>
          <a:lstStyle/>
          <a:p>
            <a:fld id="{263EDF59-78C9-4D93-9F99-0EBF1FFAAE3E}" type="datetimeFigureOut">
              <a:rPr lang="en-US" smtClean="0"/>
              <a:t>10/17/2024</a:t>
            </a:fld>
            <a:endParaRPr lang="en-US"/>
          </a:p>
        </p:txBody>
      </p:sp>
      <p:sp>
        <p:nvSpPr>
          <p:cNvPr id="4" name="Footer Placeholder 3">
            <a:extLst>
              <a:ext uri="{FF2B5EF4-FFF2-40B4-BE49-F238E27FC236}">
                <a16:creationId xmlns:a16="http://schemas.microsoft.com/office/drawing/2014/main" id="{A5B34499-D3D0-483F-89C9-25F9F43924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603049-3C5E-4A4C-BC9A-12B1D60A93FF}"/>
              </a:ext>
            </a:extLst>
          </p:cNvPr>
          <p:cNvSpPr>
            <a:spLocks noGrp="1"/>
          </p:cNvSpPr>
          <p:nvPr>
            <p:ph type="sldNum" sz="quarter" idx="12"/>
          </p:nvPr>
        </p:nvSpPr>
        <p:spPr/>
        <p:txBody>
          <a:bodyPr/>
          <a:lstStyle/>
          <a:p>
            <a:fld id="{7A7BF1DE-D8D8-4BDD-BB7A-453FB40228BD}" type="slidenum">
              <a:rPr lang="en-US" smtClean="0"/>
              <a:t>‹#›</a:t>
            </a:fld>
            <a:endParaRPr lang="en-US"/>
          </a:p>
        </p:txBody>
      </p:sp>
    </p:spTree>
    <p:extLst>
      <p:ext uri="{BB962C8B-B14F-4D97-AF65-F5344CB8AC3E}">
        <p14:creationId xmlns:p14="http://schemas.microsoft.com/office/powerpoint/2010/main" val="331328828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59ECA0-A4A1-49C9-9FFB-A46F0480A1D4}"/>
              </a:ext>
            </a:extLst>
          </p:cNvPr>
          <p:cNvSpPr>
            <a:spLocks noGrp="1"/>
          </p:cNvSpPr>
          <p:nvPr>
            <p:ph type="dt" sz="half" idx="10"/>
          </p:nvPr>
        </p:nvSpPr>
        <p:spPr/>
        <p:txBody>
          <a:bodyPr/>
          <a:lstStyle/>
          <a:p>
            <a:fld id="{263EDF59-78C9-4D93-9F99-0EBF1FFAAE3E}" type="datetimeFigureOut">
              <a:rPr lang="en-US" smtClean="0"/>
              <a:t>10/17/2024</a:t>
            </a:fld>
            <a:endParaRPr lang="en-US"/>
          </a:p>
        </p:txBody>
      </p:sp>
      <p:sp>
        <p:nvSpPr>
          <p:cNvPr id="3" name="Footer Placeholder 2">
            <a:extLst>
              <a:ext uri="{FF2B5EF4-FFF2-40B4-BE49-F238E27FC236}">
                <a16:creationId xmlns:a16="http://schemas.microsoft.com/office/drawing/2014/main" id="{C5865607-77F0-46CB-BAA2-77DA5BADEE4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7C40F9-C872-44B1-B7A2-FE8471B02E9A}"/>
              </a:ext>
            </a:extLst>
          </p:cNvPr>
          <p:cNvSpPr>
            <a:spLocks noGrp="1"/>
          </p:cNvSpPr>
          <p:nvPr>
            <p:ph type="sldNum" sz="quarter" idx="12"/>
          </p:nvPr>
        </p:nvSpPr>
        <p:spPr/>
        <p:txBody>
          <a:bodyPr/>
          <a:lstStyle/>
          <a:p>
            <a:fld id="{7A7BF1DE-D8D8-4BDD-BB7A-453FB40228BD}" type="slidenum">
              <a:rPr lang="en-US" smtClean="0"/>
              <a:t>‹#›</a:t>
            </a:fld>
            <a:endParaRPr lang="en-US"/>
          </a:p>
        </p:txBody>
      </p:sp>
    </p:spTree>
    <p:extLst>
      <p:ext uri="{BB962C8B-B14F-4D97-AF65-F5344CB8AC3E}">
        <p14:creationId xmlns:p14="http://schemas.microsoft.com/office/powerpoint/2010/main" val="41492850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5C346-BDA3-41BF-87D8-1B7721FDB1F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13D7B1C4-FED3-4D71-8CA8-9398144E50FC}"/>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E02FB86-1730-4247-93A6-87C3A0EDF34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4F676EC-9E04-4E29-B0CD-B0CB39064455}"/>
              </a:ext>
            </a:extLst>
          </p:cNvPr>
          <p:cNvSpPr>
            <a:spLocks noGrp="1"/>
          </p:cNvSpPr>
          <p:nvPr>
            <p:ph type="dt" sz="half" idx="10"/>
          </p:nvPr>
        </p:nvSpPr>
        <p:spPr/>
        <p:txBody>
          <a:bodyPr/>
          <a:lstStyle/>
          <a:p>
            <a:fld id="{263EDF59-78C9-4D93-9F99-0EBF1FFAAE3E}" type="datetimeFigureOut">
              <a:rPr lang="en-US" smtClean="0"/>
              <a:t>10/17/2024</a:t>
            </a:fld>
            <a:endParaRPr lang="en-US"/>
          </a:p>
        </p:txBody>
      </p:sp>
      <p:sp>
        <p:nvSpPr>
          <p:cNvPr id="6" name="Footer Placeholder 5">
            <a:extLst>
              <a:ext uri="{FF2B5EF4-FFF2-40B4-BE49-F238E27FC236}">
                <a16:creationId xmlns:a16="http://schemas.microsoft.com/office/drawing/2014/main" id="{F477E898-FDEB-4903-B6E6-BECE48EFB1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54DB95-A9C1-4608-B430-75922EC9F487}"/>
              </a:ext>
            </a:extLst>
          </p:cNvPr>
          <p:cNvSpPr>
            <a:spLocks noGrp="1"/>
          </p:cNvSpPr>
          <p:nvPr>
            <p:ph type="sldNum" sz="quarter" idx="12"/>
          </p:nvPr>
        </p:nvSpPr>
        <p:spPr/>
        <p:txBody>
          <a:bodyPr/>
          <a:lstStyle/>
          <a:p>
            <a:fld id="{7A7BF1DE-D8D8-4BDD-BB7A-453FB40228BD}" type="slidenum">
              <a:rPr lang="en-US" smtClean="0"/>
              <a:t>‹#›</a:t>
            </a:fld>
            <a:endParaRPr lang="en-US"/>
          </a:p>
        </p:txBody>
      </p:sp>
    </p:spTree>
    <p:extLst>
      <p:ext uri="{BB962C8B-B14F-4D97-AF65-F5344CB8AC3E}">
        <p14:creationId xmlns:p14="http://schemas.microsoft.com/office/powerpoint/2010/main" val="38545321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8FAD1-A470-460A-B8AB-72E0CF07CC2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7BF41D69-DD65-4DFA-ADDA-93FDB99CBCA0}"/>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E2E54944-BBCB-424D-A9EC-4168774F5C1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9B1B2D0-12B8-4D47-BA1C-049101DEA9E4}"/>
              </a:ext>
            </a:extLst>
          </p:cNvPr>
          <p:cNvSpPr>
            <a:spLocks noGrp="1"/>
          </p:cNvSpPr>
          <p:nvPr>
            <p:ph type="dt" sz="half" idx="10"/>
          </p:nvPr>
        </p:nvSpPr>
        <p:spPr/>
        <p:txBody>
          <a:bodyPr/>
          <a:lstStyle/>
          <a:p>
            <a:fld id="{263EDF59-78C9-4D93-9F99-0EBF1FFAAE3E}" type="datetimeFigureOut">
              <a:rPr lang="en-US" smtClean="0"/>
              <a:t>10/17/2024</a:t>
            </a:fld>
            <a:endParaRPr lang="en-US"/>
          </a:p>
        </p:txBody>
      </p:sp>
      <p:sp>
        <p:nvSpPr>
          <p:cNvPr id="6" name="Footer Placeholder 5">
            <a:extLst>
              <a:ext uri="{FF2B5EF4-FFF2-40B4-BE49-F238E27FC236}">
                <a16:creationId xmlns:a16="http://schemas.microsoft.com/office/drawing/2014/main" id="{15429917-B021-479D-9A89-694F2BA5FB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B045F5-A1B9-48B3-B2EE-289F257DB679}"/>
              </a:ext>
            </a:extLst>
          </p:cNvPr>
          <p:cNvSpPr>
            <a:spLocks noGrp="1"/>
          </p:cNvSpPr>
          <p:nvPr>
            <p:ph type="sldNum" sz="quarter" idx="12"/>
          </p:nvPr>
        </p:nvSpPr>
        <p:spPr/>
        <p:txBody>
          <a:bodyPr/>
          <a:lstStyle/>
          <a:p>
            <a:fld id="{7A7BF1DE-D8D8-4BDD-BB7A-453FB40228BD}" type="slidenum">
              <a:rPr lang="en-US" smtClean="0"/>
              <a:t>‹#›</a:t>
            </a:fld>
            <a:endParaRPr lang="en-US"/>
          </a:p>
        </p:txBody>
      </p:sp>
    </p:spTree>
    <p:extLst>
      <p:ext uri="{BB962C8B-B14F-4D97-AF65-F5344CB8AC3E}">
        <p14:creationId xmlns:p14="http://schemas.microsoft.com/office/powerpoint/2010/main" val="100669166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B9B07-8967-49AD-8748-0C6331B4B6E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CB8829-F1AA-4C72-BD7C-DCC349FD9E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75835C-1E52-4360-90D5-64A818BB8AE4}"/>
              </a:ext>
            </a:extLst>
          </p:cNvPr>
          <p:cNvSpPr>
            <a:spLocks noGrp="1"/>
          </p:cNvSpPr>
          <p:nvPr>
            <p:ph type="dt" sz="half" idx="10"/>
          </p:nvPr>
        </p:nvSpPr>
        <p:spPr/>
        <p:txBody>
          <a:bodyPr/>
          <a:lstStyle/>
          <a:p>
            <a:fld id="{263EDF59-78C9-4D93-9F99-0EBF1FFAAE3E}" type="datetimeFigureOut">
              <a:rPr lang="en-US" smtClean="0"/>
              <a:t>10/17/2024</a:t>
            </a:fld>
            <a:endParaRPr lang="en-US"/>
          </a:p>
        </p:txBody>
      </p:sp>
      <p:sp>
        <p:nvSpPr>
          <p:cNvPr id="5" name="Footer Placeholder 4">
            <a:extLst>
              <a:ext uri="{FF2B5EF4-FFF2-40B4-BE49-F238E27FC236}">
                <a16:creationId xmlns:a16="http://schemas.microsoft.com/office/drawing/2014/main" id="{3800DBA8-EDB6-4899-A7DD-6631CF3AED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63DB76-5FC7-4C88-A70F-174A4A61139C}"/>
              </a:ext>
            </a:extLst>
          </p:cNvPr>
          <p:cNvSpPr>
            <a:spLocks noGrp="1"/>
          </p:cNvSpPr>
          <p:nvPr>
            <p:ph type="sldNum" sz="quarter" idx="12"/>
          </p:nvPr>
        </p:nvSpPr>
        <p:spPr/>
        <p:txBody>
          <a:bodyPr/>
          <a:lstStyle/>
          <a:p>
            <a:fld id="{7A7BF1DE-D8D8-4BDD-BB7A-453FB40228BD}" type="slidenum">
              <a:rPr lang="en-US" smtClean="0"/>
              <a:t>‹#›</a:t>
            </a:fld>
            <a:endParaRPr lang="en-US"/>
          </a:p>
        </p:txBody>
      </p:sp>
    </p:spTree>
    <p:extLst>
      <p:ext uri="{BB962C8B-B14F-4D97-AF65-F5344CB8AC3E}">
        <p14:creationId xmlns:p14="http://schemas.microsoft.com/office/powerpoint/2010/main" val="15437784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5BE341-B990-4AA9-B395-BF50940187EA}"/>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AAFEBDD-8A32-4F47-98D2-448FF9AA547B}"/>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4E959B-DA9B-4088-924D-A0A17DCD21F8}"/>
              </a:ext>
            </a:extLst>
          </p:cNvPr>
          <p:cNvSpPr>
            <a:spLocks noGrp="1"/>
          </p:cNvSpPr>
          <p:nvPr>
            <p:ph type="dt" sz="half" idx="10"/>
          </p:nvPr>
        </p:nvSpPr>
        <p:spPr/>
        <p:txBody>
          <a:bodyPr/>
          <a:lstStyle/>
          <a:p>
            <a:fld id="{263EDF59-78C9-4D93-9F99-0EBF1FFAAE3E}" type="datetimeFigureOut">
              <a:rPr lang="en-US" smtClean="0"/>
              <a:t>10/17/2024</a:t>
            </a:fld>
            <a:endParaRPr lang="en-US"/>
          </a:p>
        </p:txBody>
      </p:sp>
      <p:sp>
        <p:nvSpPr>
          <p:cNvPr id="5" name="Footer Placeholder 4">
            <a:extLst>
              <a:ext uri="{FF2B5EF4-FFF2-40B4-BE49-F238E27FC236}">
                <a16:creationId xmlns:a16="http://schemas.microsoft.com/office/drawing/2014/main" id="{FA54A1E9-81E2-4D54-B70C-29DBF53EFA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6037D4-33FE-4665-A36B-34582CCFFA9F}"/>
              </a:ext>
            </a:extLst>
          </p:cNvPr>
          <p:cNvSpPr>
            <a:spLocks noGrp="1"/>
          </p:cNvSpPr>
          <p:nvPr>
            <p:ph type="sldNum" sz="quarter" idx="12"/>
          </p:nvPr>
        </p:nvSpPr>
        <p:spPr/>
        <p:txBody>
          <a:bodyPr/>
          <a:lstStyle/>
          <a:p>
            <a:fld id="{7A7BF1DE-D8D8-4BDD-BB7A-453FB40228BD}" type="slidenum">
              <a:rPr lang="en-US" smtClean="0"/>
              <a:t>‹#›</a:t>
            </a:fld>
            <a:endParaRPr lang="en-US"/>
          </a:p>
        </p:txBody>
      </p:sp>
    </p:spTree>
    <p:extLst>
      <p:ext uri="{BB962C8B-B14F-4D97-AF65-F5344CB8AC3E}">
        <p14:creationId xmlns:p14="http://schemas.microsoft.com/office/powerpoint/2010/main" val="335911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C47D5-0855-4C76-BCF5-814EEC1A455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5F5259-9FC7-4FCB-9FE0-DFB71082E37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408C68-5CD3-4FAC-9739-906605B8C363}"/>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5BC2055-E945-4C59-BD52-301338CB33DE}" type="datetimeFigureOut">
              <a:rPr lang="es-CO" smtClean="0"/>
              <a:pPr/>
              <a:t>17/10/2024</a:t>
            </a:fld>
            <a:endParaRPr lang="es-CO"/>
          </a:p>
        </p:txBody>
      </p:sp>
      <p:sp>
        <p:nvSpPr>
          <p:cNvPr id="5" name="Footer Placeholder 4">
            <a:extLst>
              <a:ext uri="{FF2B5EF4-FFF2-40B4-BE49-F238E27FC236}">
                <a16:creationId xmlns:a16="http://schemas.microsoft.com/office/drawing/2014/main" id="{1DCED368-B7C4-4E71-9045-CD10624CCFC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CO"/>
          </a:p>
        </p:txBody>
      </p:sp>
      <p:sp>
        <p:nvSpPr>
          <p:cNvPr id="6" name="Slide Number Placeholder 5">
            <a:extLst>
              <a:ext uri="{FF2B5EF4-FFF2-40B4-BE49-F238E27FC236}">
                <a16:creationId xmlns:a16="http://schemas.microsoft.com/office/drawing/2014/main" id="{BF3586F3-983A-4663-BE93-6B56EE713BC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6461F03-1CF7-4647-B508-E05092C4E645}" type="slidenum">
              <a:rPr lang="es-CO" smtClean="0"/>
              <a:pPr/>
              <a:t>‹#›</a:t>
            </a:fld>
            <a:endParaRPr lang="es-CO"/>
          </a:p>
        </p:txBody>
      </p:sp>
    </p:spTree>
    <p:extLst>
      <p:ext uri="{BB962C8B-B14F-4D97-AF65-F5344CB8AC3E}">
        <p14:creationId xmlns:p14="http://schemas.microsoft.com/office/powerpoint/2010/main" val="240600800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CO"/>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B5BC2055-E945-4C59-BD52-301338CB33DE}" type="datetimeFigureOut">
              <a:rPr lang="es-CO" smtClean="0"/>
              <a:pPr/>
              <a:t>17/10/2024</a:t>
            </a:fld>
            <a:endParaRPr lang="es-CO"/>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CO"/>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86461F03-1CF7-4647-B508-E05092C4E645}" type="slidenum">
              <a:rPr lang="es-CO" smtClean="0"/>
              <a:pPr/>
              <a:t>‹#›</a:t>
            </a:fld>
            <a:endParaRPr lang="es-CO"/>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7131121"/>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457200" y="6356358"/>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8A87A34-81AB-432B-8DAE-1953F412C126}" type="datetimeFigureOut">
              <a:rPr lang="en-US" smtClean="0"/>
              <a:pPr/>
              <a:t>10/17/2024</a:t>
            </a:fld>
            <a:endParaRPr lang="en-US" dirty="0"/>
          </a:p>
        </p:txBody>
      </p:sp>
      <p:sp>
        <p:nvSpPr>
          <p:cNvPr id="5" name="4 Marcador de pie de página"/>
          <p:cNvSpPr>
            <a:spLocks noGrp="1"/>
          </p:cNvSpPr>
          <p:nvPr>
            <p:ph type="ftr" sz="quarter" idx="3"/>
          </p:nvPr>
        </p:nvSpPr>
        <p:spPr>
          <a:xfrm>
            <a:off x="3124200" y="6356358"/>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5 Marcador de número de diapositiva"/>
          <p:cNvSpPr>
            <a:spLocks noGrp="1"/>
          </p:cNvSpPr>
          <p:nvPr>
            <p:ph type="sldNum" sz="quarter" idx="4"/>
          </p:nvPr>
        </p:nvSpPr>
        <p:spPr>
          <a:xfrm>
            <a:off x="6553200" y="6356358"/>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7764312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s-CO"/>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9F4ABC-3EE1-42C0-B588-99275D83C4C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63FAE68-D28B-4D34-8963-04AB95187DE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0D858F-92BE-4630-BC19-6A3D9AC4E6DC}"/>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63EDF59-78C9-4D93-9F99-0EBF1FFAAE3E}" type="datetimeFigureOut">
              <a:rPr lang="en-US" smtClean="0"/>
              <a:t>10/17/2024</a:t>
            </a:fld>
            <a:endParaRPr lang="en-US"/>
          </a:p>
        </p:txBody>
      </p:sp>
      <p:sp>
        <p:nvSpPr>
          <p:cNvPr id="5" name="Footer Placeholder 4">
            <a:extLst>
              <a:ext uri="{FF2B5EF4-FFF2-40B4-BE49-F238E27FC236}">
                <a16:creationId xmlns:a16="http://schemas.microsoft.com/office/drawing/2014/main" id="{28F7E004-CE59-44AF-9565-9267950716BF}"/>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DB67D31-EDAF-4923-BCF4-3D70D649CC99}"/>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A7BF1DE-D8D8-4BDD-BB7A-453FB40228BD}" type="slidenum">
              <a:rPr lang="en-US" smtClean="0"/>
              <a:t>‹#›</a:t>
            </a:fld>
            <a:endParaRPr lang="en-US"/>
          </a:p>
        </p:txBody>
      </p:sp>
    </p:spTree>
    <p:extLst>
      <p:ext uri="{BB962C8B-B14F-4D97-AF65-F5344CB8AC3E}">
        <p14:creationId xmlns:p14="http://schemas.microsoft.com/office/powerpoint/2010/main" val="1683832792"/>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CO"/>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24slides.com/presentbetter/bad-powerpoint-examples-you-should-avoid"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9144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348" y="551962"/>
            <a:ext cx="8249304"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3581BE-7846-4046-B744-9AC7EDBB3CB9}"/>
              </a:ext>
            </a:extLst>
          </p:cNvPr>
          <p:cNvSpPr>
            <a:spLocks noGrp="1"/>
          </p:cNvSpPr>
          <p:nvPr>
            <p:ph type="ctrTitle"/>
          </p:nvPr>
        </p:nvSpPr>
        <p:spPr>
          <a:xfrm>
            <a:off x="1143000" y="1293338"/>
            <a:ext cx="6858000" cy="3274592"/>
          </a:xfrm>
        </p:spPr>
        <p:txBody>
          <a:bodyPr anchor="ctr">
            <a:normAutofit/>
          </a:bodyPr>
          <a:lstStyle/>
          <a:p>
            <a:r>
              <a:rPr lang="en-US" sz="6300" dirty="0"/>
              <a:t>Academic Register and Handling Questions</a:t>
            </a:r>
          </a:p>
        </p:txBody>
      </p:sp>
      <p:sp>
        <p:nvSpPr>
          <p:cNvPr id="3" name="Subtitle 2">
            <a:extLst>
              <a:ext uri="{FF2B5EF4-FFF2-40B4-BE49-F238E27FC236}">
                <a16:creationId xmlns:a16="http://schemas.microsoft.com/office/drawing/2014/main" id="{4E1BC5E1-C661-4DBE-A587-959ABEA1F64D}"/>
              </a:ext>
            </a:extLst>
          </p:cNvPr>
          <p:cNvSpPr>
            <a:spLocks noGrp="1"/>
          </p:cNvSpPr>
          <p:nvPr>
            <p:ph type="subTitle" idx="1"/>
          </p:nvPr>
        </p:nvSpPr>
        <p:spPr>
          <a:xfrm>
            <a:off x="1143000" y="5514052"/>
            <a:ext cx="6858000" cy="651910"/>
          </a:xfrm>
        </p:spPr>
        <p:txBody>
          <a:bodyPr anchor="ctr">
            <a:normAutofit/>
          </a:bodyPr>
          <a:lstStyle/>
          <a:p>
            <a:r>
              <a:rPr lang="en-US" sz="4000" dirty="0"/>
              <a:t>Effective Presentations Week 3 </a:t>
            </a: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47348" y="6354708"/>
            <a:ext cx="8250174"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9850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wd">
                                    <p:tmPct val="15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par>
                                <p:cTn id="8" presetID="10" presetClass="entr" presetSubtype="0" fill="hold" grpId="0" nodeType="withEffect">
                                  <p:stCondLst>
                                    <p:cond delay="500"/>
                                  </p:stCondLst>
                                  <p:iterate type="wd">
                                    <p:tmPct val="15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5D9528-FD94-491F-91B3-2035F3362961}"/>
              </a:ext>
            </a:extLst>
          </p:cNvPr>
          <p:cNvPicPr>
            <a:picLocks noChangeAspect="1"/>
          </p:cNvPicPr>
          <p:nvPr/>
        </p:nvPicPr>
        <p:blipFill>
          <a:blip r:embed="rId2"/>
          <a:stretch>
            <a:fillRect/>
          </a:stretch>
        </p:blipFill>
        <p:spPr>
          <a:xfrm>
            <a:off x="54518" y="0"/>
            <a:ext cx="9198002" cy="5013176"/>
          </a:xfrm>
          <a:prstGeom prst="rect">
            <a:avLst/>
          </a:prstGeom>
        </p:spPr>
      </p:pic>
      <p:sp>
        <p:nvSpPr>
          <p:cNvPr id="3" name="TextBox 2">
            <a:extLst>
              <a:ext uri="{FF2B5EF4-FFF2-40B4-BE49-F238E27FC236}">
                <a16:creationId xmlns:a16="http://schemas.microsoft.com/office/drawing/2014/main" id="{0B396774-E7AD-490B-A148-8A6E4AD4E57D}"/>
              </a:ext>
            </a:extLst>
          </p:cNvPr>
          <p:cNvSpPr txBox="1"/>
          <p:nvPr/>
        </p:nvSpPr>
        <p:spPr>
          <a:xfrm>
            <a:off x="395536" y="6309320"/>
            <a:ext cx="8496944" cy="261610"/>
          </a:xfrm>
          <a:prstGeom prst="rect">
            <a:avLst/>
          </a:prstGeom>
          <a:noFill/>
        </p:spPr>
        <p:txBody>
          <a:bodyPr wrap="square" rtlCol="0">
            <a:spAutoFit/>
          </a:bodyPr>
          <a:lstStyle/>
          <a:p>
            <a:r>
              <a:rPr lang="en-US" sz="1100" dirty="0"/>
              <a:t>Example adapted from: </a:t>
            </a:r>
            <a:r>
              <a:rPr lang="en-US" sz="1100" dirty="0">
                <a:hlinkClick r:id="rId3"/>
              </a:rPr>
              <a:t>https://24slides.com/presentbetter/bad-powerpoint-examples-you-should-avoid</a:t>
            </a:r>
            <a:r>
              <a:rPr lang="en-US" sz="1100" dirty="0"/>
              <a:t> (11/22/21)</a:t>
            </a:r>
          </a:p>
        </p:txBody>
      </p:sp>
      <p:sp>
        <p:nvSpPr>
          <p:cNvPr id="4" name="TextBox 3">
            <a:extLst>
              <a:ext uri="{FF2B5EF4-FFF2-40B4-BE49-F238E27FC236}">
                <a16:creationId xmlns:a16="http://schemas.microsoft.com/office/drawing/2014/main" id="{FD8F9313-D1E3-4FB8-B09E-8B27D21DAC87}"/>
              </a:ext>
            </a:extLst>
          </p:cNvPr>
          <p:cNvSpPr txBox="1"/>
          <p:nvPr/>
        </p:nvSpPr>
        <p:spPr>
          <a:xfrm>
            <a:off x="539552" y="4941168"/>
            <a:ext cx="8064896" cy="923330"/>
          </a:xfrm>
          <a:prstGeom prst="rect">
            <a:avLst/>
          </a:prstGeom>
          <a:noFill/>
        </p:spPr>
        <p:txBody>
          <a:bodyPr wrap="square" rtlCol="0">
            <a:spAutoFit/>
          </a:bodyPr>
          <a:lstStyle/>
          <a:p>
            <a:r>
              <a:rPr lang="en-US" dirty="0"/>
              <a:t>This information is taken from Stella Cooper in her book </a:t>
            </a:r>
            <a:r>
              <a:rPr lang="en-US" i="1" dirty="0"/>
              <a:t>Better Presentations</a:t>
            </a:r>
            <a:r>
              <a:rPr lang="en-US" dirty="0"/>
              <a:t> published in 2018. Except for the last point on non-verbal communication which was taken from </a:t>
            </a:r>
            <a:r>
              <a:rPr lang="en-US" i="1" dirty="0"/>
              <a:t>Body Language </a:t>
            </a:r>
            <a:r>
              <a:rPr lang="en-US" dirty="0"/>
              <a:t>by John Smith published in 2011</a:t>
            </a:r>
          </a:p>
        </p:txBody>
      </p:sp>
    </p:spTree>
    <p:extLst>
      <p:ext uri="{BB962C8B-B14F-4D97-AF65-F5344CB8AC3E}">
        <p14:creationId xmlns:p14="http://schemas.microsoft.com/office/powerpoint/2010/main" val="456813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7661FC-F36C-49F1-ADE4-D51F336D6305}"/>
              </a:ext>
            </a:extLst>
          </p:cNvPr>
          <p:cNvSpPr>
            <a:spLocks noGrp="1"/>
          </p:cNvSpPr>
          <p:nvPr>
            <p:ph type="title"/>
          </p:nvPr>
        </p:nvSpPr>
        <p:spPr>
          <a:xfrm>
            <a:off x="515125" y="1153572"/>
            <a:ext cx="2400300" cy="4461163"/>
          </a:xfrm>
        </p:spPr>
        <p:txBody>
          <a:bodyPr>
            <a:normAutofit/>
          </a:bodyPr>
          <a:lstStyle/>
          <a:p>
            <a:r>
              <a:rPr lang="en-US">
                <a:solidFill>
                  <a:srgbClr val="FFFFFF"/>
                </a:solidFill>
              </a:rPr>
              <a:t>How to make a good first impression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CFC34C4-3765-454E-B387-3D7678D5361C}"/>
              </a:ext>
            </a:extLst>
          </p:cNvPr>
          <p:cNvSpPr>
            <a:spLocks noGrp="1"/>
          </p:cNvSpPr>
          <p:nvPr>
            <p:ph idx="1"/>
          </p:nvPr>
        </p:nvSpPr>
        <p:spPr>
          <a:xfrm>
            <a:off x="3335481" y="591344"/>
            <a:ext cx="5179868" cy="5585619"/>
          </a:xfrm>
        </p:spPr>
        <p:txBody>
          <a:bodyPr anchor="ctr">
            <a:normAutofit/>
          </a:bodyPr>
          <a:lstStyle/>
          <a:p>
            <a:pPr marL="385763" indent="-385763">
              <a:buAutoNum type="arabicPeriod"/>
            </a:pPr>
            <a:r>
              <a:rPr lang="en-US" sz="2800" b="1" dirty="0"/>
              <a:t>Be On Time</a:t>
            </a:r>
            <a:r>
              <a:rPr lang="en-US" sz="2800" dirty="0"/>
              <a:t>: Too early is better than too late. (Cooper, 2021)</a:t>
            </a:r>
          </a:p>
          <a:p>
            <a:pPr marL="385763" indent="-385763">
              <a:buAutoNum type="arabicPeriod"/>
            </a:pPr>
            <a:r>
              <a:rPr lang="en-US" sz="2800" b="1" dirty="0"/>
              <a:t>Dress to Impress</a:t>
            </a:r>
            <a:r>
              <a:rPr lang="en-US" sz="2800" dirty="0"/>
              <a:t>: Take care of your clothes and overall grooming. (Ibid)</a:t>
            </a:r>
          </a:p>
          <a:p>
            <a:pPr marL="385763" indent="-385763">
              <a:buAutoNum type="arabicPeriod"/>
            </a:pPr>
            <a:r>
              <a:rPr lang="en-US" sz="2800" b="1" dirty="0"/>
              <a:t>Be Prepared</a:t>
            </a:r>
            <a:r>
              <a:rPr lang="en-US" sz="2800" dirty="0"/>
              <a:t>: Do your research and practice. (Ibid)</a:t>
            </a:r>
          </a:p>
          <a:p>
            <a:pPr marL="385763" indent="-385763">
              <a:buAutoNum type="arabicPeriod"/>
            </a:pPr>
            <a:r>
              <a:rPr lang="en-US" sz="2800" b="1" dirty="0"/>
              <a:t>Consider Non-Verbal Communication</a:t>
            </a:r>
            <a:r>
              <a:rPr lang="en-US" sz="2800" dirty="0"/>
              <a:t>: Confident, friendly body language can make a significant difference (Smith, 2011</a:t>
            </a:r>
            <a:r>
              <a:rPr lang="en-US" dirty="0"/>
              <a:t>)</a:t>
            </a:r>
          </a:p>
        </p:txBody>
      </p:sp>
    </p:spTree>
    <p:extLst>
      <p:ext uri="{BB962C8B-B14F-4D97-AF65-F5344CB8AC3E}">
        <p14:creationId xmlns:p14="http://schemas.microsoft.com/office/powerpoint/2010/main" val="3652318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Freeform: Shape 136">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482" name="Rectangle 2"/>
          <p:cNvSpPr>
            <a:spLocks noGrp="1" noChangeArrowheads="1"/>
          </p:cNvSpPr>
          <p:nvPr>
            <p:ph type="title"/>
          </p:nvPr>
        </p:nvSpPr>
        <p:spPr>
          <a:xfrm>
            <a:off x="628650" y="365125"/>
            <a:ext cx="7886700" cy="1325563"/>
          </a:xfrm>
        </p:spPr>
        <p:txBody>
          <a:bodyPr>
            <a:normAutofit/>
          </a:bodyPr>
          <a:lstStyle/>
          <a:p>
            <a:r>
              <a:rPr lang="en-GB" altLang="en-US" dirty="0">
                <a:ln>
                  <a:noFill/>
                </a:ln>
              </a:rPr>
              <a:t>Academic Register</a:t>
            </a:r>
          </a:p>
        </p:txBody>
      </p:sp>
      <p:sp>
        <p:nvSpPr>
          <p:cNvPr id="139" name="Arc 13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7" y="2693652"/>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4339" name="Rectangle 3"/>
          <p:cNvSpPr>
            <a:spLocks noGrp="1" noChangeArrowheads="1"/>
          </p:cNvSpPr>
          <p:nvPr>
            <p:ph idx="1"/>
          </p:nvPr>
        </p:nvSpPr>
        <p:spPr>
          <a:xfrm>
            <a:off x="628650" y="1825625"/>
            <a:ext cx="7886700" cy="4351338"/>
          </a:xfrm>
          <a:prstGeom prst="rect">
            <a:avLst/>
          </a:prstGeom>
        </p:spPr>
        <p:txBody>
          <a:bodyPr rtlCol="0">
            <a:normAutofit/>
          </a:bodyPr>
          <a:lstStyle/>
          <a:p>
            <a:pPr marL="457200" indent="-457200">
              <a:buNone/>
              <a:defRPr/>
            </a:pPr>
            <a:r>
              <a:rPr lang="en-GB" altLang="en-US" b="1" i="1" dirty="0">
                <a:latin typeface="Calibri" panose="020F0502020204030204" pitchFamily="34" charset="0"/>
              </a:rPr>
              <a:t>	</a:t>
            </a:r>
            <a:r>
              <a:rPr lang="en-GB" altLang="en-US" b="1" i="1" cap="none" dirty="0">
                <a:latin typeface="Calibri" panose="020F0502020204030204" pitchFamily="34" charset="0"/>
              </a:rPr>
              <a:t>Register</a:t>
            </a:r>
            <a:r>
              <a:rPr lang="en-GB" altLang="en-US" b="1" cap="none" dirty="0">
                <a:latin typeface="Calibri" panose="020F0502020204030204" pitchFamily="34" charset="0"/>
              </a:rPr>
              <a:t> </a:t>
            </a:r>
            <a:r>
              <a:rPr lang="en-GB" altLang="en-US" cap="none" dirty="0">
                <a:latin typeface="Calibri" panose="020F0502020204030204" pitchFamily="34" charset="0"/>
              </a:rPr>
              <a:t>is the manner of writing ... specific to a certain domain of communication. </a:t>
            </a:r>
          </a:p>
          <a:p>
            <a:pPr marL="457200" indent="-457200">
              <a:buNone/>
              <a:defRPr/>
            </a:pPr>
            <a:endParaRPr lang="en-GB" altLang="en-US" cap="none" dirty="0">
              <a:latin typeface="Calibri" panose="020F0502020204030204" pitchFamily="34" charset="0"/>
            </a:endParaRPr>
          </a:p>
          <a:p>
            <a:pPr marL="457200" indent="-457200">
              <a:buFont typeface="Arial"/>
              <a:buChar char="•"/>
              <a:defRPr/>
            </a:pPr>
            <a:r>
              <a:rPr lang="en-GB" altLang="en-US" cap="none" dirty="0">
                <a:latin typeface="Calibri" panose="020F0502020204030204" pitchFamily="34" charset="0"/>
              </a:rPr>
              <a:t>Select the words you use carefully.</a:t>
            </a:r>
          </a:p>
          <a:p>
            <a:pPr marL="457200" indent="-457200">
              <a:buFont typeface="Arial"/>
              <a:buChar char="•"/>
              <a:defRPr/>
            </a:pPr>
            <a:r>
              <a:rPr lang="en-GB" altLang="en-US" cap="none" dirty="0">
                <a:latin typeface="Calibri" panose="020F0502020204030204" pitchFamily="34" charset="0"/>
              </a:rPr>
              <a:t>Think about the style, tone and approach to writing.</a:t>
            </a:r>
          </a:p>
          <a:p>
            <a:pPr marL="457200" indent="-457200">
              <a:buFont typeface="Arial"/>
              <a:buChar char="•"/>
              <a:defRPr/>
            </a:pPr>
            <a:r>
              <a:rPr lang="en-GB" altLang="en-US" b="1" cap="none" dirty="0">
                <a:latin typeface="Calibri" panose="020F0502020204030204" pitchFamily="34" charset="0"/>
              </a:rPr>
              <a:t>Appropriate </a:t>
            </a:r>
            <a:r>
              <a:rPr lang="en-GB" altLang="en-US" cap="none" dirty="0">
                <a:latin typeface="Calibri" panose="020F0502020204030204" pitchFamily="34" charset="0"/>
              </a:rPr>
              <a:t>for the formal academic domain of communication.</a:t>
            </a:r>
          </a:p>
          <a:p>
            <a:pPr marL="457200" indent="-457200">
              <a:buFont typeface="Arial"/>
              <a:buChar char="•"/>
              <a:defRPr/>
            </a:pPr>
            <a:r>
              <a:rPr lang="en-GB" altLang="en-US" b="1" u="sng" dirty="0">
                <a:solidFill>
                  <a:srgbClr val="FF0000"/>
                </a:solidFill>
                <a:latin typeface="Calibri" panose="020F0502020204030204" pitchFamily="34" charset="0"/>
              </a:rPr>
              <a:t>Particularly relevant for writing visual aids</a:t>
            </a:r>
            <a:endParaRPr lang="en-GB" altLang="en-US" b="1" u="sng" cap="none" dirty="0">
              <a:solidFill>
                <a:srgbClr val="FF0000"/>
              </a:solidFill>
              <a:latin typeface="Calibri" panose="020F0502020204030204" pitchFamily="34" charset="0"/>
            </a:endParaRPr>
          </a:p>
          <a:p>
            <a:pPr marL="0" indent="0">
              <a:buNone/>
              <a:defRPr/>
            </a:pPr>
            <a:endParaRPr lang="en-GB" altLang="en-US" cap="none" dirty="0">
              <a:latin typeface="Calibri" panose="020F0502020204030204" pitchFamily="34" charset="0"/>
            </a:endParaRPr>
          </a:p>
          <a:p>
            <a:pPr marL="457200" indent="-457200">
              <a:buFont typeface="Arial"/>
              <a:buChar char="•"/>
              <a:defRPr/>
            </a:pPr>
            <a:r>
              <a:rPr lang="en-GB" altLang="en-US" cap="none" dirty="0">
                <a:latin typeface="Calibri" panose="020F0502020204030204" pitchFamily="34" charset="0"/>
              </a:rPr>
              <a:t>Academic communication can be seen as a ‘conversation’ within specific fields of study.</a:t>
            </a:r>
          </a:p>
          <a:p>
            <a:pPr fontAlgn="auto">
              <a:buFont typeface="Arial"/>
              <a:buChar char="•"/>
              <a:defRPr/>
            </a:pPr>
            <a:endParaRPr lang="en-GB" altLang="en-US" dirty="0">
              <a:latin typeface="Calibri" panose="020F0502020204030204" pitchFamily="34" charset="0"/>
            </a:endParaRPr>
          </a:p>
          <a:p>
            <a:pPr fontAlgn="auto">
              <a:buFont typeface="Arial"/>
              <a:buChar char="•"/>
              <a:defRPr/>
            </a:pPr>
            <a:endParaRPr lang="en-GB" altLang="en-US" dirty="0">
              <a:latin typeface="Calibri" panose="020F0502020204030204" pitchFamily="34" charset="0"/>
            </a:endParaRPr>
          </a:p>
        </p:txBody>
      </p:sp>
    </p:spTree>
    <p:extLst>
      <p:ext uri="{BB962C8B-B14F-4D97-AF65-F5344CB8AC3E}">
        <p14:creationId xmlns:p14="http://schemas.microsoft.com/office/powerpoint/2010/main" val="2788147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fade">
                                      <p:cBhvr>
                                        <p:cTn id="7" dur="500"/>
                                        <p:tgtEl>
                                          <p:spTgt spid="14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339">
                                            <p:txEl>
                                              <p:pRg st="2" end="2"/>
                                            </p:txEl>
                                          </p:spTgt>
                                        </p:tgtEl>
                                        <p:attrNameLst>
                                          <p:attrName>style.visibility</p:attrName>
                                        </p:attrNameLst>
                                      </p:cBhvr>
                                      <p:to>
                                        <p:strVal val="visible"/>
                                      </p:to>
                                    </p:set>
                                    <p:animEffect transition="in" filter="fade">
                                      <p:cBhvr>
                                        <p:cTn id="12" dur="500"/>
                                        <p:tgtEl>
                                          <p:spTgt spid="1433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339">
                                            <p:txEl>
                                              <p:pRg st="3" end="3"/>
                                            </p:txEl>
                                          </p:spTgt>
                                        </p:tgtEl>
                                        <p:attrNameLst>
                                          <p:attrName>style.visibility</p:attrName>
                                        </p:attrNameLst>
                                      </p:cBhvr>
                                      <p:to>
                                        <p:strVal val="visible"/>
                                      </p:to>
                                    </p:set>
                                    <p:animEffect transition="in" filter="fade">
                                      <p:cBhvr>
                                        <p:cTn id="17" dur="500"/>
                                        <p:tgtEl>
                                          <p:spTgt spid="1433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339">
                                            <p:txEl>
                                              <p:pRg st="4" end="4"/>
                                            </p:txEl>
                                          </p:spTgt>
                                        </p:tgtEl>
                                        <p:attrNameLst>
                                          <p:attrName>style.visibility</p:attrName>
                                        </p:attrNameLst>
                                      </p:cBhvr>
                                      <p:to>
                                        <p:strVal val="visible"/>
                                      </p:to>
                                    </p:set>
                                    <p:animEffect transition="in" filter="fade">
                                      <p:cBhvr>
                                        <p:cTn id="22" dur="500"/>
                                        <p:tgtEl>
                                          <p:spTgt spid="1433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339">
                                            <p:txEl>
                                              <p:pRg st="5" end="5"/>
                                            </p:txEl>
                                          </p:spTgt>
                                        </p:tgtEl>
                                        <p:attrNameLst>
                                          <p:attrName>style.visibility</p:attrName>
                                        </p:attrNameLst>
                                      </p:cBhvr>
                                      <p:to>
                                        <p:strVal val="visible"/>
                                      </p:to>
                                    </p:set>
                                    <p:animEffect transition="in" filter="fade">
                                      <p:cBhvr>
                                        <p:cTn id="27" dur="500"/>
                                        <p:tgtEl>
                                          <p:spTgt spid="1433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339">
                                            <p:txEl>
                                              <p:pRg st="7" end="7"/>
                                            </p:txEl>
                                          </p:spTgt>
                                        </p:tgtEl>
                                        <p:attrNameLst>
                                          <p:attrName>style.visibility</p:attrName>
                                        </p:attrNameLst>
                                      </p:cBhvr>
                                      <p:to>
                                        <p:strVal val="visible"/>
                                      </p:to>
                                    </p:set>
                                    <p:animEffect transition="in" filter="fade">
                                      <p:cBhvr>
                                        <p:cTn id="32" dur="500"/>
                                        <p:tgtEl>
                                          <p:spTgt spid="1433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normAutofit fontScale="90000"/>
          </a:bodyPr>
          <a:lstStyle/>
          <a:p>
            <a:br>
              <a:rPr lang="en-GB" altLang="en-US" sz="5400" b="1">
                <a:latin typeface="Calibri" panose="020F0502020204030204" pitchFamily="34" charset="0"/>
              </a:rPr>
            </a:br>
            <a:r>
              <a:rPr lang="en-GB" altLang="en-US" sz="5400" b="1">
                <a:latin typeface="Calibri" panose="020F0502020204030204" pitchFamily="34" charset="0"/>
              </a:rPr>
              <a:t>Why?</a:t>
            </a:r>
            <a:br>
              <a:rPr lang="en-GB" altLang="en-US" sz="5400" b="1">
                <a:latin typeface="Calibri" panose="020F0502020204030204" pitchFamily="34" charset="0"/>
              </a:rPr>
            </a:br>
            <a:endParaRPr lang="en-GB" altLang="en-US" sz="5400"/>
          </a:p>
        </p:txBody>
      </p:sp>
      <p:sp>
        <p:nvSpPr>
          <p:cNvPr id="3" name="Content Placeholder 2"/>
          <p:cNvSpPr>
            <a:spLocks noGrp="1"/>
          </p:cNvSpPr>
          <p:nvPr>
            <p:ph idx="1"/>
          </p:nvPr>
        </p:nvSpPr>
        <p:spPr>
          <a:xfrm>
            <a:off x="685332" y="2111461"/>
            <a:ext cx="7692550" cy="3197537"/>
          </a:xfrm>
          <a:prstGeom prst="rect">
            <a:avLst/>
          </a:prstGeom>
        </p:spPr>
        <p:txBody>
          <a:bodyPr rtlCol="0">
            <a:normAutofit/>
          </a:bodyPr>
          <a:lstStyle/>
          <a:p>
            <a:pPr marL="0" indent="0">
              <a:buNone/>
              <a:defRPr/>
            </a:pPr>
            <a:r>
              <a:rPr lang="en-GB" altLang="en-US" sz="2400" dirty="0">
                <a:solidFill>
                  <a:schemeClr val="tx1">
                    <a:lumMod val="85000"/>
                    <a:lumOff val="15000"/>
                  </a:schemeClr>
                </a:solidFill>
                <a:latin typeface="Calibri" panose="020F0502020204030204" pitchFamily="34" charset="0"/>
              </a:rPr>
              <a:t>The tone of the language is appropriate to your academic community. This tone and style reflects the </a:t>
            </a:r>
            <a:r>
              <a:rPr lang="en-GB" altLang="en-US" sz="2400" b="1" i="1" dirty="0">
                <a:solidFill>
                  <a:schemeClr val="tx1">
                    <a:lumMod val="85000"/>
                    <a:lumOff val="15000"/>
                  </a:schemeClr>
                </a:solidFill>
                <a:latin typeface="Calibri" panose="020F0502020204030204" pitchFamily="34" charset="0"/>
              </a:rPr>
              <a:t>serious</a:t>
            </a:r>
            <a:r>
              <a:rPr lang="en-GB" altLang="en-US" sz="2400" dirty="0">
                <a:solidFill>
                  <a:schemeClr val="tx1">
                    <a:lumMod val="85000"/>
                    <a:lumOff val="15000"/>
                  </a:schemeClr>
                </a:solidFill>
                <a:latin typeface="Calibri" panose="020F0502020204030204" pitchFamily="34" charset="0"/>
              </a:rPr>
              <a:t>, </a:t>
            </a:r>
            <a:r>
              <a:rPr lang="en-GB" altLang="en-US" sz="2400" b="1" i="1" dirty="0">
                <a:solidFill>
                  <a:schemeClr val="tx1">
                    <a:lumMod val="85000"/>
                    <a:lumOff val="15000"/>
                  </a:schemeClr>
                </a:solidFill>
                <a:latin typeface="Calibri" panose="020F0502020204030204" pitchFamily="34" charset="0"/>
              </a:rPr>
              <a:t>impersonal</a:t>
            </a:r>
            <a:r>
              <a:rPr lang="en-GB" altLang="en-US" sz="2400" dirty="0">
                <a:solidFill>
                  <a:schemeClr val="tx1">
                    <a:lumMod val="85000"/>
                    <a:lumOff val="15000"/>
                  </a:schemeClr>
                </a:solidFill>
                <a:latin typeface="Calibri" panose="020F0502020204030204" pitchFamily="34" charset="0"/>
              </a:rPr>
              <a:t> attitude reserved for academic discovery and debate.</a:t>
            </a:r>
          </a:p>
          <a:p>
            <a:pPr marL="0" indent="0">
              <a:buNone/>
              <a:defRPr/>
            </a:pPr>
            <a:endParaRPr lang="en-GB" altLang="en-US" sz="2400" dirty="0">
              <a:solidFill>
                <a:schemeClr val="tx1">
                  <a:lumMod val="85000"/>
                  <a:lumOff val="15000"/>
                </a:schemeClr>
              </a:solidFill>
              <a:latin typeface="Calibri" panose="020F0502020204030204" pitchFamily="34" charset="0"/>
            </a:endParaRPr>
          </a:p>
          <a:p>
            <a:pPr marL="0" indent="0">
              <a:buNone/>
              <a:defRPr/>
            </a:pPr>
            <a:r>
              <a:rPr lang="en-GB" altLang="en-US" sz="2400" dirty="0">
                <a:solidFill>
                  <a:schemeClr val="tx1">
                    <a:lumMod val="85000"/>
                    <a:lumOff val="15000"/>
                  </a:schemeClr>
                </a:solidFill>
                <a:latin typeface="Calibri" panose="020F0502020204030204" pitchFamily="34" charset="0"/>
              </a:rPr>
              <a:t>Communicating internationally</a:t>
            </a:r>
          </a:p>
          <a:p>
            <a:pPr marL="0" indent="0">
              <a:buNone/>
              <a:defRPr/>
            </a:pPr>
            <a:r>
              <a:rPr lang="en-GB" altLang="en-US" sz="2400" dirty="0">
                <a:solidFill>
                  <a:schemeClr val="tx1">
                    <a:lumMod val="85000"/>
                    <a:lumOff val="15000"/>
                  </a:schemeClr>
                </a:solidFill>
                <a:latin typeface="Calibri" panose="020F0502020204030204" pitchFamily="34" charset="0"/>
              </a:rPr>
              <a:t>Maintaining ‘distance’ to enable discussion</a:t>
            </a:r>
          </a:p>
          <a:p>
            <a:pPr marL="0" indent="0">
              <a:buNone/>
              <a:defRPr/>
            </a:pPr>
            <a:r>
              <a:rPr lang="en-GB" altLang="en-US" sz="2400" dirty="0">
                <a:solidFill>
                  <a:schemeClr val="tx1">
                    <a:lumMod val="85000"/>
                    <a:lumOff val="15000"/>
                  </a:schemeClr>
                </a:solidFill>
                <a:latin typeface="Calibri" panose="020F0502020204030204" pitchFamily="34" charset="0"/>
              </a:rPr>
              <a:t>Maintaining </a:t>
            </a:r>
            <a:r>
              <a:rPr lang="en-GB" altLang="en-US" sz="2400" b="1" dirty="0">
                <a:solidFill>
                  <a:schemeClr val="tx1">
                    <a:lumMod val="85000"/>
                    <a:lumOff val="15000"/>
                  </a:schemeClr>
                </a:solidFill>
                <a:latin typeface="Calibri" panose="020F0502020204030204" pitchFamily="34" charset="0"/>
              </a:rPr>
              <a:t>reliability, authority and credibility</a:t>
            </a:r>
            <a:r>
              <a:rPr lang="en-GB" altLang="en-US" sz="2700" b="1" dirty="0">
                <a:solidFill>
                  <a:schemeClr val="tx1">
                    <a:lumMod val="85000"/>
                    <a:lumOff val="15000"/>
                  </a:schemeClr>
                </a:solidFill>
                <a:latin typeface="Calibri" panose="020F0502020204030204" pitchFamily="34" charset="0"/>
              </a:rPr>
              <a:t> </a:t>
            </a:r>
            <a:endParaRPr lang="en-GB" altLang="en-US" b="1" cap="none" dirty="0">
              <a:solidFill>
                <a:schemeClr val="tx1">
                  <a:lumMod val="85000"/>
                  <a:lumOff val="15000"/>
                </a:schemeClr>
              </a:solidFill>
            </a:endParaRPr>
          </a:p>
        </p:txBody>
      </p:sp>
      <p:pic>
        <p:nvPicPr>
          <p:cNvPr id="4" name="3 Imagen" descr="Image result for international academic communication"/>
          <p:cNvPicPr/>
          <p:nvPr/>
        </p:nvPicPr>
        <p:blipFill>
          <a:blip r:embed="rId2"/>
          <a:srcRect/>
          <a:stretch>
            <a:fillRect/>
          </a:stretch>
        </p:blipFill>
        <p:spPr bwMode="auto">
          <a:xfrm>
            <a:off x="7074243" y="3580280"/>
            <a:ext cx="1899148" cy="1348522"/>
          </a:xfrm>
          <a:prstGeom prst="rect">
            <a:avLst/>
          </a:prstGeom>
          <a:noFill/>
          <a:ln w="9525">
            <a:noFill/>
            <a:miter lim="800000"/>
            <a:headEnd/>
            <a:tailEnd/>
          </a:ln>
        </p:spPr>
      </p:pic>
    </p:spTree>
    <p:extLst>
      <p:ext uri="{BB962C8B-B14F-4D97-AF65-F5344CB8AC3E}">
        <p14:creationId xmlns:p14="http://schemas.microsoft.com/office/powerpoint/2010/main" val="1208179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Tone and Style</a:t>
            </a:r>
          </a:p>
        </p:txBody>
      </p:sp>
      <p:sp>
        <p:nvSpPr>
          <p:cNvPr id="3" name="Content Placeholder 2"/>
          <p:cNvSpPr>
            <a:spLocks noGrp="1"/>
          </p:cNvSpPr>
          <p:nvPr>
            <p:ph idx="1"/>
          </p:nvPr>
        </p:nvSpPr>
        <p:spPr/>
        <p:txBody>
          <a:bodyPr>
            <a:normAutofit/>
          </a:bodyPr>
          <a:lstStyle/>
          <a:p>
            <a:pPr marL="0" indent="0">
              <a:buNone/>
            </a:pPr>
            <a:r>
              <a:rPr lang="en-GB" dirty="0"/>
              <a:t>It is important when you write your assignments at Queen Mary that your writing can be, according to </a:t>
            </a:r>
            <a:r>
              <a:rPr lang="en-GB" dirty="0" err="1"/>
              <a:t>Clanchy</a:t>
            </a:r>
            <a:r>
              <a:rPr lang="en-GB" dirty="0"/>
              <a:t> and Ballard (1992), cited in Jordan (1997, p.244): </a:t>
            </a:r>
          </a:p>
          <a:p>
            <a:pPr marL="0" indent="0">
              <a:buNone/>
            </a:pPr>
            <a:r>
              <a:rPr lang="en-GB" dirty="0">
                <a:solidFill>
                  <a:srgbClr val="00B050"/>
                </a:solidFill>
              </a:rPr>
              <a:t>‘objective‘ </a:t>
            </a:r>
            <a:r>
              <a:rPr lang="en-GB" dirty="0"/>
              <a:t>not ‘____________</a:t>
            </a:r>
            <a:r>
              <a:rPr lang="en-GB" dirty="0">
                <a:solidFill>
                  <a:srgbClr val="FF0000"/>
                </a:solidFill>
              </a:rPr>
              <a:t> </a:t>
            </a:r>
            <a:r>
              <a:rPr lang="en-GB" dirty="0"/>
              <a:t>‘</a:t>
            </a:r>
          </a:p>
          <a:p>
            <a:pPr marL="0" indent="0">
              <a:buNone/>
            </a:pPr>
            <a:r>
              <a:rPr lang="en-GB" dirty="0"/>
              <a:t>‘</a:t>
            </a:r>
            <a:r>
              <a:rPr lang="en-GB" dirty="0">
                <a:solidFill>
                  <a:srgbClr val="00B050"/>
                </a:solidFill>
              </a:rPr>
              <a:t>intellectual</a:t>
            </a:r>
            <a:r>
              <a:rPr lang="en-GB" dirty="0"/>
              <a:t>‘ not ‘___________</a:t>
            </a:r>
            <a:r>
              <a:rPr lang="en-GB" dirty="0">
                <a:solidFill>
                  <a:srgbClr val="FF0000"/>
                </a:solidFill>
              </a:rPr>
              <a:t> </a:t>
            </a:r>
            <a:r>
              <a:rPr lang="en-GB" dirty="0"/>
              <a:t>‘</a:t>
            </a:r>
          </a:p>
          <a:p>
            <a:pPr marL="0" indent="0">
              <a:buNone/>
            </a:pPr>
            <a:r>
              <a:rPr lang="en-GB" dirty="0"/>
              <a:t>‘</a:t>
            </a:r>
            <a:r>
              <a:rPr lang="en-GB" dirty="0">
                <a:solidFill>
                  <a:srgbClr val="00B050"/>
                </a:solidFill>
              </a:rPr>
              <a:t>serious</a:t>
            </a:r>
            <a:r>
              <a:rPr lang="en-GB" dirty="0"/>
              <a:t>‘ not ‘____________</a:t>
            </a:r>
            <a:r>
              <a:rPr lang="en-GB" dirty="0">
                <a:solidFill>
                  <a:srgbClr val="FF0000"/>
                </a:solidFill>
              </a:rPr>
              <a:t> </a:t>
            </a:r>
            <a:r>
              <a:rPr lang="en-GB" dirty="0"/>
              <a:t>‘</a:t>
            </a:r>
          </a:p>
          <a:p>
            <a:pPr marL="0" indent="0">
              <a:buNone/>
            </a:pPr>
            <a:r>
              <a:rPr lang="en-GB" dirty="0"/>
              <a:t>‘</a:t>
            </a:r>
            <a:r>
              <a:rPr lang="en-GB" dirty="0">
                <a:solidFill>
                  <a:srgbClr val="00B050"/>
                </a:solidFill>
              </a:rPr>
              <a:t>impersonal‘</a:t>
            </a:r>
            <a:r>
              <a:rPr lang="en-GB" dirty="0"/>
              <a:t> not ‘__________</a:t>
            </a:r>
            <a:r>
              <a:rPr lang="en-GB" dirty="0">
                <a:solidFill>
                  <a:srgbClr val="FF0000"/>
                </a:solidFill>
              </a:rPr>
              <a:t> </a:t>
            </a:r>
            <a:r>
              <a:rPr lang="en-GB" dirty="0"/>
              <a:t>‘</a:t>
            </a:r>
          </a:p>
          <a:p>
            <a:pPr marL="0" indent="0">
              <a:buNone/>
            </a:pPr>
            <a:r>
              <a:rPr lang="en-GB" dirty="0"/>
              <a:t>‘</a:t>
            </a:r>
            <a:r>
              <a:rPr lang="en-GB" dirty="0">
                <a:solidFill>
                  <a:srgbClr val="00B050"/>
                </a:solidFill>
              </a:rPr>
              <a:t>formal</a:t>
            </a:r>
            <a:r>
              <a:rPr lang="en-GB" dirty="0"/>
              <a:t>‘ rather than ‘___________</a:t>
            </a:r>
            <a:r>
              <a:rPr lang="en-GB" dirty="0">
                <a:solidFill>
                  <a:srgbClr val="FF0000"/>
                </a:solidFill>
              </a:rPr>
              <a:t> </a:t>
            </a:r>
            <a:r>
              <a:rPr lang="en-GB" dirty="0"/>
              <a:t>‘.</a:t>
            </a:r>
          </a:p>
          <a:p>
            <a:endParaRPr lang="en-GB" dirty="0"/>
          </a:p>
        </p:txBody>
      </p:sp>
      <p:sp>
        <p:nvSpPr>
          <p:cNvPr id="4" name="TextBox 3"/>
          <p:cNvSpPr txBox="1"/>
          <p:nvPr/>
        </p:nvSpPr>
        <p:spPr>
          <a:xfrm>
            <a:off x="5558937" y="3166636"/>
            <a:ext cx="3204796" cy="1938992"/>
          </a:xfrm>
          <a:prstGeom prst="rect">
            <a:avLst/>
          </a:prstGeom>
          <a:noFill/>
        </p:spPr>
        <p:txBody>
          <a:bodyPr wrap="square" rtlCol="0">
            <a:spAutoFit/>
          </a:bodyPr>
          <a:lstStyle/>
          <a:p>
            <a:pPr defTabSz="342900"/>
            <a:r>
              <a:rPr lang="en-GB" sz="2400" dirty="0">
                <a:solidFill>
                  <a:srgbClr val="FF0000"/>
                </a:solidFill>
                <a:latin typeface="Calibri"/>
              </a:rPr>
              <a:t>				Colloquial</a:t>
            </a:r>
            <a:endParaRPr lang="en-GB" sz="2400" dirty="0">
              <a:solidFill>
                <a:prstClr val="black"/>
              </a:solidFill>
              <a:latin typeface="Calibri"/>
            </a:endParaRPr>
          </a:p>
          <a:p>
            <a:pPr defTabSz="342900"/>
            <a:r>
              <a:rPr lang="en-GB" sz="2400" dirty="0">
                <a:solidFill>
                  <a:srgbClr val="FF0000"/>
                </a:solidFill>
                <a:latin typeface="Calibri"/>
              </a:rPr>
              <a:t>Emotional</a:t>
            </a:r>
          </a:p>
          <a:p>
            <a:pPr defTabSz="342900"/>
            <a:r>
              <a:rPr lang="en-GB" sz="2400" dirty="0">
                <a:solidFill>
                  <a:srgbClr val="FF0000"/>
                </a:solidFill>
                <a:latin typeface="Calibri"/>
              </a:rPr>
              <a:t>				Personal</a:t>
            </a:r>
          </a:p>
          <a:p>
            <a:pPr defTabSz="342900"/>
            <a:r>
              <a:rPr lang="en-GB" sz="2400" dirty="0">
                <a:solidFill>
                  <a:srgbClr val="FF0000"/>
                </a:solidFill>
                <a:latin typeface="Calibri"/>
              </a:rPr>
              <a:t>Subjective</a:t>
            </a:r>
          </a:p>
          <a:p>
            <a:pPr defTabSz="342900"/>
            <a:r>
              <a:rPr lang="en-GB" sz="2400" dirty="0">
                <a:solidFill>
                  <a:srgbClr val="FF0000"/>
                </a:solidFill>
                <a:latin typeface="Calibri"/>
              </a:rPr>
              <a:t>			Conversational</a:t>
            </a:r>
          </a:p>
        </p:txBody>
      </p:sp>
    </p:spTree>
    <p:extLst>
      <p:ext uri="{BB962C8B-B14F-4D97-AF65-F5344CB8AC3E}">
        <p14:creationId xmlns:p14="http://schemas.microsoft.com/office/powerpoint/2010/main" val="1877982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Tone and Style</a:t>
            </a:r>
          </a:p>
        </p:txBody>
      </p:sp>
      <p:sp>
        <p:nvSpPr>
          <p:cNvPr id="3" name="Content Placeholder 2"/>
          <p:cNvSpPr>
            <a:spLocks noGrp="1"/>
          </p:cNvSpPr>
          <p:nvPr>
            <p:ph idx="1"/>
          </p:nvPr>
        </p:nvSpPr>
        <p:spPr/>
        <p:txBody>
          <a:bodyPr>
            <a:normAutofit/>
          </a:bodyPr>
          <a:lstStyle/>
          <a:p>
            <a:pPr marL="0" indent="0">
              <a:buNone/>
            </a:pPr>
            <a:r>
              <a:rPr lang="en-GB" dirty="0"/>
              <a:t>It is important when you write your assignments at Queen Mary that your writing can be, according to </a:t>
            </a:r>
            <a:r>
              <a:rPr lang="en-GB" dirty="0" err="1"/>
              <a:t>Clanchy</a:t>
            </a:r>
            <a:r>
              <a:rPr lang="en-GB" dirty="0"/>
              <a:t> and Ballard (1992), cited in Jordan (1997, p.244): </a:t>
            </a:r>
          </a:p>
          <a:p>
            <a:pPr marL="0" indent="0">
              <a:buNone/>
            </a:pPr>
            <a:r>
              <a:rPr lang="en-GB" dirty="0">
                <a:solidFill>
                  <a:srgbClr val="00B050"/>
                </a:solidFill>
              </a:rPr>
              <a:t>‘objective‘ </a:t>
            </a:r>
            <a:r>
              <a:rPr lang="en-GB" dirty="0"/>
              <a:t>not ‘</a:t>
            </a:r>
            <a:r>
              <a:rPr lang="en-GB" dirty="0">
                <a:solidFill>
                  <a:srgbClr val="FF0000"/>
                </a:solidFill>
              </a:rPr>
              <a:t>subjective</a:t>
            </a:r>
            <a:r>
              <a:rPr lang="en-GB" dirty="0"/>
              <a:t>‘</a:t>
            </a:r>
          </a:p>
          <a:p>
            <a:pPr marL="0" indent="0">
              <a:buNone/>
            </a:pPr>
            <a:r>
              <a:rPr lang="en-GB" dirty="0"/>
              <a:t>‘</a:t>
            </a:r>
            <a:r>
              <a:rPr lang="en-GB" dirty="0">
                <a:solidFill>
                  <a:srgbClr val="00B050"/>
                </a:solidFill>
              </a:rPr>
              <a:t>intellectual</a:t>
            </a:r>
            <a:r>
              <a:rPr lang="en-GB" dirty="0"/>
              <a:t>‘ not ‘</a:t>
            </a:r>
            <a:r>
              <a:rPr lang="en-GB" dirty="0">
                <a:solidFill>
                  <a:srgbClr val="FF0000"/>
                </a:solidFill>
              </a:rPr>
              <a:t>emotional</a:t>
            </a:r>
            <a:r>
              <a:rPr lang="en-GB" dirty="0"/>
              <a:t>‘</a:t>
            </a:r>
          </a:p>
          <a:p>
            <a:pPr marL="0" indent="0">
              <a:buNone/>
            </a:pPr>
            <a:r>
              <a:rPr lang="en-GB" dirty="0"/>
              <a:t>‘</a:t>
            </a:r>
            <a:r>
              <a:rPr lang="en-GB" dirty="0">
                <a:solidFill>
                  <a:srgbClr val="00B050"/>
                </a:solidFill>
              </a:rPr>
              <a:t>serious</a:t>
            </a:r>
            <a:r>
              <a:rPr lang="en-GB" dirty="0"/>
              <a:t>‘ not ‘</a:t>
            </a:r>
            <a:r>
              <a:rPr lang="en-GB" dirty="0">
                <a:solidFill>
                  <a:srgbClr val="FF0000"/>
                </a:solidFill>
              </a:rPr>
              <a:t>conversational‘</a:t>
            </a:r>
            <a:endParaRPr lang="en-GB" dirty="0"/>
          </a:p>
          <a:p>
            <a:pPr marL="0" indent="0">
              <a:buNone/>
            </a:pPr>
            <a:r>
              <a:rPr lang="en-GB" dirty="0"/>
              <a:t>‘</a:t>
            </a:r>
            <a:r>
              <a:rPr lang="en-GB" dirty="0">
                <a:solidFill>
                  <a:srgbClr val="00B050"/>
                </a:solidFill>
              </a:rPr>
              <a:t>impersonal‘</a:t>
            </a:r>
            <a:r>
              <a:rPr lang="en-GB" dirty="0"/>
              <a:t> not ‘</a:t>
            </a:r>
            <a:r>
              <a:rPr lang="en-GB" dirty="0">
                <a:solidFill>
                  <a:srgbClr val="FF0000"/>
                </a:solidFill>
              </a:rPr>
              <a:t>personal</a:t>
            </a:r>
            <a:r>
              <a:rPr lang="en-GB" dirty="0"/>
              <a:t>‘</a:t>
            </a:r>
          </a:p>
          <a:p>
            <a:pPr marL="0" indent="0">
              <a:buNone/>
            </a:pPr>
            <a:r>
              <a:rPr lang="en-GB" dirty="0"/>
              <a:t>‘</a:t>
            </a:r>
            <a:r>
              <a:rPr lang="en-GB" dirty="0">
                <a:solidFill>
                  <a:srgbClr val="00B050"/>
                </a:solidFill>
              </a:rPr>
              <a:t>formal</a:t>
            </a:r>
            <a:r>
              <a:rPr lang="en-GB" dirty="0"/>
              <a:t>‘ rather than ‘</a:t>
            </a:r>
            <a:r>
              <a:rPr lang="en-GB" dirty="0">
                <a:solidFill>
                  <a:srgbClr val="FF0000"/>
                </a:solidFill>
              </a:rPr>
              <a:t>colloquial</a:t>
            </a:r>
            <a:r>
              <a:rPr lang="en-GB" dirty="0"/>
              <a:t>‘.</a:t>
            </a:r>
          </a:p>
          <a:p>
            <a:endParaRPr lang="en-GB" dirty="0"/>
          </a:p>
        </p:txBody>
      </p:sp>
    </p:spTree>
    <p:extLst>
      <p:ext uri="{BB962C8B-B14F-4D97-AF65-F5344CB8AC3E}">
        <p14:creationId xmlns:p14="http://schemas.microsoft.com/office/powerpoint/2010/main" val="4113607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6094C-FD1B-48A2-82A4-5F0BABE44A7F}"/>
              </a:ext>
            </a:extLst>
          </p:cNvPr>
          <p:cNvSpPr>
            <a:spLocks noGrp="1"/>
          </p:cNvSpPr>
          <p:nvPr>
            <p:ph type="title"/>
          </p:nvPr>
        </p:nvSpPr>
        <p:spPr/>
        <p:txBody>
          <a:bodyPr/>
          <a:lstStyle/>
          <a:p>
            <a:r>
              <a:rPr lang="en-US" dirty="0"/>
              <a:t>Spoken vs Written English</a:t>
            </a:r>
          </a:p>
        </p:txBody>
      </p:sp>
      <p:sp>
        <p:nvSpPr>
          <p:cNvPr id="3" name="Text Placeholder 2">
            <a:extLst>
              <a:ext uri="{FF2B5EF4-FFF2-40B4-BE49-F238E27FC236}">
                <a16:creationId xmlns:a16="http://schemas.microsoft.com/office/drawing/2014/main" id="{A3DC4C1B-12ED-4D9C-8C03-AC89D0C84169}"/>
              </a:ext>
            </a:extLst>
          </p:cNvPr>
          <p:cNvSpPr>
            <a:spLocks noGrp="1"/>
          </p:cNvSpPr>
          <p:nvPr>
            <p:ph type="body" idx="1"/>
          </p:nvPr>
        </p:nvSpPr>
        <p:spPr/>
        <p:txBody>
          <a:bodyPr/>
          <a:lstStyle/>
          <a:p>
            <a:r>
              <a:rPr lang="en-US" dirty="0"/>
              <a:t>Spoken</a:t>
            </a:r>
          </a:p>
        </p:txBody>
      </p:sp>
      <p:sp>
        <p:nvSpPr>
          <p:cNvPr id="4" name="Content Placeholder 3">
            <a:extLst>
              <a:ext uri="{FF2B5EF4-FFF2-40B4-BE49-F238E27FC236}">
                <a16:creationId xmlns:a16="http://schemas.microsoft.com/office/drawing/2014/main" id="{525E3085-4536-4583-9C02-BB131640D9BA}"/>
              </a:ext>
            </a:extLst>
          </p:cNvPr>
          <p:cNvSpPr>
            <a:spLocks noGrp="1"/>
          </p:cNvSpPr>
          <p:nvPr>
            <p:ph sz="half" idx="2"/>
          </p:nvPr>
        </p:nvSpPr>
        <p:spPr/>
        <p:txBody>
          <a:bodyPr/>
          <a:lstStyle/>
          <a:p>
            <a:r>
              <a:rPr lang="en-US" dirty="0"/>
              <a:t>Active voice</a:t>
            </a:r>
          </a:p>
          <a:p>
            <a:r>
              <a:rPr lang="en-US" dirty="0"/>
              <a:t>Personal pronouns</a:t>
            </a:r>
          </a:p>
          <a:p>
            <a:endParaRPr lang="en-US" dirty="0"/>
          </a:p>
          <a:p>
            <a:r>
              <a:rPr lang="en-US" dirty="0"/>
              <a:t>Colloquial vocabulary</a:t>
            </a:r>
          </a:p>
          <a:p>
            <a:r>
              <a:rPr lang="en-US" dirty="0"/>
              <a:t>Pronunciation considerations</a:t>
            </a:r>
          </a:p>
          <a:p>
            <a:endParaRPr lang="en-US" dirty="0"/>
          </a:p>
          <a:p>
            <a:r>
              <a:rPr lang="en-US" dirty="0"/>
              <a:t>Speed and pacing a factor</a:t>
            </a:r>
          </a:p>
          <a:p>
            <a:endParaRPr lang="en-US" dirty="0"/>
          </a:p>
        </p:txBody>
      </p:sp>
      <p:sp>
        <p:nvSpPr>
          <p:cNvPr id="5" name="Text Placeholder 4">
            <a:extLst>
              <a:ext uri="{FF2B5EF4-FFF2-40B4-BE49-F238E27FC236}">
                <a16:creationId xmlns:a16="http://schemas.microsoft.com/office/drawing/2014/main" id="{967F008E-04FD-4206-A8BE-443C792CCB2D}"/>
              </a:ext>
            </a:extLst>
          </p:cNvPr>
          <p:cNvSpPr>
            <a:spLocks noGrp="1"/>
          </p:cNvSpPr>
          <p:nvPr>
            <p:ph type="body" sz="quarter" idx="3"/>
          </p:nvPr>
        </p:nvSpPr>
        <p:spPr/>
        <p:txBody>
          <a:bodyPr/>
          <a:lstStyle/>
          <a:p>
            <a:r>
              <a:rPr lang="en-US" dirty="0"/>
              <a:t>Written</a:t>
            </a:r>
          </a:p>
        </p:txBody>
      </p:sp>
      <p:sp>
        <p:nvSpPr>
          <p:cNvPr id="6" name="Content Placeholder 5">
            <a:extLst>
              <a:ext uri="{FF2B5EF4-FFF2-40B4-BE49-F238E27FC236}">
                <a16:creationId xmlns:a16="http://schemas.microsoft.com/office/drawing/2014/main" id="{25BF9FA8-35B1-435F-B52B-AF9A8FE5D81C}"/>
              </a:ext>
            </a:extLst>
          </p:cNvPr>
          <p:cNvSpPr>
            <a:spLocks noGrp="1"/>
          </p:cNvSpPr>
          <p:nvPr>
            <p:ph sz="quarter" idx="4"/>
          </p:nvPr>
        </p:nvSpPr>
        <p:spPr/>
        <p:txBody>
          <a:bodyPr/>
          <a:lstStyle/>
          <a:p>
            <a:r>
              <a:rPr lang="en-US" dirty="0"/>
              <a:t>More passive voice</a:t>
            </a:r>
          </a:p>
          <a:p>
            <a:r>
              <a:rPr lang="en-US" dirty="0"/>
              <a:t>Fewer (if any) personal pronouns</a:t>
            </a:r>
          </a:p>
          <a:p>
            <a:r>
              <a:rPr lang="en-US" dirty="0"/>
              <a:t>More formal vocabulary</a:t>
            </a:r>
          </a:p>
          <a:p>
            <a:r>
              <a:rPr lang="en-US" dirty="0"/>
              <a:t>No pronunciation issues so punctuation becomes more important</a:t>
            </a:r>
          </a:p>
          <a:p>
            <a:r>
              <a:rPr lang="en-US" dirty="0"/>
              <a:t>Structure and organisation</a:t>
            </a:r>
          </a:p>
        </p:txBody>
      </p:sp>
    </p:spTree>
    <p:extLst>
      <p:ext uri="{BB962C8B-B14F-4D97-AF65-F5344CB8AC3E}">
        <p14:creationId xmlns:p14="http://schemas.microsoft.com/office/powerpoint/2010/main" val="3737678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fade">
                                      <p:cBhvr>
                                        <p:cTn id="22" dur="500"/>
                                        <p:tgtEl>
                                          <p:spTgt spid="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fade">
                                      <p:cBhvr>
                                        <p:cTn id="27" dur="500"/>
                                        <p:tgtEl>
                                          <p:spTgt spid="4">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2" end="2"/>
                                            </p:txEl>
                                          </p:spTgt>
                                        </p:tgtEl>
                                        <p:attrNameLst>
                                          <p:attrName>style.visibility</p:attrName>
                                        </p:attrNameLst>
                                      </p:cBhvr>
                                      <p:to>
                                        <p:strVal val="visible"/>
                                      </p:to>
                                    </p:set>
                                    <p:animEffect transition="in" filter="fade">
                                      <p:cBhvr>
                                        <p:cTn id="32" dur="500"/>
                                        <p:tgtEl>
                                          <p:spTgt spid="6">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animEffect transition="in" filter="fade">
                                      <p:cBhvr>
                                        <p:cTn id="37" dur="500"/>
                                        <p:tgtEl>
                                          <p:spTgt spid="4">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3" end="3"/>
                                            </p:txEl>
                                          </p:spTgt>
                                        </p:tgtEl>
                                        <p:attrNameLst>
                                          <p:attrName>style.visibility</p:attrName>
                                        </p:attrNameLst>
                                      </p:cBhvr>
                                      <p:to>
                                        <p:strVal val="visible"/>
                                      </p:to>
                                    </p:set>
                                    <p:animEffect transition="in" filter="fade">
                                      <p:cBhvr>
                                        <p:cTn id="42" dur="500"/>
                                        <p:tgtEl>
                                          <p:spTgt spid="6">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animEffect transition="in" filter="fade">
                                      <p:cBhvr>
                                        <p:cTn id="47" dur="500"/>
                                        <p:tgtEl>
                                          <p:spTgt spid="4">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
                                            <p:txEl>
                                              <p:pRg st="4" end="4"/>
                                            </p:txEl>
                                          </p:spTgt>
                                        </p:tgtEl>
                                        <p:attrNameLst>
                                          <p:attrName>style.visibility</p:attrName>
                                        </p:attrNameLst>
                                      </p:cBhvr>
                                      <p:to>
                                        <p:strVal val="visible"/>
                                      </p:to>
                                    </p:set>
                                    <p:animEffect transition="in" filter="fade">
                                      <p:cBhvr>
                                        <p:cTn id="52"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3FAAB-7C2B-4C12-AAF8-31132A94D9DA}"/>
              </a:ext>
            </a:extLst>
          </p:cNvPr>
          <p:cNvSpPr>
            <a:spLocks noGrp="1"/>
          </p:cNvSpPr>
          <p:nvPr>
            <p:ph type="title"/>
          </p:nvPr>
        </p:nvSpPr>
        <p:spPr>
          <a:xfrm>
            <a:off x="840699" y="687480"/>
            <a:ext cx="5605629" cy="994172"/>
          </a:xfrm>
        </p:spPr>
        <p:txBody>
          <a:bodyPr>
            <a:normAutofit/>
          </a:bodyPr>
          <a:lstStyle/>
          <a:p>
            <a:r>
              <a:rPr lang="en-GB" sz="3850"/>
              <a:t>Economy of Expression</a:t>
            </a:r>
            <a:endParaRPr lang="en-US" sz="3850"/>
          </a:p>
        </p:txBody>
      </p:sp>
      <p:sp>
        <p:nvSpPr>
          <p:cNvPr id="3" name="Content Placeholder 2">
            <a:extLst>
              <a:ext uri="{FF2B5EF4-FFF2-40B4-BE49-F238E27FC236}">
                <a16:creationId xmlns:a16="http://schemas.microsoft.com/office/drawing/2014/main" id="{F30D7CFA-2458-4F3A-8178-EE4B4FA2179E}"/>
              </a:ext>
            </a:extLst>
          </p:cNvPr>
          <p:cNvSpPr>
            <a:spLocks noGrp="1"/>
          </p:cNvSpPr>
          <p:nvPr>
            <p:ph idx="1"/>
          </p:nvPr>
        </p:nvSpPr>
        <p:spPr>
          <a:xfrm>
            <a:off x="550073" y="1459206"/>
            <a:ext cx="5594007" cy="5066137"/>
          </a:xfrm>
        </p:spPr>
        <p:txBody>
          <a:bodyPr anchor="ctr">
            <a:normAutofit/>
          </a:bodyPr>
          <a:lstStyle/>
          <a:p>
            <a:pPr marL="0" indent="0">
              <a:buNone/>
            </a:pPr>
            <a:r>
              <a:rPr lang="en-GB" sz="2800" dirty="0"/>
              <a:t>Keep writing as </a:t>
            </a:r>
            <a:r>
              <a:rPr lang="en-GB" sz="2800" b="1" dirty="0"/>
              <a:t>CLEAR, DIRECT &amp; SIMPLE </a:t>
            </a:r>
            <a:r>
              <a:rPr lang="en-GB" sz="2800" dirty="0"/>
              <a:t>as possible</a:t>
            </a:r>
            <a:endParaRPr lang="en-US" sz="2800" dirty="0"/>
          </a:p>
          <a:p>
            <a:pPr marL="0" indent="0">
              <a:buNone/>
            </a:pPr>
            <a:r>
              <a:rPr lang="en-GB" sz="2800" dirty="0"/>
              <a:t>If it’s possible to express an idea in 5 words, why use 15?</a:t>
            </a:r>
            <a:endParaRPr lang="en-US" sz="2800" dirty="0"/>
          </a:p>
          <a:p>
            <a:pPr marL="0" indent="0">
              <a:buNone/>
            </a:pPr>
            <a:r>
              <a:rPr lang="en-GB" sz="2800" dirty="0"/>
              <a:t>Reduce redundancy </a:t>
            </a:r>
          </a:p>
          <a:p>
            <a:pPr marL="0" indent="0">
              <a:buNone/>
            </a:pPr>
            <a:r>
              <a:rPr lang="en-GB" sz="2800" dirty="0"/>
              <a:t>Easier for your reader to follow </a:t>
            </a:r>
            <a:endParaRPr lang="en-US" sz="2800" dirty="0"/>
          </a:p>
          <a:p>
            <a:pPr marL="0" indent="0">
              <a:buNone/>
            </a:pPr>
            <a:r>
              <a:rPr lang="en-GB" sz="2800" dirty="0"/>
              <a:t>Meet word count</a:t>
            </a:r>
            <a:endParaRPr lang="en-US" sz="2800" dirty="0"/>
          </a:p>
          <a:p>
            <a:endParaRPr lang="en-US" sz="2100" dirty="0"/>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Graphic 6" descr="Pencil">
            <a:extLst>
              <a:ext uri="{FF2B5EF4-FFF2-40B4-BE49-F238E27FC236}">
                <a16:creationId xmlns:a16="http://schemas.microsoft.com/office/drawing/2014/main" id="{E385A981-E138-870B-AE75-4088E26935D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4964" y="2865141"/>
            <a:ext cx="1143455" cy="1143455"/>
          </a:xfrm>
          <a:prstGeom prst="rect">
            <a:avLst/>
          </a:prstGeom>
        </p:spPr>
      </p:pic>
    </p:spTree>
    <p:extLst>
      <p:ext uri="{BB962C8B-B14F-4D97-AF65-F5344CB8AC3E}">
        <p14:creationId xmlns:p14="http://schemas.microsoft.com/office/powerpoint/2010/main" val="3314946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Economy Of Expression</a:t>
            </a:r>
          </a:p>
        </p:txBody>
      </p:sp>
      <p:sp>
        <p:nvSpPr>
          <p:cNvPr id="3" name="Content Placeholder 2"/>
          <p:cNvSpPr>
            <a:spLocks noGrp="1"/>
          </p:cNvSpPr>
          <p:nvPr>
            <p:ph idx="1"/>
          </p:nvPr>
        </p:nvSpPr>
        <p:spPr/>
        <p:txBody>
          <a:bodyPr/>
          <a:lstStyle/>
          <a:p>
            <a:pPr marL="0" indent="0">
              <a:buNone/>
            </a:pPr>
            <a:r>
              <a:rPr lang="en-GB" dirty="0">
                <a:solidFill>
                  <a:srgbClr val="FF0000"/>
                </a:solidFill>
              </a:rPr>
              <a:t>Poor style: The primary ambition of expressing concepts in an academic fashion is to provide assistance for the audience of the piece in comprehending the information being conveyed in an expeditious and accessible manner.</a:t>
            </a:r>
          </a:p>
          <a:p>
            <a:pPr marL="0" indent="0">
              <a:buNone/>
            </a:pPr>
            <a:r>
              <a:rPr lang="en-GB" dirty="0">
                <a:solidFill>
                  <a:srgbClr val="00B050"/>
                </a:solidFill>
              </a:rPr>
              <a:t>Better style: Effective academic writing helps readers understand your points quickly and easily.</a:t>
            </a:r>
          </a:p>
        </p:txBody>
      </p:sp>
    </p:spTree>
    <p:extLst>
      <p:ext uri="{BB962C8B-B14F-4D97-AF65-F5344CB8AC3E}">
        <p14:creationId xmlns:p14="http://schemas.microsoft.com/office/powerpoint/2010/main" val="1511456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en-US" sz="1350">
              <a:solidFill>
                <a:prstClr val="white"/>
              </a:solidFill>
              <a:latin typeface="Calibri"/>
            </a:endParaRPr>
          </a:p>
        </p:txBody>
      </p:sp>
      <p:sp>
        <p:nvSpPr>
          <p:cNvPr id="74"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857249"/>
            <a:ext cx="9143999" cy="1193057"/>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en-US" sz="1350">
              <a:solidFill>
                <a:prstClr val="white"/>
              </a:solidFill>
              <a:latin typeface="Calibri"/>
            </a:endParaRPr>
          </a:p>
        </p:txBody>
      </p:sp>
      <p:sp>
        <p:nvSpPr>
          <p:cNvPr id="76"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857250"/>
            <a:ext cx="6086480" cy="1193057"/>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en-US" sz="1350">
              <a:solidFill>
                <a:prstClr val="white"/>
              </a:solidFill>
              <a:latin typeface="Calibri"/>
            </a:endParaRPr>
          </a:p>
        </p:txBody>
      </p:sp>
      <p:sp>
        <p:nvSpPr>
          <p:cNvPr id="78"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857249"/>
            <a:ext cx="3057524" cy="1193057"/>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en-US" sz="1350">
              <a:solidFill>
                <a:prstClr val="white"/>
              </a:solidFill>
              <a:latin typeface="Calibri"/>
            </a:endParaRPr>
          </a:p>
        </p:txBody>
      </p:sp>
      <p:sp>
        <p:nvSpPr>
          <p:cNvPr id="80"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857250"/>
            <a:ext cx="8799485" cy="1198075"/>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en-US" sz="1350">
              <a:solidFill>
                <a:prstClr val="white"/>
              </a:solidFill>
              <a:latin typeface="Calibri"/>
            </a:endParaRPr>
          </a:p>
        </p:txBody>
      </p:sp>
      <p:sp>
        <p:nvSpPr>
          <p:cNvPr id="27650" name="Title 1"/>
          <p:cNvSpPr>
            <a:spLocks noGrp="1"/>
          </p:cNvSpPr>
          <p:nvPr>
            <p:ph type="title"/>
          </p:nvPr>
        </p:nvSpPr>
        <p:spPr>
          <a:xfrm>
            <a:off x="1028700" y="1078154"/>
            <a:ext cx="7421963" cy="775252"/>
          </a:xfrm>
        </p:spPr>
        <p:txBody>
          <a:bodyPr>
            <a:normAutofit/>
          </a:bodyPr>
          <a:lstStyle/>
          <a:p>
            <a:r>
              <a:rPr lang="en-GB" altLang="en-US" sz="3000">
                <a:solidFill>
                  <a:srgbClr val="FFFFFF"/>
                </a:solidFill>
              </a:rPr>
              <a:t>Task 1 - Reducing redundancy</a:t>
            </a:r>
          </a:p>
        </p:txBody>
      </p:sp>
      <p:sp>
        <p:nvSpPr>
          <p:cNvPr id="27651" name="Content Placeholder 2"/>
          <p:cNvSpPr>
            <a:spLocks noGrp="1"/>
          </p:cNvSpPr>
          <p:nvPr>
            <p:ph idx="1"/>
          </p:nvPr>
        </p:nvSpPr>
        <p:spPr>
          <a:xfrm>
            <a:off x="1028700" y="2595898"/>
            <a:ext cx="7293023" cy="2762519"/>
          </a:xfrm>
          <a:prstGeom prst="rect">
            <a:avLst/>
          </a:prstGeom>
        </p:spPr>
        <p:txBody>
          <a:bodyPr anchor="ctr">
            <a:normAutofit/>
          </a:bodyPr>
          <a:lstStyle/>
          <a:p>
            <a:pPr marL="0" indent="0">
              <a:buNone/>
            </a:pPr>
            <a:r>
              <a:rPr lang="en-GB" altLang="en-US" sz="1500" dirty="0"/>
              <a:t>Here is a short sentence (18 words). It is possible to express the same idea in only 5 words. </a:t>
            </a:r>
          </a:p>
          <a:p>
            <a:pPr marL="0" indent="0">
              <a:buNone/>
            </a:pPr>
            <a:r>
              <a:rPr lang="en-GB" altLang="en-US" sz="1500" dirty="0"/>
              <a:t>See if you can replicate the full meaning of the sentence below using only 5 words. </a:t>
            </a:r>
            <a:endParaRPr lang="en-GB" altLang="en-US" sz="1500" b="1" dirty="0"/>
          </a:p>
          <a:p>
            <a:pPr marL="0" indent="0">
              <a:buNone/>
            </a:pPr>
            <a:endParaRPr lang="en-GB" altLang="en-US" sz="1500" dirty="0"/>
          </a:p>
          <a:p>
            <a:pPr marL="0" indent="0">
              <a:buNone/>
            </a:pPr>
            <a:r>
              <a:rPr lang="en-GB" altLang="en-US" sz="3300" b="1" dirty="0"/>
              <a:t>There are many people in the world who do not have enough money to buy food to eat (18 words)</a:t>
            </a:r>
          </a:p>
          <a:p>
            <a:endParaRPr lang="en-GB" altLang="en-US" sz="1500" dirty="0"/>
          </a:p>
        </p:txBody>
      </p:sp>
    </p:spTree>
    <p:extLst>
      <p:ext uri="{BB962C8B-B14F-4D97-AF65-F5344CB8AC3E}">
        <p14:creationId xmlns:p14="http://schemas.microsoft.com/office/powerpoint/2010/main" val="3527975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GB" altLang="en-US">
                <a:ln>
                  <a:noFill/>
                </a:ln>
              </a:rPr>
              <a:t>Reducing redundancy</a:t>
            </a:r>
          </a:p>
        </p:txBody>
      </p:sp>
      <p:sp>
        <p:nvSpPr>
          <p:cNvPr id="27651" name="Content Placeholder 2"/>
          <p:cNvSpPr>
            <a:spLocks noGrp="1"/>
          </p:cNvSpPr>
          <p:nvPr>
            <p:ph idx="1"/>
          </p:nvPr>
        </p:nvSpPr>
        <p:spPr>
          <a:xfrm>
            <a:off x="1600200" y="2329925"/>
            <a:ext cx="6219680" cy="2583656"/>
          </a:xfrm>
          <a:prstGeom prst="rect">
            <a:avLst/>
          </a:prstGeom>
        </p:spPr>
        <p:txBody>
          <a:bodyPr>
            <a:normAutofit lnSpcReduction="10000"/>
          </a:bodyPr>
          <a:lstStyle/>
          <a:p>
            <a:pPr marL="0" indent="0">
              <a:buNone/>
            </a:pPr>
            <a:r>
              <a:rPr lang="en-GB" altLang="en-US" sz="2700" dirty="0">
                <a:solidFill>
                  <a:srgbClr val="FF0000"/>
                </a:solidFill>
              </a:rPr>
              <a:t>There are many people </a:t>
            </a:r>
            <a:r>
              <a:rPr lang="en-GB" altLang="en-US" sz="2700" dirty="0"/>
              <a:t>in the world </a:t>
            </a:r>
            <a:r>
              <a:rPr lang="en-GB" altLang="en-US" sz="2700" dirty="0">
                <a:solidFill>
                  <a:srgbClr val="FF0000"/>
                </a:solidFill>
              </a:rPr>
              <a:t>who do not have enough money </a:t>
            </a:r>
            <a:r>
              <a:rPr lang="en-GB" altLang="en-US" sz="2700" dirty="0"/>
              <a:t>to buy food to eat</a:t>
            </a:r>
          </a:p>
          <a:p>
            <a:pPr marL="0" indent="0">
              <a:buNone/>
            </a:pPr>
            <a:r>
              <a:rPr lang="en-GB" altLang="en-US" sz="2700" dirty="0"/>
              <a:t>The first concept is about money. Think of an adjective that describes a lack of financial resources.</a:t>
            </a:r>
            <a:endParaRPr lang="en-GB" altLang="en-US" dirty="0"/>
          </a:p>
        </p:txBody>
      </p:sp>
    </p:spTree>
    <p:extLst>
      <p:ext uri="{BB962C8B-B14F-4D97-AF65-F5344CB8AC3E}">
        <p14:creationId xmlns:p14="http://schemas.microsoft.com/office/powerpoint/2010/main" val="2954777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GB" altLang="en-US">
                <a:ln>
                  <a:noFill/>
                </a:ln>
              </a:rPr>
              <a:t>Reducing redundancy</a:t>
            </a:r>
          </a:p>
        </p:txBody>
      </p:sp>
      <p:sp>
        <p:nvSpPr>
          <p:cNvPr id="27651" name="Content Placeholder 2"/>
          <p:cNvSpPr>
            <a:spLocks noGrp="1"/>
          </p:cNvSpPr>
          <p:nvPr>
            <p:ph idx="1"/>
          </p:nvPr>
        </p:nvSpPr>
        <p:spPr>
          <a:xfrm>
            <a:off x="1610285" y="2168561"/>
            <a:ext cx="6219680" cy="2583656"/>
          </a:xfrm>
          <a:prstGeom prst="rect">
            <a:avLst/>
          </a:prstGeom>
        </p:spPr>
        <p:txBody>
          <a:bodyPr>
            <a:normAutofit/>
          </a:bodyPr>
          <a:lstStyle/>
          <a:p>
            <a:pPr marL="0" indent="0">
              <a:buNone/>
            </a:pPr>
            <a:r>
              <a:rPr lang="en-GB" altLang="en-US" sz="2700" dirty="0">
                <a:solidFill>
                  <a:srgbClr val="FF0000"/>
                </a:solidFill>
              </a:rPr>
              <a:t>There are many people </a:t>
            </a:r>
            <a:r>
              <a:rPr lang="en-GB" altLang="en-US" sz="2700" dirty="0"/>
              <a:t>in the world </a:t>
            </a:r>
            <a:r>
              <a:rPr lang="en-GB" altLang="en-US" sz="2700" dirty="0">
                <a:solidFill>
                  <a:srgbClr val="FF0000"/>
                </a:solidFill>
              </a:rPr>
              <a:t>who do not have enough money </a:t>
            </a:r>
            <a:r>
              <a:rPr lang="en-GB" altLang="en-US" sz="2700" dirty="0"/>
              <a:t>to buy food to eat </a:t>
            </a:r>
          </a:p>
          <a:p>
            <a:pPr marL="0" indent="0">
              <a:buNone/>
            </a:pPr>
            <a:r>
              <a:rPr lang="en-GB" altLang="en-US" sz="2700" dirty="0">
                <a:solidFill>
                  <a:srgbClr val="FF0000"/>
                </a:solidFill>
              </a:rPr>
              <a:t>Poor (</a:t>
            </a:r>
            <a:r>
              <a:rPr lang="en-GB" altLang="en-US" sz="2700" dirty="0" err="1">
                <a:solidFill>
                  <a:srgbClr val="FF0000"/>
                </a:solidFill>
              </a:rPr>
              <a:t>adj</a:t>
            </a:r>
            <a:r>
              <a:rPr lang="en-GB" altLang="en-US" sz="2700" dirty="0">
                <a:solidFill>
                  <a:srgbClr val="FF0000"/>
                </a:solidFill>
              </a:rPr>
              <a:t>)</a:t>
            </a:r>
          </a:p>
          <a:p>
            <a:pPr marL="0" indent="0">
              <a:buNone/>
            </a:pPr>
            <a:r>
              <a:rPr lang="en-GB" altLang="en-US" sz="2700" dirty="0">
                <a:solidFill>
                  <a:srgbClr val="FF0000"/>
                </a:solidFill>
              </a:rPr>
              <a:t>What’s the noun of ‘poor’?</a:t>
            </a:r>
          </a:p>
          <a:p>
            <a:endParaRPr lang="en-GB" altLang="en-US" dirty="0"/>
          </a:p>
        </p:txBody>
      </p:sp>
    </p:spTree>
    <p:extLst>
      <p:ext uri="{BB962C8B-B14F-4D97-AF65-F5344CB8AC3E}">
        <p14:creationId xmlns:p14="http://schemas.microsoft.com/office/powerpoint/2010/main" val="2851020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fade">
                                      <p:cBhvr>
                                        <p:cTn id="7" dur="500"/>
                                        <p:tgtEl>
                                          <p:spTgt spid="27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651">
                                            <p:txEl>
                                              <p:pRg st="1" end="1"/>
                                            </p:txEl>
                                          </p:spTgt>
                                        </p:tgtEl>
                                        <p:attrNameLst>
                                          <p:attrName>style.visibility</p:attrName>
                                        </p:attrNameLst>
                                      </p:cBhvr>
                                      <p:to>
                                        <p:strVal val="visible"/>
                                      </p:to>
                                    </p:set>
                                    <p:animEffect transition="in" filter="fade">
                                      <p:cBhvr>
                                        <p:cTn id="12" dur="500"/>
                                        <p:tgtEl>
                                          <p:spTgt spid="276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7651">
                                            <p:txEl>
                                              <p:pRg st="2" end="2"/>
                                            </p:txEl>
                                          </p:spTgt>
                                        </p:tgtEl>
                                        <p:attrNameLst>
                                          <p:attrName>style.visibility</p:attrName>
                                        </p:attrNameLst>
                                      </p:cBhvr>
                                      <p:to>
                                        <p:strVal val="visible"/>
                                      </p:to>
                                    </p:set>
                                    <p:animEffect transition="in" filter="fade">
                                      <p:cBhvr>
                                        <p:cTn id="17" dur="500"/>
                                        <p:tgtEl>
                                          <p:spTgt spid="276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GB" altLang="en-US">
                <a:ln>
                  <a:noFill/>
                </a:ln>
              </a:rPr>
              <a:t>Reducing redundancy</a:t>
            </a:r>
          </a:p>
        </p:txBody>
      </p:sp>
      <p:sp>
        <p:nvSpPr>
          <p:cNvPr id="27651" name="Content Placeholder 2"/>
          <p:cNvSpPr>
            <a:spLocks noGrp="1"/>
          </p:cNvSpPr>
          <p:nvPr>
            <p:ph idx="1"/>
          </p:nvPr>
        </p:nvSpPr>
        <p:spPr>
          <a:xfrm>
            <a:off x="1600200" y="2329925"/>
            <a:ext cx="6219680" cy="2583656"/>
          </a:xfrm>
          <a:prstGeom prst="rect">
            <a:avLst/>
          </a:prstGeom>
        </p:spPr>
        <p:txBody>
          <a:bodyPr>
            <a:normAutofit/>
          </a:bodyPr>
          <a:lstStyle/>
          <a:p>
            <a:pPr marL="0" indent="0">
              <a:buNone/>
            </a:pPr>
            <a:r>
              <a:rPr lang="en-GB" altLang="en-US" sz="2700" dirty="0">
                <a:solidFill>
                  <a:srgbClr val="FF0000"/>
                </a:solidFill>
              </a:rPr>
              <a:t>There are many people </a:t>
            </a:r>
            <a:r>
              <a:rPr lang="en-GB" altLang="en-US" sz="2700" dirty="0"/>
              <a:t>in the world </a:t>
            </a:r>
            <a:r>
              <a:rPr lang="en-GB" altLang="en-US" sz="2700" dirty="0">
                <a:solidFill>
                  <a:srgbClr val="FF0000"/>
                </a:solidFill>
              </a:rPr>
              <a:t>who do not have enough money </a:t>
            </a:r>
            <a:r>
              <a:rPr lang="en-GB" altLang="en-US" sz="2700" dirty="0"/>
              <a:t>to buy food to eat </a:t>
            </a:r>
          </a:p>
          <a:p>
            <a:pPr marL="0" indent="0">
              <a:buNone/>
            </a:pPr>
            <a:r>
              <a:rPr lang="en-GB" altLang="en-US" sz="2700" dirty="0">
                <a:solidFill>
                  <a:srgbClr val="FF0000"/>
                </a:solidFill>
              </a:rPr>
              <a:t>Poor (</a:t>
            </a:r>
            <a:r>
              <a:rPr lang="en-GB" altLang="en-US" sz="2700" dirty="0" err="1">
                <a:solidFill>
                  <a:srgbClr val="FF0000"/>
                </a:solidFill>
              </a:rPr>
              <a:t>adj</a:t>
            </a:r>
            <a:r>
              <a:rPr lang="en-GB" altLang="en-US" sz="2700" dirty="0">
                <a:solidFill>
                  <a:srgbClr val="FF0000"/>
                </a:solidFill>
              </a:rPr>
              <a:t>)</a:t>
            </a:r>
          </a:p>
          <a:p>
            <a:pPr marL="0" indent="0">
              <a:buClr>
                <a:prstClr val="black"/>
              </a:buClr>
              <a:buNone/>
            </a:pPr>
            <a:r>
              <a:rPr lang="en-GB" altLang="en-US" sz="2700" u="sng" dirty="0">
                <a:solidFill>
                  <a:srgbClr val="FF0000"/>
                </a:solidFill>
              </a:rPr>
              <a:t>Poverty (n)</a:t>
            </a:r>
          </a:p>
          <a:p>
            <a:endParaRPr lang="en-GB" altLang="en-US" dirty="0"/>
          </a:p>
        </p:txBody>
      </p:sp>
    </p:spTree>
    <p:extLst>
      <p:ext uri="{BB962C8B-B14F-4D97-AF65-F5344CB8AC3E}">
        <p14:creationId xmlns:p14="http://schemas.microsoft.com/office/powerpoint/2010/main" val="1718577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GB" altLang="en-US">
                <a:ln>
                  <a:noFill/>
                </a:ln>
              </a:rPr>
              <a:t>Reducing redundancy</a:t>
            </a:r>
          </a:p>
        </p:txBody>
      </p:sp>
      <p:sp>
        <p:nvSpPr>
          <p:cNvPr id="27651" name="Content Placeholder 2"/>
          <p:cNvSpPr>
            <a:spLocks noGrp="1"/>
          </p:cNvSpPr>
          <p:nvPr>
            <p:ph idx="1"/>
          </p:nvPr>
        </p:nvSpPr>
        <p:spPr>
          <a:xfrm>
            <a:off x="1600200" y="2329925"/>
            <a:ext cx="6219680" cy="2583656"/>
          </a:xfrm>
          <a:prstGeom prst="rect">
            <a:avLst/>
          </a:prstGeom>
        </p:spPr>
        <p:txBody>
          <a:bodyPr/>
          <a:lstStyle/>
          <a:p>
            <a:pPr marL="0" indent="0">
              <a:buNone/>
            </a:pPr>
            <a:r>
              <a:rPr lang="en-GB" altLang="en-US" sz="2700" dirty="0">
                <a:solidFill>
                  <a:srgbClr val="FF0000"/>
                </a:solidFill>
              </a:rPr>
              <a:t>There are many people </a:t>
            </a:r>
            <a:r>
              <a:rPr lang="en-GB" altLang="en-US" sz="2700" dirty="0"/>
              <a:t>in the world </a:t>
            </a:r>
            <a:r>
              <a:rPr lang="en-GB" altLang="en-US" sz="2700" dirty="0">
                <a:solidFill>
                  <a:srgbClr val="FF0000"/>
                </a:solidFill>
              </a:rPr>
              <a:t>who do not have enough money </a:t>
            </a:r>
            <a:r>
              <a:rPr lang="en-GB" altLang="en-US" sz="2700" dirty="0">
                <a:solidFill>
                  <a:srgbClr val="00B0F0"/>
                </a:solidFill>
              </a:rPr>
              <a:t>to buy food to eat</a:t>
            </a:r>
          </a:p>
          <a:p>
            <a:pPr marL="0" indent="0">
              <a:buNone/>
            </a:pPr>
            <a:r>
              <a:rPr lang="en-GB" altLang="en-US" dirty="0"/>
              <a:t>The next concept is about lacking sufficient nutrition. Think of an adjective that describes how you’d feel if you didn’t have enough food</a:t>
            </a:r>
          </a:p>
          <a:p>
            <a:pPr marL="0" indent="0">
              <a:buNone/>
            </a:pPr>
            <a:endParaRPr lang="en-GB" altLang="en-US" dirty="0"/>
          </a:p>
        </p:txBody>
      </p:sp>
    </p:spTree>
    <p:extLst>
      <p:ext uri="{BB962C8B-B14F-4D97-AF65-F5344CB8AC3E}">
        <p14:creationId xmlns:p14="http://schemas.microsoft.com/office/powerpoint/2010/main" val="44108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GB" altLang="en-US">
                <a:ln>
                  <a:noFill/>
                </a:ln>
              </a:rPr>
              <a:t>Reducing redundancy</a:t>
            </a:r>
          </a:p>
        </p:txBody>
      </p:sp>
      <p:sp>
        <p:nvSpPr>
          <p:cNvPr id="27651" name="Content Placeholder 2"/>
          <p:cNvSpPr>
            <a:spLocks noGrp="1"/>
          </p:cNvSpPr>
          <p:nvPr>
            <p:ph idx="1"/>
          </p:nvPr>
        </p:nvSpPr>
        <p:spPr>
          <a:xfrm>
            <a:off x="1600200" y="2329925"/>
            <a:ext cx="6219680" cy="2583656"/>
          </a:xfrm>
          <a:prstGeom prst="rect">
            <a:avLst/>
          </a:prstGeom>
        </p:spPr>
        <p:txBody>
          <a:bodyPr>
            <a:normAutofit/>
          </a:bodyPr>
          <a:lstStyle/>
          <a:p>
            <a:pPr marL="0" indent="0">
              <a:buNone/>
            </a:pPr>
            <a:r>
              <a:rPr lang="en-GB" altLang="en-US" sz="2700" dirty="0">
                <a:solidFill>
                  <a:srgbClr val="FF0000"/>
                </a:solidFill>
              </a:rPr>
              <a:t>There are many people </a:t>
            </a:r>
            <a:r>
              <a:rPr lang="en-GB" altLang="en-US" sz="2700" dirty="0"/>
              <a:t>in the world </a:t>
            </a:r>
            <a:r>
              <a:rPr lang="en-GB" altLang="en-US" sz="2700" dirty="0">
                <a:solidFill>
                  <a:srgbClr val="FF0000"/>
                </a:solidFill>
              </a:rPr>
              <a:t>who do not have enough money </a:t>
            </a:r>
            <a:r>
              <a:rPr lang="en-GB" altLang="en-US" sz="2700" dirty="0">
                <a:solidFill>
                  <a:srgbClr val="00B0F0"/>
                </a:solidFill>
              </a:rPr>
              <a:t>to buy food to eat</a:t>
            </a:r>
            <a:r>
              <a:rPr lang="en-GB" altLang="en-US" sz="2700" dirty="0"/>
              <a:t> </a:t>
            </a:r>
          </a:p>
          <a:p>
            <a:pPr marL="0" indent="0">
              <a:buNone/>
            </a:pPr>
            <a:r>
              <a:rPr lang="en-GB" altLang="en-US" sz="2700" dirty="0">
                <a:solidFill>
                  <a:srgbClr val="00B0F0"/>
                </a:solidFill>
              </a:rPr>
              <a:t>Hungry (</a:t>
            </a:r>
            <a:r>
              <a:rPr lang="en-GB" altLang="en-US" sz="2700" dirty="0" err="1">
                <a:solidFill>
                  <a:srgbClr val="00B0F0"/>
                </a:solidFill>
              </a:rPr>
              <a:t>adj</a:t>
            </a:r>
            <a:r>
              <a:rPr lang="en-GB" altLang="en-US" sz="2700" dirty="0">
                <a:solidFill>
                  <a:srgbClr val="00B0F0"/>
                </a:solidFill>
              </a:rPr>
              <a:t>) </a:t>
            </a:r>
          </a:p>
          <a:p>
            <a:pPr marL="0" indent="0">
              <a:buNone/>
            </a:pPr>
            <a:r>
              <a:rPr lang="en-GB" altLang="en-US" sz="2700" dirty="0">
                <a:solidFill>
                  <a:srgbClr val="00B0F0"/>
                </a:solidFill>
              </a:rPr>
              <a:t>Now the noun for hungry?</a:t>
            </a:r>
          </a:p>
          <a:p>
            <a:endParaRPr lang="en-GB" altLang="en-US" dirty="0"/>
          </a:p>
        </p:txBody>
      </p:sp>
    </p:spTree>
    <p:extLst>
      <p:ext uri="{BB962C8B-B14F-4D97-AF65-F5344CB8AC3E}">
        <p14:creationId xmlns:p14="http://schemas.microsoft.com/office/powerpoint/2010/main" val="1627351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GB" altLang="en-US">
                <a:ln>
                  <a:noFill/>
                </a:ln>
              </a:rPr>
              <a:t>Reducing redundancy</a:t>
            </a:r>
          </a:p>
        </p:txBody>
      </p:sp>
      <p:sp>
        <p:nvSpPr>
          <p:cNvPr id="27651" name="Content Placeholder 2"/>
          <p:cNvSpPr>
            <a:spLocks noGrp="1"/>
          </p:cNvSpPr>
          <p:nvPr>
            <p:ph idx="1"/>
          </p:nvPr>
        </p:nvSpPr>
        <p:spPr>
          <a:xfrm>
            <a:off x="1600200" y="2329925"/>
            <a:ext cx="6219680" cy="2583656"/>
          </a:xfrm>
          <a:prstGeom prst="rect">
            <a:avLst/>
          </a:prstGeom>
        </p:spPr>
        <p:txBody>
          <a:bodyPr>
            <a:normAutofit/>
          </a:bodyPr>
          <a:lstStyle/>
          <a:p>
            <a:pPr marL="0" indent="0">
              <a:buNone/>
            </a:pPr>
            <a:r>
              <a:rPr lang="en-GB" altLang="en-US" sz="2700" dirty="0">
                <a:solidFill>
                  <a:srgbClr val="FF0000"/>
                </a:solidFill>
              </a:rPr>
              <a:t>There are many people </a:t>
            </a:r>
            <a:r>
              <a:rPr lang="en-GB" altLang="en-US" sz="2700" dirty="0"/>
              <a:t>in the world </a:t>
            </a:r>
            <a:r>
              <a:rPr lang="en-GB" altLang="en-US" sz="2700" dirty="0">
                <a:solidFill>
                  <a:srgbClr val="FF0000"/>
                </a:solidFill>
              </a:rPr>
              <a:t>who do not have enough money </a:t>
            </a:r>
            <a:r>
              <a:rPr lang="en-GB" altLang="en-US" sz="2700" dirty="0">
                <a:solidFill>
                  <a:srgbClr val="00B0F0"/>
                </a:solidFill>
              </a:rPr>
              <a:t>to buy food to eat</a:t>
            </a:r>
            <a:r>
              <a:rPr lang="en-GB" altLang="en-US" sz="2700" dirty="0"/>
              <a:t> </a:t>
            </a:r>
          </a:p>
          <a:p>
            <a:pPr marL="0" indent="0">
              <a:buNone/>
            </a:pPr>
            <a:r>
              <a:rPr lang="en-GB" altLang="en-US" sz="2700" dirty="0">
                <a:solidFill>
                  <a:srgbClr val="00B0F0"/>
                </a:solidFill>
              </a:rPr>
              <a:t>Hungry (</a:t>
            </a:r>
            <a:r>
              <a:rPr lang="en-GB" altLang="en-US" sz="2700" dirty="0" err="1">
                <a:solidFill>
                  <a:srgbClr val="00B0F0"/>
                </a:solidFill>
              </a:rPr>
              <a:t>adj</a:t>
            </a:r>
            <a:r>
              <a:rPr lang="en-GB" altLang="en-US" sz="2700" dirty="0">
                <a:solidFill>
                  <a:srgbClr val="00B0F0"/>
                </a:solidFill>
              </a:rPr>
              <a:t>) </a:t>
            </a:r>
          </a:p>
          <a:p>
            <a:pPr marL="0" indent="0">
              <a:buClr>
                <a:prstClr val="black"/>
              </a:buClr>
              <a:buNone/>
            </a:pPr>
            <a:r>
              <a:rPr lang="en-GB" altLang="en-US" sz="2700" u="sng" dirty="0">
                <a:solidFill>
                  <a:srgbClr val="00B0F0"/>
                </a:solidFill>
              </a:rPr>
              <a:t>Hunger (n)</a:t>
            </a:r>
          </a:p>
          <a:p>
            <a:pPr marL="0" indent="0">
              <a:buNone/>
            </a:pPr>
            <a:endParaRPr lang="en-GB" altLang="en-US" dirty="0"/>
          </a:p>
        </p:txBody>
      </p:sp>
    </p:spTree>
    <p:extLst>
      <p:ext uri="{BB962C8B-B14F-4D97-AF65-F5344CB8AC3E}">
        <p14:creationId xmlns:p14="http://schemas.microsoft.com/office/powerpoint/2010/main" val="32694923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GB" altLang="en-US">
                <a:ln>
                  <a:noFill/>
                </a:ln>
              </a:rPr>
              <a:t>Reducing redundancy</a:t>
            </a:r>
          </a:p>
        </p:txBody>
      </p:sp>
      <p:sp>
        <p:nvSpPr>
          <p:cNvPr id="27651" name="Content Placeholder 2"/>
          <p:cNvSpPr>
            <a:spLocks noGrp="1"/>
          </p:cNvSpPr>
          <p:nvPr>
            <p:ph idx="1"/>
          </p:nvPr>
        </p:nvSpPr>
        <p:spPr>
          <a:xfrm>
            <a:off x="1600200" y="2329925"/>
            <a:ext cx="6219680" cy="2583656"/>
          </a:xfrm>
          <a:prstGeom prst="rect">
            <a:avLst/>
          </a:prstGeom>
        </p:spPr>
        <p:txBody>
          <a:bodyPr>
            <a:normAutofit lnSpcReduction="10000"/>
          </a:bodyPr>
          <a:lstStyle/>
          <a:p>
            <a:pPr marL="0" indent="0">
              <a:buNone/>
            </a:pPr>
            <a:r>
              <a:rPr lang="en-GB" altLang="en-US" sz="2700" dirty="0">
                <a:solidFill>
                  <a:srgbClr val="FF0000"/>
                </a:solidFill>
              </a:rPr>
              <a:t>There are many people </a:t>
            </a:r>
            <a:r>
              <a:rPr lang="en-GB" altLang="en-US" sz="2700" dirty="0">
                <a:solidFill>
                  <a:srgbClr val="00B050"/>
                </a:solidFill>
              </a:rPr>
              <a:t>in the world </a:t>
            </a:r>
            <a:r>
              <a:rPr lang="en-GB" altLang="en-US" sz="2700" dirty="0">
                <a:solidFill>
                  <a:srgbClr val="FF0000"/>
                </a:solidFill>
              </a:rPr>
              <a:t>who do not have enough money </a:t>
            </a:r>
            <a:r>
              <a:rPr lang="en-GB" altLang="en-US" sz="2700" dirty="0">
                <a:solidFill>
                  <a:srgbClr val="00B0F0"/>
                </a:solidFill>
              </a:rPr>
              <a:t>to buy food to eat</a:t>
            </a:r>
          </a:p>
          <a:p>
            <a:pPr marL="0" indent="0">
              <a:buNone/>
            </a:pPr>
            <a:r>
              <a:rPr lang="en-GB" altLang="en-US" sz="2700" dirty="0">
                <a:solidFill>
                  <a:srgbClr val="00B050"/>
                </a:solidFill>
              </a:rPr>
              <a:t>The final concept is that the effects of poverty and hunger are a global problem</a:t>
            </a:r>
          </a:p>
          <a:p>
            <a:pPr marL="0" indent="0">
              <a:buNone/>
            </a:pPr>
            <a:r>
              <a:rPr lang="en-GB" altLang="en-US" sz="2700" dirty="0">
                <a:solidFill>
                  <a:srgbClr val="00B050"/>
                </a:solidFill>
              </a:rPr>
              <a:t>Here you’ll need an adjective or adverb</a:t>
            </a:r>
            <a:endParaRPr lang="en-GB" altLang="en-US" dirty="0">
              <a:solidFill>
                <a:srgbClr val="00B050"/>
              </a:solidFill>
            </a:endParaRPr>
          </a:p>
        </p:txBody>
      </p:sp>
    </p:spTree>
    <p:extLst>
      <p:ext uri="{BB962C8B-B14F-4D97-AF65-F5344CB8AC3E}">
        <p14:creationId xmlns:p14="http://schemas.microsoft.com/office/powerpoint/2010/main" val="2397416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fade">
                                      <p:cBhvr>
                                        <p:cTn id="7" dur="500"/>
                                        <p:tgtEl>
                                          <p:spTgt spid="27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651">
                                            <p:txEl>
                                              <p:pRg st="1" end="1"/>
                                            </p:txEl>
                                          </p:spTgt>
                                        </p:tgtEl>
                                        <p:attrNameLst>
                                          <p:attrName>style.visibility</p:attrName>
                                        </p:attrNameLst>
                                      </p:cBhvr>
                                      <p:to>
                                        <p:strVal val="visible"/>
                                      </p:to>
                                    </p:set>
                                    <p:animEffect transition="in" filter="fade">
                                      <p:cBhvr>
                                        <p:cTn id="12" dur="500"/>
                                        <p:tgtEl>
                                          <p:spTgt spid="276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7651">
                                            <p:txEl>
                                              <p:pRg st="2" end="2"/>
                                            </p:txEl>
                                          </p:spTgt>
                                        </p:tgtEl>
                                        <p:attrNameLst>
                                          <p:attrName>style.visibility</p:attrName>
                                        </p:attrNameLst>
                                      </p:cBhvr>
                                      <p:to>
                                        <p:strVal val="visible"/>
                                      </p:to>
                                    </p:set>
                                    <p:animEffect transition="in" filter="fade">
                                      <p:cBhvr>
                                        <p:cTn id="17" dur="500"/>
                                        <p:tgtEl>
                                          <p:spTgt spid="276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GB" altLang="en-US">
                <a:ln>
                  <a:noFill/>
                </a:ln>
              </a:rPr>
              <a:t>Reducing redundancy</a:t>
            </a:r>
          </a:p>
        </p:txBody>
      </p:sp>
      <p:sp>
        <p:nvSpPr>
          <p:cNvPr id="27651" name="Content Placeholder 2"/>
          <p:cNvSpPr>
            <a:spLocks noGrp="1"/>
          </p:cNvSpPr>
          <p:nvPr>
            <p:ph idx="1"/>
          </p:nvPr>
        </p:nvSpPr>
        <p:spPr>
          <a:xfrm>
            <a:off x="1600200" y="2329925"/>
            <a:ext cx="6219680" cy="2583656"/>
          </a:xfrm>
          <a:prstGeom prst="rect">
            <a:avLst/>
          </a:prstGeom>
        </p:spPr>
        <p:txBody>
          <a:bodyPr/>
          <a:lstStyle/>
          <a:p>
            <a:pPr marL="0" indent="0">
              <a:buNone/>
            </a:pPr>
            <a:r>
              <a:rPr lang="en-GB" altLang="en-US" sz="2700" dirty="0">
                <a:solidFill>
                  <a:srgbClr val="FF0000"/>
                </a:solidFill>
              </a:rPr>
              <a:t>There are many people </a:t>
            </a:r>
            <a:r>
              <a:rPr lang="en-GB" altLang="en-US" sz="2700" dirty="0">
                <a:solidFill>
                  <a:srgbClr val="00B050"/>
                </a:solidFill>
              </a:rPr>
              <a:t>in the world </a:t>
            </a:r>
            <a:r>
              <a:rPr lang="en-GB" altLang="en-US" sz="2700" dirty="0">
                <a:solidFill>
                  <a:srgbClr val="FF0000"/>
                </a:solidFill>
              </a:rPr>
              <a:t>who do not have enough money </a:t>
            </a:r>
            <a:r>
              <a:rPr lang="en-GB" altLang="en-US" sz="2700" dirty="0">
                <a:solidFill>
                  <a:srgbClr val="00B0F0"/>
                </a:solidFill>
              </a:rPr>
              <a:t>to buy food to eat</a:t>
            </a:r>
            <a:r>
              <a:rPr lang="en-GB" altLang="en-US" sz="2700" dirty="0"/>
              <a:t> </a:t>
            </a:r>
          </a:p>
          <a:p>
            <a:pPr marL="0" indent="0">
              <a:buNone/>
            </a:pPr>
            <a:r>
              <a:rPr lang="en-GB" altLang="en-US" sz="2700" dirty="0">
                <a:solidFill>
                  <a:srgbClr val="00B050"/>
                </a:solidFill>
              </a:rPr>
              <a:t>Globally / Widespread (</a:t>
            </a:r>
            <a:r>
              <a:rPr lang="en-GB" altLang="en-US" sz="2700" dirty="0" err="1">
                <a:solidFill>
                  <a:srgbClr val="00B050"/>
                </a:solidFill>
              </a:rPr>
              <a:t>adj</a:t>
            </a:r>
            <a:r>
              <a:rPr lang="en-GB" altLang="en-US" sz="2700" dirty="0">
                <a:solidFill>
                  <a:srgbClr val="00B050"/>
                </a:solidFill>
              </a:rPr>
              <a:t>)</a:t>
            </a:r>
          </a:p>
          <a:p>
            <a:endParaRPr lang="en-GB" altLang="en-US" dirty="0"/>
          </a:p>
        </p:txBody>
      </p:sp>
    </p:spTree>
    <p:extLst>
      <p:ext uri="{BB962C8B-B14F-4D97-AF65-F5344CB8AC3E}">
        <p14:creationId xmlns:p14="http://schemas.microsoft.com/office/powerpoint/2010/main" val="1827897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784186" y="783619"/>
            <a:ext cx="7773338" cy="1197133"/>
          </a:xfrm>
        </p:spPr>
        <p:txBody>
          <a:bodyPr/>
          <a:lstStyle/>
          <a:p>
            <a:r>
              <a:rPr lang="en-GB" altLang="en-US" dirty="0">
                <a:ln>
                  <a:noFill/>
                </a:ln>
              </a:rPr>
              <a:t>Reducing redundancy</a:t>
            </a:r>
          </a:p>
        </p:txBody>
      </p:sp>
      <p:sp>
        <p:nvSpPr>
          <p:cNvPr id="27651" name="Content Placeholder 2"/>
          <p:cNvSpPr>
            <a:spLocks noGrp="1"/>
          </p:cNvSpPr>
          <p:nvPr>
            <p:ph idx="1"/>
          </p:nvPr>
        </p:nvSpPr>
        <p:spPr>
          <a:xfrm>
            <a:off x="1465249" y="1934509"/>
            <a:ext cx="6411209" cy="3383531"/>
          </a:xfrm>
          <a:prstGeom prst="rect">
            <a:avLst/>
          </a:prstGeom>
        </p:spPr>
        <p:txBody>
          <a:bodyPr>
            <a:normAutofit/>
          </a:bodyPr>
          <a:lstStyle/>
          <a:p>
            <a:pPr marL="0" indent="0">
              <a:buClr>
                <a:prstClr val="black"/>
              </a:buClr>
              <a:buNone/>
              <a:defRPr/>
            </a:pPr>
            <a:endParaRPr lang="en-GB" altLang="en-US" sz="2700" dirty="0">
              <a:solidFill>
                <a:srgbClr val="FF0000"/>
              </a:solidFill>
            </a:endParaRPr>
          </a:p>
          <a:p>
            <a:pPr marL="0" indent="0">
              <a:buClr>
                <a:prstClr val="black"/>
              </a:buClr>
              <a:buNone/>
              <a:defRPr/>
            </a:pPr>
            <a:r>
              <a:rPr lang="en-GB" altLang="en-US" sz="2700" dirty="0">
                <a:solidFill>
                  <a:srgbClr val="FF0000"/>
                </a:solidFill>
              </a:rPr>
              <a:t>Poverty</a:t>
            </a:r>
            <a:r>
              <a:rPr lang="en-GB" altLang="en-US" sz="2700" dirty="0">
                <a:solidFill>
                  <a:prstClr val="black">
                    <a:lumMod val="85000"/>
                    <a:lumOff val="15000"/>
                  </a:prstClr>
                </a:solidFill>
              </a:rPr>
              <a:t> and </a:t>
            </a:r>
            <a:r>
              <a:rPr lang="en-GB" altLang="en-US" sz="2700" dirty="0">
                <a:solidFill>
                  <a:srgbClr val="00B0F0"/>
                </a:solidFill>
              </a:rPr>
              <a:t>hunger</a:t>
            </a:r>
            <a:r>
              <a:rPr lang="en-GB" altLang="en-US" sz="2700" dirty="0">
                <a:solidFill>
                  <a:prstClr val="black">
                    <a:lumMod val="85000"/>
                    <a:lumOff val="15000"/>
                  </a:prstClr>
                </a:solidFill>
              </a:rPr>
              <a:t> are </a:t>
            </a:r>
            <a:r>
              <a:rPr lang="en-GB" altLang="en-US" sz="2700" dirty="0">
                <a:solidFill>
                  <a:srgbClr val="00B050"/>
                </a:solidFill>
              </a:rPr>
              <a:t>widespread</a:t>
            </a:r>
          </a:p>
          <a:p>
            <a:pPr marL="0" indent="0">
              <a:buClr>
                <a:prstClr val="black"/>
              </a:buClr>
              <a:buNone/>
              <a:defRPr/>
            </a:pPr>
            <a:r>
              <a:rPr lang="en-GB" altLang="en-US" sz="2700" dirty="0">
                <a:solidFill>
                  <a:srgbClr val="FF0000"/>
                </a:solidFill>
              </a:rPr>
              <a:t>Poverty</a:t>
            </a:r>
            <a:r>
              <a:rPr lang="en-GB" altLang="en-US" sz="2700" dirty="0">
                <a:solidFill>
                  <a:prstClr val="black">
                    <a:lumMod val="85000"/>
                    <a:lumOff val="15000"/>
                  </a:prstClr>
                </a:solidFill>
              </a:rPr>
              <a:t> and </a:t>
            </a:r>
            <a:r>
              <a:rPr lang="en-GB" altLang="en-US" sz="2700" dirty="0">
                <a:solidFill>
                  <a:srgbClr val="00B0F0"/>
                </a:solidFill>
              </a:rPr>
              <a:t>hunger</a:t>
            </a:r>
            <a:r>
              <a:rPr lang="en-GB" altLang="en-US" sz="2700" dirty="0">
                <a:solidFill>
                  <a:prstClr val="black">
                    <a:lumMod val="85000"/>
                    <a:lumOff val="15000"/>
                  </a:prstClr>
                </a:solidFill>
              </a:rPr>
              <a:t> are </a:t>
            </a:r>
            <a:r>
              <a:rPr lang="en-GB" altLang="en-US" sz="2700" dirty="0">
                <a:solidFill>
                  <a:srgbClr val="00B050"/>
                </a:solidFill>
              </a:rPr>
              <a:t>global problems</a:t>
            </a:r>
          </a:p>
          <a:p>
            <a:pPr marL="0" indent="0">
              <a:buClr>
                <a:prstClr val="black"/>
              </a:buClr>
              <a:buNone/>
              <a:defRPr/>
            </a:pPr>
            <a:endParaRPr lang="en-GB" altLang="en-US" sz="1875" dirty="0">
              <a:solidFill>
                <a:prstClr val="black"/>
              </a:solidFill>
            </a:endParaRPr>
          </a:p>
          <a:p>
            <a:pPr marL="0" indent="0">
              <a:buClr>
                <a:prstClr val="black"/>
              </a:buClr>
              <a:buNone/>
              <a:defRPr/>
            </a:pPr>
            <a:r>
              <a:rPr lang="en-GB" altLang="en-US" sz="1875" dirty="0">
                <a:solidFill>
                  <a:prstClr val="black"/>
                </a:solidFill>
              </a:rPr>
              <a:t>(5 / 6 words)</a:t>
            </a:r>
            <a:endParaRPr lang="en-GB" altLang="en-US" sz="2100" u="sng" dirty="0">
              <a:solidFill>
                <a:prstClr val="black">
                  <a:lumMod val="85000"/>
                  <a:lumOff val="15000"/>
                </a:prstClr>
              </a:solidFill>
            </a:endParaRPr>
          </a:p>
          <a:p>
            <a:pPr marL="0" indent="0">
              <a:buClr>
                <a:prstClr val="black"/>
              </a:buClr>
              <a:buNone/>
              <a:defRPr/>
            </a:pPr>
            <a:r>
              <a:rPr lang="en-GB" altLang="en-US" sz="2100" u="sng" dirty="0">
                <a:solidFill>
                  <a:prstClr val="black">
                    <a:lumMod val="85000"/>
                    <a:lumOff val="15000"/>
                  </a:prstClr>
                </a:solidFill>
              </a:rPr>
              <a:t>Nominalisation</a:t>
            </a:r>
          </a:p>
          <a:p>
            <a:pPr marL="0" indent="0">
              <a:buClr>
                <a:prstClr val="black"/>
              </a:buClr>
              <a:buNone/>
              <a:defRPr/>
            </a:pPr>
            <a:r>
              <a:rPr lang="en-GB" altLang="en-US" sz="3000" dirty="0">
                <a:solidFill>
                  <a:prstClr val="black">
                    <a:lumMod val="85000"/>
                    <a:lumOff val="15000"/>
                  </a:prstClr>
                </a:solidFill>
              </a:rPr>
              <a:t>CLEAR, DIRECT &amp; SIMPLE</a:t>
            </a:r>
          </a:p>
          <a:p>
            <a:endParaRPr lang="en-GB" altLang="en-US" dirty="0"/>
          </a:p>
        </p:txBody>
      </p:sp>
    </p:spTree>
    <p:extLst>
      <p:ext uri="{BB962C8B-B14F-4D97-AF65-F5344CB8AC3E}">
        <p14:creationId xmlns:p14="http://schemas.microsoft.com/office/powerpoint/2010/main" val="2685919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651">
                                            <p:txEl>
                                              <p:pRg st="5" end="5"/>
                                            </p:txEl>
                                          </p:spTgt>
                                        </p:tgtEl>
                                        <p:attrNameLst>
                                          <p:attrName>style.visibility</p:attrName>
                                        </p:attrNameLst>
                                      </p:cBhvr>
                                      <p:to>
                                        <p:strVal val="visible"/>
                                      </p:to>
                                    </p:set>
                                    <p:animEffect transition="in" filter="fade">
                                      <p:cBhvr>
                                        <p:cTn id="7" dur="500"/>
                                        <p:tgtEl>
                                          <p:spTgt spid="27651">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651">
                                            <p:txEl>
                                              <p:pRg st="6" end="6"/>
                                            </p:txEl>
                                          </p:spTgt>
                                        </p:tgtEl>
                                        <p:attrNameLst>
                                          <p:attrName>style.visibility</p:attrName>
                                        </p:attrNameLst>
                                      </p:cBhvr>
                                      <p:to>
                                        <p:strVal val="visible"/>
                                      </p:to>
                                    </p:set>
                                    <p:animEffect transition="in" filter="fade">
                                      <p:cBhvr>
                                        <p:cTn id="12" dur="500"/>
                                        <p:tgtEl>
                                          <p:spTgt spid="2765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B0C60769-5425-4CDA-B979-1B360DB8F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26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938" name="Rectangle 2"/>
          <p:cNvSpPr>
            <a:spLocks noGrp="1" noChangeArrowheads="1"/>
          </p:cNvSpPr>
          <p:nvPr>
            <p:ph type="title" idx="4294967295"/>
          </p:nvPr>
        </p:nvSpPr>
        <p:spPr>
          <a:xfrm>
            <a:off x="387350" y="3446374"/>
            <a:ext cx="3606801" cy="2743200"/>
          </a:xfrm>
        </p:spPr>
        <p:txBody>
          <a:bodyPr vert="horz" lIns="91440" tIns="45720" rIns="91440" bIns="45720" rtlCol="0" anchor="t">
            <a:normAutofit/>
          </a:bodyPr>
          <a:lstStyle/>
          <a:p>
            <a:pPr algn="ctr" defTabSz="914400">
              <a:defRPr/>
            </a:pPr>
            <a:r>
              <a:rPr lang="en-US" altLang="en-US" sz="3900" kern="1200">
                <a:solidFill>
                  <a:schemeClr val="bg1"/>
                </a:solidFill>
                <a:latin typeface="+mj-lt"/>
                <a:ea typeface="+mj-ea"/>
                <a:cs typeface="+mj-cs"/>
              </a:rPr>
              <a:t> </a:t>
            </a:r>
            <a:r>
              <a:rPr lang="en-US" altLang="en-US" sz="3900" b="1" kern="1200">
                <a:solidFill>
                  <a:schemeClr val="bg1"/>
                </a:solidFill>
                <a:latin typeface="+mj-lt"/>
                <a:ea typeface="+mj-ea"/>
                <a:cs typeface="+mj-cs"/>
              </a:rPr>
              <a:t>Where possible, choose</a:t>
            </a:r>
            <a:r>
              <a:rPr lang="en-US" altLang="en-US" sz="3900" b="1" i="1" kern="1200">
                <a:solidFill>
                  <a:schemeClr val="bg1"/>
                </a:solidFill>
                <a:latin typeface="+mj-lt"/>
                <a:ea typeface="+mj-ea"/>
                <a:cs typeface="+mj-cs"/>
              </a:rPr>
              <a:t> </a:t>
            </a:r>
            <a:r>
              <a:rPr lang="en-US" altLang="en-US" sz="3900" b="1" i="1" u="sng" kern="1200">
                <a:solidFill>
                  <a:schemeClr val="bg1"/>
                </a:solidFill>
                <a:latin typeface="+mj-lt"/>
                <a:ea typeface="+mj-ea"/>
                <a:cs typeface="+mj-cs"/>
              </a:rPr>
              <a:t>more formal </a:t>
            </a:r>
            <a:r>
              <a:rPr lang="en-US" altLang="en-US" sz="3900" b="1" kern="1200">
                <a:solidFill>
                  <a:schemeClr val="bg1"/>
                </a:solidFill>
                <a:latin typeface="+mj-lt"/>
                <a:ea typeface="+mj-ea"/>
                <a:cs typeface="+mj-cs"/>
              </a:rPr>
              <a:t>vocabulary </a:t>
            </a:r>
          </a:p>
        </p:txBody>
      </p:sp>
      <p:pic>
        <p:nvPicPr>
          <p:cNvPr id="71" name="Graphic 70" descr="Angel Face Outline">
            <a:extLst>
              <a:ext uri="{FF2B5EF4-FFF2-40B4-BE49-F238E27FC236}">
                <a16:creationId xmlns:a16="http://schemas.microsoft.com/office/drawing/2014/main" id="{3C0E38FB-D9DD-49B9-9E47-56B1F82B297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30954" y="2087318"/>
            <a:ext cx="685800" cy="685800"/>
          </a:xfrm>
          <a:prstGeom prst="rect">
            <a:avLst/>
          </a:prstGeom>
        </p:spPr>
      </p:pic>
      <p:sp>
        <p:nvSpPr>
          <p:cNvPr id="39939" name="Rectangle 3"/>
          <p:cNvSpPr>
            <a:spLocks noGrp="1" noChangeArrowheads="1"/>
          </p:cNvSpPr>
          <p:nvPr>
            <p:ph type="body" idx="4294967295"/>
          </p:nvPr>
        </p:nvSpPr>
        <p:spPr>
          <a:xfrm>
            <a:off x="4701397" y="654226"/>
            <a:ext cx="4184649" cy="5533496"/>
          </a:xfrm>
        </p:spPr>
        <p:txBody>
          <a:bodyPr vert="horz" lIns="91440" tIns="45720" rIns="91440" bIns="45720" rtlCol="0" anchor="ctr">
            <a:normAutofit fontScale="92500"/>
          </a:bodyPr>
          <a:lstStyle/>
          <a:p>
            <a:pPr marL="0" indent="-228600" defTabSz="914400">
              <a:defRPr/>
            </a:pPr>
            <a:r>
              <a:rPr lang="en-US" altLang="en-US" sz="3200" dirty="0"/>
              <a:t>Following review, accuracy was </a:t>
            </a:r>
            <a:r>
              <a:rPr lang="en-US" altLang="en-US" sz="3200" b="1" i="1" dirty="0">
                <a:solidFill>
                  <a:srgbClr val="FF0000"/>
                </a:solidFill>
              </a:rPr>
              <a:t>pretty good compared to before</a:t>
            </a:r>
            <a:r>
              <a:rPr lang="en-US" altLang="en-US" sz="3200" b="1" dirty="0">
                <a:solidFill>
                  <a:srgbClr val="FF0000"/>
                </a:solidFill>
              </a:rPr>
              <a:t>.</a:t>
            </a:r>
            <a:endParaRPr lang="en-US" altLang="en-US" sz="3200" dirty="0">
              <a:solidFill>
                <a:srgbClr val="FF0000"/>
              </a:solidFill>
            </a:endParaRPr>
          </a:p>
          <a:p>
            <a:pPr marL="0" indent="-228600" defTabSz="914400">
              <a:defRPr/>
            </a:pPr>
            <a:r>
              <a:rPr lang="en-US" altLang="en-US" sz="3200" dirty="0"/>
              <a:t>Following review, accuracy was </a:t>
            </a:r>
            <a:r>
              <a:rPr lang="en-US" altLang="en-US" sz="3200" b="1" i="1" dirty="0">
                <a:solidFill>
                  <a:srgbClr val="00B050"/>
                </a:solidFill>
              </a:rPr>
              <a:t>much improved</a:t>
            </a:r>
            <a:r>
              <a:rPr lang="en-US" altLang="en-US" sz="3200" b="1" dirty="0">
                <a:solidFill>
                  <a:srgbClr val="00B050"/>
                </a:solidFill>
              </a:rPr>
              <a:t>. </a:t>
            </a:r>
          </a:p>
          <a:p>
            <a:pPr marL="0" indent="-228600" defTabSz="914400">
              <a:defRPr/>
            </a:pPr>
            <a:r>
              <a:rPr lang="en-US" altLang="en-US" sz="3200" dirty="0"/>
              <a:t>The new regulation has had a </a:t>
            </a:r>
            <a:r>
              <a:rPr lang="en-US" altLang="en-US" sz="3200" b="1" dirty="0">
                <a:solidFill>
                  <a:srgbClr val="FF0000"/>
                </a:solidFill>
              </a:rPr>
              <a:t>really big </a:t>
            </a:r>
            <a:r>
              <a:rPr lang="en-US" altLang="en-US" sz="3200" dirty="0"/>
              <a:t>impact on import capabilities.</a:t>
            </a:r>
          </a:p>
          <a:p>
            <a:pPr marL="0" indent="-228600" defTabSz="914400">
              <a:defRPr/>
            </a:pPr>
            <a:r>
              <a:rPr lang="en-US" altLang="en-US" sz="3200" dirty="0"/>
              <a:t>The new regulation has had a </a:t>
            </a:r>
            <a:r>
              <a:rPr lang="en-US" altLang="en-US" sz="3200" b="1" dirty="0">
                <a:solidFill>
                  <a:srgbClr val="00B050"/>
                </a:solidFill>
              </a:rPr>
              <a:t>significant impact </a:t>
            </a:r>
            <a:r>
              <a:rPr lang="en-US" altLang="en-US" sz="3200" dirty="0"/>
              <a:t>on import capabilities.</a:t>
            </a:r>
          </a:p>
          <a:p>
            <a:pPr marL="68580" indent="-228600" defTabSz="914400">
              <a:defRPr/>
            </a:pPr>
            <a:endParaRPr lang="en-US" altLang="en-US" dirty="0"/>
          </a:p>
        </p:txBody>
      </p:sp>
    </p:spTree>
    <p:extLst>
      <p:ext uri="{BB962C8B-B14F-4D97-AF65-F5344CB8AC3E}">
        <p14:creationId xmlns:p14="http://schemas.microsoft.com/office/powerpoint/2010/main" val="39243958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9938"/>
                                        </p:tgtEl>
                                        <p:attrNameLst>
                                          <p:attrName>style.visibility</p:attrName>
                                        </p:attrNameLst>
                                      </p:cBhvr>
                                      <p:to>
                                        <p:strVal val="visible"/>
                                      </p:to>
                                    </p:set>
                                    <p:animEffect transition="in" filter="fade">
                                      <p:cBhvr>
                                        <p:cTn id="7" dur="2000"/>
                                        <p:tgtEl>
                                          <p:spTgt spid="399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9939">
                                            <p:txEl>
                                              <p:pRg st="0" end="0"/>
                                            </p:txEl>
                                          </p:spTgt>
                                        </p:tgtEl>
                                        <p:attrNameLst>
                                          <p:attrName>style.visibility</p:attrName>
                                        </p:attrNameLst>
                                      </p:cBhvr>
                                      <p:to>
                                        <p:strVal val="visible"/>
                                      </p:to>
                                    </p:set>
                                    <p:animEffect transition="in" filter="fade">
                                      <p:cBhvr>
                                        <p:cTn id="12" dur="500"/>
                                        <p:tgtEl>
                                          <p:spTgt spid="3993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9939">
                                            <p:txEl>
                                              <p:pRg st="1" end="1"/>
                                            </p:txEl>
                                          </p:spTgt>
                                        </p:tgtEl>
                                        <p:attrNameLst>
                                          <p:attrName>style.visibility</p:attrName>
                                        </p:attrNameLst>
                                      </p:cBhvr>
                                      <p:to>
                                        <p:strVal val="visible"/>
                                      </p:to>
                                    </p:set>
                                    <p:animEffect transition="in" filter="fade">
                                      <p:cBhvr>
                                        <p:cTn id="17" dur="500"/>
                                        <p:tgtEl>
                                          <p:spTgt spid="3993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9939">
                                            <p:txEl>
                                              <p:pRg st="2" end="2"/>
                                            </p:txEl>
                                          </p:spTgt>
                                        </p:tgtEl>
                                        <p:attrNameLst>
                                          <p:attrName>style.visibility</p:attrName>
                                        </p:attrNameLst>
                                      </p:cBhvr>
                                      <p:to>
                                        <p:strVal val="visible"/>
                                      </p:to>
                                    </p:set>
                                    <p:animEffect transition="in" filter="fade">
                                      <p:cBhvr>
                                        <p:cTn id="22" dur="500"/>
                                        <p:tgtEl>
                                          <p:spTgt spid="3993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9939">
                                            <p:txEl>
                                              <p:pRg st="3" end="3"/>
                                            </p:txEl>
                                          </p:spTgt>
                                        </p:tgtEl>
                                        <p:attrNameLst>
                                          <p:attrName>style.visibility</p:attrName>
                                        </p:attrNameLst>
                                      </p:cBhvr>
                                      <p:to>
                                        <p:strVal val="visible"/>
                                      </p:to>
                                    </p:set>
                                    <p:animEffect transition="in" filter="fade">
                                      <p:cBhvr>
                                        <p:cTn id="27" dur="500"/>
                                        <p:tgtEl>
                                          <p:spTgt spid="399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p:bldP spid="3993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O"/>
          </a:p>
        </p:txBody>
      </p:sp>
      <p:sp>
        <p:nvSpPr>
          <p:cNvPr id="3" name="2 Marcador de contenido"/>
          <p:cNvSpPr>
            <a:spLocks noGrp="1"/>
          </p:cNvSpPr>
          <p:nvPr>
            <p:ph idx="1"/>
          </p:nvPr>
        </p:nvSpPr>
        <p:spPr/>
        <p:txBody>
          <a:bodyPr/>
          <a:lstStyle/>
          <a:p>
            <a:pPr marL="0" indent="0">
              <a:buNone/>
              <a:defRPr/>
            </a:pPr>
            <a:r>
              <a:rPr lang="en-GB" altLang="en-US" sz="3000" dirty="0">
                <a:solidFill>
                  <a:schemeClr val="tx1">
                    <a:lumMod val="85000"/>
                    <a:lumOff val="15000"/>
                  </a:schemeClr>
                </a:solidFill>
              </a:rPr>
              <a:t>There are </a:t>
            </a:r>
            <a:r>
              <a:rPr lang="en-GB" altLang="en-US" sz="3000" b="1" dirty="0">
                <a:solidFill>
                  <a:srgbClr val="FF0000"/>
                </a:solidFill>
              </a:rPr>
              <a:t>lots and lots of great ideas nowadays.</a:t>
            </a:r>
          </a:p>
          <a:p>
            <a:pPr marL="0" indent="0">
              <a:buNone/>
              <a:defRPr/>
            </a:pPr>
            <a:r>
              <a:rPr lang="en-GB" altLang="en-US" sz="3000" b="1" dirty="0">
                <a:solidFill>
                  <a:srgbClr val="00B050"/>
                </a:solidFill>
              </a:rPr>
              <a:t>Currently</a:t>
            </a:r>
            <a:r>
              <a:rPr lang="en-GB" altLang="en-US" sz="3000" b="1" dirty="0">
                <a:solidFill>
                  <a:schemeClr val="tx1">
                    <a:lumMod val="85000"/>
                    <a:lumOff val="15000"/>
                  </a:schemeClr>
                </a:solidFill>
              </a:rPr>
              <a:t>, </a:t>
            </a:r>
            <a:r>
              <a:rPr lang="en-GB" altLang="en-US" sz="3000" dirty="0">
                <a:solidFill>
                  <a:schemeClr val="tx1">
                    <a:lumMod val="85000"/>
                    <a:lumOff val="15000"/>
                  </a:schemeClr>
                </a:solidFill>
              </a:rPr>
              <a:t>there are </a:t>
            </a:r>
            <a:r>
              <a:rPr lang="en-GB" altLang="en-US" sz="3000" b="1" dirty="0">
                <a:solidFill>
                  <a:srgbClr val="00B050"/>
                </a:solidFill>
              </a:rPr>
              <a:t>many impressive / creative / innovative ideas / concepts.</a:t>
            </a:r>
          </a:p>
          <a:p>
            <a:pPr marL="0" indent="0">
              <a:buNone/>
              <a:defRPr/>
            </a:pPr>
            <a:r>
              <a:rPr lang="en-US" sz="3000" dirty="0">
                <a:solidFill>
                  <a:schemeClr val="tx1">
                    <a:lumMod val="85000"/>
                    <a:lumOff val="15000"/>
                  </a:schemeClr>
                </a:solidFill>
              </a:rPr>
              <a:t>Students </a:t>
            </a:r>
            <a:r>
              <a:rPr lang="en-US" sz="3000" b="1" dirty="0">
                <a:solidFill>
                  <a:srgbClr val="FF0000"/>
                </a:solidFill>
              </a:rPr>
              <a:t>get a lot of help</a:t>
            </a:r>
            <a:r>
              <a:rPr lang="en-US" sz="3000" dirty="0">
                <a:solidFill>
                  <a:srgbClr val="FF0000"/>
                </a:solidFill>
              </a:rPr>
              <a:t> </a:t>
            </a:r>
            <a:r>
              <a:rPr lang="en-US" sz="3000" dirty="0">
                <a:solidFill>
                  <a:schemeClr val="tx1">
                    <a:lumMod val="85000"/>
                    <a:lumOff val="15000"/>
                  </a:schemeClr>
                </a:solidFill>
              </a:rPr>
              <a:t>from professors</a:t>
            </a:r>
          </a:p>
          <a:p>
            <a:pPr marL="0" indent="0">
              <a:buNone/>
              <a:defRPr/>
            </a:pPr>
            <a:r>
              <a:rPr lang="en-US" sz="3000" dirty="0">
                <a:solidFill>
                  <a:schemeClr val="tx1">
                    <a:lumMod val="85000"/>
                    <a:lumOff val="15000"/>
                  </a:schemeClr>
                </a:solidFill>
              </a:rPr>
              <a:t>Students </a:t>
            </a:r>
            <a:r>
              <a:rPr lang="en-US" sz="3000" b="1" dirty="0">
                <a:solidFill>
                  <a:srgbClr val="00B050"/>
                </a:solidFill>
              </a:rPr>
              <a:t>receive considerable assistance </a:t>
            </a:r>
            <a:r>
              <a:rPr lang="en-US" sz="3000" dirty="0">
                <a:solidFill>
                  <a:schemeClr val="tx1">
                    <a:lumMod val="85000"/>
                    <a:lumOff val="15000"/>
                  </a:schemeClr>
                </a:solidFill>
              </a:rPr>
              <a:t>from professors</a:t>
            </a:r>
          </a:p>
          <a:p>
            <a:endParaRPr lang="es-CO" dirty="0"/>
          </a:p>
        </p:txBody>
      </p:sp>
    </p:spTree>
    <p:extLst>
      <p:ext uri="{BB962C8B-B14F-4D97-AF65-F5344CB8AC3E}">
        <p14:creationId xmlns:p14="http://schemas.microsoft.com/office/powerpoint/2010/main" val="1818150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840309" y="476672"/>
            <a:ext cx="5098256" cy="977503"/>
          </a:xfrm>
        </p:spPr>
        <p:txBody>
          <a:bodyPr/>
          <a:lstStyle/>
          <a:p>
            <a:r>
              <a:rPr lang="en-GB" altLang="en-US" b="1" dirty="0">
                <a:ln>
                  <a:noFill/>
                </a:ln>
              </a:rPr>
              <a:t>Get</a:t>
            </a:r>
          </a:p>
        </p:txBody>
      </p:sp>
      <p:sp>
        <p:nvSpPr>
          <p:cNvPr id="41987" name="Rectangle 3"/>
          <p:cNvSpPr>
            <a:spLocks noGrp="1" noChangeArrowheads="1"/>
          </p:cNvSpPr>
          <p:nvPr>
            <p:ph idx="1"/>
          </p:nvPr>
        </p:nvSpPr>
        <p:spPr>
          <a:xfrm>
            <a:off x="821724" y="1701404"/>
            <a:ext cx="7704438" cy="3801987"/>
          </a:xfrm>
          <a:prstGeom prst="rect">
            <a:avLst/>
          </a:prstGeom>
        </p:spPr>
        <p:txBody>
          <a:bodyPr rtlCol="0">
            <a:normAutofit/>
          </a:bodyPr>
          <a:lstStyle/>
          <a:p>
            <a:pPr marL="0" indent="0">
              <a:buNone/>
              <a:defRPr/>
            </a:pPr>
            <a:r>
              <a:rPr lang="en-GB" altLang="en-US" sz="1950" dirty="0">
                <a:solidFill>
                  <a:schemeClr val="tx1">
                    <a:lumMod val="85000"/>
                    <a:lumOff val="15000"/>
                  </a:schemeClr>
                </a:solidFill>
              </a:rPr>
              <a:t>A very versatile English verb but it can always be replaced by more formal synonyms:</a:t>
            </a:r>
          </a:p>
          <a:p>
            <a:pPr fontAlgn="auto">
              <a:buFont typeface="Wingdings" panose="05000000000000000000" pitchFamily="2" charset="2"/>
              <a:buNone/>
              <a:defRPr/>
            </a:pPr>
            <a:r>
              <a:rPr lang="en-GB" altLang="en-US" sz="2400" dirty="0">
                <a:solidFill>
                  <a:schemeClr val="tx1">
                    <a:lumMod val="85000"/>
                    <a:lumOff val="15000"/>
                  </a:schemeClr>
                </a:solidFill>
              </a:rPr>
              <a:t>Receive; earn; retrieve; buy; become; </a:t>
            </a:r>
          </a:p>
          <a:p>
            <a:pPr fontAlgn="auto">
              <a:buFont typeface="Wingdings" panose="05000000000000000000" pitchFamily="2" charset="2"/>
              <a:buNone/>
              <a:defRPr/>
            </a:pPr>
            <a:r>
              <a:rPr lang="en-GB" altLang="en-US" sz="2400" dirty="0">
                <a:solidFill>
                  <a:schemeClr val="tx1">
                    <a:lumMod val="85000"/>
                    <a:lumOff val="15000"/>
                  </a:schemeClr>
                </a:solidFill>
              </a:rPr>
              <a:t>Understand; achieve; arrive; obtain; reach; </a:t>
            </a:r>
          </a:p>
          <a:p>
            <a:pPr fontAlgn="auto">
              <a:buFont typeface="Wingdings" panose="05000000000000000000" pitchFamily="2" charset="2"/>
              <a:buNone/>
              <a:defRPr/>
            </a:pPr>
            <a:r>
              <a:rPr lang="en-GB" altLang="en-US" sz="2400" dirty="0">
                <a:solidFill>
                  <a:schemeClr val="tx1">
                    <a:lumMod val="85000"/>
                    <a:lumOff val="15000"/>
                  </a:schemeClr>
                </a:solidFill>
              </a:rPr>
              <a:t>Punish; injure; annoy; arrest; capture; seize; </a:t>
            </a:r>
          </a:p>
          <a:p>
            <a:pPr fontAlgn="auto">
              <a:buFont typeface="Wingdings" panose="05000000000000000000" pitchFamily="2" charset="2"/>
              <a:buNone/>
              <a:defRPr/>
            </a:pPr>
            <a:r>
              <a:rPr lang="en-GB" altLang="en-US" sz="2400" dirty="0">
                <a:solidFill>
                  <a:schemeClr val="tx1">
                    <a:lumMod val="85000"/>
                    <a:lumOff val="15000"/>
                  </a:schemeClr>
                </a:solidFill>
              </a:rPr>
              <a:t>Hear; discern; distinguish; perceive.</a:t>
            </a:r>
          </a:p>
          <a:p>
            <a:pPr marL="0" indent="0">
              <a:buNone/>
              <a:defRPr/>
            </a:pPr>
            <a:r>
              <a:rPr lang="en-GB" altLang="en-US" sz="3600" dirty="0">
                <a:solidFill>
                  <a:schemeClr val="tx1">
                    <a:lumMod val="85000"/>
                    <a:lumOff val="15000"/>
                  </a:schemeClr>
                </a:solidFill>
              </a:rPr>
              <a:t>                             </a:t>
            </a:r>
            <a:r>
              <a:rPr lang="en-GB" altLang="en-US" sz="6600" dirty="0">
                <a:solidFill>
                  <a:schemeClr val="tx1">
                    <a:lumMod val="85000"/>
                    <a:lumOff val="15000"/>
                  </a:schemeClr>
                </a:solidFill>
              </a:rPr>
              <a:t>Get</a:t>
            </a:r>
          </a:p>
          <a:p>
            <a:pPr fontAlgn="auto">
              <a:buFont typeface="Arial"/>
              <a:buChar char="•"/>
              <a:defRPr/>
            </a:pPr>
            <a:endParaRPr lang="en-GB" altLang="en-US" sz="1950" dirty="0">
              <a:solidFill>
                <a:schemeClr val="tx1">
                  <a:lumMod val="85000"/>
                  <a:lumOff val="15000"/>
                </a:schemeClr>
              </a:solidFill>
            </a:endParaRPr>
          </a:p>
        </p:txBody>
      </p:sp>
      <p:sp>
        <p:nvSpPr>
          <p:cNvPr id="4" name="&quot;No&quot; Symbol 3"/>
          <p:cNvSpPr/>
          <p:nvPr/>
        </p:nvSpPr>
        <p:spPr>
          <a:xfrm>
            <a:off x="3885345" y="4293096"/>
            <a:ext cx="1373309" cy="723536"/>
          </a:xfrm>
          <a:prstGeom prst="noSmoking">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350">
              <a:solidFill>
                <a:schemeClr val="tx1"/>
              </a:solidFill>
            </a:endParaRPr>
          </a:p>
        </p:txBody>
      </p:sp>
    </p:spTree>
    <p:extLst>
      <p:ext uri="{BB962C8B-B14F-4D97-AF65-F5344CB8AC3E}">
        <p14:creationId xmlns:p14="http://schemas.microsoft.com/office/powerpoint/2010/main" val="1502865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animEffect transition="in" filter="fade">
                                      <p:cBhvr>
                                        <p:cTn id="7" dur="500"/>
                                        <p:tgtEl>
                                          <p:spTgt spid="419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987">
                                            <p:txEl>
                                              <p:pRg st="1" end="1"/>
                                            </p:txEl>
                                          </p:spTgt>
                                        </p:tgtEl>
                                        <p:attrNameLst>
                                          <p:attrName>style.visibility</p:attrName>
                                        </p:attrNameLst>
                                      </p:cBhvr>
                                      <p:to>
                                        <p:strVal val="visible"/>
                                      </p:to>
                                    </p:set>
                                    <p:animEffect transition="in" filter="fade">
                                      <p:cBhvr>
                                        <p:cTn id="12" dur="500"/>
                                        <p:tgtEl>
                                          <p:spTgt spid="419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1987">
                                            <p:txEl>
                                              <p:pRg st="2" end="2"/>
                                            </p:txEl>
                                          </p:spTgt>
                                        </p:tgtEl>
                                        <p:attrNameLst>
                                          <p:attrName>style.visibility</p:attrName>
                                        </p:attrNameLst>
                                      </p:cBhvr>
                                      <p:to>
                                        <p:strVal val="visible"/>
                                      </p:to>
                                    </p:set>
                                    <p:animEffect transition="in" filter="fade">
                                      <p:cBhvr>
                                        <p:cTn id="17" dur="500"/>
                                        <p:tgtEl>
                                          <p:spTgt spid="419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1987">
                                            <p:txEl>
                                              <p:pRg st="3" end="3"/>
                                            </p:txEl>
                                          </p:spTgt>
                                        </p:tgtEl>
                                        <p:attrNameLst>
                                          <p:attrName>style.visibility</p:attrName>
                                        </p:attrNameLst>
                                      </p:cBhvr>
                                      <p:to>
                                        <p:strVal val="visible"/>
                                      </p:to>
                                    </p:set>
                                    <p:animEffect transition="in" filter="fade">
                                      <p:cBhvr>
                                        <p:cTn id="22" dur="500"/>
                                        <p:tgtEl>
                                          <p:spTgt spid="4198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1987">
                                            <p:txEl>
                                              <p:pRg st="4" end="4"/>
                                            </p:txEl>
                                          </p:spTgt>
                                        </p:tgtEl>
                                        <p:attrNameLst>
                                          <p:attrName>style.visibility</p:attrName>
                                        </p:attrNameLst>
                                      </p:cBhvr>
                                      <p:to>
                                        <p:strVal val="visible"/>
                                      </p:to>
                                    </p:set>
                                    <p:animEffect transition="in" filter="fade">
                                      <p:cBhvr>
                                        <p:cTn id="27" dur="500"/>
                                        <p:tgtEl>
                                          <p:spTgt spid="4198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1987">
                                            <p:txEl>
                                              <p:pRg st="5" end="5"/>
                                            </p:txEl>
                                          </p:spTgt>
                                        </p:tgtEl>
                                        <p:attrNameLst>
                                          <p:attrName>style.visibility</p:attrName>
                                        </p:attrNameLst>
                                      </p:cBhvr>
                                      <p:to>
                                        <p:strVal val="visible"/>
                                      </p:to>
                                    </p:set>
                                    <p:animEffect transition="in" filter="fade">
                                      <p:cBhvr>
                                        <p:cTn id="32" dur="500"/>
                                        <p:tgtEl>
                                          <p:spTgt spid="4198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Shape 7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06" name="Rectangle 2"/>
          <p:cNvSpPr>
            <a:spLocks noGrp="1" noChangeArrowheads="1"/>
          </p:cNvSpPr>
          <p:nvPr>
            <p:ph type="title" idx="4294967295"/>
          </p:nvPr>
        </p:nvSpPr>
        <p:spPr>
          <a:xfrm>
            <a:off x="515125" y="1153572"/>
            <a:ext cx="2400300" cy="4461163"/>
          </a:xfrm>
        </p:spPr>
        <p:txBody>
          <a:bodyPr vert="horz" lIns="91440" tIns="45720" rIns="91440" bIns="45720" rtlCol="0" anchor="ctr">
            <a:normAutofit/>
          </a:bodyPr>
          <a:lstStyle/>
          <a:p>
            <a:pPr defTabSz="914400"/>
            <a:r>
              <a:rPr lang="en-US" altLang="en-US" sz="4100" kern="1200">
                <a:solidFill>
                  <a:srgbClr val="FFFFFF"/>
                </a:solidFill>
                <a:latin typeface="+mj-lt"/>
                <a:ea typeface="+mj-ea"/>
                <a:cs typeface="+mj-cs"/>
              </a:rPr>
              <a:t>Using Qualifying Words and Phrases</a:t>
            </a:r>
            <a:r>
              <a:rPr lang="en-US" altLang="en-US" sz="4100" kern="1200">
                <a:ln>
                  <a:noFill/>
                </a:ln>
                <a:solidFill>
                  <a:srgbClr val="FFFFFF"/>
                </a:solidFill>
                <a:latin typeface="+mj-lt"/>
                <a:ea typeface="+mj-ea"/>
                <a:cs typeface="+mj-cs"/>
              </a:rPr>
              <a:t> - Hedging</a:t>
            </a:r>
          </a:p>
        </p:txBody>
      </p:sp>
      <p:sp>
        <p:nvSpPr>
          <p:cNvPr id="76" name="Arc 7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7107" name="Rectangle 3"/>
          <p:cNvSpPr>
            <a:spLocks noGrp="1" noChangeArrowheads="1"/>
          </p:cNvSpPr>
          <p:nvPr>
            <p:ph type="body" idx="4294967295"/>
          </p:nvPr>
        </p:nvSpPr>
        <p:spPr>
          <a:xfrm>
            <a:off x="3335481" y="591344"/>
            <a:ext cx="5179868" cy="5585619"/>
          </a:xfrm>
        </p:spPr>
        <p:txBody>
          <a:bodyPr vert="horz" lIns="91440" tIns="45720" rIns="91440" bIns="45720" rtlCol="0" anchor="ctr">
            <a:normAutofit/>
          </a:bodyPr>
          <a:lstStyle/>
          <a:p>
            <a:pPr marL="0" indent="0" defTabSz="914400">
              <a:buNone/>
              <a:defRPr/>
            </a:pPr>
            <a:r>
              <a:rPr lang="en-US" altLang="en-US" b="1" i="1" cap="none" dirty="0"/>
              <a:t>American cultural domination is destroying local traditions all over the world.</a:t>
            </a:r>
            <a:r>
              <a:rPr lang="en-US" altLang="en-US" b="1" cap="none" dirty="0"/>
              <a:t> </a:t>
            </a:r>
            <a:endParaRPr lang="en-US" altLang="en-US" b="1" i="1" cap="none" dirty="0"/>
          </a:p>
          <a:p>
            <a:pPr marL="0" indent="0" defTabSz="914400" fontAlgn="auto">
              <a:buNone/>
              <a:defRPr/>
            </a:pPr>
            <a:endParaRPr lang="en-US" altLang="en-US" b="1" dirty="0"/>
          </a:p>
          <a:p>
            <a:pPr marL="0" indent="0" defTabSz="914400">
              <a:buNone/>
              <a:defRPr/>
            </a:pPr>
            <a:r>
              <a:rPr lang="en-US" altLang="en-US" b="1" dirty="0"/>
              <a:t>It is possible that</a:t>
            </a:r>
            <a:r>
              <a:rPr lang="en-US" altLang="en-US" dirty="0"/>
              <a:t> American cultural domination is destroying local traditions all over the world. </a:t>
            </a:r>
            <a:endParaRPr lang="en-US" altLang="en-US" b="1" i="1" dirty="0"/>
          </a:p>
          <a:p>
            <a:pPr marL="0" indent="0" defTabSz="914400">
              <a:buNone/>
              <a:defRPr/>
            </a:pPr>
            <a:r>
              <a:rPr lang="en-US" altLang="en-US" b="1" i="1" dirty="0"/>
              <a:t>Or</a:t>
            </a:r>
            <a:r>
              <a:rPr lang="en-US" altLang="en-US" dirty="0"/>
              <a:t> </a:t>
            </a:r>
            <a:r>
              <a:rPr lang="en-US" altLang="en-US" b="1" dirty="0"/>
              <a:t>Arguably</a:t>
            </a:r>
            <a:r>
              <a:rPr lang="en-US" altLang="en-US" dirty="0"/>
              <a:t>, American cultural domination is destroying local traditions all over the world. </a:t>
            </a:r>
            <a:endParaRPr lang="en-US" altLang="en-US" b="1" i="1" dirty="0"/>
          </a:p>
          <a:p>
            <a:pPr marL="0" indent="0" defTabSz="914400">
              <a:buNone/>
              <a:defRPr/>
            </a:pPr>
            <a:r>
              <a:rPr lang="en-US" altLang="en-US" b="1" i="1" dirty="0"/>
              <a:t>Or</a:t>
            </a:r>
            <a:r>
              <a:rPr lang="en-US" altLang="en-US" dirty="0"/>
              <a:t> American cultural domination </a:t>
            </a:r>
            <a:r>
              <a:rPr lang="en-US" altLang="en-US" b="1" dirty="0"/>
              <a:t>may be</a:t>
            </a:r>
            <a:r>
              <a:rPr lang="en-US" altLang="en-US" dirty="0"/>
              <a:t> destroying local traditions all over the world. </a:t>
            </a:r>
          </a:p>
          <a:p>
            <a:pPr marL="0" indent="-228600" defTabSz="914400">
              <a:defRPr/>
            </a:pPr>
            <a:endParaRPr lang="en-US" altLang="en-US" dirty="0"/>
          </a:p>
        </p:txBody>
      </p:sp>
    </p:spTree>
    <p:extLst>
      <p:ext uri="{BB962C8B-B14F-4D97-AF65-F5344CB8AC3E}">
        <p14:creationId xmlns:p14="http://schemas.microsoft.com/office/powerpoint/2010/main" val="7262748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7106"/>
                                        </p:tgtEl>
                                        <p:attrNameLst>
                                          <p:attrName>style.visibility</p:attrName>
                                        </p:attrNameLst>
                                      </p:cBhvr>
                                      <p:to>
                                        <p:strVal val="visible"/>
                                      </p:to>
                                    </p:set>
                                    <p:animEffect transition="in" filter="fade">
                                      <p:cBhvr>
                                        <p:cTn id="7" dur="2000"/>
                                        <p:tgtEl>
                                          <p:spTgt spid="471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107">
                                            <p:txEl>
                                              <p:pRg st="0" end="0"/>
                                            </p:txEl>
                                          </p:spTgt>
                                        </p:tgtEl>
                                        <p:attrNameLst>
                                          <p:attrName>style.visibility</p:attrName>
                                        </p:attrNameLst>
                                      </p:cBhvr>
                                      <p:to>
                                        <p:strVal val="visible"/>
                                      </p:to>
                                    </p:set>
                                    <p:animEffect transition="in" filter="fade">
                                      <p:cBhvr>
                                        <p:cTn id="12" dur="500"/>
                                        <p:tgtEl>
                                          <p:spTgt spid="4710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107">
                                            <p:txEl>
                                              <p:pRg st="2" end="2"/>
                                            </p:txEl>
                                          </p:spTgt>
                                        </p:tgtEl>
                                        <p:attrNameLst>
                                          <p:attrName>style.visibility</p:attrName>
                                        </p:attrNameLst>
                                      </p:cBhvr>
                                      <p:to>
                                        <p:strVal val="visible"/>
                                      </p:to>
                                    </p:set>
                                    <p:animEffect transition="in" filter="fade">
                                      <p:cBhvr>
                                        <p:cTn id="17" dur="500"/>
                                        <p:tgtEl>
                                          <p:spTgt spid="471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107">
                                            <p:txEl>
                                              <p:pRg st="3" end="3"/>
                                            </p:txEl>
                                          </p:spTgt>
                                        </p:tgtEl>
                                        <p:attrNameLst>
                                          <p:attrName>style.visibility</p:attrName>
                                        </p:attrNameLst>
                                      </p:cBhvr>
                                      <p:to>
                                        <p:strVal val="visible"/>
                                      </p:to>
                                    </p:set>
                                    <p:animEffect transition="in" filter="fade">
                                      <p:cBhvr>
                                        <p:cTn id="22" dur="500"/>
                                        <p:tgtEl>
                                          <p:spTgt spid="471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7107">
                                            <p:txEl>
                                              <p:pRg st="4" end="4"/>
                                            </p:txEl>
                                          </p:spTgt>
                                        </p:tgtEl>
                                        <p:attrNameLst>
                                          <p:attrName>style.visibility</p:attrName>
                                        </p:attrNameLst>
                                      </p:cBhvr>
                                      <p:to>
                                        <p:strVal val="visible"/>
                                      </p:to>
                                    </p:set>
                                    <p:animEffect transition="in" filter="fade">
                                      <p:cBhvr>
                                        <p:cTn id="27" dur="500"/>
                                        <p:tgtEl>
                                          <p:spTgt spid="471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61" name="Rectangle 2"/>
          <p:cNvSpPr>
            <a:spLocks noGrp="1"/>
          </p:cNvSpPr>
          <p:nvPr>
            <p:ph type="title" idx="4294967295"/>
          </p:nvPr>
        </p:nvSpPr>
        <p:spPr>
          <a:xfrm>
            <a:off x="515125" y="1153572"/>
            <a:ext cx="2400300" cy="4461163"/>
          </a:xfrm>
        </p:spPr>
        <p:txBody>
          <a:bodyPr vert="horz" lIns="91440" tIns="45720" rIns="91440" bIns="45720" rtlCol="0" anchor="ctr">
            <a:normAutofit/>
          </a:bodyPr>
          <a:lstStyle/>
          <a:p>
            <a:pPr defTabSz="914400"/>
            <a:r>
              <a:rPr lang="en-US" sz="3700" kern="1200" dirty="0">
                <a:solidFill>
                  <a:srgbClr val="FFFFFF"/>
                </a:solidFill>
                <a:latin typeface="+mj-lt"/>
                <a:ea typeface="+mj-ea"/>
                <a:cs typeface="+mj-cs"/>
              </a:rPr>
              <a:t>Linking words and </a:t>
            </a:r>
            <a:r>
              <a:rPr lang="en-US" sz="3700" dirty="0">
                <a:solidFill>
                  <a:srgbClr val="FFFFFF"/>
                </a:solidFill>
              </a:rPr>
              <a:t>p</a:t>
            </a:r>
            <a:r>
              <a:rPr lang="en-US" sz="3700" kern="1200" dirty="0">
                <a:solidFill>
                  <a:srgbClr val="FFFFFF"/>
                </a:solidFill>
                <a:latin typeface="+mj-lt"/>
                <a:ea typeface="+mj-ea"/>
                <a:cs typeface="+mj-cs"/>
              </a:rPr>
              <a:t>hrases</a:t>
            </a:r>
          </a:p>
        </p:txBody>
      </p:sp>
      <p:sp>
        <p:nvSpPr>
          <p:cNvPr id="75" name="Arc 7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0962" name="Rectangle 3"/>
          <p:cNvSpPr>
            <a:spLocks noGrp="1"/>
          </p:cNvSpPr>
          <p:nvPr>
            <p:ph type="body" idx="4294967295"/>
          </p:nvPr>
        </p:nvSpPr>
        <p:spPr>
          <a:xfrm>
            <a:off x="3335481" y="591344"/>
            <a:ext cx="5179868" cy="5585619"/>
          </a:xfrm>
        </p:spPr>
        <p:txBody>
          <a:bodyPr vert="horz" lIns="91440" tIns="45720" rIns="91440" bIns="45720" rtlCol="0" anchor="ctr">
            <a:noAutofit/>
          </a:bodyPr>
          <a:lstStyle/>
          <a:p>
            <a:pPr indent="-228600" defTabSz="914400"/>
            <a:r>
              <a:rPr lang="en-US" sz="1600" b="1" dirty="0"/>
              <a:t>To add a thought</a:t>
            </a:r>
          </a:p>
          <a:p>
            <a:pPr indent="-228600" defTabSz="914400"/>
            <a:r>
              <a:rPr lang="en-US" sz="1600" dirty="0"/>
              <a:t>In addition, again, as well as, furthermore, moreover, etc.    </a:t>
            </a:r>
          </a:p>
          <a:p>
            <a:pPr indent="-228600" defTabSz="914400"/>
            <a:r>
              <a:rPr lang="en-US" sz="1600" b="1" dirty="0"/>
              <a:t>To show an outcome</a:t>
            </a:r>
          </a:p>
          <a:p>
            <a:pPr indent="-228600" defTabSz="914400"/>
            <a:r>
              <a:rPr lang="en-US" sz="1600" dirty="0"/>
              <a:t>As a result, consequently, hence, therefore, etc.        </a:t>
            </a:r>
          </a:p>
          <a:p>
            <a:pPr indent="-228600" defTabSz="914400"/>
            <a:r>
              <a:rPr lang="en-US" sz="1600" b="1" dirty="0"/>
              <a:t>To compare </a:t>
            </a:r>
          </a:p>
          <a:p>
            <a:pPr indent="-228600" defTabSz="914400"/>
            <a:r>
              <a:rPr lang="en-US" sz="1600" dirty="0"/>
              <a:t>On the other hand, likewise, nevertheless, therefore, however, similarly, etc. </a:t>
            </a:r>
          </a:p>
          <a:p>
            <a:pPr indent="-228600" defTabSz="914400"/>
            <a:r>
              <a:rPr lang="en-US" sz="1600" b="1" dirty="0"/>
              <a:t>To conclude </a:t>
            </a:r>
          </a:p>
          <a:p>
            <a:pPr indent="-228600" defTabSz="914400"/>
            <a:r>
              <a:rPr lang="en-US" sz="1600" dirty="0"/>
              <a:t>Above all, over all, in conclusion, after all, all in all, etc. </a:t>
            </a:r>
          </a:p>
          <a:p>
            <a:pPr indent="-228600" defTabSz="914400"/>
            <a:r>
              <a:rPr lang="en-US" sz="1600" b="1" dirty="0"/>
              <a:t>To generalize</a:t>
            </a:r>
          </a:p>
          <a:p>
            <a:pPr indent="-228600" defTabSz="914400"/>
            <a:r>
              <a:rPr lang="en-US" sz="1600" dirty="0"/>
              <a:t>Generally speaking, usually, in general, etc. 		</a:t>
            </a:r>
          </a:p>
          <a:p>
            <a:pPr indent="-228600" defTabSz="914400"/>
            <a:r>
              <a:rPr lang="en-US" sz="1600" b="1" dirty="0"/>
              <a:t>To show order</a:t>
            </a:r>
          </a:p>
          <a:p>
            <a:pPr indent="-228600" defTabSz="914400"/>
            <a:r>
              <a:rPr lang="en-US" sz="1600" dirty="0"/>
              <a:t>Firstly, lastly, secondly, finally, in the meantime, meanwhile, afterward, later, etc. </a:t>
            </a:r>
          </a:p>
          <a:p>
            <a:pPr indent="-228600" defTabSz="914400"/>
            <a:r>
              <a:rPr lang="en-US" sz="1600" b="1" dirty="0"/>
              <a:t>To restate</a:t>
            </a:r>
          </a:p>
          <a:p>
            <a:pPr indent="-228600" defTabSz="914400"/>
            <a:r>
              <a:rPr lang="en-US" sz="1600" dirty="0"/>
              <a:t>In other words, as mentioned earlier, etc. 			</a:t>
            </a:r>
          </a:p>
          <a:p>
            <a:pPr indent="-228600" defTabSz="914400"/>
            <a:r>
              <a:rPr lang="en-US" sz="1600" b="1" dirty="0"/>
              <a:t>To stress something</a:t>
            </a:r>
          </a:p>
          <a:p>
            <a:pPr indent="-228600" defTabSz="914400"/>
            <a:r>
              <a:rPr lang="en-US" sz="1600" dirty="0"/>
              <a:t>Specifically, in particular, for instance, especially, etc.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42713" y="-1142284"/>
            <a:ext cx="68580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125298" y="-161647"/>
            <a:ext cx="4894564"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36115240-AC0A-49E0-AFB6-5BE24889A6C5}"/>
              </a:ext>
            </a:extLst>
          </p:cNvPr>
          <p:cNvPicPr>
            <a:picLocks noGrp="1" noChangeAspect="1"/>
          </p:cNvPicPr>
          <p:nvPr>
            <p:ph idx="1"/>
          </p:nvPr>
        </p:nvPicPr>
        <p:blipFill>
          <a:blip r:embed="rId2"/>
          <a:stretch>
            <a:fillRect/>
          </a:stretch>
        </p:blipFill>
        <p:spPr>
          <a:xfrm>
            <a:off x="609600" y="457200"/>
            <a:ext cx="7924800" cy="5943600"/>
          </a:xfrm>
          <a:prstGeom prst="rect">
            <a:avLst/>
          </a:prstGeom>
        </p:spPr>
      </p:pic>
    </p:spTree>
    <p:extLst>
      <p:ext uri="{BB962C8B-B14F-4D97-AF65-F5344CB8AC3E}">
        <p14:creationId xmlns:p14="http://schemas.microsoft.com/office/powerpoint/2010/main" val="42110843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7E88-FEFF-43D5-A4AA-4B2CCDC0E5E2}"/>
              </a:ext>
            </a:extLst>
          </p:cNvPr>
          <p:cNvSpPr>
            <a:spLocks noGrp="1"/>
          </p:cNvSpPr>
          <p:nvPr>
            <p:ph type="title"/>
          </p:nvPr>
        </p:nvSpPr>
        <p:spPr>
          <a:xfrm>
            <a:off x="3886201" y="1333460"/>
            <a:ext cx="4776107" cy="1088068"/>
          </a:xfrm>
        </p:spPr>
        <p:txBody>
          <a:bodyPr>
            <a:normAutofit fontScale="90000"/>
          </a:bodyPr>
          <a:lstStyle/>
          <a:p>
            <a:r>
              <a:rPr lang="en-GB" sz="2550" b="1">
                <a:latin typeface="Palatino Linotype" panose="02040502050505030304" pitchFamily="18" charset="0"/>
                <a:ea typeface="Times New Roman" panose="02020603050405020304" pitchFamily="18" charset="0"/>
              </a:rPr>
              <a:t>Tips for dealing with questions</a:t>
            </a:r>
            <a:br>
              <a:rPr lang="es-CO" sz="2550" b="1">
                <a:latin typeface="Times New Roman" panose="02020603050405020304" pitchFamily="18" charset="0"/>
                <a:ea typeface="Times New Roman" panose="02020603050405020304" pitchFamily="18" charset="0"/>
              </a:rPr>
            </a:br>
            <a:endParaRPr lang="en-US" sz="2550"/>
          </a:p>
        </p:txBody>
      </p:sp>
      <p:pic>
        <p:nvPicPr>
          <p:cNvPr id="5" name="Picture 4" descr="Many question marks on black background">
            <a:extLst>
              <a:ext uri="{FF2B5EF4-FFF2-40B4-BE49-F238E27FC236}">
                <a16:creationId xmlns:a16="http://schemas.microsoft.com/office/drawing/2014/main" id="{8A52070D-2ECC-4A24-AE0D-78CAC57C5CDB}"/>
              </a:ext>
            </a:extLst>
          </p:cNvPr>
          <p:cNvPicPr>
            <a:picLocks noChangeAspect="1"/>
          </p:cNvPicPr>
          <p:nvPr/>
        </p:nvPicPr>
        <p:blipFill rotWithShape="1">
          <a:blip r:embed="rId2"/>
          <a:srcRect l="58675" r="-1" b="-1"/>
          <a:stretch/>
        </p:blipFill>
        <p:spPr>
          <a:xfrm>
            <a:off x="15" y="848155"/>
            <a:ext cx="3490707" cy="5152595"/>
          </a:xfrm>
          <a:prstGeom prst="rect">
            <a:avLst/>
          </a:prstGeom>
        </p:spPr>
      </p:pic>
      <p:sp>
        <p:nvSpPr>
          <p:cNvPr id="3" name="Content Placeholder 2">
            <a:extLst>
              <a:ext uri="{FF2B5EF4-FFF2-40B4-BE49-F238E27FC236}">
                <a16:creationId xmlns:a16="http://schemas.microsoft.com/office/drawing/2014/main" id="{49077047-21DF-4549-B349-404508194A6E}"/>
              </a:ext>
            </a:extLst>
          </p:cNvPr>
          <p:cNvSpPr>
            <a:spLocks noGrp="1"/>
          </p:cNvSpPr>
          <p:nvPr>
            <p:ph idx="1"/>
          </p:nvPr>
        </p:nvSpPr>
        <p:spPr>
          <a:xfrm>
            <a:off x="3886201" y="2506436"/>
            <a:ext cx="4776107" cy="2752635"/>
          </a:xfrm>
        </p:spPr>
        <p:txBody>
          <a:bodyPr>
            <a:normAutofit fontScale="85000" lnSpcReduction="20000"/>
          </a:bodyPr>
          <a:lstStyle/>
          <a:p>
            <a:pPr marL="0" indent="0">
              <a:buNone/>
            </a:pPr>
            <a:r>
              <a:rPr lang="en-GB" dirty="0">
                <a:latin typeface="Calibri" panose="020F0502020204030204" pitchFamily="34" charset="0"/>
                <a:ea typeface="Times New Roman" panose="02020603050405020304" pitchFamily="18" charset="0"/>
                <a:cs typeface="Times New Roman" panose="02020603050405020304" pitchFamily="18" charset="0"/>
              </a:rPr>
              <a:t>The question period often is the part of the talk which influences the audience the most, and where your ability to interact with the audience will be evaluated. Since you can't always predict what you'll be asked, how can you prepare for the questioning?  </a:t>
            </a:r>
          </a:p>
          <a:p>
            <a:pPr marL="0" indent="0" algn="just">
              <a:spcBef>
                <a:spcPts val="0"/>
              </a:spcBef>
              <a:buNone/>
            </a:pPr>
            <a:endParaRPr lang="en-US" dirty="0">
              <a:latin typeface="Calibri" panose="020F0502020204030204" pitchFamily="34" charset="0"/>
              <a:ea typeface="SimSun" panose="02010600030101010101" pitchFamily="2" charset="-122"/>
              <a:cs typeface="Times New Roman" panose="02020603050405020304" pitchFamily="18" charset="0"/>
            </a:endParaRPr>
          </a:p>
          <a:p>
            <a:pPr marL="0" indent="0" algn="just">
              <a:spcBef>
                <a:spcPts val="0"/>
              </a:spcBef>
              <a:buNone/>
            </a:pPr>
            <a:r>
              <a:rPr lang="en-US" dirty="0">
                <a:latin typeface="Calibri" panose="020F0502020204030204" pitchFamily="34" charset="0"/>
                <a:ea typeface="SimSun" panose="02010600030101010101" pitchFamily="2" charset="-122"/>
                <a:cs typeface="Times New Roman" panose="02020603050405020304" pitchFamily="18" charset="0"/>
              </a:rPr>
              <a:t>Best answer is a direct answer – one that address the questions fully and accurately </a:t>
            </a:r>
            <a:endParaRPr lang="es-CO" dirty="0">
              <a:latin typeface="Times New Roman" panose="02020603050405020304" pitchFamily="18" charset="0"/>
              <a:ea typeface="SimSun" panose="02010600030101010101" pitchFamily="2" charset="-122"/>
            </a:endParaRPr>
          </a:p>
          <a:p>
            <a:pPr marL="0" indent="0">
              <a:spcBef>
                <a:spcPts val="0"/>
              </a:spcBef>
              <a:buNone/>
            </a:pPr>
            <a:endParaRPr lang="en-GB" dirty="0">
              <a:latin typeface="Calibri" panose="020F0502020204030204" pitchFamily="34" charset="0"/>
              <a:ea typeface="SimSun" panose="02010600030101010101" pitchFamily="2" charset="-122"/>
              <a:cs typeface="Times New Roman" panose="02020603050405020304" pitchFamily="18" charset="0"/>
            </a:endParaRPr>
          </a:p>
          <a:p>
            <a:pPr marL="0" indent="0">
              <a:spcBef>
                <a:spcPts val="0"/>
              </a:spcBef>
              <a:buNone/>
            </a:pPr>
            <a:r>
              <a:rPr lang="en-GB" dirty="0">
                <a:latin typeface="Calibri" panose="020F0502020204030204" pitchFamily="34" charset="0"/>
                <a:ea typeface="SimSun" panose="02010600030101010101" pitchFamily="2" charset="-122"/>
                <a:cs typeface="Times New Roman" panose="02020603050405020304" pitchFamily="18" charset="0"/>
              </a:rPr>
              <a:t>However – some questions can’t be handled so easily….</a:t>
            </a:r>
          </a:p>
          <a:p>
            <a:pPr marL="0" indent="0">
              <a:buNone/>
            </a:pPr>
            <a:r>
              <a:rPr lang="en-US" dirty="0"/>
              <a:t>Here are some guidelines and tips…</a:t>
            </a:r>
          </a:p>
        </p:txBody>
      </p:sp>
    </p:spTree>
    <p:extLst>
      <p:ext uri="{BB962C8B-B14F-4D97-AF65-F5344CB8AC3E}">
        <p14:creationId xmlns:p14="http://schemas.microsoft.com/office/powerpoint/2010/main" val="788687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86047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47"/>
            <a:ext cx="3125451" cy="51435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2" name="Title 1">
            <a:extLst>
              <a:ext uri="{FF2B5EF4-FFF2-40B4-BE49-F238E27FC236}">
                <a16:creationId xmlns:a16="http://schemas.microsoft.com/office/drawing/2014/main" id="{60BD7E88-FEFF-43D5-A4AA-4B2CCDC0E5E2}"/>
              </a:ext>
            </a:extLst>
          </p:cNvPr>
          <p:cNvSpPr>
            <a:spLocks noGrp="1"/>
          </p:cNvSpPr>
          <p:nvPr>
            <p:ph type="title"/>
          </p:nvPr>
        </p:nvSpPr>
        <p:spPr>
          <a:xfrm>
            <a:off x="515126" y="1300759"/>
            <a:ext cx="2400300" cy="4189214"/>
          </a:xfrm>
        </p:spPr>
        <p:txBody>
          <a:bodyPr>
            <a:normAutofit/>
          </a:bodyPr>
          <a:lstStyle/>
          <a:p>
            <a:r>
              <a:rPr lang="en-US">
                <a:solidFill>
                  <a:srgbClr val="FFFFFF"/>
                </a:solidFill>
                <a:latin typeface="Calibri" panose="020F0502020204030204" pitchFamily="34" charset="0"/>
                <a:ea typeface="SimSun" panose="02010600030101010101" pitchFamily="2" charset="-122"/>
                <a:cs typeface="Times New Roman" panose="02020603050405020304" pitchFamily="18" charset="0"/>
              </a:rPr>
              <a:t>Strategies for dealing with awkward questions</a:t>
            </a: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2" y="2698860"/>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endParaRPr lang="en-US" sz="1350" dirty="0">
              <a:solidFill>
                <a:prstClr val="black"/>
              </a:solidFill>
              <a:latin typeface="Calibri" panose="020F0502020204030204"/>
            </a:endParaRPr>
          </a:p>
        </p:txBody>
      </p:sp>
      <p:sp>
        <p:nvSpPr>
          <p:cNvPr id="3" name="Content Placeholder 2">
            <a:extLst>
              <a:ext uri="{FF2B5EF4-FFF2-40B4-BE49-F238E27FC236}">
                <a16:creationId xmlns:a16="http://schemas.microsoft.com/office/drawing/2014/main" id="{49077047-21DF-4549-B349-404508194A6E}"/>
              </a:ext>
            </a:extLst>
          </p:cNvPr>
          <p:cNvSpPr>
            <a:spLocks noGrp="1"/>
          </p:cNvSpPr>
          <p:nvPr>
            <p:ph idx="1"/>
          </p:nvPr>
        </p:nvSpPr>
        <p:spPr>
          <a:xfrm>
            <a:off x="3335482" y="1300759"/>
            <a:ext cx="5179868" cy="4189214"/>
          </a:xfrm>
        </p:spPr>
        <p:txBody>
          <a:bodyPr anchor="ctr">
            <a:normAutofit/>
          </a:bodyPr>
          <a:lstStyle/>
          <a:p>
            <a:pPr marL="0" indent="0">
              <a:spcBef>
                <a:spcPts val="0"/>
              </a:spcBef>
              <a:buNone/>
            </a:pPr>
            <a:endParaRPr lang="en-GB" sz="1800" b="1">
              <a:ea typeface="SimSun" panose="02010600030101010101" pitchFamily="2" charset="-122"/>
              <a:cs typeface="Times New Roman" panose="02020603050405020304" pitchFamily="18" charset="0"/>
            </a:endParaRPr>
          </a:p>
          <a:p>
            <a:pPr marL="0" indent="0">
              <a:spcBef>
                <a:spcPts val="0"/>
              </a:spcBef>
              <a:buNone/>
            </a:pPr>
            <a:r>
              <a:rPr lang="en-GB" sz="1800" b="1">
                <a:ea typeface="SimSun" panose="02010600030101010101" pitchFamily="2" charset="-122"/>
                <a:cs typeface="Times New Roman" panose="02020603050405020304" pitchFamily="18" charset="0"/>
              </a:rPr>
              <a:t>Buy time…</a:t>
            </a:r>
          </a:p>
          <a:p>
            <a:pPr marL="0" indent="0">
              <a:spcBef>
                <a:spcPts val="0"/>
              </a:spcBef>
              <a:buNone/>
            </a:pPr>
            <a:endParaRPr lang="en-GB" sz="1800">
              <a:ea typeface="SimSun" panose="02010600030101010101" pitchFamily="2" charset="-122"/>
              <a:cs typeface="Times New Roman" panose="02020603050405020304" pitchFamily="18" charset="0"/>
            </a:endParaRPr>
          </a:p>
          <a:p>
            <a:pPr marL="0" indent="0">
              <a:spcBef>
                <a:spcPts val="0"/>
              </a:spcBef>
              <a:buNone/>
            </a:pPr>
            <a:r>
              <a:rPr lang="en-GB" sz="1800">
                <a:ea typeface="SimSun" panose="02010600030101010101" pitchFamily="2" charset="-122"/>
                <a:cs typeface="Times New Roman" panose="02020603050405020304" pitchFamily="18" charset="0"/>
              </a:rPr>
              <a:t>When you get a question, comment on it first. This will give you time to think. Here are some useful expressions to help you do that:</a:t>
            </a:r>
          </a:p>
          <a:p>
            <a:pPr marL="0" indent="0">
              <a:spcBef>
                <a:spcPts val="0"/>
              </a:spcBef>
              <a:buNone/>
            </a:pPr>
            <a:endParaRPr lang="es-CO" sz="1800">
              <a:ea typeface="SimSun" panose="02010600030101010101" pitchFamily="2" charset="-122"/>
            </a:endParaRPr>
          </a:p>
          <a:p>
            <a:pPr marL="0" indent="0">
              <a:spcBef>
                <a:spcPts val="0"/>
              </a:spcBef>
              <a:buSzPts val="1000"/>
              <a:buNone/>
              <a:tabLst>
                <a:tab pos="342900" algn="l"/>
              </a:tabLst>
            </a:pPr>
            <a:r>
              <a:rPr lang="en-GB" sz="1800" i="1">
                <a:ea typeface="SimSun" panose="02010600030101010101" pitchFamily="2" charset="-122"/>
                <a:cs typeface="Times New Roman" panose="02020603050405020304" pitchFamily="18" charset="0"/>
              </a:rPr>
              <a:t>That's a good question</a:t>
            </a:r>
          </a:p>
          <a:p>
            <a:pPr marL="0" indent="0">
              <a:spcBef>
                <a:spcPts val="0"/>
              </a:spcBef>
              <a:buSzPts val="1000"/>
              <a:buNone/>
              <a:tabLst>
                <a:tab pos="342900" algn="l"/>
              </a:tabLst>
            </a:pPr>
            <a:r>
              <a:rPr lang="en-GB" sz="1800" i="1">
                <a:ea typeface="SimSun" panose="02010600030101010101" pitchFamily="2" charset="-122"/>
                <a:cs typeface="Times New Roman" panose="02020603050405020304" pitchFamily="18" charset="0"/>
              </a:rPr>
              <a:t>That’s a very interesting / relevant question.</a:t>
            </a:r>
            <a:endParaRPr lang="es-CO" sz="1800">
              <a:ea typeface="SimSun" panose="02010600030101010101" pitchFamily="2" charset="-122"/>
            </a:endParaRPr>
          </a:p>
          <a:p>
            <a:pPr marL="0" indent="0">
              <a:spcBef>
                <a:spcPts val="0"/>
              </a:spcBef>
              <a:buSzPts val="1000"/>
              <a:buNone/>
              <a:tabLst>
                <a:tab pos="342900" algn="l"/>
              </a:tabLst>
            </a:pPr>
            <a:r>
              <a:rPr lang="en-GB" sz="1800" i="1">
                <a:ea typeface="SimSun" panose="02010600030101010101" pitchFamily="2" charset="-122"/>
                <a:cs typeface="Times New Roman" panose="02020603050405020304" pitchFamily="18" charset="0"/>
              </a:rPr>
              <a:t>I'm glad you've asked that question.</a:t>
            </a:r>
          </a:p>
          <a:p>
            <a:pPr marL="0" indent="0">
              <a:spcBef>
                <a:spcPts val="0"/>
              </a:spcBef>
              <a:buSzPts val="1000"/>
              <a:buNone/>
              <a:tabLst>
                <a:tab pos="342900" algn="l"/>
              </a:tabLst>
            </a:pPr>
            <a:endParaRPr lang="en-GB" sz="1800" b="1" i="1">
              <a:ea typeface="SimSun" panose="02010600030101010101" pitchFamily="2" charset="-122"/>
              <a:cs typeface="Times New Roman" panose="02020603050405020304" pitchFamily="18" charset="0"/>
            </a:endParaRPr>
          </a:p>
          <a:p>
            <a:pPr marL="0" indent="0">
              <a:spcBef>
                <a:spcPts val="0"/>
              </a:spcBef>
              <a:buSzPts val="1000"/>
              <a:buNone/>
              <a:tabLst>
                <a:tab pos="342900" algn="l"/>
              </a:tabLst>
            </a:pPr>
            <a:r>
              <a:rPr lang="en-GB" sz="1800" b="1" i="1">
                <a:ea typeface="SimSun" panose="02010600030101010101" pitchFamily="2" charset="-122"/>
                <a:cs typeface="Times New Roman" panose="02020603050405020304" pitchFamily="18" charset="0"/>
              </a:rPr>
              <a:t>Seek clarification: </a:t>
            </a:r>
          </a:p>
          <a:p>
            <a:pPr marL="0" indent="0">
              <a:spcBef>
                <a:spcPts val="0"/>
              </a:spcBef>
              <a:buSzPts val="1000"/>
              <a:buNone/>
              <a:tabLst>
                <a:tab pos="342900" algn="l"/>
              </a:tabLst>
            </a:pPr>
            <a:r>
              <a:rPr lang="en-GB" sz="1800">
                <a:ea typeface="SimSun" panose="02010600030101010101" pitchFamily="2" charset="-122"/>
                <a:cs typeface="Arial" panose="020B0604020202020204" pitchFamily="34" charset="0"/>
              </a:rPr>
              <a:t> </a:t>
            </a:r>
            <a:endParaRPr lang="es-CO" sz="1800">
              <a:ea typeface="SimSun" panose="02010600030101010101" pitchFamily="2" charset="-122"/>
            </a:endParaRPr>
          </a:p>
          <a:p>
            <a:pPr marL="0" indent="0">
              <a:spcBef>
                <a:spcPts val="0"/>
              </a:spcBef>
              <a:buNone/>
            </a:pPr>
            <a:r>
              <a:rPr lang="en-GB" sz="1800" i="1">
                <a:ea typeface="SimSun" panose="02010600030101010101" pitchFamily="2" charset="-122"/>
                <a:cs typeface="Arial" panose="020B0604020202020204" pitchFamily="34" charset="0"/>
              </a:rPr>
              <a:t>Can I ask what’s behind that question?</a:t>
            </a:r>
            <a:endParaRPr lang="es-CO" sz="1800">
              <a:ea typeface="SimSun" panose="02010600030101010101" pitchFamily="2" charset="-122"/>
            </a:endParaRPr>
          </a:p>
          <a:p>
            <a:pPr marL="0" indent="0">
              <a:spcBef>
                <a:spcPts val="0"/>
              </a:spcBef>
              <a:buNone/>
            </a:pPr>
            <a:r>
              <a:rPr lang="en-GB" sz="1800" i="1">
                <a:ea typeface="SimSun" panose="02010600030101010101" pitchFamily="2" charset="-122"/>
                <a:cs typeface="Arial" panose="020B0604020202020204" pitchFamily="34" charset="0"/>
              </a:rPr>
              <a:t>Well, what’s your own view?</a:t>
            </a:r>
            <a:endParaRPr lang="es-CO" sz="1800">
              <a:ea typeface="SimSun" panose="02010600030101010101" pitchFamily="2" charset="-122"/>
            </a:endParaRPr>
          </a:p>
          <a:p>
            <a:pPr marL="0" indent="0">
              <a:spcBef>
                <a:spcPts val="0"/>
              </a:spcBef>
              <a:buNone/>
            </a:pPr>
            <a:r>
              <a:rPr lang="en-GB" sz="1800" i="1">
                <a:ea typeface="SimSun" panose="02010600030101010101" pitchFamily="2" charset="-122"/>
                <a:cs typeface="Arial" panose="020B0604020202020204" pitchFamily="34" charset="0"/>
              </a:rPr>
              <a:t>Why do you ask?</a:t>
            </a:r>
            <a:endParaRPr lang="es-CO" sz="1800">
              <a:ea typeface="SimSun" panose="02010600030101010101" pitchFamily="2" charset="-122"/>
            </a:endParaRPr>
          </a:p>
          <a:p>
            <a:pPr marL="0" indent="0">
              <a:spcBef>
                <a:spcPts val="0"/>
              </a:spcBef>
              <a:buSzPts val="1000"/>
              <a:buNone/>
              <a:tabLst>
                <a:tab pos="342900" algn="l"/>
              </a:tabLst>
            </a:pPr>
            <a:endParaRPr lang="es-CO" sz="1800">
              <a:ea typeface="SimSun" panose="02010600030101010101" pitchFamily="2" charset="-122"/>
            </a:endParaRPr>
          </a:p>
          <a:p>
            <a:pPr marL="0" indent="0">
              <a:buNone/>
            </a:pPr>
            <a:endParaRPr lang="en-US" sz="1800"/>
          </a:p>
        </p:txBody>
      </p:sp>
    </p:spTree>
    <p:extLst>
      <p:ext uri="{BB962C8B-B14F-4D97-AF65-F5344CB8AC3E}">
        <p14:creationId xmlns:p14="http://schemas.microsoft.com/office/powerpoint/2010/main" val="3922981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fade">
                                      <p:cBhvr>
                                        <p:cTn id="37" dur="500"/>
                                        <p:tgtEl>
                                          <p:spTgt spid="3">
                                            <p:txEl>
                                              <p:pRg st="10" end="1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11" end="11"/>
                                            </p:txEl>
                                          </p:spTgt>
                                        </p:tgtEl>
                                        <p:attrNameLst>
                                          <p:attrName>style.visibility</p:attrName>
                                        </p:attrNameLst>
                                      </p:cBhvr>
                                      <p:to>
                                        <p:strVal val="visible"/>
                                      </p:to>
                                    </p:set>
                                    <p:animEffect transition="in" filter="fade">
                                      <p:cBhvr>
                                        <p:cTn id="42" dur="500"/>
                                        <p:tgtEl>
                                          <p:spTgt spid="3">
                                            <p:txEl>
                                              <p:pRg st="11" end="1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animEffect transition="in" filter="fade">
                                      <p:cBhvr>
                                        <p:cTn id="47" dur="500"/>
                                        <p:tgtEl>
                                          <p:spTgt spid="3">
                                            <p:txEl>
                                              <p:pRg st="12" end="1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3" end="13"/>
                                            </p:txEl>
                                          </p:spTgt>
                                        </p:tgtEl>
                                        <p:attrNameLst>
                                          <p:attrName>style.visibility</p:attrName>
                                        </p:attrNameLst>
                                      </p:cBhvr>
                                      <p:to>
                                        <p:strVal val="visible"/>
                                      </p:to>
                                    </p:set>
                                    <p:animEffect transition="in" filter="fade">
                                      <p:cBhvr>
                                        <p:cTn id="52"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86047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47"/>
            <a:ext cx="3125451" cy="51435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2" name="Title 1">
            <a:extLst>
              <a:ext uri="{FF2B5EF4-FFF2-40B4-BE49-F238E27FC236}">
                <a16:creationId xmlns:a16="http://schemas.microsoft.com/office/drawing/2014/main" id="{B3F66E17-1C62-4637-B9AF-C5E2A139B1DE}"/>
              </a:ext>
            </a:extLst>
          </p:cNvPr>
          <p:cNvSpPr>
            <a:spLocks noGrp="1"/>
          </p:cNvSpPr>
          <p:nvPr>
            <p:ph type="title"/>
          </p:nvPr>
        </p:nvSpPr>
        <p:spPr>
          <a:xfrm>
            <a:off x="515126" y="1300759"/>
            <a:ext cx="2400300" cy="4189214"/>
          </a:xfrm>
        </p:spPr>
        <p:txBody>
          <a:bodyPr>
            <a:normAutofit/>
          </a:bodyPr>
          <a:lstStyle/>
          <a:p>
            <a:r>
              <a:rPr lang="en-US">
                <a:solidFill>
                  <a:srgbClr val="FFFFFF"/>
                </a:solidFill>
                <a:latin typeface="Calibri" panose="020F0502020204030204" pitchFamily="34" charset="0"/>
                <a:ea typeface="SimSun" panose="02010600030101010101" pitchFamily="2" charset="-122"/>
                <a:cs typeface="Times New Roman" panose="02020603050405020304" pitchFamily="18" charset="0"/>
              </a:rPr>
              <a:t>Strategies for dealing with awkward questions</a:t>
            </a: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2" y="2698860"/>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endParaRPr lang="en-US" sz="1350" dirty="0">
              <a:solidFill>
                <a:prstClr val="black"/>
              </a:solidFill>
              <a:latin typeface="Calibri" panose="020F0502020204030204"/>
            </a:endParaRPr>
          </a:p>
        </p:txBody>
      </p:sp>
      <p:sp>
        <p:nvSpPr>
          <p:cNvPr id="3" name="Content Placeholder 2">
            <a:extLst>
              <a:ext uri="{FF2B5EF4-FFF2-40B4-BE49-F238E27FC236}">
                <a16:creationId xmlns:a16="http://schemas.microsoft.com/office/drawing/2014/main" id="{EDA93FCA-3571-4621-A5AF-9FD5800B3B85}"/>
              </a:ext>
            </a:extLst>
          </p:cNvPr>
          <p:cNvSpPr>
            <a:spLocks noGrp="1"/>
          </p:cNvSpPr>
          <p:nvPr>
            <p:ph idx="1"/>
          </p:nvPr>
        </p:nvSpPr>
        <p:spPr>
          <a:xfrm>
            <a:off x="3335482" y="1300759"/>
            <a:ext cx="5179868" cy="4189214"/>
          </a:xfrm>
        </p:spPr>
        <p:txBody>
          <a:bodyPr anchor="ctr">
            <a:normAutofit/>
          </a:bodyPr>
          <a:lstStyle/>
          <a:p>
            <a:pPr marL="0" indent="0">
              <a:spcBef>
                <a:spcPts val="0"/>
              </a:spcBef>
              <a:buSzPts val="1000"/>
              <a:buNone/>
              <a:tabLst>
                <a:tab pos="342900" algn="l"/>
              </a:tabLst>
            </a:pPr>
            <a:r>
              <a:rPr lang="en-GB" sz="1950" b="1">
                <a:ea typeface="SimSun" panose="02010600030101010101" pitchFamily="2" charset="-122"/>
                <a:cs typeface="Times New Roman" panose="02020603050405020304" pitchFamily="18" charset="0"/>
              </a:rPr>
              <a:t>Delay or Defer:</a:t>
            </a:r>
          </a:p>
          <a:p>
            <a:pPr marL="0" indent="0">
              <a:spcBef>
                <a:spcPts val="0"/>
              </a:spcBef>
              <a:buSzPts val="1000"/>
              <a:buNone/>
              <a:tabLst>
                <a:tab pos="342900" algn="l"/>
              </a:tabLst>
            </a:pPr>
            <a:r>
              <a:rPr lang="en-GB" sz="1950">
                <a:ea typeface="SimSun" panose="02010600030101010101" pitchFamily="2" charset="-122"/>
                <a:cs typeface="Times New Roman" panose="02020603050405020304" pitchFamily="18" charset="0"/>
              </a:rPr>
              <a:t>I'm sorry but I don't have that information to hand.</a:t>
            </a:r>
            <a:endParaRPr lang="es-CO" sz="1950">
              <a:ea typeface="SimSun" panose="02010600030101010101" pitchFamily="2" charset="-122"/>
            </a:endParaRPr>
          </a:p>
          <a:p>
            <a:pPr marL="0" indent="0">
              <a:spcBef>
                <a:spcPts val="0"/>
              </a:spcBef>
              <a:buNone/>
            </a:pPr>
            <a:r>
              <a:rPr lang="en-GB" sz="1950">
                <a:ea typeface="SimSun" panose="02010600030101010101" pitchFamily="2" charset="-122"/>
                <a:cs typeface="Arial" panose="020B0604020202020204" pitchFamily="34" charset="0"/>
              </a:rPr>
              <a:t>I’m afraid I can’t give you answer off the top of my head. Can I get back to you on that?</a:t>
            </a:r>
          </a:p>
          <a:p>
            <a:pPr marL="0" indent="0">
              <a:spcBef>
                <a:spcPts val="0"/>
              </a:spcBef>
              <a:buNone/>
            </a:pPr>
            <a:r>
              <a:rPr lang="en-GB" sz="1950">
                <a:ea typeface="SimSun" panose="02010600030101010101" pitchFamily="2" charset="-122"/>
                <a:cs typeface="Arial" panose="020B0604020202020204" pitchFamily="34" charset="0"/>
              </a:rPr>
              <a:t>I’d like to / I’d need to consult a colleague / a source to be sure, then get back to you</a:t>
            </a:r>
          </a:p>
          <a:p>
            <a:pPr marL="0" indent="0">
              <a:spcBef>
                <a:spcPts val="0"/>
              </a:spcBef>
              <a:buNone/>
            </a:pPr>
            <a:endParaRPr lang="es-CO" sz="1950">
              <a:ea typeface="SimSun" panose="02010600030101010101" pitchFamily="2" charset="-122"/>
            </a:endParaRPr>
          </a:p>
          <a:p>
            <a:pPr marL="0" indent="0">
              <a:spcBef>
                <a:spcPts val="0"/>
              </a:spcBef>
              <a:buSzPts val="1000"/>
              <a:buNone/>
              <a:tabLst>
                <a:tab pos="342900" algn="l"/>
              </a:tabLst>
            </a:pPr>
            <a:r>
              <a:rPr lang="en-US" sz="1950" b="1">
                <a:ea typeface="SimSun" panose="02010600030101010101" pitchFamily="2" charset="-122"/>
              </a:rPr>
              <a:t>Referral:</a:t>
            </a:r>
          </a:p>
          <a:p>
            <a:pPr marL="0" indent="0">
              <a:spcBef>
                <a:spcPts val="0"/>
              </a:spcBef>
              <a:buSzPts val="1000"/>
              <a:buNone/>
              <a:tabLst>
                <a:tab pos="342900" algn="l"/>
              </a:tabLst>
            </a:pPr>
            <a:r>
              <a:rPr lang="en-GB" sz="1950">
                <a:ea typeface="SimSun" panose="02010600030101010101" pitchFamily="2" charset="-122"/>
                <a:cs typeface="Times New Roman" panose="02020603050405020304" pitchFamily="18" charset="0"/>
              </a:rPr>
              <a:t>I'm afraid I can't answer that but I can direct you to…</a:t>
            </a:r>
            <a:endParaRPr lang="es-CO" sz="1950">
              <a:ea typeface="SimSun" panose="02010600030101010101" pitchFamily="2" charset="-122"/>
            </a:endParaRPr>
          </a:p>
          <a:p>
            <a:pPr marL="0" indent="0">
              <a:spcBef>
                <a:spcPts val="0"/>
              </a:spcBef>
              <a:buSzPts val="1000"/>
              <a:buNone/>
              <a:tabLst>
                <a:tab pos="342900" algn="l"/>
              </a:tabLst>
            </a:pPr>
            <a:r>
              <a:rPr lang="en-GB" sz="1950">
                <a:ea typeface="SimSun" panose="02010600030101010101" pitchFamily="2" charset="-122"/>
                <a:cs typeface="Times New Roman" panose="02020603050405020304" pitchFamily="18" charset="0"/>
              </a:rPr>
              <a:t>I'm not in a position to comment on that but perhaps if you consult…</a:t>
            </a:r>
          </a:p>
          <a:p>
            <a:pPr marL="0" indent="0">
              <a:spcBef>
                <a:spcPts val="0"/>
              </a:spcBef>
              <a:buSzPts val="1000"/>
              <a:buNone/>
              <a:tabLst>
                <a:tab pos="342900" algn="l"/>
              </a:tabLst>
            </a:pPr>
            <a:r>
              <a:rPr lang="en-GB" sz="1950">
                <a:ea typeface="SimSun" panose="02010600030101010101" pitchFamily="2" charset="-122"/>
                <a:cs typeface="Times New Roman" panose="02020603050405020304" pitchFamily="18" charset="0"/>
              </a:rPr>
              <a:t>Let me direct you to Jones (2012) who wrote extensively on X…</a:t>
            </a:r>
            <a:endParaRPr lang="es-CO" sz="1950">
              <a:ea typeface="SimSun" panose="02010600030101010101" pitchFamily="2" charset="-122"/>
            </a:endParaRPr>
          </a:p>
          <a:p>
            <a:pPr marL="0" indent="0">
              <a:spcBef>
                <a:spcPts val="0"/>
              </a:spcBef>
              <a:buSzPts val="1000"/>
              <a:buNone/>
              <a:tabLst>
                <a:tab pos="342900" algn="l"/>
              </a:tabLst>
            </a:pPr>
            <a:endParaRPr lang="en-GB" sz="1950" b="1">
              <a:ea typeface="SimSun" panose="02010600030101010101" pitchFamily="2" charset="-122"/>
              <a:cs typeface="Times New Roman" panose="02020603050405020304" pitchFamily="18" charset="0"/>
            </a:endParaRPr>
          </a:p>
          <a:p>
            <a:endParaRPr lang="en-US" sz="1950"/>
          </a:p>
        </p:txBody>
      </p:sp>
    </p:spTree>
    <p:extLst>
      <p:ext uri="{BB962C8B-B14F-4D97-AF65-F5344CB8AC3E}">
        <p14:creationId xmlns:p14="http://schemas.microsoft.com/office/powerpoint/2010/main" val="289551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86047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47"/>
            <a:ext cx="3125451" cy="51435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2" name="Title 1">
            <a:extLst>
              <a:ext uri="{FF2B5EF4-FFF2-40B4-BE49-F238E27FC236}">
                <a16:creationId xmlns:a16="http://schemas.microsoft.com/office/drawing/2014/main" id="{B3F66E17-1C62-4637-B9AF-C5E2A139B1DE}"/>
              </a:ext>
            </a:extLst>
          </p:cNvPr>
          <p:cNvSpPr>
            <a:spLocks noGrp="1"/>
          </p:cNvSpPr>
          <p:nvPr>
            <p:ph type="title"/>
          </p:nvPr>
        </p:nvSpPr>
        <p:spPr>
          <a:xfrm>
            <a:off x="515126" y="1300759"/>
            <a:ext cx="2400300" cy="4189214"/>
          </a:xfrm>
        </p:spPr>
        <p:txBody>
          <a:bodyPr>
            <a:normAutofit/>
          </a:bodyPr>
          <a:lstStyle/>
          <a:p>
            <a:r>
              <a:rPr lang="en-US">
                <a:solidFill>
                  <a:srgbClr val="FFFFFF"/>
                </a:solidFill>
                <a:latin typeface="Calibri" panose="020F0502020204030204" pitchFamily="34" charset="0"/>
                <a:ea typeface="SimSun" panose="02010600030101010101" pitchFamily="2" charset="-122"/>
                <a:cs typeface="Times New Roman" panose="02020603050405020304" pitchFamily="18" charset="0"/>
              </a:rPr>
              <a:t>Strategies for dealing with awkward questions</a:t>
            </a: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2" y="2698860"/>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endParaRPr lang="en-US" sz="1350" dirty="0">
              <a:solidFill>
                <a:prstClr val="black"/>
              </a:solidFill>
              <a:latin typeface="Calibri" panose="020F0502020204030204"/>
            </a:endParaRPr>
          </a:p>
        </p:txBody>
      </p:sp>
      <p:sp>
        <p:nvSpPr>
          <p:cNvPr id="3" name="Content Placeholder 2">
            <a:extLst>
              <a:ext uri="{FF2B5EF4-FFF2-40B4-BE49-F238E27FC236}">
                <a16:creationId xmlns:a16="http://schemas.microsoft.com/office/drawing/2014/main" id="{EDA93FCA-3571-4621-A5AF-9FD5800B3B85}"/>
              </a:ext>
            </a:extLst>
          </p:cNvPr>
          <p:cNvSpPr>
            <a:spLocks noGrp="1"/>
          </p:cNvSpPr>
          <p:nvPr>
            <p:ph idx="1"/>
          </p:nvPr>
        </p:nvSpPr>
        <p:spPr>
          <a:xfrm>
            <a:off x="3335482" y="1300759"/>
            <a:ext cx="5179868" cy="4189214"/>
          </a:xfrm>
        </p:spPr>
        <p:txBody>
          <a:bodyPr anchor="ctr">
            <a:normAutofit/>
          </a:bodyPr>
          <a:lstStyle/>
          <a:p>
            <a:pPr marL="0" indent="0">
              <a:spcBef>
                <a:spcPts val="0"/>
              </a:spcBef>
              <a:buSzPts val="1000"/>
              <a:buNone/>
              <a:tabLst>
                <a:tab pos="342900" algn="l"/>
              </a:tabLst>
            </a:pPr>
            <a:r>
              <a:rPr lang="en-GB" b="1">
                <a:ea typeface="SimSun" panose="02010600030101010101" pitchFamily="2" charset="-122"/>
                <a:cs typeface="Times New Roman" panose="02020603050405020304" pitchFamily="18" charset="0"/>
              </a:rPr>
              <a:t>Reference back to your thesis/topic:</a:t>
            </a:r>
          </a:p>
          <a:p>
            <a:pPr marL="0" indent="0">
              <a:spcBef>
                <a:spcPts val="0"/>
              </a:spcBef>
              <a:buSzPts val="1000"/>
              <a:buNone/>
              <a:tabLst>
                <a:tab pos="342900" algn="l"/>
              </a:tabLst>
            </a:pPr>
            <a:r>
              <a:rPr lang="en-GB">
                <a:ea typeface="SimSun" panose="02010600030101010101" pitchFamily="2" charset="-122"/>
                <a:cs typeface="Times New Roman" panose="02020603050405020304" pitchFamily="18" charset="0"/>
              </a:rPr>
              <a:t>As I said earlier, …</a:t>
            </a:r>
            <a:endParaRPr lang="es-CO">
              <a:ea typeface="SimSun" panose="02010600030101010101" pitchFamily="2" charset="-122"/>
            </a:endParaRPr>
          </a:p>
          <a:p>
            <a:pPr marL="0" indent="0">
              <a:spcBef>
                <a:spcPts val="0"/>
              </a:spcBef>
              <a:buSzPts val="1000"/>
              <a:buNone/>
              <a:tabLst>
                <a:tab pos="342900" algn="l"/>
              </a:tabLst>
            </a:pPr>
            <a:r>
              <a:rPr lang="en-GB">
                <a:ea typeface="SimSun" panose="02010600030101010101" pitchFamily="2" charset="-122"/>
                <a:cs typeface="Times New Roman" panose="02020603050405020304" pitchFamily="18" charset="0"/>
              </a:rPr>
              <a:t>I think I answered that when I said …</a:t>
            </a:r>
          </a:p>
          <a:p>
            <a:pPr marL="0" indent="0">
              <a:spcBef>
                <a:spcPts val="0"/>
              </a:spcBef>
              <a:buSzPts val="1000"/>
              <a:buNone/>
              <a:tabLst>
                <a:tab pos="342900" algn="l"/>
              </a:tabLst>
            </a:pPr>
            <a:r>
              <a:rPr lang="en-GB">
                <a:ea typeface="SimSun" panose="02010600030101010101" pitchFamily="2" charset="-122"/>
                <a:cs typeface="Times New Roman" panose="02020603050405020304" pitchFamily="18" charset="0"/>
              </a:rPr>
              <a:t>Let me reiterate the key point I was trying to make…</a:t>
            </a:r>
          </a:p>
          <a:p>
            <a:pPr marL="0" indent="0">
              <a:spcBef>
                <a:spcPts val="0"/>
              </a:spcBef>
              <a:buSzPts val="1000"/>
              <a:buNone/>
              <a:tabLst>
                <a:tab pos="342900" algn="l"/>
              </a:tabLst>
            </a:pPr>
            <a:r>
              <a:rPr lang="en-GB">
                <a:ea typeface="SimSun" panose="02010600030101010101" pitchFamily="2" charset="-122"/>
                <a:cs typeface="Times New Roman" panose="02020603050405020304" pitchFamily="18" charset="0"/>
              </a:rPr>
              <a:t>Let me repeat again for clarity the main points from my talk today….</a:t>
            </a:r>
            <a:endParaRPr lang="es-CO">
              <a:ea typeface="SimSun" panose="02010600030101010101" pitchFamily="2" charset="-122"/>
            </a:endParaRPr>
          </a:p>
          <a:p>
            <a:pPr marL="0" indent="0">
              <a:spcBef>
                <a:spcPts val="0"/>
              </a:spcBef>
              <a:buSzPts val="1000"/>
              <a:buNone/>
              <a:tabLst>
                <a:tab pos="342900" algn="l"/>
              </a:tabLst>
            </a:pPr>
            <a:endParaRPr lang="en-GB" b="1">
              <a:ea typeface="SimSun" panose="02010600030101010101" pitchFamily="2" charset="-122"/>
              <a:cs typeface="Times New Roman" panose="02020603050405020304" pitchFamily="18" charset="0"/>
            </a:endParaRPr>
          </a:p>
          <a:p>
            <a:pPr marL="0" indent="0">
              <a:spcBef>
                <a:spcPts val="0"/>
              </a:spcBef>
              <a:buSzPts val="1000"/>
              <a:buNone/>
              <a:tabLst>
                <a:tab pos="342900" algn="l"/>
              </a:tabLst>
            </a:pPr>
            <a:r>
              <a:rPr lang="en-GB" b="1">
                <a:ea typeface="SimSun" panose="02010600030101010101" pitchFamily="2" charset="-122"/>
                <a:cs typeface="Times New Roman" panose="02020603050405020304" pitchFamily="18" charset="0"/>
              </a:rPr>
              <a:t>Dismiss as off topic:</a:t>
            </a:r>
          </a:p>
          <a:p>
            <a:pPr marL="0" indent="0">
              <a:spcBef>
                <a:spcPts val="0"/>
              </a:spcBef>
              <a:buSzPts val="1000"/>
              <a:buNone/>
              <a:tabLst>
                <a:tab pos="342900" algn="l"/>
              </a:tabLst>
            </a:pPr>
            <a:r>
              <a:rPr lang="en-GB">
                <a:ea typeface="SimSun" panose="02010600030101010101" pitchFamily="2" charset="-122"/>
                <a:cs typeface="Times New Roman" panose="02020603050405020304" pitchFamily="18" charset="0"/>
              </a:rPr>
              <a:t>I don't see the connection.</a:t>
            </a:r>
            <a:endParaRPr lang="es-CO">
              <a:ea typeface="SimSun" panose="02010600030101010101" pitchFamily="2" charset="-122"/>
            </a:endParaRPr>
          </a:p>
          <a:p>
            <a:pPr marL="0" indent="0">
              <a:spcBef>
                <a:spcPts val="0"/>
              </a:spcBef>
              <a:buSzPts val="1000"/>
              <a:buNone/>
              <a:tabLst>
                <a:tab pos="342900" algn="l"/>
              </a:tabLst>
            </a:pPr>
            <a:r>
              <a:rPr lang="en-GB">
                <a:ea typeface="SimSun" panose="02010600030101010101" pitchFamily="2" charset="-122"/>
                <a:cs typeface="Times New Roman" panose="02020603050405020304" pitchFamily="18" charset="0"/>
              </a:rPr>
              <a:t>I'm sorry, I don’t follow you.</a:t>
            </a:r>
            <a:endParaRPr lang="es-CO">
              <a:ea typeface="SimSun" panose="02010600030101010101" pitchFamily="2" charset="-122"/>
            </a:endParaRPr>
          </a:p>
          <a:p>
            <a:pPr marL="0" indent="0">
              <a:spcBef>
                <a:spcPts val="0"/>
              </a:spcBef>
              <a:buSzPts val="1000"/>
              <a:buNone/>
              <a:tabLst>
                <a:tab pos="342900" algn="l"/>
              </a:tabLst>
            </a:pPr>
            <a:r>
              <a:rPr lang="en-GB">
                <a:ea typeface="SimSun" panose="02010600030101010101" pitchFamily="2" charset="-122"/>
                <a:cs typeface="Times New Roman" panose="02020603050405020304" pitchFamily="18" charset="0"/>
              </a:rPr>
              <a:t>I think that is a very different issue. </a:t>
            </a:r>
            <a:endParaRPr lang="es-CO">
              <a:ea typeface="SimSun" panose="02010600030101010101" pitchFamily="2" charset="-122"/>
            </a:endParaRPr>
          </a:p>
          <a:p>
            <a:pPr marL="0" indent="0">
              <a:spcBef>
                <a:spcPts val="0"/>
              </a:spcBef>
              <a:buSzPts val="1000"/>
              <a:buNone/>
              <a:tabLst>
                <a:tab pos="342900" algn="l"/>
              </a:tabLst>
            </a:pPr>
            <a:endParaRPr lang="en-GB" b="1">
              <a:effectLst/>
              <a:ea typeface="SimSun" panose="02010600030101010101" pitchFamily="2" charset="-122"/>
              <a:cs typeface="Times New Roman" panose="02020603050405020304" pitchFamily="18" charset="0"/>
            </a:endParaRPr>
          </a:p>
          <a:p>
            <a:endParaRPr lang="en-US" dirty="0"/>
          </a:p>
        </p:txBody>
      </p:sp>
    </p:spTree>
    <p:extLst>
      <p:ext uri="{BB962C8B-B14F-4D97-AF65-F5344CB8AC3E}">
        <p14:creationId xmlns:p14="http://schemas.microsoft.com/office/powerpoint/2010/main" val="3222173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85725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857250"/>
            <a:ext cx="3125453" cy="51435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2" name="Title 1">
            <a:extLst>
              <a:ext uri="{FF2B5EF4-FFF2-40B4-BE49-F238E27FC236}">
                <a16:creationId xmlns:a16="http://schemas.microsoft.com/office/drawing/2014/main" id="{B3F66E17-1C62-4637-B9AF-C5E2A139B1DE}"/>
              </a:ext>
            </a:extLst>
          </p:cNvPr>
          <p:cNvSpPr>
            <a:spLocks noGrp="1"/>
          </p:cNvSpPr>
          <p:nvPr>
            <p:ph type="title"/>
          </p:nvPr>
        </p:nvSpPr>
        <p:spPr>
          <a:xfrm>
            <a:off x="515126" y="1722430"/>
            <a:ext cx="2400300" cy="3345872"/>
          </a:xfrm>
        </p:spPr>
        <p:txBody>
          <a:bodyPr>
            <a:normAutofit/>
          </a:bodyPr>
          <a:lstStyle/>
          <a:p>
            <a:r>
              <a:rPr lang="en-US">
                <a:solidFill>
                  <a:srgbClr val="FFFFFF"/>
                </a:solidFill>
                <a:latin typeface="Calibri" panose="020F0502020204030204" pitchFamily="34" charset="0"/>
                <a:ea typeface="SimSun" panose="02010600030101010101" pitchFamily="2" charset="-122"/>
                <a:cs typeface="Times New Roman" panose="02020603050405020304" pitchFamily="18" charset="0"/>
              </a:rPr>
              <a:t>Strategies for dealing with awkward questions</a:t>
            </a: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2" y="2698860"/>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endParaRPr lang="en-US" sz="1350" dirty="0">
              <a:solidFill>
                <a:prstClr val="black"/>
              </a:solidFill>
              <a:latin typeface="Calibri" panose="020F0502020204030204"/>
            </a:endParaRPr>
          </a:p>
        </p:txBody>
      </p:sp>
      <p:sp>
        <p:nvSpPr>
          <p:cNvPr id="3" name="Content Placeholder 2">
            <a:extLst>
              <a:ext uri="{FF2B5EF4-FFF2-40B4-BE49-F238E27FC236}">
                <a16:creationId xmlns:a16="http://schemas.microsoft.com/office/drawing/2014/main" id="{EDA93FCA-3571-4621-A5AF-9FD5800B3B85}"/>
              </a:ext>
            </a:extLst>
          </p:cNvPr>
          <p:cNvSpPr>
            <a:spLocks noGrp="1"/>
          </p:cNvSpPr>
          <p:nvPr>
            <p:ph idx="1"/>
          </p:nvPr>
        </p:nvSpPr>
        <p:spPr>
          <a:xfrm>
            <a:off x="3335482" y="1300759"/>
            <a:ext cx="5179868" cy="4189214"/>
          </a:xfrm>
        </p:spPr>
        <p:txBody>
          <a:bodyPr anchor="ctr">
            <a:normAutofit/>
          </a:bodyPr>
          <a:lstStyle/>
          <a:p>
            <a:pPr marL="0" indent="0">
              <a:spcBef>
                <a:spcPts val="0"/>
              </a:spcBef>
              <a:buSzPts val="1000"/>
              <a:buNone/>
              <a:tabLst>
                <a:tab pos="342900" algn="l"/>
              </a:tabLst>
            </a:pPr>
            <a:r>
              <a:rPr lang="en-US" b="1"/>
              <a:t>‘Simplify and Kill’:</a:t>
            </a:r>
          </a:p>
          <a:p>
            <a:pPr marL="0" indent="0">
              <a:spcBef>
                <a:spcPts val="0"/>
              </a:spcBef>
              <a:buSzPts val="1000"/>
              <a:buNone/>
              <a:tabLst>
                <a:tab pos="342900" algn="l"/>
              </a:tabLst>
            </a:pPr>
            <a:r>
              <a:rPr lang="en-US"/>
              <a:t>Paraphrase what they're saying into a yes or no question, proceed immediately after they say "yes" or "no“</a:t>
            </a:r>
          </a:p>
          <a:p>
            <a:pPr marL="0" indent="0">
              <a:spcBef>
                <a:spcPts val="0"/>
              </a:spcBef>
              <a:buSzPts val="1000"/>
              <a:buNone/>
              <a:tabLst>
                <a:tab pos="342900" algn="l"/>
              </a:tabLst>
            </a:pPr>
            <a:endParaRPr lang="en-US"/>
          </a:p>
          <a:p>
            <a:pPr marL="0" indent="0">
              <a:spcBef>
                <a:spcPts val="0"/>
              </a:spcBef>
              <a:buSzPts val="1000"/>
              <a:buNone/>
              <a:tabLst>
                <a:tab pos="342900" algn="l"/>
              </a:tabLst>
            </a:pPr>
            <a:r>
              <a:rPr lang="en-US" b="1">
                <a:effectLst/>
                <a:ea typeface="SimSun" panose="02010600030101010101" pitchFamily="2" charset="-122"/>
                <a:cs typeface="Times New Roman" panose="02020603050405020304" pitchFamily="18" charset="0"/>
              </a:rPr>
              <a:t>e.g. How soon will a decision be reached?</a:t>
            </a:r>
          </a:p>
          <a:p>
            <a:pPr marL="0" indent="0">
              <a:spcBef>
                <a:spcPts val="0"/>
              </a:spcBef>
              <a:buSzPts val="1000"/>
              <a:buNone/>
              <a:tabLst>
                <a:tab pos="342900" algn="l"/>
              </a:tabLst>
            </a:pPr>
            <a:r>
              <a:rPr lang="en-US" b="1">
                <a:ea typeface="SimSun" panose="02010600030101010101" pitchFamily="2" charset="-122"/>
                <a:cs typeface="Times New Roman" panose="02020603050405020304" pitchFamily="18" charset="0"/>
              </a:rPr>
              <a:t>Will a decision be reached today? No.</a:t>
            </a:r>
          </a:p>
          <a:p>
            <a:pPr marL="0" indent="0">
              <a:spcBef>
                <a:spcPts val="0"/>
              </a:spcBef>
              <a:buSzPts val="1000"/>
              <a:buNone/>
              <a:tabLst>
                <a:tab pos="342900" algn="l"/>
              </a:tabLst>
            </a:pPr>
            <a:r>
              <a:rPr lang="en-GB" b="1">
                <a:effectLst/>
                <a:ea typeface="SimSun" panose="02010600030101010101" pitchFamily="2" charset="-122"/>
                <a:cs typeface="Times New Roman" panose="02020603050405020304" pitchFamily="18" charset="0"/>
              </a:rPr>
              <a:t>Will a decision be reached soon? Yes. </a:t>
            </a:r>
          </a:p>
          <a:p>
            <a:pPr marL="0" indent="0">
              <a:spcBef>
                <a:spcPts val="0"/>
              </a:spcBef>
              <a:buSzPts val="1000"/>
              <a:buNone/>
              <a:tabLst>
                <a:tab pos="342900" algn="l"/>
              </a:tabLst>
            </a:pPr>
            <a:endParaRPr lang="en-GB" b="1">
              <a:effectLst/>
              <a:ea typeface="SimSun" panose="02010600030101010101" pitchFamily="2" charset="-122"/>
              <a:cs typeface="Times New Roman" panose="02020603050405020304" pitchFamily="18" charset="0"/>
            </a:endParaRPr>
          </a:p>
          <a:p>
            <a:endParaRPr lang="en-US" dirty="0"/>
          </a:p>
        </p:txBody>
      </p:sp>
    </p:spTree>
    <p:extLst>
      <p:ext uri="{BB962C8B-B14F-4D97-AF65-F5344CB8AC3E}">
        <p14:creationId xmlns:p14="http://schemas.microsoft.com/office/powerpoint/2010/main" val="1097378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85725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857250"/>
            <a:ext cx="3125453" cy="51435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2" name="Title 1">
            <a:extLst>
              <a:ext uri="{FF2B5EF4-FFF2-40B4-BE49-F238E27FC236}">
                <a16:creationId xmlns:a16="http://schemas.microsoft.com/office/drawing/2014/main" id="{2EAB0B2A-C267-4EF2-A989-D44154A78318}"/>
              </a:ext>
            </a:extLst>
          </p:cNvPr>
          <p:cNvSpPr>
            <a:spLocks noGrp="1"/>
          </p:cNvSpPr>
          <p:nvPr>
            <p:ph type="title"/>
          </p:nvPr>
        </p:nvSpPr>
        <p:spPr>
          <a:xfrm>
            <a:off x="515126" y="1722430"/>
            <a:ext cx="2400300" cy="3345872"/>
          </a:xfrm>
        </p:spPr>
        <p:txBody>
          <a:bodyPr>
            <a:normAutofit/>
          </a:bodyPr>
          <a:lstStyle/>
          <a:p>
            <a:r>
              <a:rPr lang="en-GB" b="1">
                <a:solidFill>
                  <a:srgbClr val="FFFFFF"/>
                </a:solidFill>
                <a:latin typeface="Calibri" panose="020F0502020204030204" pitchFamily="34" charset="0"/>
                <a:ea typeface="SimSun" panose="02010600030101010101" pitchFamily="2" charset="-122"/>
                <a:cs typeface="Arial" panose="020B0604020202020204" pitchFamily="34" charset="0"/>
              </a:rPr>
              <a:t>Task 2 – bringing it all together</a:t>
            </a:r>
            <a:br>
              <a:rPr lang="es-CO">
                <a:solidFill>
                  <a:srgbClr val="FFFFFF"/>
                </a:solidFill>
                <a:latin typeface="Times New Roman" panose="02020603050405020304" pitchFamily="18" charset="0"/>
                <a:ea typeface="SimSun" panose="02010600030101010101" pitchFamily="2" charset="-122"/>
              </a:rPr>
            </a:b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2" y="2698860"/>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endParaRPr lang="en-US" sz="1350" dirty="0">
              <a:solidFill>
                <a:prstClr val="black"/>
              </a:solidFill>
              <a:latin typeface="Calibri" panose="020F0502020204030204"/>
            </a:endParaRPr>
          </a:p>
        </p:txBody>
      </p:sp>
      <p:sp>
        <p:nvSpPr>
          <p:cNvPr id="3" name="Content Placeholder 2">
            <a:extLst>
              <a:ext uri="{FF2B5EF4-FFF2-40B4-BE49-F238E27FC236}">
                <a16:creationId xmlns:a16="http://schemas.microsoft.com/office/drawing/2014/main" id="{B0607414-A76E-44B6-B477-B0B5A8641B42}"/>
              </a:ext>
            </a:extLst>
          </p:cNvPr>
          <p:cNvSpPr>
            <a:spLocks noGrp="1"/>
          </p:cNvSpPr>
          <p:nvPr>
            <p:ph idx="1"/>
          </p:nvPr>
        </p:nvSpPr>
        <p:spPr>
          <a:xfrm>
            <a:off x="3335482" y="1300759"/>
            <a:ext cx="5179868" cy="4189214"/>
          </a:xfrm>
        </p:spPr>
        <p:txBody>
          <a:bodyPr anchor="ctr">
            <a:normAutofit/>
          </a:bodyPr>
          <a:lstStyle/>
          <a:p>
            <a:pPr marL="0" indent="0">
              <a:spcBef>
                <a:spcPts val="0"/>
              </a:spcBef>
              <a:buNone/>
            </a:pPr>
            <a:r>
              <a:rPr lang="en-US" sz="1950" b="1" dirty="0">
                <a:latin typeface="Calibri" panose="020F0502020204030204" pitchFamily="34" charset="0"/>
                <a:ea typeface="SimSun" panose="02010600030101010101" pitchFamily="2" charset="-122"/>
                <a:cs typeface="Arial" panose="020B0604020202020204" pitchFamily="34" charset="0"/>
              </a:rPr>
              <a:t>Remembering aspects of NVC, including eye contact, delivery – stress, intonation, pace </a:t>
            </a:r>
            <a:r>
              <a:rPr lang="en-US" sz="1950" b="1" dirty="0" err="1">
                <a:latin typeface="Calibri" panose="020F0502020204030204" pitchFamily="34" charset="0"/>
                <a:ea typeface="SimSun" panose="02010600030101010101" pitchFamily="2" charset="-122"/>
                <a:cs typeface="Arial" panose="020B0604020202020204" pitchFamily="34" charset="0"/>
              </a:rPr>
              <a:t>etc</a:t>
            </a:r>
            <a:r>
              <a:rPr lang="en-US" sz="1950" b="1" dirty="0">
                <a:latin typeface="Calibri" panose="020F0502020204030204" pitchFamily="34" charset="0"/>
                <a:ea typeface="SimSun" panose="02010600030101010101" pitchFamily="2" charset="-122"/>
                <a:cs typeface="Arial" panose="020B0604020202020204" pitchFamily="34" charset="0"/>
              </a:rPr>
              <a:t>, we will take turns handling deliberately awkward questions</a:t>
            </a:r>
            <a:endParaRPr lang="es-CO" sz="1950" dirty="0">
              <a:latin typeface="Times New Roman" panose="02020603050405020304" pitchFamily="18" charset="0"/>
              <a:ea typeface="SimSun" panose="02010600030101010101" pitchFamily="2" charset="-122"/>
            </a:endParaRPr>
          </a:p>
          <a:p>
            <a:pPr marL="0" indent="0">
              <a:spcBef>
                <a:spcPts val="0"/>
              </a:spcBef>
              <a:buNone/>
            </a:pPr>
            <a:endParaRPr lang="es-CO" sz="1950" dirty="0">
              <a:latin typeface="Times New Roman" panose="02020603050405020304" pitchFamily="18" charset="0"/>
              <a:ea typeface="SimSun" panose="02010600030101010101" pitchFamily="2" charset="-122"/>
            </a:endParaRPr>
          </a:p>
          <a:p>
            <a:pPr marL="0" indent="0">
              <a:spcBef>
                <a:spcPts val="0"/>
              </a:spcBef>
              <a:buNone/>
              <a:tabLst>
                <a:tab pos="342900" algn="l"/>
              </a:tabLst>
            </a:pPr>
            <a:r>
              <a:rPr lang="en-GB" sz="1950" dirty="0">
                <a:latin typeface="Calibri" panose="020F0502020204030204" pitchFamily="34" charset="0"/>
                <a:ea typeface="SimSun" panose="02010600030101010101" pitchFamily="2" charset="-122"/>
                <a:cs typeface="Arial" panose="020B0604020202020204" pitchFamily="34" charset="0"/>
              </a:rPr>
              <a:t>What’s the precise population of </a:t>
            </a:r>
            <a:r>
              <a:rPr lang="en-GB" sz="1950">
                <a:latin typeface="Calibri" panose="020F0502020204030204" pitchFamily="34" charset="0"/>
                <a:ea typeface="SimSun" panose="02010600030101010101" pitchFamily="2" charset="-122"/>
                <a:cs typeface="Arial" panose="020B0604020202020204" pitchFamily="34" charset="0"/>
              </a:rPr>
              <a:t>Finland?</a:t>
            </a:r>
            <a:endParaRPr lang="es-CO" sz="1950" dirty="0">
              <a:latin typeface="Times New Roman" panose="02020603050405020304" pitchFamily="18" charset="0"/>
              <a:ea typeface="SimSun" panose="02010600030101010101" pitchFamily="2" charset="-122"/>
            </a:endParaRPr>
          </a:p>
          <a:p>
            <a:pPr marL="0" indent="0">
              <a:spcBef>
                <a:spcPts val="0"/>
              </a:spcBef>
              <a:buNone/>
              <a:tabLst>
                <a:tab pos="342900" algn="l"/>
              </a:tabLst>
            </a:pPr>
            <a:r>
              <a:rPr lang="en-GB" sz="1950" dirty="0">
                <a:latin typeface="Calibri" panose="020F0502020204030204" pitchFamily="34" charset="0"/>
                <a:ea typeface="SimSun" panose="02010600030101010101" pitchFamily="2" charset="-122"/>
                <a:cs typeface="Arial" panose="020B0604020202020204" pitchFamily="34" charset="0"/>
              </a:rPr>
              <a:t>By how many degrees will global temperatures going to rise in the next 5 years?</a:t>
            </a:r>
            <a:endParaRPr lang="es-CO" sz="1950" dirty="0">
              <a:latin typeface="Times New Roman" panose="02020603050405020304" pitchFamily="18" charset="0"/>
              <a:ea typeface="SimSun" panose="02010600030101010101" pitchFamily="2" charset="-122"/>
            </a:endParaRPr>
          </a:p>
          <a:p>
            <a:pPr marL="0" indent="0">
              <a:spcBef>
                <a:spcPts val="0"/>
              </a:spcBef>
              <a:buNone/>
              <a:tabLst>
                <a:tab pos="342900" algn="l"/>
              </a:tabLst>
            </a:pPr>
            <a:r>
              <a:rPr lang="en-GB" sz="1950" dirty="0">
                <a:latin typeface="Calibri" panose="020F0502020204030204" pitchFamily="34" charset="0"/>
                <a:ea typeface="SimSun" panose="02010600030101010101" pitchFamily="2" charset="-122"/>
                <a:cs typeface="Arial" panose="020B0604020202020204" pitchFamily="34" charset="0"/>
              </a:rPr>
              <a:t>How long will it be before we have a fully operational colony on Mars?</a:t>
            </a:r>
          </a:p>
          <a:p>
            <a:pPr marL="0" indent="0">
              <a:spcBef>
                <a:spcPts val="0"/>
              </a:spcBef>
              <a:buNone/>
              <a:tabLst>
                <a:tab pos="342900" algn="l"/>
              </a:tabLst>
            </a:pPr>
            <a:r>
              <a:rPr lang="en-GB" sz="1950" dirty="0">
                <a:latin typeface="Calibri" panose="020F0502020204030204" pitchFamily="34" charset="0"/>
                <a:ea typeface="SimSun" panose="02010600030101010101" pitchFamily="2" charset="-122"/>
                <a:cs typeface="Arial" panose="020B0604020202020204" pitchFamily="34" charset="0"/>
              </a:rPr>
              <a:t>Can you explain the history of medical developments that made MRI scanning a modern reality?</a:t>
            </a:r>
          </a:p>
          <a:p>
            <a:pPr marL="0" indent="0">
              <a:spcBef>
                <a:spcPts val="0"/>
              </a:spcBef>
              <a:buNone/>
              <a:tabLst>
                <a:tab pos="342900" algn="l"/>
              </a:tabLst>
            </a:pPr>
            <a:r>
              <a:rPr lang="en-GB" sz="1950" dirty="0">
                <a:latin typeface="Calibri" panose="020F0502020204030204" pitchFamily="34" charset="0"/>
                <a:ea typeface="SimSun" panose="02010600030101010101" pitchFamily="2" charset="-122"/>
                <a:cs typeface="Arial" panose="020B0604020202020204" pitchFamily="34" charset="0"/>
              </a:rPr>
              <a:t>Why are the direct impacts of globalisation on </a:t>
            </a:r>
            <a:r>
              <a:rPr lang="en-US" sz="1950" dirty="0">
                <a:latin typeface="Calibri" panose="020F0502020204030204" pitchFamily="34" charset="0"/>
                <a:ea typeface="SimSun" panose="02010600030101010101" pitchFamily="2" charset="-122"/>
                <a:cs typeface="Arial" panose="020B0604020202020204" pitchFamily="34" charset="0"/>
              </a:rPr>
              <a:t>race relations in major 1</a:t>
            </a:r>
            <a:r>
              <a:rPr lang="en-US" sz="1950" baseline="30000" dirty="0">
                <a:latin typeface="Calibri" panose="020F0502020204030204" pitchFamily="34" charset="0"/>
                <a:ea typeface="SimSun" panose="02010600030101010101" pitchFamily="2" charset="-122"/>
                <a:cs typeface="Arial" panose="020B0604020202020204" pitchFamily="34" charset="0"/>
              </a:rPr>
              <a:t>st</a:t>
            </a:r>
            <a:r>
              <a:rPr lang="en-US" sz="1950" dirty="0">
                <a:latin typeface="Calibri" panose="020F0502020204030204" pitchFamily="34" charset="0"/>
                <a:ea typeface="SimSun" panose="02010600030101010101" pitchFamily="2" charset="-122"/>
                <a:cs typeface="Arial" panose="020B0604020202020204" pitchFamily="34" charset="0"/>
              </a:rPr>
              <a:t> world cities?</a:t>
            </a:r>
          </a:p>
          <a:p>
            <a:pPr marL="0" indent="0">
              <a:spcBef>
                <a:spcPts val="0"/>
              </a:spcBef>
              <a:buNone/>
              <a:tabLst>
                <a:tab pos="342900" algn="l"/>
              </a:tabLst>
            </a:pPr>
            <a:endParaRPr lang="en-US" sz="1950" dirty="0">
              <a:latin typeface="Calibri" panose="020F0502020204030204" pitchFamily="34" charset="0"/>
              <a:ea typeface="SimSun" panose="02010600030101010101" pitchFamily="2" charset="-122"/>
              <a:cs typeface="Arial" panose="020B0604020202020204" pitchFamily="34" charset="0"/>
            </a:endParaRPr>
          </a:p>
          <a:p>
            <a:pPr marL="257175" indent="-257175">
              <a:spcBef>
                <a:spcPts val="0"/>
              </a:spcBef>
              <a:buFont typeface="Symbol" panose="05050102010706020507" pitchFamily="18" charset="2"/>
              <a:buChar char=""/>
              <a:tabLst>
                <a:tab pos="342900" algn="l"/>
              </a:tabLst>
            </a:pPr>
            <a:endParaRPr lang="es-CO" sz="1950" dirty="0">
              <a:latin typeface="Times New Roman" panose="02020603050405020304" pitchFamily="18" charset="0"/>
              <a:ea typeface="SimSun" panose="02010600030101010101" pitchFamily="2" charset="-122"/>
            </a:endParaRPr>
          </a:p>
          <a:p>
            <a:pPr marL="0" indent="0">
              <a:buNone/>
            </a:pPr>
            <a:endParaRPr lang="en-US" sz="1950" dirty="0"/>
          </a:p>
        </p:txBody>
      </p:sp>
    </p:spTree>
    <p:extLst>
      <p:ext uri="{BB962C8B-B14F-4D97-AF65-F5344CB8AC3E}">
        <p14:creationId xmlns:p14="http://schemas.microsoft.com/office/powerpoint/2010/main" val="2646366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1790</Words>
  <Application>Microsoft Office PowerPoint</Application>
  <PresentationFormat>On-screen Show (4:3)</PresentationFormat>
  <Paragraphs>207</Paragraphs>
  <Slides>32</Slides>
  <Notes>2</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32</vt:i4>
      </vt:variant>
    </vt:vector>
  </HeadingPairs>
  <TitlesOfParts>
    <vt:vector size="44" baseType="lpstr">
      <vt:lpstr>SimSun</vt:lpstr>
      <vt:lpstr>Arial</vt:lpstr>
      <vt:lpstr>Calibri</vt:lpstr>
      <vt:lpstr>Calibri Light</vt:lpstr>
      <vt:lpstr>Palatino Linotype</vt:lpstr>
      <vt:lpstr>Symbol</vt:lpstr>
      <vt:lpstr>Times New Roman</vt:lpstr>
      <vt:lpstr>Wingdings</vt:lpstr>
      <vt:lpstr>1_Office Theme</vt:lpstr>
      <vt:lpstr>Retrospect</vt:lpstr>
      <vt:lpstr>Tema de Office</vt:lpstr>
      <vt:lpstr>Office Theme</vt:lpstr>
      <vt:lpstr>Academic Register and Handling Questions</vt:lpstr>
      <vt:lpstr>PowerPoint Presentation</vt:lpstr>
      <vt:lpstr>How to make a good first impression</vt:lpstr>
      <vt:lpstr>Academic Register</vt:lpstr>
      <vt:lpstr> Why? </vt:lpstr>
      <vt:lpstr>Tone and Style</vt:lpstr>
      <vt:lpstr>Tone and Style</vt:lpstr>
      <vt:lpstr>Spoken vs Written English</vt:lpstr>
      <vt:lpstr>Economy of Expression</vt:lpstr>
      <vt:lpstr>Economy Of Expression</vt:lpstr>
      <vt:lpstr>Task 1 - Reducing redundancy</vt:lpstr>
      <vt:lpstr>Reducing redundancy</vt:lpstr>
      <vt:lpstr>Reducing redundancy</vt:lpstr>
      <vt:lpstr>Reducing redundancy</vt:lpstr>
      <vt:lpstr>Reducing redundancy</vt:lpstr>
      <vt:lpstr>Reducing redundancy</vt:lpstr>
      <vt:lpstr>Reducing redundancy</vt:lpstr>
      <vt:lpstr>Reducing redundancy</vt:lpstr>
      <vt:lpstr>Reducing redundancy</vt:lpstr>
      <vt:lpstr>Reducing redundancy</vt:lpstr>
      <vt:lpstr> Where possible, choose more formal vocabulary </vt:lpstr>
      <vt:lpstr>PowerPoint Presentation</vt:lpstr>
      <vt:lpstr>Get</vt:lpstr>
      <vt:lpstr>Using Qualifying Words and Phrases - Hedging</vt:lpstr>
      <vt:lpstr>Linking words and phrases</vt:lpstr>
      <vt:lpstr>PowerPoint Presentation</vt:lpstr>
      <vt:lpstr>Tips for dealing with questions </vt:lpstr>
      <vt:lpstr>Strategies for dealing with awkward questions</vt:lpstr>
      <vt:lpstr>Strategies for dealing with awkward questions</vt:lpstr>
      <vt:lpstr>Strategies for dealing with awkward questions</vt:lpstr>
      <vt:lpstr>Strategies for dealing with awkward questions</vt:lpstr>
      <vt:lpstr>Task 2 – bringing it all together </vt:lpstr>
    </vt:vector>
  </TitlesOfParts>
  <Company>Windows XP Titan Ultimate Edition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Making Use of Visual Material</dc:title>
  <dc:creator>Matt</dc:creator>
  <cp:lastModifiedBy>Martha Vanin</cp:lastModifiedBy>
  <cp:revision>40</cp:revision>
  <dcterms:created xsi:type="dcterms:W3CDTF">2017-04-06T19:09:57Z</dcterms:created>
  <dcterms:modified xsi:type="dcterms:W3CDTF">2024-10-17T10:26:11Z</dcterms:modified>
</cp:coreProperties>
</file>