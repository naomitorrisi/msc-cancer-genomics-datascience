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09" r:id="rId3"/>
    <p:sldId id="274" r:id="rId4"/>
    <p:sldId id="292" r:id="rId5"/>
    <p:sldId id="314" r:id="rId6"/>
    <p:sldId id="318" r:id="rId7"/>
    <p:sldId id="260" r:id="rId8"/>
    <p:sldId id="317" r:id="rId9"/>
    <p:sldId id="265" r:id="rId10"/>
    <p:sldId id="287" r:id="rId11"/>
    <p:sldId id="298" r:id="rId12"/>
    <p:sldId id="310" r:id="rId13"/>
    <p:sldId id="311" r:id="rId14"/>
    <p:sldId id="312" r:id="rId15"/>
    <p:sldId id="295" r:id="rId16"/>
    <p:sldId id="313"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49" autoAdjust="0"/>
    <p:restoredTop sz="90980" autoAdjust="0"/>
  </p:normalViewPr>
  <p:slideViewPr>
    <p:cSldViewPr snapToGrid="0">
      <p:cViewPr varScale="1">
        <p:scale>
          <a:sx n="85" d="100"/>
          <a:sy n="85" d="100"/>
        </p:scale>
        <p:origin x="51"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00AC75-E334-4F25-A066-503268A4BF9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58B74A5-2CD0-41DE-A867-5CBA674F30E4}">
      <dgm:prSet/>
      <dgm:spPr/>
      <dgm:t>
        <a:bodyPr/>
        <a:lstStyle/>
        <a:p>
          <a:r>
            <a:rPr lang="en-US"/>
            <a:t>What do we mean by ‘delivery’?</a:t>
          </a:r>
        </a:p>
      </dgm:t>
    </dgm:pt>
    <dgm:pt modelId="{C829B4F0-190C-493D-B60E-024FB17E940F}" type="parTrans" cxnId="{C231AB34-10CD-4625-A220-0AE1F62DB82D}">
      <dgm:prSet/>
      <dgm:spPr/>
      <dgm:t>
        <a:bodyPr/>
        <a:lstStyle/>
        <a:p>
          <a:endParaRPr lang="en-US"/>
        </a:p>
      </dgm:t>
    </dgm:pt>
    <dgm:pt modelId="{0E37973B-DBCF-4EB6-8D05-CB03C065DD37}" type="sibTrans" cxnId="{C231AB34-10CD-4625-A220-0AE1F62DB82D}">
      <dgm:prSet/>
      <dgm:spPr/>
      <dgm:t>
        <a:bodyPr/>
        <a:lstStyle/>
        <a:p>
          <a:endParaRPr lang="en-US"/>
        </a:p>
      </dgm:t>
    </dgm:pt>
    <dgm:pt modelId="{2ED0DF80-6D9C-4904-B314-6C31DCB1891C}">
      <dgm:prSet/>
      <dgm:spPr/>
      <dgm:t>
        <a:bodyPr/>
        <a:lstStyle/>
        <a:p>
          <a:r>
            <a:rPr lang="en-US"/>
            <a:t>Aspects of delivery</a:t>
          </a:r>
        </a:p>
      </dgm:t>
    </dgm:pt>
    <dgm:pt modelId="{EB6A23A4-7973-46F4-BC57-470A1F77522C}" type="parTrans" cxnId="{C76ABC51-32F0-4D85-A75D-CAF130C0DA8B}">
      <dgm:prSet/>
      <dgm:spPr/>
      <dgm:t>
        <a:bodyPr/>
        <a:lstStyle/>
        <a:p>
          <a:endParaRPr lang="en-US"/>
        </a:p>
      </dgm:t>
    </dgm:pt>
    <dgm:pt modelId="{DD6D5ADB-2B40-4D37-A58F-842B1936DCF5}" type="sibTrans" cxnId="{C76ABC51-32F0-4D85-A75D-CAF130C0DA8B}">
      <dgm:prSet/>
      <dgm:spPr/>
      <dgm:t>
        <a:bodyPr/>
        <a:lstStyle/>
        <a:p>
          <a:endParaRPr lang="en-US"/>
        </a:p>
      </dgm:t>
    </dgm:pt>
    <dgm:pt modelId="{D1399107-A575-46BC-B99A-0E47F862FFD1}">
      <dgm:prSet/>
      <dgm:spPr/>
      <dgm:t>
        <a:bodyPr/>
        <a:lstStyle/>
        <a:p>
          <a:r>
            <a:rPr lang="en-US"/>
            <a:t>Stress and Intonation</a:t>
          </a:r>
        </a:p>
      </dgm:t>
    </dgm:pt>
    <dgm:pt modelId="{123ADFC9-3755-44FE-98F9-0EC775298921}" type="parTrans" cxnId="{4AE99B54-E98C-47EB-A038-4CA1F61EB1F7}">
      <dgm:prSet/>
      <dgm:spPr/>
      <dgm:t>
        <a:bodyPr/>
        <a:lstStyle/>
        <a:p>
          <a:endParaRPr lang="en-US"/>
        </a:p>
      </dgm:t>
    </dgm:pt>
    <dgm:pt modelId="{2E62FBB5-1AE4-4758-ADA6-E6E8295B89F9}" type="sibTrans" cxnId="{4AE99B54-E98C-47EB-A038-4CA1F61EB1F7}">
      <dgm:prSet/>
      <dgm:spPr/>
      <dgm:t>
        <a:bodyPr/>
        <a:lstStyle/>
        <a:p>
          <a:endParaRPr lang="en-US"/>
        </a:p>
      </dgm:t>
    </dgm:pt>
    <dgm:pt modelId="{EDA60C5F-CDB9-447C-807C-9CD3E0E076E8}">
      <dgm:prSet/>
      <dgm:spPr/>
      <dgm:t>
        <a:bodyPr/>
        <a:lstStyle/>
        <a:p>
          <a:r>
            <a:rPr lang="en-GB"/>
            <a:t>Overcoming Speech Anxiety</a:t>
          </a:r>
          <a:endParaRPr lang="en-US"/>
        </a:p>
      </dgm:t>
    </dgm:pt>
    <dgm:pt modelId="{3D4B08D1-3CC5-49E4-BA9C-7CC1ED2991BE}" type="parTrans" cxnId="{1137130F-4912-4657-8310-1D1A624DB213}">
      <dgm:prSet/>
      <dgm:spPr/>
      <dgm:t>
        <a:bodyPr/>
        <a:lstStyle/>
        <a:p>
          <a:endParaRPr lang="en-US"/>
        </a:p>
      </dgm:t>
    </dgm:pt>
    <dgm:pt modelId="{F861C6D6-9E96-437B-9848-A52BE13F34B9}" type="sibTrans" cxnId="{1137130F-4912-4657-8310-1D1A624DB213}">
      <dgm:prSet/>
      <dgm:spPr/>
      <dgm:t>
        <a:bodyPr/>
        <a:lstStyle/>
        <a:p>
          <a:endParaRPr lang="en-US"/>
        </a:p>
      </dgm:t>
    </dgm:pt>
    <dgm:pt modelId="{1005CBD1-5FBC-4D62-B98D-A9468EF876A9}">
      <dgm:prSet/>
      <dgm:spPr/>
      <dgm:t>
        <a:bodyPr/>
        <a:lstStyle/>
        <a:p>
          <a:r>
            <a:rPr lang="en-GB" dirty="0"/>
            <a:t>Handling Questions</a:t>
          </a:r>
          <a:endParaRPr lang="en-US" dirty="0"/>
        </a:p>
      </dgm:t>
    </dgm:pt>
    <dgm:pt modelId="{1A84467E-C128-4AC0-84DF-98CB205791D8}" type="parTrans" cxnId="{86CEBFDC-072D-4F37-AB24-574ADBC21AAA}">
      <dgm:prSet/>
      <dgm:spPr/>
      <dgm:t>
        <a:bodyPr/>
        <a:lstStyle/>
        <a:p>
          <a:endParaRPr lang="en-US"/>
        </a:p>
      </dgm:t>
    </dgm:pt>
    <dgm:pt modelId="{95E1F7BC-B171-4891-9B8F-0FEECFD8503B}" type="sibTrans" cxnId="{86CEBFDC-072D-4F37-AB24-574ADBC21AAA}">
      <dgm:prSet/>
      <dgm:spPr/>
      <dgm:t>
        <a:bodyPr/>
        <a:lstStyle/>
        <a:p>
          <a:endParaRPr lang="en-US"/>
        </a:p>
      </dgm:t>
    </dgm:pt>
    <dgm:pt modelId="{6AB3EEDC-4247-4B95-8E41-D8FEEAB8B8F6}" type="pres">
      <dgm:prSet presAssocID="{7000AC75-E334-4F25-A066-503268A4BF97}" presName="linear" presStyleCnt="0">
        <dgm:presLayoutVars>
          <dgm:animLvl val="lvl"/>
          <dgm:resizeHandles val="exact"/>
        </dgm:presLayoutVars>
      </dgm:prSet>
      <dgm:spPr/>
    </dgm:pt>
    <dgm:pt modelId="{88BB6916-19E1-41CF-A313-B4B0E17B8A41}" type="pres">
      <dgm:prSet presAssocID="{058B74A5-2CD0-41DE-A867-5CBA674F30E4}" presName="parentText" presStyleLbl="node1" presStyleIdx="0" presStyleCnt="5">
        <dgm:presLayoutVars>
          <dgm:chMax val="0"/>
          <dgm:bulletEnabled val="1"/>
        </dgm:presLayoutVars>
      </dgm:prSet>
      <dgm:spPr/>
    </dgm:pt>
    <dgm:pt modelId="{7FA72DBA-62D4-4334-B752-078EF238AF67}" type="pres">
      <dgm:prSet presAssocID="{0E37973B-DBCF-4EB6-8D05-CB03C065DD37}" presName="spacer" presStyleCnt="0"/>
      <dgm:spPr/>
    </dgm:pt>
    <dgm:pt modelId="{A2FA1B97-315E-4A99-893F-615A09068AE3}" type="pres">
      <dgm:prSet presAssocID="{2ED0DF80-6D9C-4904-B314-6C31DCB1891C}" presName="parentText" presStyleLbl="node1" presStyleIdx="1" presStyleCnt="5">
        <dgm:presLayoutVars>
          <dgm:chMax val="0"/>
          <dgm:bulletEnabled val="1"/>
        </dgm:presLayoutVars>
      </dgm:prSet>
      <dgm:spPr/>
    </dgm:pt>
    <dgm:pt modelId="{11700B97-D75A-49ED-A033-750A44ACE729}" type="pres">
      <dgm:prSet presAssocID="{DD6D5ADB-2B40-4D37-A58F-842B1936DCF5}" presName="spacer" presStyleCnt="0"/>
      <dgm:spPr/>
    </dgm:pt>
    <dgm:pt modelId="{8CF80EA1-3CFD-4E3D-9909-EA4454F608DB}" type="pres">
      <dgm:prSet presAssocID="{D1399107-A575-46BC-B99A-0E47F862FFD1}" presName="parentText" presStyleLbl="node1" presStyleIdx="2" presStyleCnt="5">
        <dgm:presLayoutVars>
          <dgm:chMax val="0"/>
          <dgm:bulletEnabled val="1"/>
        </dgm:presLayoutVars>
      </dgm:prSet>
      <dgm:spPr/>
    </dgm:pt>
    <dgm:pt modelId="{835A3D69-C9D3-4A59-AE78-43DF5EB871C2}" type="pres">
      <dgm:prSet presAssocID="{2E62FBB5-1AE4-4758-ADA6-E6E8295B89F9}" presName="spacer" presStyleCnt="0"/>
      <dgm:spPr/>
    </dgm:pt>
    <dgm:pt modelId="{4CEB76B6-12A1-417A-B724-6007F41DC2AF}" type="pres">
      <dgm:prSet presAssocID="{EDA60C5F-CDB9-447C-807C-9CD3E0E076E8}" presName="parentText" presStyleLbl="node1" presStyleIdx="3" presStyleCnt="5">
        <dgm:presLayoutVars>
          <dgm:chMax val="0"/>
          <dgm:bulletEnabled val="1"/>
        </dgm:presLayoutVars>
      </dgm:prSet>
      <dgm:spPr/>
    </dgm:pt>
    <dgm:pt modelId="{26152ED2-F354-4E11-802B-02246DBEB906}" type="pres">
      <dgm:prSet presAssocID="{F861C6D6-9E96-437B-9848-A52BE13F34B9}" presName="spacer" presStyleCnt="0"/>
      <dgm:spPr/>
    </dgm:pt>
    <dgm:pt modelId="{818E6D6C-4A2C-48F3-B9F9-76E04CDE5E36}" type="pres">
      <dgm:prSet presAssocID="{1005CBD1-5FBC-4D62-B98D-A9468EF876A9}" presName="parentText" presStyleLbl="node1" presStyleIdx="4" presStyleCnt="5">
        <dgm:presLayoutVars>
          <dgm:chMax val="0"/>
          <dgm:bulletEnabled val="1"/>
        </dgm:presLayoutVars>
      </dgm:prSet>
      <dgm:spPr/>
    </dgm:pt>
  </dgm:ptLst>
  <dgm:cxnLst>
    <dgm:cxn modelId="{812E410D-DCE9-4BD1-8297-EA1FF8BE5610}" type="presOf" srcId="{D1399107-A575-46BC-B99A-0E47F862FFD1}" destId="{8CF80EA1-3CFD-4E3D-9909-EA4454F608DB}" srcOrd="0" destOrd="0" presId="urn:microsoft.com/office/officeart/2005/8/layout/vList2"/>
    <dgm:cxn modelId="{1137130F-4912-4657-8310-1D1A624DB213}" srcId="{7000AC75-E334-4F25-A066-503268A4BF97}" destId="{EDA60C5F-CDB9-447C-807C-9CD3E0E076E8}" srcOrd="3" destOrd="0" parTransId="{3D4B08D1-3CC5-49E4-BA9C-7CC1ED2991BE}" sibTransId="{F861C6D6-9E96-437B-9848-A52BE13F34B9}"/>
    <dgm:cxn modelId="{C231AB34-10CD-4625-A220-0AE1F62DB82D}" srcId="{7000AC75-E334-4F25-A066-503268A4BF97}" destId="{058B74A5-2CD0-41DE-A867-5CBA674F30E4}" srcOrd="0" destOrd="0" parTransId="{C829B4F0-190C-493D-B60E-024FB17E940F}" sibTransId="{0E37973B-DBCF-4EB6-8D05-CB03C065DD37}"/>
    <dgm:cxn modelId="{C76ABC51-32F0-4D85-A75D-CAF130C0DA8B}" srcId="{7000AC75-E334-4F25-A066-503268A4BF97}" destId="{2ED0DF80-6D9C-4904-B314-6C31DCB1891C}" srcOrd="1" destOrd="0" parTransId="{EB6A23A4-7973-46F4-BC57-470A1F77522C}" sibTransId="{DD6D5ADB-2B40-4D37-A58F-842B1936DCF5}"/>
    <dgm:cxn modelId="{4AE99B54-E98C-47EB-A038-4CA1F61EB1F7}" srcId="{7000AC75-E334-4F25-A066-503268A4BF97}" destId="{D1399107-A575-46BC-B99A-0E47F862FFD1}" srcOrd="2" destOrd="0" parTransId="{123ADFC9-3755-44FE-98F9-0EC775298921}" sibTransId="{2E62FBB5-1AE4-4758-ADA6-E6E8295B89F9}"/>
    <dgm:cxn modelId="{895CD079-FA68-43C7-9249-B401CD5D93A3}" type="presOf" srcId="{1005CBD1-5FBC-4D62-B98D-A9468EF876A9}" destId="{818E6D6C-4A2C-48F3-B9F9-76E04CDE5E36}" srcOrd="0" destOrd="0" presId="urn:microsoft.com/office/officeart/2005/8/layout/vList2"/>
    <dgm:cxn modelId="{8CFB078B-D81D-4BC2-B302-9767DFB18F9E}" type="presOf" srcId="{EDA60C5F-CDB9-447C-807C-9CD3E0E076E8}" destId="{4CEB76B6-12A1-417A-B724-6007F41DC2AF}" srcOrd="0" destOrd="0" presId="urn:microsoft.com/office/officeart/2005/8/layout/vList2"/>
    <dgm:cxn modelId="{90C7688C-E3D9-41C3-B918-9EFF761F9B57}" type="presOf" srcId="{2ED0DF80-6D9C-4904-B314-6C31DCB1891C}" destId="{A2FA1B97-315E-4A99-893F-615A09068AE3}" srcOrd="0" destOrd="0" presId="urn:microsoft.com/office/officeart/2005/8/layout/vList2"/>
    <dgm:cxn modelId="{17E878B4-2836-409A-B283-1025923086A2}" type="presOf" srcId="{7000AC75-E334-4F25-A066-503268A4BF97}" destId="{6AB3EEDC-4247-4B95-8E41-D8FEEAB8B8F6}" srcOrd="0" destOrd="0" presId="urn:microsoft.com/office/officeart/2005/8/layout/vList2"/>
    <dgm:cxn modelId="{16D72DCE-7BB1-402F-BB07-4C43878E6E98}" type="presOf" srcId="{058B74A5-2CD0-41DE-A867-5CBA674F30E4}" destId="{88BB6916-19E1-41CF-A313-B4B0E17B8A41}" srcOrd="0" destOrd="0" presId="urn:microsoft.com/office/officeart/2005/8/layout/vList2"/>
    <dgm:cxn modelId="{86CEBFDC-072D-4F37-AB24-574ADBC21AAA}" srcId="{7000AC75-E334-4F25-A066-503268A4BF97}" destId="{1005CBD1-5FBC-4D62-B98D-A9468EF876A9}" srcOrd="4" destOrd="0" parTransId="{1A84467E-C128-4AC0-84DF-98CB205791D8}" sibTransId="{95E1F7BC-B171-4891-9B8F-0FEECFD8503B}"/>
    <dgm:cxn modelId="{5E03EB1A-A421-4BEA-94DA-40E8929BA459}" type="presParOf" srcId="{6AB3EEDC-4247-4B95-8E41-D8FEEAB8B8F6}" destId="{88BB6916-19E1-41CF-A313-B4B0E17B8A41}" srcOrd="0" destOrd="0" presId="urn:microsoft.com/office/officeart/2005/8/layout/vList2"/>
    <dgm:cxn modelId="{0D65B35E-2104-4F02-ACA5-01CB157A9AFF}" type="presParOf" srcId="{6AB3EEDC-4247-4B95-8E41-D8FEEAB8B8F6}" destId="{7FA72DBA-62D4-4334-B752-078EF238AF67}" srcOrd="1" destOrd="0" presId="urn:microsoft.com/office/officeart/2005/8/layout/vList2"/>
    <dgm:cxn modelId="{DD55F04C-87C9-478E-8AB9-453B74848968}" type="presParOf" srcId="{6AB3EEDC-4247-4B95-8E41-D8FEEAB8B8F6}" destId="{A2FA1B97-315E-4A99-893F-615A09068AE3}" srcOrd="2" destOrd="0" presId="urn:microsoft.com/office/officeart/2005/8/layout/vList2"/>
    <dgm:cxn modelId="{2727FFAD-5B09-41FF-BBE7-1D5A2F3F089B}" type="presParOf" srcId="{6AB3EEDC-4247-4B95-8E41-D8FEEAB8B8F6}" destId="{11700B97-D75A-49ED-A033-750A44ACE729}" srcOrd="3" destOrd="0" presId="urn:microsoft.com/office/officeart/2005/8/layout/vList2"/>
    <dgm:cxn modelId="{3A3BB36B-E73F-4D98-AC01-87552C0C72B4}" type="presParOf" srcId="{6AB3EEDC-4247-4B95-8E41-D8FEEAB8B8F6}" destId="{8CF80EA1-3CFD-4E3D-9909-EA4454F608DB}" srcOrd="4" destOrd="0" presId="urn:microsoft.com/office/officeart/2005/8/layout/vList2"/>
    <dgm:cxn modelId="{C8B78F83-7194-45E7-9B4D-363A49878573}" type="presParOf" srcId="{6AB3EEDC-4247-4B95-8E41-D8FEEAB8B8F6}" destId="{835A3D69-C9D3-4A59-AE78-43DF5EB871C2}" srcOrd="5" destOrd="0" presId="urn:microsoft.com/office/officeart/2005/8/layout/vList2"/>
    <dgm:cxn modelId="{96A1906F-3D5F-4041-8AD1-CFD13E8B17ED}" type="presParOf" srcId="{6AB3EEDC-4247-4B95-8E41-D8FEEAB8B8F6}" destId="{4CEB76B6-12A1-417A-B724-6007F41DC2AF}" srcOrd="6" destOrd="0" presId="urn:microsoft.com/office/officeart/2005/8/layout/vList2"/>
    <dgm:cxn modelId="{94E03FF4-E0E1-4BC3-95FD-FB3B76AEFABB}" type="presParOf" srcId="{6AB3EEDC-4247-4B95-8E41-D8FEEAB8B8F6}" destId="{26152ED2-F354-4E11-802B-02246DBEB906}" srcOrd="7" destOrd="0" presId="urn:microsoft.com/office/officeart/2005/8/layout/vList2"/>
    <dgm:cxn modelId="{514BB5B3-263E-43DB-8D8E-9B3BC26270A7}" type="presParOf" srcId="{6AB3EEDC-4247-4B95-8E41-D8FEEAB8B8F6}" destId="{818E6D6C-4A2C-48F3-B9F9-76E04CDE5E3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B6916-19E1-41CF-A313-B4B0E17B8A41}">
      <dsp:nvSpPr>
        <dsp:cNvPr id="0" name=""/>
        <dsp:cNvSpPr/>
      </dsp:nvSpPr>
      <dsp:spPr>
        <a:xfrm>
          <a:off x="0" y="452056"/>
          <a:ext cx="6263640" cy="83947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What do we mean by ‘delivery’?</a:t>
          </a:r>
        </a:p>
      </dsp:txBody>
      <dsp:txXfrm>
        <a:off x="40980" y="493036"/>
        <a:ext cx="6181680" cy="757514"/>
      </dsp:txXfrm>
    </dsp:sp>
    <dsp:sp modelId="{A2FA1B97-315E-4A99-893F-615A09068AE3}">
      <dsp:nvSpPr>
        <dsp:cNvPr id="0" name=""/>
        <dsp:cNvSpPr/>
      </dsp:nvSpPr>
      <dsp:spPr>
        <a:xfrm>
          <a:off x="0" y="1392331"/>
          <a:ext cx="6263640" cy="839474"/>
        </a:xfrm>
        <a:prstGeom prst="round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Aspects of delivery</a:t>
          </a:r>
        </a:p>
      </dsp:txBody>
      <dsp:txXfrm>
        <a:off x="40980" y="1433311"/>
        <a:ext cx="6181680" cy="757514"/>
      </dsp:txXfrm>
    </dsp:sp>
    <dsp:sp modelId="{8CF80EA1-3CFD-4E3D-9909-EA4454F608DB}">
      <dsp:nvSpPr>
        <dsp:cNvPr id="0" name=""/>
        <dsp:cNvSpPr/>
      </dsp:nvSpPr>
      <dsp:spPr>
        <a:xfrm>
          <a:off x="0" y="2332606"/>
          <a:ext cx="6263640" cy="839474"/>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Stress and Intonation</a:t>
          </a:r>
        </a:p>
      </dsp:txBody>
      <dsp:txXfrm>
        <a:off x="40980" y="2373586"/>
        <a:ext cx="6181680" cy="757514"/>
      </dsp:txXfrm>
    </dsp:sp>
    <dsp:sp modelId="{4CEB76B6-12A1-417A-B724-6007F41DC2AF}">
      <dsp:nvSpPr>
        <dsp:cNvPr id="0" name=""/>
        <dsp:cNvSpPr/>
      </dsp:nvSpPr>
      <dsp:spPr>
        <a:xfrm>
          <a:off x="0" y="3272881"/>
          <a:ext cx="6263640" cy="839474"/>
        </a:xfrm>
        <a:prstGeom prst="round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GB" sz="3500" kern="1200"/>
            <a:t>Overcoming Speech Anxiety</a:t>
          </a:r>
          <a:endParaRPr lang="en-US" sz="3500" kern="1200"/>
        </a:p>
      </dsp:txBody>
      <dsp:txXfrm>
        <a:off x="40980" y="3313861"/>
        <a:ext cx="6181680" cy="757514"/>
      </dsp:txXfrm>
    </dsp:sp>
    <dsp:sp modelId="{818E6D6C-4A2C-48F3-B9F9-76E04CDE5E36}">
      <dsp:nvSpPr>
        <dsp:cNvPr id="0" name=""/>
        <dsp:cNvSpPr/>
      </dsp:nvSpPr>
      <dsp:spPr>
        <a:xfrm>
          <a:off x="0" y="4213156"/>
          <a:ext cx="6263640" cy="839474"/>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GB" sz="3500" kern="1200" dirty="0"/>
            <a:t>Handling Questions</a:t>
          </a:r>
          <a:endParaRPr lang="en-US" sz="3500" kern="1200" dirty="0"/>
        </a:p>
      </dsp:txBody>
      <dsp:txXfrm>
        <a:off x="40980" y="4254136"/>
        <a:ext cx="6181680" cy="75751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B3F7D-BA26-4323-9435-DDDA9172E4DE}" type="datetimeFigureOut">
              <a:rPr lang="en-US" smtClean="0"/>
              <a:t>11/22/2022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E14E75-1449-4A03-B4BF-EDF2C5E8BE6A}" type="slidenum">
              <a:rPr lang="en-US" smtClean="0"/>
              <a:t>‹#›</a:t>
            </a:fld>
            <a:endParaRPr lang="en-US"/>
          </a:p>
        </p:txBody>
      </p:sp>
    </p:spTree>
    <p:extLst>
      <p:ext uri="{BB962C8B-B14F-4D97-AF65-F5344CB8AC3E}">
        <p14:creationId xmlns:p14="http://schemas.microsoft.com/office/powerpoint/2010/main" val="3388251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DF43C2F0-7F11-4E85-9830-00F85196BE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33FE0D99-F515-41CF-AC6A-EFE9F44AED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s-CO"/>
              <a:t>Many of these are impossible to teach in one day. We cannot make you native speakers. Some are more important.</a:t>
            </a:r>
          </a:p>
        </p:txBody>
      </p:sp>
      <p:sp>
        <p:nvSpPr>
          <p:cNvPr id="4" name="Slide Number Placeholder 3">
            <a:extLst>
              <a:ext uri="{FF2B5EF4-FFF2-40B4-BE49-F238E27FC236}">
                <a16:creationId xmlns:a16="http://schemas.microsoft.com/office/drawing/2014/main" id="{7DA90AD3-3CDA-42FE-BA11-CE7C8445AE07}"/>
              </a:ext>
            </a:extLst>
          </p:cNvPr>
          <p:cNvSpPr>
            <a:spLocks noGrp="1"/>
          </p:cNvSpPr>
          <p:nvPr>
            <p:ph type="sldNum" sz="quarter" idx="5"/>
          </p:nvPr>
        </p:nvSpPr>
        <p:spPr/>
        <p:txBody>
          <a:bodyPr/>
          <a:lstStyle>
            <a:lvl1pPr eaLnBrk="0" hangingPunct="0">
              <a:defRPr sz="2400">
                <a:solidFill>
                  <a:schemeClr val="tx1"/>
                </a:solidFill>
                <a:latin typeface="Garamond" panose="02020404030301010803" pitchFamily="18" charset="0"/>
              </a:defRPr>
            </a:lvl1pPr>
            <a:lvl2pPr marL="742950" indent="-285750" eaLnBrk="0" hangingPunct="0">
              <a:defRPr sz="2400">
                <a:solidFill>
                  <a:schemeClr val="tx1"/>
                </a:solidFill>
                <a:latin typeface="Garamond" panose="02020404030301010803" pitchFamily="18" charset="0"/>
              </a:defRPr>
            </a:lvl2pPr>
            <a:lvl3pPr marL="1143000" indent="-228600" eaLnBrk="0" hangingPunct="0">
              <a:defRPr sz="2400">
                <a:solidFill>
                  <a:schemeClr val="tx1"/>
                </a:solidFill>
                <a:latin typeface="Garamond" panose="02020404030301010803" pitchFamily="18" charset="0"/>
              </a:defRPr>
            </a:lvl3pPr>
            <a:lvl4pPr marL="1600200" indent="-228600" eaLnBrk="0" hangingPunct="0">
              <a:defRPr sz="2400">
                <a:solidFill>
                  <a:schemeClr val="tx1"/>
                </a:solidFill>
                <a:latin typeface="Garamond" panose="02020404030301010803" pitchFamily="18" charset="0"/>
              </a:defRPr>
            </a:lvl4pPr>
            <a:lvl5pPr marL="2057400" indent="-228600" eaLnBrk="0" hangingPunct="0">
              <a:defRPr sz="2400">
                <a:solidFill>
                  <a:schemeClr val="tx1"/>
                </a:solidFill>
                <a:latin typeface="Garamond" panose="02020404030301010803" pitchFamily="18" charset="0"/>
              </a:defRPr>
            </a:lvl5pPr>
            <a:lvl6pPr marL="2514600" indent="-228600" eaLnBrk="0" fontAlgn="base" hangingPunct="0">
              <a:spcBef>
                <a:spcPct val="0"/>
              </a:spcBef>
              <a:spcAft>
                <a:spcPct val="0"/>
              </a:spcAft>
              <a:defRPr sz="2400">
                <a:solidFill>
                  <a:schemeClr val="tx1"/>
                </a:solidFill>
                <a:latin typeface="Garamond" panose="02020404030301010803" pitchFamily="18" charset="0"/>
              </a:defRPr>
            </a:lvl6pPr>
            <a:lvl7pPr marL="2971800" indent="-228600" eaLnBrk="0" fontAlgn="base" hangingPunct="0">
              <a:spcBef>
                <a:spcPct val="0"/>
              </a:spcBef>
              <a:spcAft>
                <a:spcPct val="0"/>
              </a:spcAft>
              <a:defRPr sz="2400">
                <a:solidFill>
                  <a:schemeClr val="tx1"/>
                </a:solidFill>
                <a:latin typeface="Garamond" panose="02020404030301010803" pitchFamily="18" charset="0"/>
              </a:defRPr>
            </a:lvl7pPr>
            <a:lvl8pPr marL="3429000" indent="-228600" eaLnBrk="0" fontAlgn="base" hangingPunct="0">
              <a:spcBef>
                <a:spcPct val="0"/>
              </a:spcBef>
              <a:spcAft>
                <a:spcPct val="0"/>
              </a:spcAft>
              <a:defRPr sz="2400">
                <a:solidFill>
                  <a:schemeClr val="tx1"/>
                </a:solidFill>
                <a:latin typeface="Garamond" panose="02020404030301010803" pitchFamily="18" charset="0"/>
              </a:defRPr>
            </a:lvl8pPr>
            <a:lvl9pPr marL="3886200" indent="-228600" eaLnBrk="0" fontAlgn="base" hangingPunct="0">
              <a:spcBef>
                <a:spcPct val="0"/>
              </a:spcBef>
              <a:spcAft>
                <a:spcPct val="0"/>
              </a:spcAft>
              <a:defRPr sz="2400">
                <a:solidFill>
                  <a:schemeClr val="tx1"/>
                </a:solidFill>
                <a:latin typeface="Garamond" panose="02020404030301010803" pitchFamily="18" charset="0"/>
              </a:defRPr>
            </a:lvl9pPr>
          </a:lstStyle>
          <a:p>
            <a:pPr eaLnBrk="1" hangingPunct="1"/>
            <a:fld id="{952D5A08-28FB-4A8A-ACEA-C33BB35FD3F7}" type="slidenum">
              <a:rPr lang="en-GB" altLang="es-CO" sz="1200"/>
              <a:pPr eaLnBrk="1" hangingPunct="1"/>
              <a:t>3</a:t>
            </a:fld>
            <a:endParaRPr lang="en-GB" altLang="es-CO"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6D8BE9AD-7297-44E3-B725-AD59CB7693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4F474FDF-5A02-4676-BCDE-E4DA0B3B3B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s-CO"/>
              <a:t>Saying key words more loudly is also good for intonation</a:t>
            </a:r>
          </a:p>
        </p:txBody>
      </p:sp>
      <p:sp>
        <p:nvSpPr>
          <p:cNvPr id="4" name="Slide Number Placeholder 3">
            <a:extLst>
              <a:ext uri="{FF2B5EF4-FFF2-40B4-BE49-F238E27FC236}">
                <a16:creationId xmlns:a16="http://schemas.microsoft.com/office/drawing/2014/main" id="{A066322A-FC7C-44DC-9BAB-3B51ABAF6603}"/>
              </a:ext>
            </a:extLst>
          </p:cNvPr>
          <p:cNvSpPr>
            <a:spLocks noGrp="1"/>
          </p:cNvSpPr>
          <p:nvPr>
            <p:ph type="sldNum" sz="quarter" idx="5"/>
          </p:nvPr>
        </p:nvSpPr>
        <p:spPr/>
        <p:txBody>
          <a:bodyPr/>
          <a:lstStyle>
            <a:lvl1pPr eaLnBrk="0" hangingPunct="0">
              <a:defRPr sz="2400">
                <a:solidFill>
                  <a:schemeClr val="tx1"/>
                </a:solidFill>
                <a:latin typeface="Garamond" panose="02020404030301010803" pitchFamily="18" charset="0"/>
              </a:defRPr>
            </a:lvl1pPr>
            <a:lvl2pPr marL="742950" indent="-285750" eaLnBrk="0" hangingPunct="0">
              <a:defRPr sz="2400">
                <a:solidFill>
                  <a:schemeClr val="tx1"/>
                </a:solidFill>
                <a:latin typeface="Garamond" panose="02020404030301010803" pitchFamily="18" charset="0"/>
              </a:defRPr>
            </a:lvl2pPr>
            <a:lvl3pPr marL="1143000" indent="-228600" eaLnBrk="0" hangingPunct="0">
              <a:defRPr sz="2400">
                <a:solidFill>
                  <a:schemeClr val="tx1"/>
                </a:solidFill>
                <a:latin typeface="Garamond" panose="02020404030301010803" pitchFamily="18" charset="0"/>
              </a:defRPr>
            </a:lvl3pPr>
            <a:lvl4pPr marL="1600200" indent="-228600" eaLnBrk="0" hangingPunct="0">
              <a:defRPr sz="2400">
                <a:solidFill>
                  <a:schemeClr val="tx1"/>
                </a:solidFill>
                <a:latin typeface="Garamond" panose="02020404030301010803" pitchFamily="18" charset="0"/>
              </a:defRPr>
            </a:lvl4pPr>
            <a:lvl5pPr marL="2057400" indent="-228600" eaLnBrk="0" hangingPunct="0">
              <a:defRPr sz="2400">
                <a:solidFill>
                  <a:schemeClr val="tx1"/>
                </a:solidFill>
                <a:latin typeface="Garamond" panose="02020404030301010803" pitchFamily="18" charset="0"/>
              </a:defRPr>
            </a:lvl5pPr>
            <a:lvl6pPr marL="2514600" indent="-228600" eaLnBrk="0" fontAlgn="base" hangingPunct="0">
              <a:spcBef>
                <a:spcPct val="0"/>
              </a:spcBef>
              <a:spcAft>
                <a:spcPct val="0"/>
              </a:spcAft>
              <a:defRPr sz="2400">
                <a:solidFill>
                  <a:schemeClr val="tx1"/>
                </a:solidFill>
                <a:latin typeface="Garamond" panose="02020404030301010803" pitchFamily="18" charset="0"/>
              </a:defRPr>
            </a:lvl6pPr>
            <a:lvl7pPr marL="2971800" indent="-228600" eaLnBrk="0" fontAlgn="base" hangingPunct="0">
              <a:spcBef>
                <a:spcPct val="0"/>
              </a:spcBef>
              <a:spcAft>
                <a:spcPct val="0"/>
              </a:spcAft>
              <a:defRPr sz="2400">
                <a:solidFill>
                  <a:schemeClr val="tx1"/>
                </a:solidFill>
                <a:latin typeface="Garamond" panose="02020404030301010803" pitchFamily="18" charset="0"/>
              </a:defRPr>
            </a:lvl7pPr>
            <a:lvl8pPr marL="3429000" indent="-228600" eaLnBrk="0" fontAlgn="base" hangingPunct="0">
              <a:spcBef>
                <a:spcPct val="0"/>
              </a:spcBef>
              <a:spcAft>
                <a:spcPct val="0"/>
              </a:spcAft>
              <a:defRPr sz="2400">
                <a:solidFill>
                  <a:schemeClr val="tx1"/>
                </a:solidFill>
                <a:latin typeface="Garamond" panose="02020404030301010803" pitchFamily="18" charset="0"/>
              </a:defRPr>
            </a:lvl8pPr>
            <a:lvl9pPr marL="3886200" indent="-228600" eaLnBrk="0" fontAlgn="base" hangingPunct="0">
              <a:spcBef>
                <a:spcPct val="0"/>
              </a:spcBef>
              <a:spcAft>
                <a:spcPct val="0"/>
              </a:spcAft>
              <a:defRPr sz="2400">
                <a:solidFill>
                  <a:schemeClr val="tx1"/>
                </a:solidFill>
                <a:latin typeface="Garamond" panose="02020404030301010803" pitchFamily="18" charset="0"/>
              </a:defRPr>
            </a:lvl9pPr>
          </a:lstStyle>
          <a:p>
            <a:pPr eaLnBrk="1" hangingPunct="1"/>
            <a:fld id="{2BCB4456-0028-48E5-80D8-8C13F59C82B7}" type="slidenum">
              <a:rPr lang="en-GB" altLang="es-CO" sz="1200"/>
              <a:pPr eaLnBrk="1" hangingPunct="1"/>
              <a:t>4</a:t>
            </a:fld>
            <a:endParaRPr lang="en-GB" altLang="es-CO"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6D8BE9AD-7297-44E3-B725-AD59CB7693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4F474FDF-5A02-4676-BCDE-E4DA0B3B3B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s-CO"/>
              <a:t>Saying key words more loudly is also good for intonation</a:t>
            </a:r>
          </a:p>
        </p:txBody>
      </p:sp>
      <p:sp>
        <p:nvSpPr>
          <p:cNvPr id="4" name="Slide Number Placeholder 3">
            <a:extLst>
              <a:ext uri="{FF2B5EF4-FFF2-40B4-BE49-F238E27FC236}">
                <a16:creationId xmlns:a16="http://schemas.microsoft.com/office/drawing/2014/main" id="{A066322A-FC7C-44DC-9BAB-3B51ABAF6603}"/>
              </a:ext>
            </a:extLst>
          </p:cNvPr>
          <p:cNvSpPr>
            <a:spLocks noGrp="1"/>
          </p:cNvSpPr>
          <p:nvPr>
            <p:ph type="sldNum" sz="quarter" idx="5"/>
          </p:nvPr>
        </p:nvSpPr>
        <p:spPr/>
        <p:txBody>
          <a:bodyPr/>
          <a:lstStyle>
            <a:lvl1pPr eaLnBrk="0" hangingPunct="0">
              <a:defRPr sz="2400">
                <a:solidFill>
                  <a:schemeClr val="tx1"/>
                </a:solidFill>
                <a:latin typeface="Garamond" panose="02020404030301010803" pitchFamily="18" charset="0"/>
              </a:defRPr>
            </a:lvl1pPr>
            <a:lvl2pPr marL="742950" indent="-285750" eaLnBrk="0" hangingPunct="0">
              <a:defRPr sz="2400">
                <a:solidFill>
                  <a:schemeClr val="tx1"/>
                </a:solidFill>
                <a:latin typeface="Garamond" panose="02020404030301010803" pitchFamily="18" charset="0"/>
              </a:defRPr>
            </a:lvl2pPr>
            <a:lvl3pPr marL="1143000" indent="-228600" eaLnBrk="0" hangingPunct="0">
              <a:defRPr sz="2400">
                <a:solidFill>
                  <a:schemeClr val="tx1"/>
                </a:solidFill>
                <a:latin typeface="Garamond" panose="02020404030301010803" pitchFamily="18" charset="0"/>
              </a:defRPr>
            </a:lvl3pPr>
            <a:lvl4pPr marL="1600200" indent="-228600" eaLnBrk="0" hangingPunct="0">
              <a:defRPr sz="2400">
                <a:solidFill>
                  <a:schemeClr val="tx1"/>
                </a:solidFill>
                <a:latin typeface="Garamond" panose="02020404030301010803" pitchFamily="18" charset="0"/>
              </a:defRPr>
            </a:lvl4pPr>
            <a:lvl5pPr marL="2057400" indent="-228600" eaLnBrk="0" hangingPunct="0">
              <a:defRPr sz="2400">
                <a:solidFill>
                  <a:schemeClr val="tx1"/>
                </a:solidFill>
                <a:latin typeface="Garamond" panose="02020404030301010803" pitchFamily="18" charset="0"/>
              </a:defRPr>
            </a:lvl5pPr>
            <a:lvl6pPr marL="2514600" indent="-228600" eaLnBrk="0" fontAlgn="base" hangingPunct="0">
              <a:spcBef>
                <a:spcPct val="0"/>
              </a:spcBef>
              <a:spcAft>
                <a:spcPct val="0"/>
              </a:spcAft>
              <a:defRPr sz="2400">
                <a:solidFill>
                  <a:schemeClr val="tx1"/>
                </a:solidFill>
                <a:latin typeface="Garamond" panose="02020404030301010803" pitchFamily="18" charset="0"/>
              </a:defRPr>
            </a:lvl6pPr>
            <a:lvl7pPr marL="2971800" indent="-228600" eaLnBrk="0" fontAlgn="base" hangingPunct="0">
              <a:spcBef>
                <a:spcPct val="0"/>
              </a:spcBef>
              <a:spcAft>
                <a:spcPct val="0"/>
              </a:spcAft>
              <a:defRPr sz="2400">
                <a:solidFill>
                  <a:schemeClr val="tx1"/>
                </a:solidFill>
                <a:latin typeface="Garamond" panose="02020404030301010803" pitchFamily="18" charset="0"/>
              </a:defRPr>
            </a:lvl7pPr>
            <a:lvl8pPr marL="3429000" indent="-228600" eaLnBrk="0" fontAlgn="base" hangingPunct="0">
              <a:spcBef>
                <a:spcPct val="0"/>
              </a:spcBef>
              <a:spcAft>
                <a:spcPct val="0"/>
              </a:spcAft>
              <a:defRPr sz="2400">
                <a:solidFill>
                  <a:schemeClr val="tx1"/>
                </a:solidFill>
                <a:latin typeface="Garamond" panose="02020404030301010803" pitchFamily="18" charset="0"/>
              </a:defRPr>
            </a:lvl8pPr>
            <a:lvl9pPr marL="3886200" indent="-228600" eaLnBrk="0" fontAlgn="base" hangingPunct="0">
              <a:spcBef>
                <a:spcPct val="0"/>
              </a:spcBef>
              <a:spcAft>
                <a:spcPct val="0"/>
              </a:spcAft>
              <a:defRPr sz="2400">
                <a:solidFill>
                  <a:schemeClr val="tx1"/>
                </a:solidFill>
                <a:latin typeface="Garamond" panose="02020404030301010803" pitchFamily="18" charset="0"/>
              </a:defRPr>
            </a:lvl9pPr>
          </a:lstStyle>
          <a:p>
            <a:pPr eaLnBrk="1" hangingPunct="1"/>
            <a:fld id="{2BCB4456-0028-48E5-80D8-8C13F59C82B7}" type="slidenum">
              <a:rPr lang="en-GB" altLang="es-CO" sz="1200"/>
              <a:pPr eaLnBrk="1" hangingPunct="1"/>
              <a:t>5</a:t>
            </a:fld>
            <a:endParaRPr lang="en-GB" altLang="es-CO" sz="1200"/>
          </a:p>
        </p:txBody>
      </p:sp>
    </p:spTree>
    <p:extLst>
      <p:ext uri="{BB962C8B-B14F-4D97-AF65-F5344CB8AC3E}">
        <p14:creationId xmlns:p14="http://schemas.microsoft.com/office/powerpoint/2010/main" val="3873808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65204-38F4-4BA1-A1F3-03021F43B8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3F64FD-3DE9-42EB-84E0-437ABA7D80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62F65F-E538-42FD-AB81-C49ABBA3638F}"/>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5" name="Footer Placeholder 4">
            <a:extLst>
              <a:ext uri="{FF2B5EF4-FFF2-40B4-BE49-F238E27FC236}">
                <a16:creationId xmlns:a16="http://schemas.microsoft.com/office/drawing/2014/main" id="{C3A02DF1-76FF-42C2-B2DB-C3EB2548A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E80972-345D-40C1-A326-5206A94D8850}"/>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179913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4DED8-7A46-4066-A387-D183F1BBC1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42EFFB-4055-4E5C-B4A7-7011E15C5F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6B6539-E57E-4F65-A04E-77C3515CC912}"/>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5" name="Footer Placeholder 4">
            <a:extLst>
              <a:ext uri="{FF2B5EF4-FFF2-40B4-BE49-F238E27FC236}">
                <a16:creationId xmlns:a16="http://schemas.microsoft.com/office/drawing/2014/main" id="{9613E33E-0460-4D99-B645-ADFC04EC27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B36F4-E595-4CDB-97EA-E136F1BEF97F}"/>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087720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AC33-CD4F-4BDF-ACE5-AB968CCA2F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7DCF2D-D2EA-43CD-8AC1-2D764CDFED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10F296-C443-4685-B2F4-6C64AA863A2A}"/>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5" name="Footer Placeholder 4">
            <a:extLst>
              <a:ext uri="{FF2B5EF4-FFF2-40B4-BE49-F238E27FC236}">
                <a16:creationId xmlns:a16="http://schemas.microsoft.com/office/drawing/2014/main" id="{A26AD605-E379-4C72-92E8-C6B5C8F4F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F0BF96-7D0A-4FFE-B1DA-ABB06FD1A91C}"/>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810075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B2923-B157-4DCE-A189-7C59DBEE63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70636B-566F-47E6-BF96-B93435A650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D97390-DE5D-41B8-AE61-45228DF357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1BAA19-3110-4102-9420-D5E631701A60}"/>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6" name="Footer Placeholder 5">
            <a:extLst>
              <a:ext uri="{FF2B5EF4-FFF2-40B4-BE49-F238E27FC236}">
                <a16:creationId xmlns:a16="http://schemas.microsoft.com/office/drawing/2014/main" id="{A5A2CE1B-2EA9-4AFB-BCA2-B175171D8D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D25650-5EBE-4A0D-B69D-A657490831D0}"/>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715956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13BB-E87F-43B0-A7B8-2CA8D4E438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651E8B-E0C6-4C87-AA0B-5AA47F9781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18D0C6-2ADF-4118-9232-6C432D60D8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83695E-C98B-4D1A-9DA6-C09A8AB6F8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8856AB-8624-432D-B90A-9CFB6A1476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D7EBDC-C439-4472-9DFB-C2BF7477E20B}"/>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8" name="Footer Placeholder 7">
            <a:extLst>
              <a:ext uri="{FF2B5EF4-FFF2-40B4-BE49-F238E27FC236}">
                <a16:creationId xmlns:a16="http://schemas.microsoft.com/office/drawing/2014/main" id="{5FF0F7B3-EEC8-4034-9445-746F492835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D07C50-432A-4E81-85BE-C2F49D6D6FD5}"/>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3389822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31720-DFA6-4C31-BFDD-EEFA00D3A0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5ECAC7-AA33-4F98-B79C-E898243A9717}"/>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4" name="Footer Placeholder 3">
            <a:extLst>
              <a:ext uri="{FF2B5EF4-FFF2-40B4-BE49-F238E27FC236}">
                <a16:creationId xmlns:a16="http://schemas.microsoft.com/office/drawing/2014/main" id="{A5B34499-D3D0-483F-89C9-25F9F43924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603049-3C5E-4A4C-BC9A-12B1D60A93FF}"/>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375115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59ECA0-A4A1-49C9-9FFB-A46F0480A1D4}"/>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3" name="Footer Placeholder 2">
            <a:extLst>
              <a:ext uri="{FF2B5EF4-FFF2-40B4-BE49-F238E27FC236}">
                <a16:creationId xmlns:a16="http://schemas.microsoft.com/office/drawing/2014/main" id="{C5865607-77F0-46CB-BAA2-77DA5BADEE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7C40F9-C872-44B1-B7A2-FE8471B02E9A}"/>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378881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5C346-BDA3-41BF-87D8-1B7721FDB1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D7B1C4-FED3-4D71-8CA8-9398144E50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02FB86-1730-4247-93A6-87C3A0EDF3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676EC-9E04-4E29-B0CD-B0CB39064455}"/>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6" name="Footer Placeholder 5">
            <a:extLst>
              <a:ext uri="{FF2B5EF4-FFF2-40B4-BE49-F238E27FC236}">
                <a16:creationId xmlns:a16="http://schemas.microsoft.com/office/drawing/2014/main" id="{F477E898-FDEB-4903-B6E6-BECE48EFB1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54DB95-A9C1-4608-B430-75922EC9F487}"/>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802548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8FAD1-A470-460A-B8AB-72E0CF07CC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F41D69-DD65-4DFA-ADDA-93FDB99CBC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E54944-BBCB-424D-A9EC-4168774F5C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B1B2D0-12B8-4D47-BA1C-049101DEA9E4}"/>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6" name="Footer Placeholder 5">
            <a:extLst>
              <a:ext uri="{FF2B5EF4-FFF2-40B4-BE49-F238E27FC236}">
                <a16:creationId xmlns:a16="http://schemas.microsoft.com/office/drawing/2014/main" id="{15429917-B021-479D-9A89-694F2BA5FB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045F5-A1B9-48B3-B2EE-289F257DB679}"/>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731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9B07-8967-49AD-8748-0C6331B4B6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CB8829-F1AA-4C72-BD7C-DCC349FD9E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75835C-1E52-4360-90D5-64A818BB8AE4}"/>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5" name="Footer Placeholder 4">
            <a:extLst>
              <a:ext uri="{FF2B5EF4-FFF2-40B4-BE49-F238E27FC236}">
                <a16:creationId xmlns:a16="http://schemas.microsoft.com/office/drawing/2014/main" id="{3800DBA8-EDB6-4899-A7DD-6631CF3AE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3DB76-5FC7-4C88-A70F-174A4A61139C}"/>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919156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5BE341-B990-4AA9-B395-BF50940187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AFEBDD-8A32-4F47-98D2-448FF9AA54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4E959B-DA9B-4088-924D-A0A17DCD21F8}"/>
              </a:ext>
            </a:extLst>
          </p:cNvPr>
          <p:cNvSpPr>
            <a:spLocks noGrp="1"/>
          </p:cNvSpPr>
          <p:nvPr>
            <p:ph type="dt" sz="half" idx="10"/>
          </p:nvPr>
        </p:nvSpPr>
        <p:spPr/>
        <p:txBody>
          <a:bodyPr/>
          <a:lstStyle/>
          <a:p>
            <a:fld id="{263EDF59-78C9-4D93-9F99-0EBF1FFAAE3E}" type="datetimeFigureOut">
              <a:rPr lang="en-US" smtClean="0"/>
              <a:t>11/22/2022</a:t>
            </a:fld>
            <a:endParaRPr lang="en-US"/>
          </a:p>
        </p:txBody>
      </p:sp>
      <p:sp>
        <p:nvSpPr>
          <p:cNvPr id="5" name="Footer Placeholder 4">
            <a:extLst>
              <a:ext uri="{FF2B5EF4-FFF2-40B4-BE49-F238E27FC236}">
                <a16:creationId xmlns:a16="http://schemas.microsoft.com/office/drawing/2014/main" id="{FA54A1E9-81E2-4D54-B70C-29DBF53EFA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6037D4-33FE-4665-A36B-34582CCFFA9F}"/>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4192364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9F4ABC-3EE1-42C0-B588-99275D83C4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3FAE68-D28B-4D34-8963-04AB95187D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0D858F-92BE-4630-BC19-6A3D9AC4E6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3EDF59-78C9-4D93-9F99-0EBF1FFAAE3E}" type="datetimeFigureOut">
              <a:rPr lang="en-US" smtClean="0"/>
              <a:t>11/22/2022</a:t>
            </a:fld>
            <a:endParaRPr lang="en-US"/>
          </a:p>
        </p:txBody>
      </p:sp>
      <p:sp>
        <p:nvSpPr>
          <p:cNvPr id="5" name="Footer Placeholder 4">
            <a:extLst>
              <a:ext uri="{FF2B5EF4-FFF2-40B4-BE49-F238E27FC236}">
                <a16:creationId xmlns:a16="http://schemas.microsoft.com/office/drawing/2014/main" id="{28F7E004-CE59-44AF-9565-9267950716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B67D31-EDAF-4923-BCF4-3D70D649CC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7BF1DE-D8D8-4BDD-BB7A-453FB40228BD}" type="slidenum">
              <a:rPr lang="en-US" smtClean="0"/>
              <a:t>‹#›</a:t>
            </a:fld>
            <a:endParaRPr lang="en-US"/>
          </a:p>
        </p:txBody>
      </p:sp>
    </p:spTree>
    <p:extLst>
      <p:ext uri="{BB962C8B-B14F-4D97-AF65-F5344CB8AC3E}">
        <p14:creationId xmlns:p14="http://schemas.microsoft.com/office/powerpoint/2010/main" val="3122808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6EDE54E-6C78-4A21-BAC5-9DFEC259274B}"/>
              </a:ext>
            </a:extLst>
          </p:cNvPr>
          <p:cNvSpPr>
            <a:spLocks noGrp="1"/>
          </p:cNvSpPr>
          <p:nvPr>
            <p:ph type="ctrTitle"/>
          </p:nvPr>
        </p:nvSpPr>
        <p:spPr>
          <a:xfrm>
            <a:off x="3315031" y="1380754"/>
            <a:ext cx="5561938" cy="2513516"/>
          </a:xfrm>
        </p:spPr>
        <p:txBody>
          <a:bodyPr>
            <a:normAutofit/>
          </a:bodyPr>
          <a:lstStyle/>
          <a:p>
            <a:r>
              <a:rPr lang="en-US" dirty="0"/>
              <a:t>Effective Delivery </a:t>
            </a:r>
          </a:p>
        </p:txBody>
      </p:sp>
      <p:sp>
        <p:nvSpPr>
          <p:cNvPr id="3" name="Subtitle 2">
            <a:extLst>
              <a:ext uri="{FF2B5EF4-FFF2-40B4-BE49-F238E27FC236}">
                <a16:creationId xmlns:a16="http://schemas.microsoft.com/office/drawing/2014/main" id="{7773C74E-945D-4106-81C5-85D0A7524178}"/>
              </a:ext>
            </a:extLst>
          </p:cNvPr>
          <p:cNvSpPr>
            <a:spLocks noGrp="1"/>
          </p:cNvSpPr>
          <p:nvPr>
            <p:ph type="subTitle" idx="1"/>
          </p:nvPr>
        </p:nvSpPr>
        <p:spPr>
          <a:xfrm>
            <a:off x="3315031" y="4076802"/>
            <a:ext cx="5561938" cy="1534587"/>
          </a:xfrm>
        </p:spPr>
        <p:txBody>
          <a:bodyPr>
            <a:normAutofit/>
          </a:bodyPr>
          <a:lstStyle/>
          <a:p>
            <a:r>
              <a:rPr lang="en-US" dirty="0"/>
              <a:t>Effective Presentations Week 3</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97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359913-CA04-436E-8B6C-BD3ADBADFFD1}"/>
              </a:ext>
            </a:extLst>
          </p:cNvPr>
          <p:cNvSpPr>
            <a:spLocks noGrp="1"/>
          </p:cNvSpPr>
          <p:nvPr>
            <p:ph type="title"/>
          </p:nvPr>
        </p:nvSpPr>
        <p:spPr>
          <a:xfrm>
            <a:off x="524741" y="620392"/>
            <a:ext cx="3808268" cy="5504688"/>
          </a:xfrm>
        </p:spPr>
        <p:txBody>
          <a:bodyPr>
            <a:normAutofit/>
          </a:bodyPr>
          <a:lstStyle/>
          <a:p>
            <a:r>
              <a:rPr lang="en-US" sz="6000">
                <a:solidFill>
                  <a:schemeClr val="bg1"/>
                </a:solidFill>
              </a:rPr>
              <a:t>Today</a:t>
            </a:r>
          </a:p>
        </p:txBody>
      </p:sp>
      <p:graphicFrame>
        <p:nvGraphicFramePr>
          <p:cNvPr id="5" name="Content Placeholder 2">
            <a:extLst>
              <a:ext uri="{FF2B5EF4-FFF2-40B4-BE49-F238E27FC236}">
                <a16:creationId xmlns:a16="http://schemas.microsoft.com/office/drawing/2014/main" id="{7E1D1321-7581-4786-9F53-AD0799519B30}"/>
              </a:ext>
            </a:extLst>
          </p:cNvPr>
          <p:cNvGraphicFramePr>
            <a:graphicFrameLocks noGrp="1"/>
          </p:cNvGraphicFramePr>
          <p:nvPr>
            <p:ph idx="1"/>
            <p:extLst>
              <p:ext uri="{D42A27DB-BD31-4B8C-83A1-F6EECF244321}">
                <p14:modId xmlns:p14="http://schemas.microsoft.com/office/powerpoint/2010/main" val="3578126363"/>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1732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Freeform: Shape 13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Rectangle 2">
            <a:extLst>
              <a:ext uri="{FF2B5EF4-FFF2-40B4-BE49-F238E27FC236}">
                <a16:creationId xmlns:a16="http://schemas.microsoft.com/office/drawing/2014/main" id="{18418B06-C1BA-4664-BDEF-57A46577C1F3}"/>
              </a:ext>
            </a:extLst>
          </p:cNvPr>
          <p:cNvSpPr>
            <a:spLocks noGrp="1" noChangeArrowheads="1"/>
          </p:cNvSpPr>
          <p:nvPr>
            <p:ph type="title" idx="4294967295"/>
          </p:nvPr>
        </p:nvSpPr>
        <p:spPr>
          <a:xfrm>
            <a:off x="686834" y="1153572"/>
            <a:ext cx="3200400" cy="4461163"/>
          </a:xfrm>
        </p:spPr>
        <p:txBody>
          <a:bodyPr vert="horz" lIns="91440" tIns="45720" rIns="91440" bIns="45720" rtlCol="0" anchor="ctr">
            <a:normAutofit/>
          </a:bodyPr>
          <a:lstStyle/>
          <a:p>
            <a:pPr>
              <a:defRPr/>
            </a:pPr>
            <a:r>
              <a:rPr lang="en-US" kern="1200">
                <a:solidFill>
                  <a:srgbClr val="FFFFFF"/>
                </a:solidFill>
                <a:latin typeface="+mj-lt"/>
                <a:ea typeface="+mj-ea"/>
                <a:cs typeface="+mj-cs"/>
              </a:rPr>
              <a:t>What do we mean by delivery?</a:t>
            </a:r>
          </a:p>
        </p:txBody>
      </p:sp>
      <p:sp>
        <p:nvSpPr>
          <p:cNvPr id="141" name="Arc 14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843" name="Rectangle 3">
            <a:extLst>
              <a:ext uri="{FF2B5EF4-FFF2-40B4-BE49-F238E27FC236}">
                <a16:creationId xmlns:a16="http://schemas.microsoft.com/office/drawing/2014/main" id="{CDF45F91-0630-4BD5-A0B4-462F1D0EA88C}"/>
              </a:ext>
            </a:extLst>
          </p:cNvPr>
          <p:cNvSpPr>
            <a:spLocks noGrp="1" noChangeArrowheads="1"/>
          </p:cNvSpPr>
          <p:nvPr>
            <p:ph type="body" sz="half" idx="4294967295"/>
          </p:nvPr>
        </p:nvSpPr>
        <p:spPr>
          <a:xfrm>
            <a:off x="4447308" y="591344"/>
            <a:ext cx="6906491" cy="5585619"/>
          </a:xfrm>
        </p:spPr>
        <p:txBody>
          <a:bodyPr vert="horz" lIns="91440" tIns="45720" rIns="91440" bIns="45720" rtlCol="0" anchor="ctr">
            <a:normAutofit lnSpcReduction="10000"/>
          </a:bodyPr>
          <a:lstStyle/>
          <a:p>
            <a:pPr marL="0" indent="0">
              <a:buNone/>
            </a:pPr>
            <a:r>
              <a:rPr lang="en-US" altLang="es-CO" b="1" dirty="0"/>
              <a:t>What different aspects to spoken delivery can you think of?</a:t>
            </a:r>
          </a:p>
          <a:p>
            <a:pPr marL="0" indent="0">
              <a:buNone/>
            </a:pPr>
            <a:r>
              <a:rPr lang="en-US" altLang="es-CO" dirty="0"/>
              <a:t>	</a:t>
            </a:r>
            <a:endParaRPr lang="en-US" altLang="es-CO" b="1" dirty="0"/>
          </a:p>
          <a:p>
            <a:r>
              <a:rPr lang="en-US" altLang="es-CO" dirty="0"/>
              <a:t>Modulation of</a:t>
            </a:r>
            <a:r>
              <a:rPr lang="en-US" altLang="es-CO" b="1" dirty="0"/>
              <a:t> volume </a:t>
            </a:r>
            <a:r>
              <a:rPr lang="en-US" altLang="es-CO" dirty="0"/>
              <a:t>- loudness or quietness</a:t>
            </a:r>
          </a:p>
          <a:p>
            <a:r>
              <a:rPr lang="en-US" altLang="es-CO" dirty="0"/>
              <a:t>Modulation of </a:t>
            </a:r>
            <a:r>
              <a:rPr lang="en-US" altLang="es-CO" b="1" dirty="0"/>
              <a:t>Pace</a:t>
            </a:r>
          </a:p>
          <a:p>
            <a:r>
              <a:rPr lang="en-US" altLang="es-CO" b="1" dirty="0"/>
              <a:t>Stress &amp; Intonation </a:t>
            </a:r>
            <a:r>
              <a:rPr lang="en-US" altLang="es-CO" dirty="0"/>
              <a:t>for emphasis and clarity</a:t>
            </a:r>
          </a:p>
          <a:p>
            <a:r>
              <a:rPr lang="en-US" altLang="es-CO" b="1" dirty="0"/>
              <a:t>Pausing</a:t>
            </a:r>
            <a:r>
              <a:rPr lang="en-US" altLang="es-CO" dirty="0"/>
              <a:t> for emphasis</a:t>
            </a:r>
          </a:p>
          <a:p>
            <a:r>
              <a:rPr lang="en-US" altLang="es-CO" b="1" dirty="0"/>
              <a:t>Tone</a:t>
            </a:r>
            <a:r>
              <a:rPr lang="en-US" altLang="es-CO" dirty="0"/>
              <a:t> – academic register</a:t>
            </a:r>
          </a:p>
          <a:p>
            <a:r>
              <a:rPr lang="en-GB" altLang="es-CO" dirty="0"/>
              <a:t>Full control of the content and </a:t>
            </a:r>
            <a:r>
              <a:rPr lang="en-GB" altLang="es-CO" b="1" dirty="0"/>
              <a:t>transitions - language</a:t>
            </a:r>
          </a:p>
          <a:p>
            <a:r>
              <a:rPr lang="en-US" altLang="es-CO" b="1" dirty="0"/>
              <a:t>Rhythm</a:t>
            </a:r>
            <a:r>
              <a:rPr lang="en-US" altLang="es-CO" dirty="0"/>
              <a:t> – stress timing</a:t>
            </a:r>
          </a:p>
          <a:p>
            <a:endParaRPr lang="en-US" altLang="es-CO" b="1" dirty="0"/>
          </a:p>
        </p:txBody>
      </p:sp>
      <p:sp>
        <p:nvSpPr>
          <p:cNvPr id="7172" name="Rectangle 4">
            <a:extLst>
              <a:ext uri="{FF2B5EF4-FFF2-40B4-BE49-F238E27FC236}">
                <a16:creationId xmlns:a16="http://schemas.microsoft.com/office/drawing/2014/main" id="{0BEDC511-B8CC-44E0-9028-1070E0F56DE8}"/>
              </a:ext>
            </a:extLst>
          </p:cNvPr>
          <p:cNvSpPr>
            <a:spLocks noChangeArrowheads="1"/>
          </p:cNvSpPr>
          <p:nvPr/>
        </p:nvSpPr>
        <p:spPr bwMode="auto">
          <a:xfrm>
            <a:off x="3810000" y="2559051"/>
            <a:ext cx="457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Garamond" panose="02020404030301010803" pitchFamily="18" charset="0"/>
              </a:defRPr>
            </a:lvl1pPr>
            <a:lvl2pPr marL="742950" indent="-285750" eaLnBrk="0" hangingPunct="0">
              <a:defRPr sz="2400">
                <a:solidFill>
                  <a:schemeClr val="tx1"/>
                </a:solidFill>
                <a:latin typeface="Garamond" panose="02020404030301010803" pitchFamily="18" charset="0"/>
              </a:defRPr>
            </a:lvl2pPr>
            <a:lvl3pPr marL="1143000" indent="-228600" eaLnBrk="0" hangingPunct="0">
              <a:defRPr sz="2400">
                <a:solidFill>
                  <a:schemeClr val="tx1"/>
                </a:solidFill>
                <a:latin typeface="Garamond" panose="02020404030301010803" pitchFamily="18" charset="0"/>
              </a:defRPr>
            </a:lvl3pPr>
            <a:lvl4pPr marL="1600200" indent="-228600" eaLnBrk="0" hangingPunct="0">
              <a:defRPr sz="2400">
                <a:solidFill>
                  <a:schemeClr val="tx1"/>
                </a:solidFill>
                <a:latin typeface="Garamond" panose="02020404030301010803" pitchFamily="18" charset="0"/>
              </a:defRPr>
            </a:lvl4pPr>
            <a:lvl5pPr marL="2057400" indent="-228600" eaLnBrk="0" hangingPunct="0">
              <a:defRPr sz="2400">
                <a:solidFill>
                  <a:schemeClr val="tx1"/>
                </a:solidFill>
                <a:latin typeface="Garamond" panose="02020404030301010803" pitchFamily="18" charset="0"/>
              </a:defRPr>
            </a:lvl5pPr>
            <a:lvl6pPr marL="2514600" indent="-228600" eaLnBrk="0" fontAlgn="base" hangingPunct="0">
              <a:spcBef>
                <a:spcPct val="0"/>
              </a:spcBef>
              <a:spcAft>
                <a:spcPct val="0"/>
              </a:spcAft>
              <a:defRPr sz="2400">
                <a:solidFill>
                  <a:schemeClr val="tx1"/>
                </a:solidFill>
                <a:latin typeface="Garamond" panose="02020404030301010803" pitchFamily="18" charset="0"/>
              </a:defRPr>
            </a:lvl6pPr>
            <a:lvl7pPr marL="2971800" indent="-228600" eaLnBrk="0" fontAlgn="base" hangingPunct="0">
              <a:spcBef>
                <a:spcPct val="0"/>
              </a:spcBef>
              <a:spcAft>
                <a:spcPct val="0"/>
              </a:spcAft>
              <a:defRPr sz="2400">
                <a:solidFill>
                  <a:schemeClr val="tx1"/>
                </a:solidFill>
                <a:latin typeface="Garamond" panose="02020404030301010803" pitchFamily="18" charset="0"/>
              </a:defRPr>
            </a:lvl7pPr>
            <a:lvl8pPr marL="3429000" indent="-228600" eaLnBrk="0" fontAlgn="base" hangingPunct="0">
              <a:spcBef>
                <a:spcPct val="0"/>
              </a:spcBef>
              <a:spcAft>
                <a:spcPct val="0"/>
              </a:spcAft>
              <a:defRPr sz="2400">
                <a:solidFill>
                  <a:schemeClr val="tx1"/>
                </a:solidFill>
                <a:latin typeface="Garamond" panose="02020404030301010803" pitchFamily="18" charset="0"/>
              </a:defRPr>
            </a:lvl8pPr>
            <a:lvl9pPr marL="3886200" indent="-228600" eaLnBrk="0" fontAlgn="base" hangingPunct="0">
              <a:spcBef>
                <a:spcPct val="0"/>
              </a:spcBef>
              <a:spcAft>
                <a:spcPct val="0"/>
              </a:spcAft>
              <a:defRPr sz="2400">
                <a:solidFill>
                  <a:schemeClr val="tx1"/>
                </a:solidFill>
                <a:latin typeface="Garamond" panose="02020404030301010803" pitchFamily="18" charset="0"/>
              </a:defRPr>
            </a:lvl9pPr>
          </a:lstStyle>
          <a:p>
            <a:pPr eaLnBrk="1" hangingPunct="1"/>
            <a:endParaRPr lang="en-US" altLang="es-CO" sz="18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fade">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fade">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fade">
                                      <p:cBhvr>
                                        <p:cTn id="17" dur="500"/>
                                        <p:tgtEl>
                                          <p:spTgt spid="35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fade">
                                      <p:cBhvr>
                                        <p:cTn id="22" dur="500"/>
                                        <p:tgtEl>
                                          <p:spTgt spid="358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843">
                                            <p:txEl>
                                              <p:pRg st="4" end="4"/>
                                            </p:txEl>
                                          </p:spTgt>
                                        </p:tgtEl>
                                        <p:attrNameLst>
                                          <p:attrName>style.visibility</p:attrName>
                                        </p:attrNameLst>
                                      </p:cBhvr>
                                      <p:to>
                                        <p:strVal val="visible"/>
                                      </p:to>
                                    </p:set>
                                    <p:animEffect transition="in" filter="fade">
                                      <p:cBhvr>
                                        <p:cTn id="27" dur="500"/>
                                        <p:tgtEl>
                                          <p:spTgt spid="358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843">
                                            <p:txEl>
                                              <p:pRg st="5" end="5"/>
                                            </p:txEl>
                                          </p:spTgt>
                                        </p:tgtEl>
                                        <p:attrNameLst>
                                          <p:attrName>style.visibility</p:attrName>
                                        </p:attrNameLst>
                                      </p:cBhvr>
                                      <p:to>
                                        <p:strVal val="visible"/>
                                      </p:to>
                                    </p:set>
                                    <p:animEffect transition="in" filter="fade">
                                      <p:cBhvr>
                                        <p:cTn id="32" dur="500"/>
                                        <p:tgtEl>
                                          <p:spTgt spid="3584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5843">
                                            <p:txEl>
                                              <p:pRg st="6" end="6"/>
                                            </p:txEl>
                                          </p:spTgt>
                                        </p:tgtEl>
                                        <p:attrNameLst>
                                          <p:attrName>style.visibility</p:attrName>
                                        </p:attrNameLst>
                                      </p:cBhvr>
                                      <p:to>
                                        <p:strVal val="visible"/>
                                      </p:to>
                                    </p:set>
                                    <p:animEffect transition="in" filter="fade">
                                      <p:cBhvr>
                                        <p:cTn id="37" dur="500"/>
                                        <p:tgtEl>
                                          <p:spTgt spid="3584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5843">
                                            <p:txEl>
                                              <p:pRg st="7" end="7"/>
                                            </p:txEl>
                                          </p:spTgt>
                                        </p:tgtEl>
                                        <p:attrNameLst>
                                          <p:attrName>style.visibility</p:attrName>
                                        </p:attrNameLst>
                                      </p:cBhvr>
                                      <p:to>
                                        <p:strVal val="visible"/>
                                      </p:to>
                                    </p:set>
                                    <p:animEffect transition="in" filter="fade">
                                      <p:cBhvr>
                                        <p:cTn id="42" dur="500"/>
                                        <p:tgtEl>
                                          <p:spTgt spid="3584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843">
                                            <p:txEl>
                                              <p:pRg st="8" end="8"/>
                                            </p:txEl>
                                          </p:spTgt>
                                        </p:tgtEl>
                                        <p:attrNameLst>
                                          <p:attrName>style.visibility</p:attrName>
                                        </p:attrNameLst>
                                      </p:cBhvr>
                                      <p:to>
                                        <p:strVal val="visible"/>
                                      </p:to>
                                    </p:set>
                                    <p:animEffect transition="in" filter="fade">
                                      <p:cBhvr>
                                        <p:cTn id="47" dur="500"/>
                                        <p:tgtEl>
                                          <p:spTgt spid="358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62" name="Rectangle 2">
            <a:extLst>
              <a:ext uri="{FF2B5EF4-FFF2-40B4-BE49-F238E27FC236}">
                <a16:creationId xmlns:a16="http://schemas.microsoft.com/office/drawing/2014/main" id="{D95AFFEE-37C0-44E5-B745-C639EC3DFB99}"/>
              </a:ext>
            </a:extLst>
          </p:cNvPr>
          <p:cNvSpPr>
            <a:spLocks noGrp="1" noRot="1" noChangeArrowheads="1"/>
          </p:cNvSpPr>
          <p:nvPr>
            <p:ph type="title"/>
          </p:nvPr>
        </p:nvSpPr>
        <p:spPr>
          <a:xfrm>
            <a:off x="686834" y="591344"/>
            <a:ext cx="3200400" cy="5585619"/>
          </a:xfrm>
        </p:spPr>
        <p:txBody>
          <a:bodyPr>
            <a:normAutofit/>
          </a:bodyPr>
          <a:lstStyle/>
          <a:p>
            <a:pPr eaLnBrk="1" hangingPunct="1">
              <a:defRPr/>
            </a:pPr>
            <a:r>
              <a:rPr lang="en-GB" b="1">
                <a:solidFill>
                  <a:srgbClr val="FFFFFF"/>
                </a:solidFill>
                <a:latin typeface="Century Gothic" pitchFamily="34" charset="0"/>
              </a:rPr>
              <a:t>Voice &amp; pace</a:t>
            </a:r>
            <a:br>
              <a:rPr lang="en-GB" b="1">
                <a:solidFill>
                  <a:srgbClr val="FFFFFF"/>
                </a:solidFill>
                <a:latin typeface="Century Gothic" pitchFamily="34" charset="0"/>
              </a:rPr>
            </a:br>
            <a:endParaRPr lang="pl-PL" b="1">
              <a:solidFill>
                <a:srgbClr val="FFFFFF"/>
              </a:solidFill>
              <a:latin typeface="Century Gothic" pitchFamily="34" charset="0"/>
            </a:endParaRPr>
          </a:p>
        </p:txBody>
      </p:sp>
      <p:sp>
        <p:nvSpPr>
          <p:cNvPr id="76" name="Arc 7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6563" name="Rectangle 3">
            <a:extLst>
              <a:ext uri="{FF2B5EF4-FFF2-40B4-BE49-F238E27FC236}">
                <a16:creationId xmlns:a16="http://schemas.microsoft.com/office/drawing/2014/main" id="{F96E2F39-0931-4CF8-8352-3633E8D7CD1E}"/>
              </a:ext>
            </a:extLst>
          </p:cNvPr>
          <p:cNvSpPr>
            <a:spLocks noGrp="1" noRot="1" noChangeArrowheads="1"/>
          </p:cNvSpPr>
          <p:nvPr>
            <p:ph type="body" idx="1"/>
          </p:nvPr>
        </p:nvSpPr>
        <p:spPr>
          <a:xfrm>
            <a:off x="4434782" y="1079859"/>
            <a:ext cx="6906491" cy="5585619"/>
          </a:xfrm>
        </p:spPr>
        <p:txBody>
          <a:bodyPr anchor="ctr">
            <a:normAutofit fontScale="85000" lnSpcReduction="20000"/>
          </a:bodyPr>
          <a:lstStyle/>
          <a:p>
            <a:pPr marL="0" marR="0" indent="0">
              <a:lnSpc>
                <a:spcPct val="107000"/>
              </a:lnSpc>
              <a:spcBef>
                <a:spcPts val="0"/>
              </a:spcBef>
              <a:spcAft>
                <a:spcPts val="800"/>
              </a:spcAft>
              <a:buNone/>
            </a:pPr>
            <a:r>
              <a:rPr lang="en-GB" sz="3000" dirty="0">
                <a:effectLst/>
                <a:latin typeface="Calibri" panose="020F0502020204030204" pitchFamily="34" charset="0"/>
                <a:ea typeface="Calibri" panose="020F0502020204030204" pitchFamily="34" charset="0"/>
                <a:cs typeface="Times New Roman" panose="02020603050405020304" pitchFamily="18" charset="0"/>
              </a:rPr>
              <a:t>Vary your tone, to not sound monotonous.</a:t>
            </a:r>
            <a:endParaRPr lang="es-CO" sz="3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3000" dirty="0">
                <a:effectLst/>
                <a:latin typeface="Calibri" panose="020F0502020204030204" pitchFamily="34" charset="0"/>
                <a:ea typeface="Calibri" panose="020F0502020204030204" pitchFamily="34" charset="0"/>
                <a:cs typeface="Times New Roman" panose="02020603050405020304" pitchFamily="18" charset="0"/>
              </a:rPr>
              <a:t>How?:</a:t>
            </a:r>
            <a:endParaRPr lang="es-CO" sz="3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3000" dirty="0">
                <a:effectLst/>
                <a:latin typeface="Calibri" panose="020F0502020204030204" pitchFamily="34" charset="0"/>
                <a:ea typeface="Calibri" panose="020F0502020204030204" pitchFamily="34" charset="0"/>
                <a:cs typeface="Times New Roman" panose="02020603050405020304" pitchFamily="18" charset="0"/>
              </a:rPr>
              <a:t>Speak </a:t>
            </a:r>
            <a:r>
              <a:rPr lang="en-GB" sz="3000" b="1" dirty="0">
                <a:latin typeface="Calibri" panose="020F0502020204030204" pitchFamily="34" charset="0"/>
                <a:ea typeface="Calibri" panose="020F0502020204030204" pitchFamily="34" charset="0"/>
                <a:cs typeface="Times New Roman" panose="02020603050405020304" pitchFamily="18" charset="0"/>
              </a:rPr>
              <a:t>LOUDER</a:t>
            </a:r>
            <a:r>
              <a:rPr lang="en-GB" sz="3000" b="1" i="1" dirty="0">
                <a:effectLst/>
                <a:latin typeface="Calibri" panose="020F0502020204030204" pitchFamily="34" charset="0"/>
                <a:ea typeface="Calibri" panose="020F0502020204030204" pitchFamily="34" charset="0"/>
                <a:cs typeface="Times New Roman" panose="02020603050405020304" pitchFamily="18" charset="0"/>
              </a:rPr>
              <a:t> </a:t>
            </a:r>
            <a:r>
              <a:rPr lang="en-GB" sz="3000" dirty="0">
                <a:effectLst/>
                <a:latin typeface="Calibri" panose="020F0502020204030204" pitchFamily="34" charset="0"/>
                <a:ea typeface="Calibri" panose="020F0502020204030204" pitchFamily="34" charset="0"/>
                <a:cs typeface="Times New Roman" panose="02020603050405020304" pitchFamily="18" charset="0"/>
              </a:rPr>
              <a:t>and/or </a:t>
            </a:r>
            <a:r>
              <a:rPr lang="en-GB" sz="3000" b="1" u="sng" dirty="0">
                <a:effectLst/>
                <a:latin typeface="Calibri" panose="020F0502020204030204" pitchFamily="34" charset="0"/>
                <a:ea typeface="Calibri" panose="020F0502020204030204" pitchFamily="34" charset="0"/>
                <a:cs typeface="Times New Roman" panose="02020603050405020304" pitchFamily="18" charset="0"/>
              </a:rPr>
              <a:t>slower</a:t>
            </a:r>
            <a:r>
              <a:rPr lang="en-GB" sz="3000" dirty="0">
                <a:effectLst/>
                <a:latin typeface="Calibri" panose="020F0502020204030204" pitchFamily="34" charset="0"/>
                <a:ea typeface="Calibri" panose="020F0502020204030204" pitchFamily="34" charset="0"/>
                <a:cs typeface="Times New Roman" panose="02020603050405020304" pitchFamily="18" charset="0"/>
              </a:rPr>
              <a:t> to emphasise important points</a:t>
            </a:r>
          </a:p>
          <a:p>
            <a:pPr marL="0" marR="0" indent="0">
              <a:lnSpc>
                <a:spcPct val="107000"/>
              </a:lnSpc>
              <a:spcBef>
                <a:spcPts val="0"/>
              </a:spcBef>
              <a:spcAft>
                <a:spcPts val="800"/>
              </a:spcAft>
              <a:buNone/>
            </a:pPr>
            <a:r>
              <a:rPr lang="es-CO" sz="3000" b="1" u="sng" dirty="0">
                <a:effectLst/>
                <a:latin typeface="Calibri" panose="020F0502020204030204" pitchFamily="34" charset="0"/>
                <a:ea typeface="Calibri" panose="020F0502020204030204" pitchFamily="34" charset="0"/>
                <a:cs typeface="Times New Roman" panose="02020603050405020304" pitchFamily="18" charset="0"/>
              </a:rPr>
              <a:t>Stress</a:t>
            </a:r>
            <a:r>
              <a:rPr lang="es-CO" sz="3000" dirty="0">
                <a:effectLst/>
                <a:latin typeface="Calibri" panose="020F0502020204030204" pitchFamily="34" charset="0"/>
                <a:ea typeface="Calibri" panose="020F0502020204030204" pitchFamily="34" charset="0"/>
                <a:cs typeface="Times New Roman" panose="02020603050405020304" pitchFamily="18" charset="0"/>
              </a:rPr>
              <a:t> </a:t>
            </a:r>
            <a:r>
              <a:rPr lang="es-CO" sz="3000" dirty="0" err="1">
                <a:effectLst/>
                <a:latin typeface="Calibri" panose="020F0502020204030204" pitchFamily="34" charset="0"/>
                <a:ea typeface="Calibri" panose="020F0502020204030204" pitchFamily="34" charset="0"/>
                <a:cs typeface="Times New Roman" panose="02020603050405020304" pitchFamily="18" charset="0"/>
              </a:rPr>
              <a:t>transition</a:t>
            </a:r>
            <a:r>
              <a:rPr lang="es-CO" sz="3000" dirty="0">
                <a:effectLst/>
                <a:latin typeface="Calibri" panose="020F0502020204030204" pitchFamily="34" charset="0"/>
                <a:ea typeface="Calibri" panose="020F0502020204030204" pitchFamily="34" charset="0"/>
                <a:cs typeface="Times New Roman" panose="02020603050405020304" pitchFamily="18" charset="0"/>
              </a:rPr>
              <a:t> </a:t>
            </a:r>
            <a:r>
              <a:rPr lang="es-CO" sz="3000" dirty="0" err="1">
                <a:effectLst/>
                <a:latin typeface="Calibri" panose="020F0502020204030204" pitchFamily="34" charset="0"/>
                <a:ea typeface="Calibri" panose="020F0502020204030204" pitchFamily="34" charset="0"/>
                <a:cs typeface="Times New Roman" panose="02020603050405020304" pitchFamily="18" charset="0"/>
              </a:rPr>
              <a:t>words</a:t>
            </a:r>
            <a:endParaRPr lang="es-CO" sz="3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3000" dirty="0">
                <a:effectLst/>
                <a:latin typeface="Calibri" panose="020F0502020204030204" pitchFamily="34" charset="0"/>
                <a:ea typeface="Calibri" panose="020F0502020204030204" pitchFamily="34" charset="0"/>
                <a:cs typeface="Times New Roman" panose="02020603050405020304" pitchFamily="18" charset="0"/>
              </a:rPr>
              <a:t>Use a </a:t>
            </a:r>
            <a:r>
              <a:rPr lang="en-GB" sz="3000" b="1" dirty="0">
                <a:effectLst/>
                <a:latin typeface="Calibri" panose="020F0502020204030204" pitchFamily="34" charset="0"/>
                <a:ea typeface="Calibri" panose="020F0502020204030204" pitchFamily="34" charset="0"/>
                <a:cs typeface="Times New Roman" panose="02020603050405020304" pitchFamily="18" charset="0"/>
              </a:rPr>
              <a:t>pause (P)</a:t>
            </a:r>
            <a:r>
              <a:rPr lang="en-GB" sz="3000" dirty="0">
                <a:effectLst/>
                <a:latin typeface="Calibri" panose="020F0502020204030204" pitchFamily="34" charset="0"/>
                <a:ea typeface="Calibri" panose="020F0502020204030204" pitchFamily="34" charset="0"/>
                <a:cs typeface="Times New Roman" panose="02020603050405020304" pitchFamily="18" charset="0"/>
              </a:rPr>
              <a:t> to indicate a change of direction, or  ‘pause for thought’</a:t>
            </a:r>
            <a:endParaRPr lang="es-CO" sz="3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3000" dirty="0">
                <a:effectLst/>
                <a:latin typeface="Calibri" panose="020F0502020204030204" pitchFamily="34" charset="0"/>
                <a:ea typeface="Calibri" panose="020F0502020204030204" pitchFamily="34" charset="0"/>
                <a:cs typeface="Times New Roman" panose="02020603050405020304" pitchFamily="18" charset="0"/>
              </a:rPr>
              <a:t>The next point is of particular importance because it highlights the severity and urgency of the problem</a:t>
            </a:r>
          </a:p>
          <a:p>
            <a:pPr marL="0" indent="0">
              <a:lnSpc>
                <a:spcPct val="107000"/>
              </a:lnSpc>
              <a:spcBef>
                <a:spcPts val="0"/>
              </a:spcBef>
              <a:spcAft>
                <a:spcPts val="800"/>
              </a:spcAft>
              <a:buNone/>
            </a:pPr>
            <a:r>
              <a:rPr lang="en-GB" sz="3000" dirty="0">
                <a:latin typeface="Calibri" panose="020F0502020204030204" pitchFamily="34" charset="0"/>
                <a:ea typeface="Calibri" panose="020F0502020204030204" pitchFamily="34" charset="0"/>
                <a:cs typeface="Times New Roman" panose="02020603050405020304" pitchFamily="18" charset="0"/>
              </a:rPr>
              <a:t>The </a:t>
            </a:r>
            <a:r>
              <a:rPr lang="en-GB" sz="3000" b="1" dirty="0">
                <a:latin typeface="Calibri" panose="020F0502020204030204" pitchFamily="34" charset="0"/>
                <a:ea typeface="Calibri" panose="020F0502020204030204" pitchFamily="34" charset="0"/>
                <a:cs typeface="Times New Roman" panose="02020603050405020304" pitchFamily="18" charset="0"/>
              </a:rPr>
              <a:t>next</a:t>
            </a:r>
            <a:r>
              <a:rPr lang="en-GB" sz="3000" dirty="0">
                <a:latin typeface="Calibri" panose="020F0502020204030204" pitchFamily="34" charset="0"/>
                <a:ea typeface="Calibri" panose="020F0502020204030204" pitchFamily="34" charset="0"/>
                <a:cs typeface="Times New Roman" panose="02020603050405020304" pitchFamily="18" charset="0"/>
              </a:rPr>
              <a:t> point is of </a:t>
            </a:r>
            <a:r>
              <a:rPr lang="en-GB" sz="3000" b="1" dirty="0">
                <a:latin typeface="Calibri" panose="020F0502020204030204" pitchFamily="34" charset="0"/>
                <a:ea typeface="Calibri" panose="020F0502020204030204" pitchFamily="34" charset="0"/>
                <a:cs typeface="Times New Roman" panose="02020603050405020304" pitchFamily="18" charset="0"/>
              </a:rPr>
              <a:t>particular</a:t>
            </a:r>
            <a:r>
              <a:rPr lang="en-GB" sz="3000" dirty="0">
                <a:latin typeface="Calibri" panose="020F0502020204030204" pitchFamily="34" charset="0"/>
                <a:ea typeface="Calibri" panose="020F0502020204030204" pitchFamily="34" charset="0"/>
                <a:cs typeface="Times New Roman" panose="02020603050405020304" pitchFamily="18" charset="0"/>
              </a:rPr>
              <a:t> importance </a:t>
            </a:r>
            <a:r>
              <a:rPr lang="en-GB" sz="3000" b="1" dirty="0">
                <a:latin typeface="Calibri" panose="020F0502020204030204" pitchFamily="34" charset="0"/>
                <a:ea typeface="Calibri" panose="020F0502020204030204" pitchFamily="34" charset="0"/>
                <a:cs typeface="Times New Roman" panose="02020603050405020304" pitchFamily="18" charset="0"/>
              </a:rPr>
              <a:t>(P) (</a:t>
            </a:r>
            <a:r>
              <a:rPr lang="en-GB" sz="3000" dirty="0">
                <a:latin typeface="Calibri" panose="020F0502020204030204" pitchFamily="34" charset="0"/>
                <a:ea typeface="Calibri" panose="020F0502020204030204" pitchFamily="34" charset="0"/>
                <a:cs typeface="Times New Roman" panose="02020603050405020304" pitchFamily="18" charset="0"/>
              </a:rPr>
              <a:t>because) it highlights the </a:t>
            </a:r>
            <a:r>
              <a:rPr lang="en-GB" sz="3000" b="1" u="sng" dirty="0">
                <a:latin typeface="Calibri" panose="020F0502020204030204" pitchFamily="34" charset="0"/>
                <a:ea typeface="Calibri" panose="020F0502020204030204" pitchFamily="34" charset="0"/>
                <a:cs typeface="Times New Roman" panose="02020603050405020304" pitchFamily="18" charset="0"/>
              </a:rPr>
              <a:t>SEVERITY and URGENCY</a:t>
            </a:r>
            <a:r>
              <a:rPr lang="en-GB" sz="3000" b="1" dirty="0">
                <a:latin typeface="Calibri" panose="020F0502020204030204" pitchFamily="34" charset="0"/>
                <a:ea typeface="Calibri" panose="020F0502020204030204" pitchFamily="34" charset="0"/>
                <a:cs typeface="Times New Roman" panose="02020603050405020304" pitchFamily="18" charset="0"/>
              </a:rPr>
              <a:t> </a:t>
            </a:r>
            <a:r>
              <a:rPr lang="en-GB" sz="3000" dirty="0">
                <a:latin typeface="Calibri" panose="020F0502020204030204" pitchFamily="34" charset="0"/>
                <a:ea typeface="Calibri" panose="020F0502020204030204" pitchFamily="34" charset="0"/>
                <a:cs typeface="Times New Roman" panose="02020603050405020304" pitchFamily="18" charset="0"/>
              </a:rPr>
              <a:t>of the problem</a:t>
            </a:r>
            <a:endParaRPr lang="es-CO" sz="30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s-CO" dirty="0">
              <a:effectLst/>
              <a:latin typeface="Calibri" panose="020F0502020204030204" pitchFamily="34" charset="0"/>
              <a:ea typeface="Calibri" panose="020F0502020204030204" pitchFamily="34" charset="0"/>
              <a:cs typeface="Times New Roman" panose="02020603050405020304" pitchFamily="18" charset="0"/>
            </a:endParaRPr>
          </a:p>
          <a:p>
            <a:pPr eaLnBrk="1" hangingPunct="1">
              <a:buFont typeface="Arial" charset="0"/>
              <a:buNone/>
              <a:defRPr/>
            </a:pPr>
            <a:endParaRPr lang="en-GB" sz="2600" dirty="0">
              <a:latin typeface="Century Gothic" pitchFamily="34" charset="0"/>
            </a:endParaRPr>
          </a:p>
          <a:p>
            <a:pPr eaLnBrk="1" hangingPunct="1">
              <a:buFont typeface="Arial" charset="0"/>
              <a:buNone/>
              <a:defRPr/>
            </a:pPr>
            <a:endParaRPr lang="en-GB" sz="2600" dirty="0">
              <a:latin typeface="Century Gothic"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6563">
                                            <p:txEl>
                                              <p:pRg st="1" end="1"/>
                                            </p:txEl>
                                          </p:spTgt>
                                        </p:tgtEl>
                                        <p:attrNameLst>
                                          <p:attrName>style.visibility</p:attrName>
                                        </p:attrNameLst>
                                      </p:cBhvr>
                                      <p:to>
                                        <p:strVal val="visible"/>
                                      </p:to>
                                    </p:set>
                                    <p:animEffect transition="in" filter="fade">
                                      <p:cBhvr>
                                        <p:cTn id="12" dur="500"/>
                                        <p:tgtEl>
                                          <p:spTgt spid="665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6563">
                                            <p:txEl>
                                              <p:pRg st="2" end="2"/>
                                            </p:txEl>
                                          </p:spTgt>
                                        </p:tgtEl>
                                        <p:attrNameLst>
                                          <p:attrName>style.visibility</p:attrName>
                                        </p:attrNameLst>
                                      </p:cBhvr>
                                      <p:to>
                                        <p:strVal val="visible"/>
                                      </p:to>
                                    </p:set>
                                    <p:animEffect transition="in" filter="fade">
                                      <p:cBhvr>
                                        <p:cTn id="17" dur="500"/>
                                        <p:tgtEl>
                                          <p:spTgt spid="665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6563">
                                            <p:txEl>
                                              <p:pRg st="3" end="3"/>
                                            </p:txEl>
                                          </p:spTgt>
                                        </p:tgtEl>
                                        <p:attrNameLst>
                                          <p:attrName>style.visibility</p:attrName>
                                        </p:attrNameLst>
                                      </p:cBhvr>
                                      <p:to>
                                        <p:strVal val="visible"/>
                                      </p:to>
                                    </p:set>
                                    <p:animEffect transition="in" filter="fade">
                                      <p:cBhvr>
                                        <p:cTn id="22" dur="500"/>
                                        <p:tgtEl>
                                          <p:spTgt spid="665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6563">
                                            <p:txEl>
                                              <p:pRg st="4" end="4"/>
                                            </p:txEl>
                                          </p:spTgt>
                                        </p:tgtEl>
                                        <p:attrNameLst>
                                          <p:attrName>style.visibility</p:attrName>
                                        </p:attrNameLst>
                                      </p:cBhvr>
                                      <p:to>
                                        <p:strVal val="visible"/>
                                      </p:to>
                                    </p:set>
                                    <p:animEffect transition="in" filter="fade">
                                      <p:cBhvr>
                                        <p:cTn id="27" dur="500"/>
                                        <p:tgtEl>
                                          <p:spTgt spid="665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6563">
                                            <p:txEl>
                                              <p:pRg st="5" end="5"/>
                                            </p:txEl>
                                          </p:spTgt>
                                        </p:tgtEl>
                                        <p:attrNameLst>
                                          <p:attrName>style.visibility</p:attrName>
                                        </p:attrNameLst>
                                      </p:cBhvr>
                                      <p:to>
                                        <p:strVal val="visible"/>
                                      </p:to>
                                    </p:set>
                                    <p:animEffect transition="in" filter="fade">
                                      <p:cBhvr>
                                        <p:cTn id="32" dur="500"/>
                                        <p:tgtEl>
                                          <p:spTgt spid="6656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6563">
                                            <p:txEl>
                                              <p:pRg st="6" end="6"/>
                                            </p:txEl>
                                          </p:spTgt>
                                        </p:tgtEl>
                                        <p:attrNameLst>
                                          <p:attrName>style.visibility</p:attrName>
                                        </p:attrNameLst>
                                      </p:cBhvr>
                                      <p:to>
                                        <p:strVal val="visible"/>
                                      </p:to>
                                    </p:set>
                                    <p:animEffect transition="in" filter="fade">
                                      <p:cBhvr>
                                        <p:cTn id="37" dur="500"/>
                                        <p:tgtEl>
                                          <p:spTgt spid="665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62" name="Rectangle 2">
            <a:extLst>
              <a:ext uri="{FF2B5EF4-FFF2-40B4-BE49-F238E27FC236}">
                <a16:creationId xmlns:a16="http://schemas.microsoft.com/office/drawing/2014/main" id="{D95AFFEE-37C0-44E5-B745-C639EC3DFB99}"/>
              </a:ext>
            </a:extLst>
          </p:cNvPr>
          <p:cNvSpPr>
            <a:spLocks noGrp="1" noRot="1" noChangeArrowheads="1"/>
          </p:cNvSpPr>
          <p:nvPr>
            <p:ph type="title"/>
          </p:nvPr>
        </p:nvSpPr>
        <p:spPr>
          <a:xfrm>
            <a:off x="686834" y="591344"/>
            <a:ext cx="3200400" cy="5585619"/>
          </a:xfrm>
        </p:spPr>
        <p:txBody>
          <a:bodyPr>
            <a:normAutofit/>
          </a:bodyPr>
          <a:lstStyle/>
          <a:p>
            <a:pPr eaLnBrk="1" hangingPunct="1">
              <a:defRPr/>
            </a:pPr>
            <a:r>
              <a:rPr lang="en-GB" b="1" dirty="0">
                <a:solidFill>
                  <a:srgbClr val="FFFFFF"/>
                </a:solidFill>
                <a:latin typeface="Century Gothic" pitchFamily="34" charset="0"/>
              </a:rPr>
              <a:t>Voice &amp; pace</a:t>
            </a:r>
            <a:br>
              <a:rPr lang="en-GB" b="1" dirty="0">
                <a:solidFill>
                  <a:srgbClr val="FFFFFF"/>
                </a:solidFill>
                <a:latin typeface="Century Gothic" pitchFamily="34" charset="0"/>
              </a:rPr>
            </a:br>
            <a:endParaRPr lang="pl-PL" b="1" dirty="0">
              <a:solidFill>
                <a:srgbClr val="FFFFFF"/>
              </a:solidFill>
              <a:latin typeface="Century Gothic" pitchFamily="34" charset="0"/>
            </a:endParaRPr>
          </a:p>
        </p:txBody>
      </p:sp>
      <p:sp>
        <p:nvSpPr>
          <p:cNvPr id="76" name="Arc 7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6563" name="Rectangle 3">
            <a:extLst>
              <a:ext uri="{FF2B5EF4-FFF2-40B4-BE49-F238E27FC236}">
                <a16:creationId xmlns:a16="http://schemas.microsoft.com/office/drawing/2014/main" id="{F96E2F39-0931-4CF8-8352-3633E8D7CD1E}"/>
              </a:ext>
            </a:extLst>
          </p:cNvPr>
          <p:cNvSpPr>
            <a:spLocks noGrp="1" noRot="1" noChangeArrowheads="1"/>
          </p:cNvSpPr>
          <p:nvPr>
            <p:ph type="body" idx="1"/>
          </p:nvPr>
        </p:nvSpPr>
        <p:spPr>
          <a:xfrm>
            <a:off x="4434782" y="420641"/>
            <a:ext cx="6906491" cy="5585619"/>
          </a:xfrm>
        </p:spPr>
        <p:txBody>
          <a:bodyPr anchor="ctr">
            <a:normAutofit lnSpcReduction="10000"/>
          </a:bodyPr>
          <a:lstStyle/>
          <a:p>
            <a:pPr marL="0" marR="0" indent="0">
              <a:lnSpc>
                <a:spcPct val="107000"/>
              </a:lnSpc>
              <a:spcBef>
                <a:spcPts val="0"/>
              </a:spcBef>
              <a:spcAft>
                <a:spcPts val="800"/>
              </a:spcAft>
              <a:buNone/>
            </a:pPr>
            <a:r>
              <a:rPr lang="en-GB" sz="3000" dirty="0">
                <a:effectLst/>
                <a:latin typeface="Calibri" panose="020F0502020204030204" pitchFamily="34" charset="0"/>
                <a:ea typeface="Calibri" panose="020F0502020204030204" pitchFamily="34" charset="0"/>
                <a:cs typeface="Times New Roman" panose="02020603050405020304" pitchFamily="18" charset="0"/>
              </a:rPr>
              <a:t>Speak </a:t>
            </a:r>
            <a:r>
              <a:rPr lang="en-GB" sz="3000" b="1" dirty="0">
                <a:latin typeface="Calibri" panose="020F0502020204030204" pitchFamily="34" charset="0"/>
                <a:ea typeface="Calibri" panose="020F0502020204030204" pitchFamily="34" charset="0"/>
                <a:cs typeface="Times New Roman" panose="02020603050405020304" pitchFamily="18" charset="0"/>
              </a:rPr>
              <a:t>LOUDER</a:t>
            </a:r>
            <a:r>
              <a:rPr lang="en-GB" sz="3000" b="1" i="1" dirty="0">
                <a:effectLst/>
                <a:latin typeface="Calibri" panose="020F0502020204030204" pitchFamily="34" charset="0"/>
                <a:ea typeface="Calibri" panose="020F0502020204030204" pitchFamily="34" charset="0"/>
                <a:cs typeface="Times New Roman" panose="02020603050405020304" pitchFamily="18" charset="0"/>
              </a:rPr>
              <a:t> </a:t>
            </a:r>
            <a:r>
              <a:rPr lang="en-GB" sz="3000" dirty="0">
                <a:effectLst/>
                <a:latin typeface="Calibri" panose="020F0502020204030204" pitchFamily="34" charset="0"/>
                <a:ea typeface="Calibri" panose="020F0502020204030204" pitchFamily="34" charset="0"/>
                <a:cs typeface="Times New Roman" panose="02020603050405020304" pitchFamily="18" charset="0"/>
              </a:rPr>
              <a:t>and/or </a:t>
            </a:r>
            <a:r>
              <a:rPr lang="en-GB" sz="3000" b="1" u="sng" dirty="0">
                <a:effectLst/>
                <a:latin typeface="Calibri" panose="020F0502020204030204" pitchFamily="34" charset="0"/>
                <a:ea typeface="Calibri" panose="020F0502020204030204" pitchFamily="34" charset="0"/>
                <a:cs typeface="Times New Roman" panose="02020603050405020304" pitchFamily="18" charset="0"/>
              </a:rPr>
              <a:t>slower</a:t>
            </a:r>
            <a:r>
              <a:rPr lang="en-GB" sz="3000" dirty="0">
                <a:effectLst/>
                <a:latin typeface="Calibri" panose="020F0502020204030204" pitchFamily="34" charset="0"/>
                <a:ea typeface="Calibri" panose="020F0502020204030204" pitchFamily="34" charset="0"/>
                <a:cs typeface="Times New Roman" panose="02020603050405020304" pitchFamily="18" charset="0"/>
              </a:rPr>
              <a:t> to emphasise important points</a:t>
            </a:r>
          </a:p>
          <a:p>
            <a:pPr marL="0" marR="0" indent="0">
              <a:lnSpc>
                <a:spcPct val="107000"/>
              </a:lnSpc>
              <a:spcBef>
                <a:spcPts val="0"/>
              </a:spcBef>
              <a:spcAft>
                <a:spcPts val="800"/>
              </a:spcAft>
              <a:buNone/>
            </a:pPr>
            <a:r>
              <a:rPr lang="es-CO" sz="3000" b="1" u="sng" dirty="0">
                <a:effectLst/>
                <a:latin typeface="Calibri" panose="020F0502020204030204" pitchFamily="34" charset="0"/>
                <a:ea typeface="Calibri" panose="020F0502020204030204" pitchFamily="34" charset="0"/>
                <a:cs typeface="Times New Roman" panose="02020603050405020304" pitchFamily="18" charset="0"/>
              </a:rPr>
              <a:t>Stress</a:t>
            </a:r>
            <a:r>
              <a:rPr lang="es-CO" sz="3000" dirty="0">
                <a:effectLst/>
                <a:latin typeface="Calibri" panose="020F0502020204030204" pitchFamily="34" charset="0"/>
                <a:ea typeface="Calibri" panose="020F0502020204030204" pitchFamily="34" charset="0"/>
                <a:cs typeface="Times New Roman" panose="02020603050405020304" pitchFamily="18" charset="0"/>
              </a:rPr>
              <a:t> </a:t>
            </a:r>
            <a:r>
              <a:rPr lang="es-CO" sz="3000" dirty="0" err="1">
                <a:effectLst/>
                <a:latin typeface="Calibri" panose="020F0502020204030204" pitchFamily="34" charset="0"/>
                <a:ea typeface="Calibri" panose="020F0502020204030204" pitchFamily="34" charset="0"/>
                <a:cs typeface="Times New Roman" panose="02020603050405020304" pitchFamily="18" charset="0"/>
              </a:rPr>
              <a:t>transition</a:t>
            </a:r>
            <a:r>
              <a:rPr lang="es-CO" sz="3000" dirty="0">
                <a:effectLst/>
                <a:latin typeface="Calibri" panose="020F0502020204030204" pitchFamily="34" charset="0"/>
                <a:ea typeface="Calibri" panose="020F0502020204030204" pitchFamily="34" charset="0"/>
                <a:cs typeface="Times New Roman" panose="02020603050405020304" pitchFamily="18" charset="0"/>
              </a:rPr>
              <a:t> </a:t>
            </a:r>
            <a:r>
              <a:rPr lang="es-CO" sz="3000" dirty="0" err="1">
                <a:effectLst/>
                <a:latin typeface="Calibri" panose="020F0502020204030204" pitchFamily="34" charset="0"/>
                <a:ea typeface="Calibri" panose="020F0502020204030204" pitchFamily="34" charset="0"/>
                <a:cs typeface="Times New Roman" panose="02020603050405020304" pitchFamily="18" charset="0"/>
              </a:rPr>
              <a:t>words</a:t>
            </a:r>
            <a:endParaRPr lang="es-CO" sz="3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3000" dirty="0">
                <a:effectLst/>
                <a:latin typeface="Calibri" panose="020F0502020204030204" pitchFamily="34" charset="0"/>
                <a:ea typeface="Calibri" panose="020F0502020204030204" pitchFamily="34" charset="0"/>
                <a:cs typeface="Times New Roman" panose="02020603050405020304" pitchFamily="18" charset="0"/>
              </a:rPr>
              <a:t>Use a </a:t>
            </a:r>
            <a:r>
              <a:rPr lang="en-GB" sz="3000" b="1" dirty="0">
                <a:effectLst/>
                <a:latin typeface="Calibri" panose="020F0502020204030204" pitchFamily="34" charset="0"/>
                <a:ea typeface="Calibri" panose="020F0502020204030204" pitchFamily="34" charset="0"/>
                <a:cs typeface="Times New Roman" panose="02020603050405020304" pitchFamily="18" charset="0"/>
              </a:rPr>
              <a:t>pause (P)</a:t>
            </a:r>
            <a:r>
              <a:rPr lang="en-GB" sz="3000" dirty="0">
                <a:effectLst/>
                <a:latin typeface="Calibri" panose="020F0502020204030204" pitchFamily="34" charset="0"/>
                <a:ea typeface="Calibri" panose="020F0502020204030204" pitchFamily="34" charset="0"/>
                <a:cs typeface="Times New Roman" panose="02020603050405020304" pitchFamily="18" charset="0"/>
              </a:rPr>
              <a:t> to indicate a change of direction, or  ‘pause for thought’</a:t>
            </a:r>
            <a:endParaRPr lang="es-CO" sz="3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s-CO" dirty="0">
                <a:effectLst/>
                <a:ea typeface="Calibri" panose="020F0502020204030204" pitchFamily="34" charset="0"/>
                <a:cs typeface="Times New Roman" panose="02020603050405020304" pitchFamily="18" charset="0"/>
              </a:rPr>
              <a:t>Moving </a:t>
            </a:r>
            <a:r>
              <a:rPr lang="es-CO" dirty="0" err="1">
                <a:effectLst/>
                <a:ea typeface="Calibri" panose="020F0502020204030204" pitchFamily="34" charset="0"/>
                <a:cs typeface="Times New Roman" panose="02020603050405020304" pitchFamily="18" charset="0"/>
              </a:rPr>
              <a:t>on</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to</a:t>
            </a:r>
            <a:r>
              <a:rPr lang="es-CO" dirty="0">
                <a:effectLst/>
                <a:ea typeface="Calibri" panose="020F0502020204030204" pitchFamily="34" charset="0"/>
                <a:cs typeface="Times New Roman" panose="02020603050405020304" pitchFamily="18" charset="0"/>
              </a:rPr>
              <a:t> Table 2, </a:t>
            </a:r>
            <a:r>
              <a:rPr lang="es-CO" dirty="0" err="1">
                <a:effectLst/>
                <a:ea typeface="Calibri" panose="020F0502020204030204" pitchFamily="34" charset="0"/>
                <a:cs typeface="Times New Roman" panose="02020603050405020304" pitchFamily="18" charset="0"/>
              </a:rPr>
              <a:t>you</a:t>
            </a:r>
            <a:r>
              <a:rPr lang="es-CO" dirty="0">
                <a:effectLst/>
                <a:ea typeface="Calibri" panose="020F0502020204030204" pitchFamily="34" charset="0"/>
                <a:cs typeface="Times New Roman" panose="02020603050405020304" pitchFamily="18" charset="0"/>
              </a:rPr>
              <a:t> can </a:t>
            </a:r>
            <a:r>
              <a:rPr lang="es-CO" dirty="0" err="1">
                <a:effectLst/>
                <a:ea typeface="Calibri" panose="020F0502020204030204" pitchFamily="34" charset="0"/>
                <a:cs typeface="Times New Roman" panose="02020603050405020304" pitchFamily="18" charset="0"/>
              </a:rPr>
              <a:t>see</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from</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the</a:t>
            </a:r>
            <a:r>
              <a:rPr lang="es-CO" dirty="0">
                <a:effectLst/>
                <a:ea typeface="Calibri" panose="020F0502020204030204" pitchFamily="34" charset="0"/>
                <a:cs typeface="Times New Roman" panose="02020603050405020304" pitchFamily="18" charset="0"/>
              </a:rPr>
              <a:t> data </a:t>
            </a:r>
            <a:r>
              <a:rPr lang="es-CO" dirty="0" err="1">
                <a:effectLst/>
                <a:ea typeface="Calibri" panose="020F0502020204030204" pitchFamily="34" charset="0"/>
                <a:cs typeface="Times New Roman" panose="02020603050405020304" pitchFamily="18" charset="0"/>
              </a:rPr>
              <a:t>that</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the</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majority</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of</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respondants</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reported</a:t>
            </a:r>
            <a:r>
              <a:rPr lang="es-CO" dirty="0">
                <a:effectLst/>
                <a:ea typeface="Calibri" panose="020F0502020204030204" pitchFamily="34" charset="0"/>
                <a:cs typeface="Times New Roman" panose="02020603050405020304" pitchFamily="18" charset="0"/>
              </a:rPr>
              <a:t> no </a:t>
            </a:r>
            <a:r>
              <a:rPr lang="es-CO" dirty="0" err="1">
                <a:effectLst/>
                <a:ea typeface="Calibri" panose="020F0502020204030204" pitchFamily="34" charset="0"/>
                <a:cs typeface="Times New Roman" panose="02020603050405020304" pitchFamily="18" charset="0"/>
              </a:rPr>
              <a:t>ill</a:t>
            </a:r>
            <a:r>
              <a:rPr lang="es-CO" dirty="0">
                <a:effectLst/>
                <a:ea typeface="Calibri" panose="020F0502020204030204" pitchFamily="34" charset="0"/>
                <a:cs typeface="Times New Roman" panose="02020603050405020304" pitchFamily="18" charset="0"/>
              </a:rPr>
              <a:t> </a:t>
            </a:r>
            <a:r>
              <a:rPr lang="es-CO" dirty="0" err="1">
                <a:effectLst/>
                <a:ea typeface="Calibri" panose="020F0502020204030204" pitchFamily="34" charset="0"/>
                <a:cs typeface="Times New Roman" panose="02020603050405020304" pitchFamily="18" charset="0"/>
              </a:rPr>
              <a:t>effects</a:t>
            </a:r>
            <a:r>
              <a:rPr lang="es-CO" dirty="0">
                <a:ea typeface="Calibri" panose="020F0502020204030204" pitchFamily="34" charset="0"/>
                <a:cs typeface="Times New Roman" panose="02020603050405020304" pitchFamily="18" charset="0"/>
              </a:rPr>
              <a:t>. </a:t>
            </a:r>
            <a:endParaRPr lang="en-GB" dirty="0"/>
          </a:p>
          <a:p>
            <a:pPr marL="0" marR="0" indent="0">
              <a:lnSpc>
                <a:spcPct val="107000"/>
              </a:lnSpc>
              <a:spcBef>
                <a:spcPts val="0"/>
              </a:spcBef>
              <a:spcAft>
                <a:spcPts val="800"/>
              </a:spcAft>
              <a:buNone/>
            </a:pPr>
            <a:r>
              <a:rPr lang="es-CO" b="1" dirty="0">
                <a:ea typeface="Calibri" panose="020F0502020204030204" pitchFamily="34" charset="0"/>
                <a:cs typeface="Times New Roman" panose="02020603050405020304" pitchFamily="18" charset="0"/>
              </a:rPr>
              <a:t>MOVING ON </a:t>
            </a:r>
            <a:r>
              <a:rPr lang="es-CO" dirty="0" err="1">
                <a:ea typeface="Calibri" panose="020F0502020204030204" pitchFamily="34" charset="0"/>
                <a:cs typeface="Times New Roman" panose="02020603050405020304" pitchFamily="18" charset="0"/>
              </a:rPr>
              <a:t>to</a:t>
            </a:r>
            <a:r>
              <a:rPr lang="es-CO" dirty="0">
                <a:ea typeface="Calibri" panose="020F0502020204030204" pitchFamily="34" charset="0"/>
                <a:cs typeface="Times New Roman" panose="02020603050405020304" pitchFamily="18" charset="0"/>
              </a:rPr>
              <a:t> Table 2 (P) </a:t>
            </a:r>
            <a:r>
              <a:rPr lang="es-CO" dirty="0" err="1">
                <a:ea typeface="Calibri" panose="020F0502020204030204" pitchFamily="34" charset="0"/>
                <a:cs typeface="Times New Roman" panose="02020603050405020304" pitchFamily="18" charset="0"/>
              </a:rPr>
              <a:t>you</a:t>
            </a:r>
            <a:r>
              <a:rPr lang="es-CO" dirty="0">
                <a:ea typeface="Calibri" panose="020F0502020204030204" pitchFamily="34" charset="0"/>
                <a:cs typeface="Times New Roman" panose="02020603050405020304" pitchFamily="18" charset="0"/>
              </a:rPr>
              <a:t> can </a:t>
            </a:r>
            <a:r>
              <a:rPr lang="es-CO" dirty="0" err="1">
                <a:ea typeface="Calibri" panose="020F0502020204030204" pitchFamily="34" charset="0"/>
                <a:cs typeface="Times New Roman" panose="02020603050405020304" pitchFamily="18" charset="0"/>
              </a:rPr>
              <a:t>see</a:t>
            </a:r>
            <a:r>
              <a:rPr lang="es-CO" dirty="0">
                <a:ea typeface="Calibri" panose="020F0502020204030204" pitchFamily="34" charset="0"/>
                <a:cs typeface="Times New Roman" panose="02020603050405020304" pitchFamily="18" charset="0"/>
              </a:rPr>
              <a:t> </a:t>
            </a:r>
            <a:r>
              <a:rPr lang="es-CO" dirty="0" err="1">
                <a:ea typeface="Calibri" panose="020F0502020204030204" pitchFamily="34" charset="0"/>
                <a:cs typeface="Times New Roman" panose="02020603050405020304" pitchFamily="18" charset="0"/>
              </a:rPr>
              <a:t>from</a:t>
            </a:r>
            <a:r>
              <a:rPr lang="es-CO" dirty="0">
                <a:ea typeface="Calibri" panose="020F0502020204030204" pitchFamily="34" charset="0"/>
                <a:cs typeface="Times New Roman" panose="02020603050405020304" pitchFamily="18" charset="0"/>
              </a:rPr>
              <a:t> </a:t>
            </a:r>
            <a:r>
              <a:rPr lang="es-CO" dirty="0" err="1">
                <a:ea typeface="Calibri" panose="020F0502020204030204" pitchFamily="34" charset="0"/>
                <a:cs typeface="Times New Roman" panose="02020603050405020304" pitchFamily="18" charset="0"/>
              </a:rPr>
              <a:t>the</a:t>
            </a:r>
            <a:r>
              <a:rPr lang="es-CO" dirty="0">
                <a:ea typeface="Calibri" panose="020F0502020204030204" pitchFamily="34" charset="0"/>
                <a:cs typeface="Times New Roman" panose="02020603050405020304" pitchFamily="18" charset="0"/>
              </a:rPr>
              <a:t> data </a:t>
            </a:r>
            <a:r>
              <a:rPr lang="es-CO" dirty="0" err="1">
                <a:ea typeface="Calibri" panose="020F0502020204030204" pitchFamily="34" charset="0"/>
                <a:cs typeface="Times New Roman" panose="02020603050405020304" pitchFamily="18" charset="0"/>
              </a:rPr>
              <a:t>that</a:t>
            </a:r>
            <a:r>
              <a:rPr lang="es-CO" dirty="0">
                <a:ea typeface="Calibri" panose="020F0502020204030204" pitchFamily="34" charset="0"/>
                <a:cs typeface="Times New Roman" panose="02020603050405020304" pitchFamily="18" charset="0"/>
              </a:rPr>
              <a:t> </a:t>
            </a:r>
            <a:r>
              <a:rPr lang="es-CO" dirty="0" err="1">
                <a:ea typeface="Calibri" panose="020F0502020204030204" pitchFamily="34" charset="0"/>
                <a:cs typeface="Times New Roman" panose="02020603050405020304" pitchFamily="18" charset="0"/>
              </a:rPr>
              <a:t>the</a:t>
            </a:r>
            <a:r>
              <a:rPr lang="es-CO" dirty="0">
                <a:ea typeface="Calibri" panose="020F0502020204030204" pitchFamily="34" charset="0"/>
                <a:cs typeface="Times New Roman" panose="02020603050405020304" pitchFamily="18" charset="0"/>
              </a:rPr>
              <a:t> </a:t>
            </a:r>
            <a:r>
              <a:rPr lang="es-CO" b="1" u="sng" dirty="0" err="1">
                <a:ea typeface="Calibri" panose="020F0502020204030204" pitchFamily="34" charset="0"/>
                <a:cs typeface="Times New Roman" panose="02020603050405020304" pitchFamily="18" charset="0"/>
              </a:rPr>
              <a:t>majority</a:t>
            </a:r>
            <a:r>
              <a:rPr lang="es-CO" dirty="0">
                <a:ea typeface="Calibri" panose="020F0502020204030204" pitchFamily="34" charset="0"/>
                <a:cs typeface="Times New Roman" panose="02020603050405020304" pitchFamily="18" charset="0"/>
              </a:rPr>
              <a:t> </a:t>
            </a:r>
            <a:r>
              <a:rPr lang="es-CO" dirty="0" err="1">
                <a:ea typeface="Calibri" panose="020F0502020204030204" pitchFamily="34" charset="0"/>
                <a:cs typeface="Times New Roman" panose="02020603050405020304" pitchFamily="18" charset="0"/>
              </a:rPr>
              <a:t>of</a:t>
            </a:r>
            <a:r>
              <a:rPr lang="es-CO" dirty="0">
                <a:ea typeface="Calibri" panose="020F0502020204030204" pitchFamily="34" charset="0"/>
                <a:cs typeface="Times New Roman" panose="02020603050405020304" pitchFamily="18" charset="0"/>
              </a:rPr>
              <a:t> </a:t>
            </a:r>
            <a:r>
              <a:rPr lang="es-CO" dirty="0" err="1">
                <a:ea typeface="Calibri" panose="020F0502020204030204" pitchFamily="34" charset="0"/>
                <a:cs typeface="Times New Roman" panose="02020603050405020304" pitchFamily="18" charset="0"/>
              </a:rPr>
              <a:t>respondants</a:t>
            </a:r>
            <a:r>
              <a:rPr lang="es-CO" dirty="0">
                <a:ea typeface="Calibri" panose="020F0502020204030204" pitchFamily="34" charset="0"/>
                <a:cs typeface="Times New Roman" panose="02020603050405020304" pitchFamily="18" charset="0"/>
              </a:rPr>
              <a:t> </a:t>
            </a:r>
            <a:r>
              <a:rPr lang="es-CO" dirty="0" err="1">
                <a:ea typeface="Calibri" panose="020F0502020204030204" pitchFamily="34" charset="0"/>
                <a:cs typeface="Times New Roman" panose="02020603050405020304" pitchFamily="18" charset="0"/>
              </a:rPr>
              <a:t>reported</a:t>
            </a:r>
            <a:r>
              <a:rPr lang="es-CO" dirty="0">
                <a:ea typeface="Calibri" panose="020F0502020204030204" pitchFamily="34" charset="0"/>
                <a:cs typeface="Times New Roman" panose="02020603050405020304" pitchFamily="18" charset="0"/>
              </a:rPr>
              <a:t> </a:t>
            </a:r>
            <a:r>
              <a:rPr lang="es-CO" b="1" u="sng" dirty="0">
                <a:ea typeface="Calibri" panose="020F0502020204030204" pitchFamily="34" charset="0"/>
                <a:cs typeface="Times New Roman" panose="02020603050405020304" pitchFamily="18" charset="0"/>
              </a:rPr>
              <a:t>NO</a:t>
            </a:r>
            <a:r>
              <a:rPr lang="es-CO" dirty="0">
                <a:ea typeface="Calibri" panose="020F0502020204030204" pitchFamily="34" charset="0"/>
                <a:cs typeface="Times New Roman" panose="02020603050405020304" pitchFamily="18" charset="0"/>
              </a:rPr>
              <a:t> </a:t>
            </a:r>
            <a:r>
              <a:rPr lang="es-CO" dirty="0" err="1">
                <a:ea typeface="Calibri" panose="020F0502020204030204" pitchFamily="34" charset="0"/>
                <a:cs typeface="Times New Roman" panose="02020603050405020304" pitchFamily="18" charset="0"/>
              </a:rPr>
              <a:t>ill</a:t>
            </a:r>
            <a:r>
              <a:rPr lang="es-CO" dirty="0">
                <a:ea typeface="Calibri" panose="020F0502020204030204" pitchFamily="34" charset="0"/>
                <a:cs typeface="Times New Roman" panose="02020603050405020304" pitchFamily="18" charset="0"/>
              </a:rPr>
              <a:t> </a:t>
            </a:r>
            <a:r>
              <a:rPr lang="es-CO" dirty="0" err="1">
                <a:ea typeface="Calibri" panose="020F0502020204030204" pitchFamily="34" charset="0"/>
                <a:cs typeface="Times New Roman" panose="02020603050405020304" pitchFamily="18" charset="0"/>
              </a:rPr>
              <a:t>effects</a:t>
            </a:r>
            <a:r>
              <a:rPr lang="es-CO" dirty="0">
                <a:ea typeface="Calibri" panose="020F0502020204030204" pitchFamily="34" charset="0"/>
                <a:cs typeface="Times New Roman" panose="02020603050405020304" pitchFamily="18" charset="0"/>
              </a:rPr>
              <a:t>. </a:t>
            </a:r>
            <a:endParaRPr lang="en-GB" dirty="0"/>
          </a:p>
        </p:txBody>
      </p:sp>
    </p:spTree>
    <p:extLst>
      <p:ext uri="{BB962C8B-B14F-4D97-AF65-F5344CB8AC3E}">
        <p14:creationId xmlns:p14="http://schemas.microsoft.com/office/powerpoint/2010/main" val="47003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6563">
                                            <p:txEl>
                                              <p:pRg st="1" end="1"/>
                                            </p:txEl>
                                          </p:spTgt>
                                        </p:tgtEl>
                                        <p:attrNameLst>
                                          <p:attrName>style.visibility</p:attrName>
                                        </p:attrNameLst>
                                      </p:cBhvr>
                                      <p:to>
                                        <p:strVal val="visible"/>
                                      </p:to>
                                    </p:set>
                                    <p:animEffect transition="in" filter="fade">
                                      <p:cBhvr>
                                        <p:cTn id="12" dur="500"/>
                                        <p:tgtEl>
                                          <p:spTgt spid="665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6563">
                                            <p:txEl>
                                              <p:pRg st="2" end="2"/>
                                            </p:txEl>
                                          </p:spTgt>
                                        </p:tgtEl>
                                        <p:attrNameLst>
                                          <p:attrName>style.visibility</p:attrName>
                                        </p:attrNameLst>
                                      </p:cBhvr>
                                      <p:to>
                                        <p:strVal val="visible"/>
                                      </p:to>
                                    </p:set>
                                    <p:animEffect transition="in" filter="fade">
                                      <p:cBhvr>
                                        <p:cTn id="17" dur="500"/>
                                        <p:tgtEl>
                                          <p:spTgt spid="665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6563">
                                            <p:txEl>
                                              <p:pRg st="3" end="3"/>
                                            </p:txEl>
                                          </p:spTgt>
                                        </p:tgtEl>
                                        <p:attrNameLst>
                                          <p:attrName>style.visibility</p:attrName>
                                        </p:attrNameLst>
                                      </p:cBhvr>
                                      <p:to>
                                        <p:strVal val="visible"/>
                                      </p:to>
                                    </p:set>
                                    <p:animEffect transition="in" filter="fade">
                                      <p:cBhvr>
                                        <p:cTn id="22" dur="500"/>
                                        <p:tgtEl>
                                          <p:spTgt spid="665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6563">
                                            <p:txEl>
                                              <p:pRg st="4" end="4"/>
                                            </p:txEl>
                                          </p:spTgt>
                                        </p:tgtEl>
                                        <p:attrNameLst>
                                          <p:attrName>style.visibility</p:attrName>
                                        </p:attrNameLst>
                                      </p:cBhvr>
                                      <p:to>
                                        <p:strVal val="visible"/>
                                      </p:to>
                                    </p:set>
                                    <p:animEffect transition="in" filter="fade">
                                      <p:cBhvr>
                                        <p:cTn id="27" dur="500"/>
                                        <p:tgtEl>
                                          <p:spTgt spid="665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C68605-A8ED-42BA-AB0F-59B67A6054DB}"/>
              </a:ext>
            </a:extLst>
          </p:cNvPr>
          <p:cNvSpPr>
            <a:spLocks noGrp="1"/>
          </p:cNvSpPr>
          <p:nvPr>
            <p:ph type="title"/>
          </p:nvPr>
        </p:nvSpPr>
        <p:spPr>
          <a:xfrm>
            <a:off x="686834" y="1153572"/>
            <a:ext cx="3200400" cy="4461163"/>
          </a:xfrm>
        </p:spPr>
        <p:txBody>
          <a:bodyPr>
            <a:normAutofit/>
          </a:bodyPr>
          <a:lstStyle/>
          <a:p>
            <a:r>
              <a:rPr lang="en-US">
                <a:solidFill>
                  <a:srgbClr val="FFFFFF"/>
                </a:solidFill>
              </a:rPr>
              <a:t>Body Language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84C11C5-AB91-4084-9103-1D553FEC110B}"/>
              </a:ext>
            </a:extLst>
          </p:cNvPr>
          <p:cNvSpPr>
            <a:spLocks noGrp="1"/>
          </p:cNvSpPr>
          <p:nvPr>
            <p:ph idx="1"/>
          </p:nvPr>
        </p:nvSpPr>
        <p:spPr>
          <a:xfrm>
            <a:off x="4447308" y="591344"/>
            <a:ext cx="6906491" cy="5585619"/>
          </a:xfrm>
        </p:spPr>
        <p:txBody>
          <a:bodyPr anchor="ctr">
            <a:normAutofit/>
          </a:bodyPr>
          <a:lstStyle/>
          <a:p>
            <a:pPr marL="0" indent="0">
              <a:buNone/>
            </a:pPr>
            <a:r>
              <a:rPr lang="en-GB" dirty="0"/>
              <a:t>However well-supported and prepared your speech content is, it is your </a:t>
            </a:r>
            <a:r>
              <a:rPr lang="en-GB" b="1" dirty="0"/>
              <a:t>non-verbal delivery </a:t>
            </a:r>
            <a:r>
              <a:rPr lang="en-GB" dirty="0"/>
              <a:t>that establishes your </a:t>
            </a:r>
            <a:r>
              <a:rPr lang="en-GB" b="1" dirty="0"/>
              <a:t>connection with an audience</a:t>
            </a:r>
            <a:r>
              <a:rPr lang="en-GB" dirty="0"/>
              <a:t>.</a:t>
            </a:r>
          </a:p>
          <a:p>
            <a:pPr marL="0" indent="0">
              <a:buNone/>
            </a:pPr>
            <a:r>
              <a:rPr lang="en-GB" altLang="es-CO" dirty="0"/>
              <a:t>Other than logically organised, well-researched and referenced content, </a:t>
            </a:r>
            <a:r>
              <a:rPr lang="en-GB" altLang="es-CO" b="1" dirty="0"/>
              <a:t>what makes a speaker persuasive</a:t>
            </a:r>
            <a:r>
              <a:rPr lang="en-GB" altLang="es-CO" dirty="0"/>
              <a:t>?</a:t>
            </a:r>
          </a:p>
          <a:p>
            <a:pPr marL="0" indent="0">
              <a:buNone/>
            </a:pPr>
            <a:r>
              <a:rPr lang="en-GB" altLang="es-CO" dirty="0"/>
              <a:t>Attributes like: </a:t>
            </a:r>
          </a:p>
          <a:p>
            <a:pPr marL="0" indent="0">
              <a:buNone/>
            </a:pPr>
            <a:r>
              <a:rPr lang="en-GB" altLang="es-CO" dirty="0"/>
              <a:t>Relaxed body language</a:t>
            </a:r>
          </a:p>
          <a:p>
            <a:pPr marL="0" indent="0">
              <a:buNone/>
            </a:pPr>
            <a:r>
              <a:rPr lang="en-GB" altLang="es-CO" dirty="0"/>
              <a:t>An open posture</a:t>
            </a:r>
          </a:p>
          <a:p>
            <a:pPr marL="0" indent="0">
              <a:buNone/>
            </a:pPr>
            <a:r>
              <a:rPr lang="en-GB" altLang="es-CO" dirty="0"/>
              <a:t>A strong, authentic presence</a:t>
            </a:r>
          </a:p>
          <a:p>
            <a:endParaRPr lang="en-GB" altLang="es-CO" b="1" dirty="0"/>
          </a:p>
          <a:p>
            <a:endParaRPr lang="en-US" dirty="0"/>
          </a:p>
        </p:txBody>
      </p:sp>
    </p:spTree>
    <p:extLst>
      <p:ext uri="{BB962C8B-B14F-4D97-AF65-F5344CB8AC3E}">
        <p14:creationId xmlns:p14="http://schemas.microsoft.com/office/powerpoint/2010/main" val="67288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a:solidFill>
                  <a:srgbClr val="FFFFFF"/>
                </a:solidFill>
              </a:rPr>
              <a:t>Body language that creates barriers:</a:t>
            </a:r>
            <a:br>
              <a:rPr lang="en-GB">
                <a:solidFill>
                  <a:srgbClr val="FFFFFF"/>
                </a:solidFill>
              </a:rPr>
            </a:br>
            <a:endParaRPr lang="es-VE">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GB"/>
              <a:t>Putting your hand or your notes over your mouth.</a:t>
            </a:r>
          </a:p>
          <a:p>
            <a:r>
              <a:rPr lang="en-GB"/>
              <a:t>Hiding behind equipment/furniture.</a:t>
            </a:r>
          </a:p>
          <a:p>
            <a:r>
              <a:rPr lang="en-GB"/>
              <a:t>Constantly rubbing your nose, ear, chin etc.</a:t>
            </a:r>
          </a:p>
          <a:p>
            <a:r>
              <a:rPr lang="en-GB"/>
              <a:t>Playing with jewellery, your hair, and /or coins and keys in your pockets.</a:t>
            </a:r>
          </a:p>
          <a:p>
            <a:r>
              <a:rPr lang="en-GB"/>
              <a:t>Crossing your arms or legs.</a:t>
            </a:r>
          </a:p>
          <a:p>
            <a:r>
              <a:rPr lang="en-GB"/>
              <a:t>Speaking with your head turned away from the audience</a:t>
            </a:r>
          </a:p>
          <a:p>
            <a:r>
              <a:rPr lang="en-GB"/>
              <a:t>Hands in your pockets</a:t>
            </a:r>
          </a:p>
          <a:p>
            <a:endParaRPr lang="es-VE" dirty="0"/>
          </a:p>
        </p:txBody>
      </p:sp>
    </p:spTree>
    <p:extLst>
      <p:ext uri="{BB962C8B-B14F-4D97-AF65-F5344CB8AC3E}">
        <p14:creationId xmlns:p14="http://schemas.microsoft.com/office/powerpoint/2010/main" val="585219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05407A-E6C2-486E-B1B6-0B8A48A12E2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How to deliver the perfect speech</a:t>
            </a:r>
          </a:p>
        </p:txBody>
      </p:sp>
      <p:sp>
        <p:nvSpPr>
          <p:cNvPr id="3" name="Content Placeholder 2">
            <a:extLst>
              <a:ext uri="{FF2B5EF4-FFF2-40B4-BE49-F238E27FC236}">
                <a16:creationId xmlns:a16="http://schemas.microsoft.com/office/drawing/2014/main" id="{52E11F16-93A1-4083-A563-1771F8043DC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https://www.youtube.com/watch?v=-qx8uAUwZYk</a:t>
            </a:r>
          </a:p>
        </p:txBody>
      </p:sp>
      <p:sp>
        <p:nvSpPr>
          <p:cNvPr id="1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0404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a:solidFill>
                  <a:srgbClr val="FFFFFF"/>
                </a:solidFill>
              </a:rPr>
              <a:t>Practice.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pPr>
              <a:buFont typeface="Wingdings" panose="05000000000000000000" pitchFamily="2" charset="2"/>
              <a:buChar char="q"/>
            </a:pPr>
            <a:r>
              <a:rPr lang="en-GB" dirty="0"/>
              <a:t> Spend two minutes telling the group </a:t>
            </a:r>
            <a:r>
              <a:rPr lang="en-GB" b="1" dirty="0"/>
              <a:t>something you did yesterday.</a:t>
            </a:r>
          </a:p>
          <a:p>
            <a:pPr>
              <a:buFont typeface="Wingdings" panose="05000000000000000000" pitchFamily="2" charset="2"/>
              <a:buChar char="q"/>
            </a:pPr>
            <a:r>
              <a:rPr lang="en-GB" dirty="0"/>
              <a:t>Stand up straight, look at them, talk TO your audience, use your hands appropriately, nod and smile or show emotion about your story.</a:t>
            </a:r>
          </a:p>
          <a:p>
            <a:pPr>
              <a:buFont typeface="Wingdings" panose="05000000000000000000" pitchFamily="2" charset="2"/>
              <a:buChar char="q"/>
            </a:pPr>
            <a:r>
              <a:rPr lang="en-GB" dirty="0"/>
              <a:t>Repeat your story again!</a:t>
            </a:r>
          </a:p>
        </p:txBody>
      </p:sp>
    </p:spTree>
    <p:extLst>
      <p:ext uri="{BB962C8B-B14F-4D97-AF65-F5344CB8AC3E}">
        <p14:creationId xmlns:p14="http://schemas.microsoft.com/office/powerpoint/2010/main" val="365479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7E88-FEFF-43D5-A4AA-4B2CCDC0E5E2}"/>
              </a:ext>
            </a:extLst>
          </p:cNvPr>
          <p:cNvSpPr>
            <a:spLocks noGrp="1"/>
          </p:cNvSpPr>
          <p:nvPr>
            <p:ph type="title"/>
          </p:nvPr>
        </p:nvSpPr>
        <p:spPr>
          <a:xfrm>
            <a:off x="5181601" y="634946"/>
            <a:ext cx="6368142" cy="1450757"/>
          </a:xfrm>
        </p:spPr>
        <p:txBody>
          <a:bodyPr>
            <a:normAutofit fontScale="90000"/>
          </a:bodyPr>
          <a:lstStyle/>
          <a:p>
            <a:r>
              <a:rPr lang="en-GB" sz="3400" b="1">
                <a:latin typeface="Palatino Linotype" panose="02040502050505030304" pitchFamily="18" charset="0"/>
                <a:ea typeface="Times New Roman" panose="02020603050405020304" pitchFamily="18" charset="0"/>
              </a:rPr>
              <a:t>Tips for dealing with questions</a:t>
            </a:r>
            <a:br>
              <a:rPr lang="es-CO" sz="3400" b="1">
                <a:latin typeface="Times New Roman" panose="02020603050405020304" pitchFamily="18" charset="0"/>
                <a:ea typeface="Times New Roman" panose="02020603050405020304" pitchFamily="18" charset="0"/>
              </a:rPr>
            </a:br>
            <a:endParaRPr lang="en-US" sz="3400"/>
          </a:p>
        </p:txBody>
      </p:sp>
      <p:pic>
        <p:nvPicPr>
          <p:cNvPr id="5" name="Picture 4" descr="Many question marks on black background">
            <a:extLst>
              <a:ext uri="{FF2B5EF4-FFF2-40B4-BE49-F238E27FC236}">
                <a16:creationId xmlns:a16="http://schemas.microsoft.com/office/drawing/2014/main" id="{8A52070D-2ECC-4A24-AE0D-78CAC57C5CDB}"/>
              </a:ext>
            </a:extLst>
          </p:cNvPr>
          <p:cNvPicPr>
            <a:picLocks noChangeAspect="1"/>
          </p:cNvPicPr>
          <p:nvPr/>
        </p:nvPicPr>
        <p:blipFill rotWithShape="1">
          <a:blip r:embed="rId2"/>
          <a:srcRect l="58675" r="-1" b="-1"/>
          <a:stretch/>
        </p:blipFill>
        <p:spPr>
          <a:xfrm>
            <a:off x="20" y="-12128"/>
            <a:ext cx="4654276" cy="6870127"/>
          </a:xfrm>
          <a:prstGeom prst="rect">
            <a:avLst/>
          </a:prstGeom>
        </p:spPr>
      </p:pic>
      <p:sp>
        <p:nvSpPr>
          <p:cNvPr id="3" name="Content Placeholder 2">
            <a:extLst>
              <a:ext uri="{FF2B5EF4-FFF2-40B4-BE49-F238E27FC236}">
                <a16:creationId xmlns:a16="http://schemas.microsoft.com/office/drawing/2014/main" id="{49077047-21DF-4549-B349-404508194A6E}"/>
              </a:ext>
            </a:extLst>
          </p:cNvPr>
          <p:cNvSpPr>
            <a:spLocks noGrp="1"/>
          </p:cNvSpPr>
          <p:nvPr>
            <p:ph idx="1"/>
          </p:nvPr>
        </p:nvSpPr>
        <p:spPr>
          <a:xfrm>
            <a:off x="5181601" y="2198914"/>
            <a:ext cx="6368142" cy="3670180"/>
          </a:xfrm>
        </p:spPr>
        <p:txBody>
          <a:bodyPr>
            <a:normAutofit fontScale="85000" lnSpcReduction="20000"/>
          </a:bodyPr>
          <a:lstStyle/>
          <a:p>
            <a:pPr marL="0" marR="0" indent="0">
              <a:buNone/>
            </a:pPr>
            <a:r>
              <a:rPr lang="en-GB" dirty="0">
                <a:latin typeface="Calibri" panose="020F0502020204030204" pitchFamily="34" charset="0"/>
                <a:ea typeface="Times New Roman" panose="02020603050405020304" pitchFamily="18" charset="0"/>
                <a:cs typeface="Times New Roman" panose="02020603050405020304" pitchFamily="18" charset="0"/>
              </a:rPr>
              <a:t>The question period often is the part of the talk which influences the audience the most, and where your ability to interact with the audience will be evaluated. Since you can't always predict what you'll be asked, how can you prepare for the questioning?  </a:t>
            </a:r>
          </a:p>
          <a:p>
            <a:pPr marL="0" marR="0" indent="0" algn="just">
              <a:spcBef>
                <a:spcPts val="0"/>
              </a:spcBef>
              <a:spcAft>
                <a:spcPts val="0"/>
              </a:spcAft>
              <a:buNone/>
            </a:pPr>
            <a:endParaRPr lang="en-US" dirty="0">
              <a:latin typeface="Calibri" panose="020F0502020204030204" pitchFamily="34" charset="0"/>
              <a:ea typeface="SimSun" panose="02010600030101010101" pitchFamily="2" charset="-122"/>
              <a:cs typeface="Times New Roman" panose="02020603050405020304" pitchFamily="18" charset="0"/>
            </a:endParaRPr>
          </a:p>
          <a:p>
            <a:pPr marL="0" marR="0" indent="0" algn="just">
              <a:spcBef>
                <a:spcPts val="0"/>
              </a:spcBef>
              <a:spcAft>
                <a:spcPts val="0"/>
              </a:spcAft>
              <a:buNone/>
            </a:pPr>
            <a:r>
              <a:rPr lang="en-US" dirty="0">
                <a:latin typeface="Calibri" panose="020F0502020204030204" pitchFamily="34" charset="0"/>
                <a:ea typeface="SimSun" panose="02010600030101010101" pitchFamily="2" charset="-122"/>
                <a:cs typeface="Times New Roman" panose="02020603050405020304" pitchFamily="18" charset="0"/>
              </a:rPr>
              <a:t>Best answer is a direct answer – one that address the questions fully and accurately </a:t>
            </a:r>
            <a:endParaRPr lang="es-CO" dirty="0">
              <a:latin typeface="Times New Roman" panose="02020603050405020304" pitchFamily="18" charset="0"/>
              <a:ea typeface="SimSun" panose="02010600030101010101" pitchFamily="2" charset="-122"/>
            </a:endParaRPr>
          </a:p>
          <a:p>
            <a:pPr marL="0" marR="0" indent="0">
              <a:spcBef>
                <a:spcPts val="0"/>
              </a:spcBef>
              <a:spcAft>
                <a:spcPts val="0"/>
              </a:spcAft>
              <a:buNone/>
            </a:pPr>
            <a:endParaRPr lang="en-GB" dirty="0">
              <a:latin typeface="Calibri" panose="020F0502020204030204" pitchFamily="34" charset="0"/>
              <a:ea typeface="SimSun" panose="02010600030101010101" pitchFamily="2" charset="-122"/>
              <a:cs typeface="Times New Roman" panose="02020603050405020304" pitchFamily="18" charset="0"/>
            </a:endParaRPr>
          </a:p>
          <a:p>
            <a:pPr marL="0" marR="0" indent="0">
              <a:spcBef>
                <a:spcPts val="0"/>
              </a:spcBef>
              <a:spcAft>
                <a:spcPts val="0"/>
              </a:spcAft>
              <a:buNone/>
            </a:pPr>
            <a:r>
              <a:rPr lang="en-GB" dirty="0">
                <a:latin typeface="Calibri" panose="020F0502020204030204" pitchFamily="34" charset="0"/>
                <a:ea typeface="SimSun" panose="02010600030101010101" pitchFamily="2" charset="-122"/>
                <a:cs typeface="Times New Roman" panose="02020603050405020304" pitchFamily="18" charset="0"/>
              </a:rPr>
              <a:t>However – some questions can’t be handled so easily….</a:t>
            </a:r>
          </a:p>
          <a:p>
            <a:pPr marL="0" marR="0" indent="0">
              <a:buNone/>
            </a:pPr>
            <a:r>
              <a:rPr lang="en-US" dirty="0"/>
              <a:t>Here are some guidelines and tips…</a:t>
            </a:r>
          </a:p>
        </p:txBody>
      </p:sp>
    </p:spTree>
    <p:extLst>
      <p:ext uri="{BB962C8B-B14F-4D97-AF65-F5344CB8AC3E}">
        <p14:creationId xmlns:p14="http://schemas.microsoft.com/office/powerpoint/2010/main" val="78868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D7E88-FEFF-43D5-A4AA-4B2CCDC0E5E2}"/>
              </a:ext>
            </a:extLst>
          </p:cNvPr>
          <p:cNvSpPr>
            <a:spLocks noGrp="1"/>
          </p:cNvSpPr>
          <p:nvPr>
            <p:ph type="title"/>
          </p:nvPr>
        </p:nvSpPr>
        <p:spPr>
          <a:xfrm>
            <a:off x="686834" y="591344"/>
            <a:ext cx="3200400" cy="5585619"/>
          </a:xfrm>
        </p:spPr>
        <p:txBody>
          <a:bodyPr>
            <a:normAutofit/>
          </a:bodyPr>
          <a:lstStyle/>
          <a:p>
            <a:r>
              <a:rPr lang="en-US">
                <a:solidFill>
                  <a:srgbClr val="FFFFFF"/>
                </a:solidFill>
                <a:latin typeface="Calibri" panose="020F0502020204030204" pitchFamily="34" charset="0"/>
                <a:ea typeface="SimSun" panose="02010600030101010101" pitchFamily="2" charset="-122"/>
                <a:cs typeface="Times New Roman" panose="02020603050405020304" pitchFamily="18" charset="0"/>
              </a:rPr>
              <a:t>Strategies for dealing with awkward questions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9077047-21DF-4549-B349-404508194A6E}"/>
              </a:ext>
            </a:extLst>
          </p:cNvPr>
          <p:cNvSpPr>
            <a:spLocks noGrp="1"/>
          </p:cNvSpPr>
          <p:nvPr>
            <p:ph idx="1"/>
          </p:nvPr>
        </p:nvSpPr>
        <p:spPr>
          <a:xfrm>
            <a:off x="4447308" y="591344"/>
            <a:ext cx="6906491" cy="5585619"/>
          </a:xfrm>
        </p:spPr>
        <p:txBody>
          <a:bodyPr anchor="ctr">
            <a:normAutofit/>
          </a:bodyPr>
          <a:lstStyle/>
          <a:p>
            <a:pPr marL="0" indent="0">
              <a:spcBef>
                <a:spcPts val="0"/>
              </a:spcBef>
              <a:spcAft>
                <a:spcPts val="0"/>
              </a:spcAft>
              <a:buNone/>
            </a:pPr>
            <a:endParaRPr lang="en-GB" sz="2400" b="1">
              <a:ea typeface="SimSun" panose="02010600030101010101" pitchFamily="2" charset="-122"/>
              <a:cs typeface="Times New Roman" panose="02020603050405020304" pitchFamily="18" charset="0"/>
            </a:endParaRPr>
          </a:p>
          <a:p>
            <a:pPr marL="0" indent="0">
              <a:spcBef>
                <a:spcPts val="0"/>
              </a:spcBef>
              <a:spcAft>
                <a:spcPts val="0"/>
              </a:spcAft>
              <a:buNone/>
            </a:pPr>
            <a:r>
              <a:rPr lang="en-GB" sz="2400" b="1">
                <a:effectLst/>
                <a:ea typeface="SimSun" panose="02010600030101010101" pitchFamily="2" charset="-122"/>
                <a:cs typeface="Times New Roman" panose="02020603050405020304" pitchFamily="18" charset="0"/>
              </a:rPr>
              <a:t>Buy time…</a:t>
            </a:r>
          </a:p>
          <a:p>
            <a:pPr marL="0" indent="0">
              <a:spcBef>
                <a:spcPts val="0"/>
              </a:spcBef>
              <a:spcAft>
                <a:spcPts val="0"/>
              </a:spcAft>
              <a:buNone/>
            </a:pPr>
            <a:endParaRPr lang="en-GB" sz="2400">
              <a:effectLst/>
              <a:ea typeface="SimSun" panose="02010600030101010101" pitchFamily="2" charset="-122"/>
              <a:cs typeface="Times New Roman" panose="02020603050405020304" pitchFamily="18" charset="0"/>
            </a:endParaRPr>
          </a:p>
          <a:p>
            <a:pPr marL="0" indent="0">
              <a:spcBef>
                <a:spcPts val="0"/>
              </a:spcBef>
              <a:spcAft>
                <a:spcPts val="0"/>
              </a:spcAft>
              <a:buNone/>
            </a:pPr>
            <a:r>
              <a:rPr lang="en-GB" sz="2400">
                <a:effectLst/>
                <a:ea typeface="SimSun" panose="02010600030101010101" pitchFamily="2" charset="-122"/>
                <a:cs typeface="Times New Roman" panose="02020603050405020304" pitchFamily="18" charset="0"/>
              </a:rPr>
              <a:t>When you get a question, comment on it first. This will give you time to think. Here are some useful expressions to help you do that:</a:t>
            </a:r>
          </a:p>
          <a:p>
            <a:pPr marL="0" indent="0">
              <a:spcBef>
                <a:spcPts val="0"/>
              </a:spcBef>
              <a:spcAft>
                <a:spcPts val="0"/>
              </a:spcAft>
              <a:buNone/>
            </a:pPr>
            <a:endParaRPr lang="es-CO" sz="2400">
              <a:effectLst/>
              <a:ea typeface="SimSun" panose="02010600030101010101" pitchFamily="2" charset="-122"/>
            </a:endParaRPr>
          </a:p>
          <a:p>
            <a:pPr marL="0" indent="0">
              <a:spcBef>
                <a:spcPts val="0"/>
              </a:spcBef>
              <a:spcAft>
                <a:spcPts val="0"/>
              </a:spcAft>
              <a:buSzPts val="1000"/>
              <a:buNone/>
              <a:tabLst>
                <a:tab pos="457200" algn="l"/>
              </a:tabLst>
            </a:pPr>
            <a:r>
              <a:rPr lang="en-GB" sz="2400" i="1">
                <a:effectLst/>
                <a:ea typeface="SimSun" panose="02010600030101010101" pitchFamily="2" charset="-122"/>
                <a:cs typeface="Times New Roman" panose="02020603050405020304" pitchFamily="18" charset="0"/>
              </a:rPr>
              <a:t>That's a good question</a:t>
            </a:r>
          </a:p>
          <a:p>
            <a:pPr marL="0" indent="0">
              <a:spcBef>
                <a:spcPts val="0"/>
              </a:spcBef>
              <a:spcAft>
                <a:spcPts val="0"/>
              </a:spcAft>
              <a:buSzPts val="1000"/>
              <a:buNone/>
              <a:tabLst>
                <a:tab pos="457200" algn="l"/>
              </a:tabLst>
            </a:pPr>
            <a:r>
              <a:rPr lang="en-GB" sz="2400" i="1">
                <a:ea typeface="SimSun" panose="02010600030101010101" pitchFamily="2" charset="-122"/>
                <a:cs typeface="Times New Roman" panose="02020603050405020304" pitchFamily="18" charset="0"/>
              </a:rPr>
              <a:t>That’s a </a:t>
            </a:r>
            <a:r>
              <a:rPr lang="en-GB" sz="2400" i="1">
                <a:effectLst/>
                <a:ea typeface="SimSun" panose="02010600030101010101" pitchFamily="2" charset="-122"/>
                <a:cs typeface="Times New Roman" panose="02020603050405020304" pitchFamily="18" charset="0"/>
              </a:rPr>
              <a:t>very interesting / relevant question.</a:t>
            </a:r>
            <a:endParaRPr lang="es-CO" sz="2400">
              <a:effectLst/>
              <a:ea typeface="SimSun" panose="02010600030101010101" pitchFamily="2" charset="-122"/>
            </a:endParaRPr>
          </a:p>
          <a:p>
            <a:pPr marL="0" indent="0">
              <a:spcBef>
                <a:spcPts val="0"/>
              </a:spcBef>
              <a:spcAft>
                <a:spcPts val="0"/>
              </a:spcAft>
              <a:buSzPts val="1000"/>
              <a:buNone/>
              <a:tabLst>
                <a:tab pos="457200" algn="l"/>
              </a:tabLst>
            </a:pPr>
            <a:r>
              <a:rPr lang="en-GB" sz="2400" i="1">
                <a:effectLst/>
                <a:ea typeface="SimSun" panose="02010600030101010101" pitchFamily="2" charset="-122"/>
                <a:cs typeface="Times New Roman" panose="02020603050405020304" pitchFamily="18" charset="0"/>
              </a:rPr>
              <a:t>I'm glad you've asked that question.</a:t>
            </a:r>
          </a:p>
          <a:p>
            <a:pPr marL="0" indent="0">
              <a:spcBef>
                <a:spcPts val="0"/>
              </a:spcBef>
              <a:spcAft>
                <a:spcPts val="0"/>
              </a:spcAft>
              <a:buSzPts val="1000"/>
              <a:buNone/>
              <a:tabLst>
                <a:tab pos="457200" algn="l"/>
              </a:tabLst>
            </a:pPr>
            <a:endParaRPr lang="en-GB" sz="2400" b="1" i="1">
              <a:ea typeface="SimSun" panose="02010600030101010101" pitchFamily="2" charset="-122"/>
              <a:cs typeface="Times New Roman" panose="02020603050405020304" pitchFamily="18" charset="0"/>
            </a:endParaRPr>
          </a:p>
          <a:p>
            <a:pPr marL="0" indent="0">
              <a:spcBef>
                <a:spcPts val="0"/>
              </a:spcBef>
              <a:spcAft>
                <a:spcPts val="0"/>
              </a:spcAft>
              <a:buSzPts val="1000"/>
              <a:buNone/>
              <a:tabLst>
                <a:tab pos="457200" algn="l"/>
              </a:tabLst>
            </a:pPr>
            <a:r>
              <a:rPr lang="en-GB" sz="2400" b="1" i="1">
                <a:ea typeface="SimSun" panose="02010600030101010101" pitchFamily="2" charset="-122"/>
                <a:cs typeface="Times New Roman" panose="02020603050405020304" pitchFamily="18" charset="0"/>
              </a:rPr>
              <a:t>Seek clarification: </a:t>
            </a:r>
          </a:p>
          <a:p>
            <a:pPr marL="0" indent="0">
              <a:spcBef>
                <a:spcPts val="0"/>
              </a:spcBef>
              <a:spcAft>
                <a:spcPts val="0"/>
              </a:spcAft>
              <a:buSzPts val="1000"/>
              <a:buNone/>
              <a:tabLst>
                <a:tab pos="457200" algn="l"/>
              </a:tabLst>
            </a:pPr>
            <a:r>
              <a:rPr lang="en-GB" sz="2400">
                <a:ea typeface="SimSun" panose="02010600030101010101" pitchFamily="2" charset="-122"/>
                <a:cs typeface="Arial" panose="020B0604020202020204" pitchFamily="34" charset="0"/>
              </a:rPr>
              <a:t> </a:t>
            </a:r>
            <a:endParaRPr lang="es-CO" sz="2400">
              <a:ea typeface="SimSun" panose="02010600030101010101" pitchFamily="2" charset="-122"/>
            </a:endParaRPr>
          </a:p>
          <a:p>
            <a:pPr marL="0" marR="0" lvl="0" indent="0">
              <a:spcBef>
                <a:spcPts val="0"/>
              </a:spcBef>
              <a:spcAft>
                <a:spcPts val="0"/>
              </a:spcAft>
              <a:buNone/>
            </a:pPr>
            <a:r>
              <a:rPr lang="en-GB" sz="2400" i="1">
                <a:ea typeface="SimSun" panose="02010600030101010101" pitchFamily="2" charset="-122"/>
                <a:cs typeface="Arial" panose="020B0604020202020204" pitchFamily="34" charset="0"/>
              </a:rPr>
              <a:t>Can I ask what’s behind that question?</a:t>
            </a:r>
            <a:endParaRPr lang="es-CO" sz="2400">
              <a:ea typeface="SimSun" panose="02010600030101010101" pitchFamily="2" charset="-122"/>
            </a:endParaRPr>
          </a:p>
          <a:p>
            <a:pPr marL="0" marR="0" lvl="0" indent="0">
              <a:spcBef>
                <a:spcPts val="0"/>
              </a:spcBef>
              <a:spcAft>
                <a:spcPts val="0"/>
              </a:spcAft>
              <a:buNone/>
            </a:pPr>
            <a:r>
              <a:rPr lang="en-GB" sz="2400" i="1">
                <a:ea typeface="SimSun" panose="02010600030101010101" pitchFamily="2" charset="-122"/>
                <a:cs typeface="Arial" panose="020B0604020202020204" pitchFamily="34" charset="0"/>
              </a:rPr>
              <a:t>Well, what’s your own view?</a:t>
            </a:r>
            <a:endParaRPr lang="es-CO" sz="2400">
              <a:ea typeface="SimSun" panose="02010600030101010101" pitchFamily="2" charset="-122"/>
            </a:endParaRPr>
          </a:p>
          <a:p>
            <a:pPr marL="0" marR="0" lvl="0" indent="0">
              <a:spcBef>
                <a:spcPts val="0"/>
              </a:spcBef>
              <a:spcAft>
                <a:spcPts val="0"/>
              </a:spcAft>
              <a:buNone/>
            </a:pPr>
            <a:r>
              <a:rPr lang="en-GB" sz="2400" i="1">
                <a:ea typeface="SimSun" panose="02010600030101010101" pitchFamily="2" charset="-122"/>
                <a:cs typeface="Arial" panose="020B0604020202020204" pitchFamily="34" charset="0"/>
              </a:rPr>
              <a:t>Why do you ask?</a:t>
            </a:r>
            <a:endParaRPr lang="es-CO" sz="2400">
              <a:ea typeface="SimSun" panose="02010600030101010101" pitchFamily="2" charset="-122"/>
            </a:endParaRPr>
          </a:p>
          <a:p>
            <a:pPr marL="0" marR="0" lvl="0" indent="0">
              <a:spcBef>
                <a:spcPts val="0"/>
              </a:spcBef>
              <a:spcAft>
                <a:spcPts val="0"/>
              </a:spcAft>
              <a:buSzPts val="1000"/>
              <a:buNone/>
              <a:tabLst>
                <a:tab pos="457200" algn="l"/>
              </a:tabLst>
            </a:pPr>
            <a:endParaRPr lang="es-CO" sz="2400">
              <a:effectLst/>
              <a:ea typeface="SimSun" panose="02010600030101010101" pitchFamily="2" charset="-122"/>
            </a:endParaRPr>
          </a:p>
          <a:p>
            <a:pPr marL="0" indent="0">
              <a:buNone/>
            </a:pPr>
            <a:endParaRPr lang="en-US" sz="2400"/>
          </a:p>
        </p:txBody>
      </p:sp>
    </p:spTree>
    <p:extLst>
      <p:ext uri="{BB962C8B-B14F-4D97-AF65-F5344CB8AC3E}">
        <p14:creationId xmlns:p14="http://schemas.microsoft.com/office/powerpoint/2010/main" val="392298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fade">
                                      <p:cBhvr>
                                        <p:cTn id="47" dur="500"/>
                                        <p:tgtEl>
                                          <p:spTgt spid="3">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66E17-1C62-4637-B9AF-C5E2A139B1DE}"/>
              </a:ext>
            </a:extLst>
          </p:cNvPr>
          <p:cNvSpPr>
            <a:spLocks noGrp="1"/>
          </p:cNvSpPr>
          <p:nvPr>
            <p:ph type="title"/>
          </p:nvPr>
        </p:nvSpPr>
        <p:spPr>
          <a:xfrm>
            <a:off x="686834" y="591344"/>
            <a:ext cx="3200400" cy="5585619"/>
          </a:xfrm>
        </p:spPr>
        <p:txBody>
          <a:bodyPr>
            <a:normAutofit/>
          </a:bodyPr>
          <a:lstStyle/>
          <a:p>
            <a:r>
              <a:rPr lang="en-US">
                <a:solidFill>
                  <a:srgbClr val="FFFFFF"/>
                </a:solidFill>
                <a:latin typeface="Calibri" panose="020F0502020204030204" pitchFamily="34" charset="0"/>
                <a:ea typeface="SimSun" panose="02010600030101010101" pitchFamily="2" charset="-122"/>
                <a:cs typeface="Times New Roman" panose="02020603050405020304" pitchFamily="18" charset="0"/>
              </a:rPr>
              <a:t>Strategies for dealing with awkward questions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DA93FCA-3571-4621-A5AF-9FD5800B3B85}"/>
              </a:ext>
            </a:extLst>
          </p:cNvPr>
          <p:cNvSpPr>
            <a:spLocks noGrp="1"/>
          </p:cNvSpPr>
          <p:nvPr>
            <p:ph idx="1"/>
          </p:nvPr>
        </p:nvSpPr>
        <p:spPr>
          <a:xfrm>
            <a:off x="4447308" y="591344"/>
            <a:ext cx="6906491" cy="5585619"/>
          </a:xfrm>
        </p:spPr>
        <p:txBody>
          <a:bodyPr anchor="ctr">
            <a:normAutofit/>
          </a:bodyPr>
          <a:lstStyle/>
          <a:p>
            <a:pPr marL="0" marR="0" lvl="0" indent="0">
              <a:spcBef>
                <a:spcPts val="0"/>
              </a:spcBef>
              <a:spcAft>
                <a:spcPts val="0"/>
              </a:spcAft>
              <a:buSzPts val="1000"/>
              <a:buNone/>
              <a:tabLst>
                <a:tab pos="457200" algn="l"/>
              </a:tabLst>
            </a:pPr>
            <a:r>
              <a:rPr lang="en-GB" sz="2600" b="1">
                <a:effectLst/>
                <a:ea typeface="SimSun" panose="02010600030101010101" pitchFamily="2" charset="-122"/>
                <a:cs typeface="Times New Roman" panose="02020603050405020304" pitchFamily="18" charset="0"/>
              </a:rPr>
              <a:t>Delay or Defer:</a:t>
            </a:r>
          </a:p>
          <a:p>
            <a:pPr marL="0" marR="0" lvl="0" indent="0">
              <a:spcBef>
                <a:spcPts val="0"/>
              </a:spcBef>
              <a:spcAft>
                <a:spcPts val="0"/>
              </a:spcAft>
              <a:buSzPts val="1000"/>
              <a:buNone/>
              <a:tabLst>
                <a:tab pos="457200" algn="l"/>
              </a:tabLst>
            </a:pPr>
            <a:r>
              <a:rPr lang="en-GB" sz="2600">
                <a:effectLst/>
                <a:ea typeface="SimSun" panose="02010600030101010101" pitchFamily="2" charset="-122"/>
                <a:cs typeface="Times New Roman" panose="02020603050405020304" pitchFamily="18" charset="0"/>
              </a:rPr>
              <a:t>I'm sorry but I don't have that information to hand.</a:t>
            </a:r>
            <a:endParaRPr lang="es-CO" sz="2600">
              <a:effectLst/>
              <a:ea typeface="SimSun" panose="02010600030101010101" pitchFamily="2" charset="-122"/>
            </a:endParaRPr>
          </a:p>
          <a:p>
            <a:pPr marL="0" marR="0" lvl="0" indent="0">
              <a:spcBef>
                <a:spcPts val="0"/>
              </a:spcBef>
              <a:spcAft>
                <a:spcPts val="0"/>
              </a:spcAft>
              <a:buNone/>
            </a:pPr>
            <a:r>
              <a:rPr lang="en-GB" sz="2600">
                <a:ea typeface="SimSun" panose="02010600030101010101" pitchFamily="2" charset="-122"/>
                <a:cs typeface="Arial" panose="020B0604020202020204" pitchFamily="34" charset="0"/>
              </a:rPr>
              <a:t>I’m afraid I can’t give you answer off the top of my head. Can I get back to you on that?</a:t>
            </a:r>
          </a:p>
          <a:p>
            <a:pPr marL="0" marR="0" lvl="0" indent="0">
              <a:spcBef>
                <a:spcPts val="0"/>
              </a:spcBef>
              <a:spcAft>
                <a:spcPts val="0"/>
              </a:spcAft>
              <a:buNone/>
            </a:pPr>
            <a:r>
              <a:rPr lang="en-GB" sz="2600">
                <a:ea typeface="SimSun" panose="02010600030101010101" pitchFamily="2" charset="-122"/>
                <a:cs typeface="Arial" panose="020B0604020202020204" pitchFamily="34" charset="0"/>
              </a:rPr>
              <a:t>I’d like to / I’d need to consult a colleague / a source to be sure, then get back to you</a:t>
            </a:r>
          </a:p>
          <a:p>
            <a:pPr marL="0" marR="0" lvl="0" indent="0">
              <a:spcBef>
                <a:spcPts val="0"/>
              </a:spcBef>
              <a:spcAft>
                <a:spcPts val="0"/>
              </a:spcAft>
              <a:buNone/>
            </a:pPr>
            <a:endParaRPr lang="es-CO" sz="2600">
              <a:ea typeface="SimSun" panose="02010600030101010101" pitchFamily="2" charset="-122"/>
            </a:endParaRPr>
          </a:p>
          <a:p>
            <a:pPr marL="0" marR="0" lvl="0" indent="0">
              <a:spcBef>
                <a:spcPts val="0"/>
              </a:spcBef>
              <a:spcAft>
                <a:spcPts val="0"/>
              </a:spcAft>
              <a:buSzPts val="1000"/>
              <a:buNone/>
              <a:tabLst>
                <a:tab pos="457200" algn="l"/>
              </a:tabLst>
            </a:pPr>
            <a:r>
              <a:rPr lang="en-US" sz="2600" b="1">
                <a:effectLst/>
                <a:ea typeface="SimSun" panose="02010600030101010101" pitchFamily="2" charset="-122"/>
              </a:rPr>
              <a:t>Referral:</a:t>
            </a:r>
          </a:p>
          <a:p>
            <a:pPr marL="0" marR="0" lvl="0" indent="0">
              <a:spcBef>
                <a:spcPts val="0"/>
              </a:spcBef>
              <a:spcAft>
                <a:spcPts val="0"/>
              </a:spcAft>
              <a:buSzPts val="1000"/>
              <a:buNone/>
              <a:tabLst>
                <a:tab pos="457200" algn="l"/>
              </a:tabLst>
            </a:pPr>
            <a:r>
              <a:rPr lang="en-GB" sz="2600">
                <a:effectLst/>
                <a:ea typeface="SimSun" panose="02010600030101010101" pitchFamily="2" charset="-122"/>
                <a:cs typeface="Times New Roman" panose="02020603050405020304" pitchFamily="18" charset="0"/>
              </a:rPr>
              <a:t>I'm afraid I can't answer that but I can direct you to…</a:t>
            </a:r>
            <a:endParaRPr lang="es-CO" sz="2600">
              <a:effectLst/>
              <a:ea typeface="SimSun" panose="02010600030101010101" pitchFamily="2" charset="-122"/>
            </a:endParaRPr>
          </a:p>
          <a:p>
            <a:pPr marL="0" marR="0" lvl="0" indent="0">
              <a:spcBef>
                <a:spcPts val="0"/>
              </a:spcBef>
              <a:spcAft>
                <a:spcPts val="0"/>
              </a:spcAft>
              <a:buSzPts val="1000"/>
              <a:buNone/>
              <a:tabLst>
                <a:tab pos="457200" algn="l"/>
              </a:tabLst>
            </a:pPr>
            <a:r>
              <a:rPr lang="en-GB" sz="2600">
                <a:effectLst/>
                <a:ea typeface="SimSun" panose="02010600030101010101" pitchFamily="2" charset="-122"/>
                <a:cs typeface="Times New Roman" panose="02020603050405020304" pitchFamily="18" charset="0"/>
              </a:rPr>
              <a:t>I'm not in a position to comment on that but perhaps if you consult…</a:t>
            </a:r>
          </a:p>
          <a:p>
            <a:pPr marL="0" marR="0" lvl="0" indent="0">
              <a:spcBef>
                <a:spcPts val="0"/>
              </a:spcBef>
              <a:spcAft>
                <a:spcPts val="0"/>
              </a:spcAft>
              <a:buSzPts val="1000"/>
              <a:buNone/>
              <a:tabLst>
                <a:tab pos="457200" algn="l"/>
              </a:tabLst>
            </a:pPr>
            <a:r>
              <a:rPr lang="en-GB" sz="2600">
                <a:ea typeface="SimSun" panose="02010600030101010101" pitchFamily="2" charset="-122"/>
                <a:cs typeface="Times New Roman" panose="02020603050405020304" pitchFamily="18" charset="0"/>
              </a:rPr>
              <a:t>Let me direct you to Jones (2012) who wrote extensively on X…</a:t>
            </a:r>
            <a:endParaRPr lang="es-CO" sz="2600">
              <a:effectLst/>
              <a:ea typeface="SimSun" panose="02010600030101010101" pitchFamily="2" charset="-122"/>
            </a:endParaRPr>
          </a:p>
          <a:p>
            <a:pPr marL="0" marR="0" lvl="0" indent="0">
              <a:spcBef>
                <a:spcPts val="0"/>
              </a:spcBef>
              <a:spcAft>
                <a:spcPts val="0"/>
              </a:spcAft>
              <a:buSzPts val="1000"/>
              <a:buNone/>
              <a:tabLst>
                <a:tab pos="457200" algn="l"/>
              </a:tabLst>
            </a:pPr>
            <a:endParaRPr lang="en-GB" sz="2600" b="1">
              <a:effectLst/>
              <a:ea typeface="SimSun" panose="02010600030101010101" pitchFamily="2" charset="-122"/>
              <a:cs typeface="Times New Roman" panose="02020603050405020304" pitchFamily="18" charset="0"/>
            </a:endParaRPr>
          </a:p>
          <a:p>
            <a:endParaRPr lang="en-US" sz="2600"/>
          </a:p>
        </p:txBody>
      </p:sp>
    </p:spTree>
    <p:extLst>
      <p:ext uri="{BB962C8B-B14F-4D97-AF65-F5344CB8AC3E}">
        <p14:creationId xmlns:p14="http://schemas.microsoft.com/office/powerpoint/2010/main" val="28955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66E17-1C62-4637-B9AF-C5E2A139B1DE}"/>
              </a:ext>
            </a:extLst>
          </p:cNvPr>
          <p:cNvSpPr>
            <a:spLocks noGrp="1"/>
          </p:cNvSpPr>
          <p:nvPr>
            <p:ph type="title"/>
          </p:nvPr>
        </p:nvSpPr>
        <p:spPr>
          <a:xfrm>
            <a:off x="686834" y="591344"/>
            <a:ext cx="3200400" cy="5585619"/>
          </a:xfrm>
        </p:spPr>
        <p:txBody>
          <a:bodyPr>
            <a:normAutofit/>
          </a:bodyPr>
          <a:lstStyle/>
          <a:p>
            <a:r>
              <a:rPr lang="en-US">
                <a:solidFill>
                  <a:srgbClr val="FFFFFF"/>
                </a:solidFill>
                <a:latin typeface="Calibri" panose="020F0502020204030204" pitchFamily="34" charset="0"/>
                <a:ea typeface="SimSun" panose="02010600030101010101" pitchFamily="2" charset="-122"/>
                <a:cs typeface="Times New Roman" panose="02020603050405020304" pitchFamily="18" charset="0"/>
              </a:rPr>
              <a:t>Strategies for dealing with awkward questions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DA93FCA-3571-4621-A5AF-9FD5800B3B85}"/>
              </a:ext>
            </a:extLst>
          </p:cNvPr>
          <p:cNvSpPr>
            <a:spLocks noGrp="1"/>
          </p:cNvSpPr>
          <p:nvPr>
            <p:ph idx="1"/>
          </p:nvPr>
        </p:nvSpPr>
        <p:spPr>
          <a:xfrm>
            <a:off x="4447308" y="591344"/>
            <a:ext cx="6906491" cy="5585619"/>
          </a:xfrm>
        </p:spPr>
        <p:txBody>
          <a:bodyPr anchor="ctr">
            <a:normAutofit/>
          </a:bodyPr>
          <a:lstStyle/>
          <a:p>
            <a:pPr marL="0" marR="0" lvl="0" indent="0">
              <a:spcBef>
                <a:spcPts val="0"/>
              </a:spcBef>
              <a:spcAft>
                <a:spcPts val="0"/>
              </a:spcAft>
              <a:buSzPts val="1000"/>
              <a:buNone/>
              <a:tabLst>
                <a:tab pos="457200" algn="l"/>
              </a:tabLst>
            </a:pPr>
            <a:r>
              <a:rPr lang="en-GB" b="1">
                <a:ea typeface="SimSun" panose="02010600030101010101" pitchFamily="2" charset="-122"/>
                <a:cs typeface="Times New Roman" panose="02020603050405020304" pitchFamily="18" charset="0"/>
              </a:rPr>
              <a:t>Reference back to your thesis/topic:</a:t>
            </a:r>
          </a:p>
          <a:p>
            <a:pPr marL="0" marR="0" lvl="0" indent="0">
              <a:spcBef>
                <a:spcPts val="0"/>
              </a:spcBef>
              <a:spcAft>
                <a:spcPts val="0"/>
              </a:spcAft>
              <a:buSzPts val="1000"/>
              <a:buNone/>
              <a:tabLst>
                <a:tab pos="457200" algn="l"/>
              </a:tabLst>
            </a:pPr>
            <a:r>
              <a:rPr lang="en-GB">
                <a:ea typeface="SimSun" panose="02010600030101010101" pitchFamily="2" charset="-122"/>
                <a:cs typeface="Times New Roman" panose="02020603050405020304" pitchFamily="18" charset="0"/>
              </a:rPr>
              <a:t>As I said earlier, …</a:t>
            </a:r>
            <a:endParaRPr lang="es-CO">
              <a:ea typeface="SimSun" panose="02010600030101010101" pitchFamily="2" charset="-122"/>
            </a:endParaRPr>
          </a:p>
          <a:p>
            <a:pPr marL="0" marR="0" lvl="0" indent="0">
              <a:spcBef>
                <a:spcPts val="0"/>
              </a:spcBef>
              <a:spcAft>
                <a:spcPts val="0"/>
              </a:spcAft>
              <a:buSzPts val="1000"/>
              <a:buNone/>
              <a:tabLst>
                <a:tab pos="457200" algn="l"/>
              </a:tabLst>
            </a:pPr>
            <a:r>
              <a:rPr lang="en-GB">
                <a:ea typeface="SimSun" panose="02010600030101010101" pitchFamily="2" charset="-122"/>
                <a:cs typeface="Times New Roman" panose="02020603050405020304" pitchFamily="18" charset="0"/>
              </a:rPr>
              <a:t>I think I answered that when I said …</a:t>
            </a:r>
          </a:p>
          <a:p>
            <a:pPr marL="0" marR="0" lvl="0" indent="0">
              <a:spcBef>
                <a:spcPts val="0"/>
              </a:spcBef>
              <a:spcAft>
                <a:spcPts val="0"/>
              </a:spcAft>
              <a:buSzPts val="1000"/>
              <a:buNone/>
              <a:tabLst>
                <a:tab pos="457200" algn="l"/>
              </a:tabLst>
            </a:pPr>
            <a:r>
              <a:rPr lang="en-GB">
                <a:ea typeface="SimSun" panose="02010600030101010101" pitchFamily="2" charset="-122"/>
                <a:cs typeface="Times New Roman" panose="02020603050405020304" pitchFamily="18" charset="0"/>
              </a:rPr>
              <a:t>Let me reiterate the key point I was trying to make…</a:t>
            </a:r>
          </a:p>
          <a:p>
            <a:pPr marL="0" marR="0" lvl="0" indent="0">
              <a:spcBef>
                <a:spcPts val="0"/>
              </a:spcBef>
              <a:spcAft>
                <a:spcPts val="0"/>
              </a:spcAft>
              <a:buSzPts val="1000"/>
              <a:buNone/>
              <a:tabLst>
                <a:tab pos="457200" algn="l"/>
              </a:tabLst>
            </a:pPr>
            <a:r>
              <a:rPr lang="en-GB">
                <a:ea typeface="SimSun" panose="02010600030101010101" pitchFamily="2" charset="-122"/>
                <a:cs typeface="Times New Roman" panose="02020603050405020304" pitchFamily="18" charset="0"/>
              </a:rPr>
              <a:t>Let me repeat again for clarity the main points from my talk today….</a:t>
            </a:r>
            <a:endParaRPr lang="es-CO">
              <a:ea typeface="SimSun" panose="02010600030101010101" pitchFamily="2" charset="-122"/>
            </a:endParaRPr>
          </a:p>
          <a:p>
            <a:pPr marL="0" marR="0" lvl="0" indent="0">
              <a:spcBef>
                <a:spcPts val="0"/>
              </a:spcBef>
              <a:spcAft>
                <a:spcPts val="0"/>
              </a:spcAft>
              <a:buSzPts val="1000"/>
              <a:buNone/>
              <a:tabLst>
                <a:tab pos="457200" algn="l"/>
              </a:tabLst>
            </a:pPr>
            <a:endParaRPr lang="en-GB" b="1">
              <a:ea typeface="SimSun" panose="02010600030101010101" pitchFamily="2" charset="-122"/>
              <a:cs typeface="Times New Roman" panose="02020603050405020304" pitchFamily="18" charset="0"/>
            </a:endParaRPr>
          </a:p>
          <a:p>
            <a:pPr marL="0" marR="0" lvl="0" indent="0">
              <a:spcBef>
                <a:spcPts val="0"/>
              </a:spcBef>
              <a:spcAft>
                <a:spcPts val="0"/>
              </a:spcAft>
              <a:buSzPts val="1000"/>
              <a:buNone/>
              <a:tabLst>
                <a:tab pos="457200" algn="l"/>
              </a:tabLst>
            </a:pPr>
            <a:r>
              <a:rPr lang="en-GB" b="1">
                <a:ea typeface="SimSun" panose="02010600030101010101" pitchFamily="2" charset="-122"/>
                <a:cs typeface="Times New Roman" panose="02020603050405020304" pitchFamily="18" charset="0"/>
              </a:rPr>
              <a:t>Dismiss as off topic:</a:t>
            </a:r>
          </a:p>
          <a:p>
            <a:pPr marL="0" marR="0" lvl="0" indent="0">
              <a:spcBef>
                <a:spcPts val="0"/>
              </a:spcBef>
              <a:spcAft>
                <a:spcPts val="0"/>
              </a:spcAft>
              <a:buSzPts val="1000"/>
              <a:buNone/>
              <a:tabLst>
                <a:tab pos="457200" algn="l"/>
              </a:tabLst>
            </a:pPr>
            <a:r>
              <a:rPr lang="en-GB">
                <a:ea typeface="SimSun" panose="02010600030101010101" pitchFamily="2" charset="-122"/>
                <a:cs typeface="Times New Roman" panose="02020603050405020304" pitchFamily="18" charset="0"/>
              </a:rPr>
              <a:t>I don't see the connection.</a:t>
            </a:r>
            <a:endParaRPr lang="es-CO">
              <a:ea typeface="SimSun" panose="02010600030101010101" pitchFamily="2" charset="-122"/>
            </a:endParaRPr>
          </a:p>
          <a:p>
            <a:pPr marL="0" marR="0" lvl="0" indent="0">
              <a:spcBef>
                <a:spcPts val="0"/>
              </a:spcBef>
              <a:spcAft>
                <a:spcPts val="0"/>
              </a:spcAft>
              <a:buSzPts val="1000"/>
              <a:buNone/>
              <a:tabLst>
                <a:tab pos="457200" algn="l"/>
              </a:tabLst>
            </a:pPr>
            <a:r>
              <a:rPr lang="en-GB">
                <a:ea typeface="SimSun" panose="02010600030101010101" pitchFamily="2" charset="-122"/>
                <a:cs typeface="Times New Roman" panose="02020603050405020304" pitchFamily="18" charset="0"/>
              </a:rPr>
              <a:t>I'm sorry, I don’t follow you.</a:t>
            </a:r>
            <a:endParaRPr lang="es-CO">
              <a:ea typeface="SimSun" panose="02010600030101010101" pitchFamily="2" charset="-122"/>
            </a:endParaRPr>
          </a:p>
          <a:p>
            <a:pPr marL="0" marR="0" lvl="0" indent="0">
              <a:spcBef>
                <a:spcPts val="0"/>
              </a:spcBef>
              <a:spcAft>
                <a:spcPts val="0"/>
              </a:spcAft>
              <a:buSzPts val="1000"/>
              <a:buNone/>
              <a:tabLst>
                <a:tab pos="457200" algn="l"/>
              </a:tabLst>
            </a:pPr>
            <a:r>
              <a:rPr lang="en-GB">
                <a:ea typeface="SimSun" panose="02010600030101010101" pitchFamily="2" charset="-122"/>
                <a:cs typeface="Times New Roman" panose="02020603050405020304" pitchFamily="18" charset="0"/>
              </a:rPr>
              <a:t>I think that is a very different issue. </a:t>
            </a:r>
            <a:endParaRPr lang="es-CO">
              <a:ea typeface="SimSun" panose="02010600030101010101" pitchFamily="2" charset="-122"/>
            </a:endParaRPr>
          </a:p>
          <a:p>
            <a:pPr marL="0" marR="0" lvl="0" indent="0">
              <a:spcBef>
                <a:spcPts val="0"/>
              </a:spcBef>
              <a:spcAft>
                <a:spcPts val="0"/>
              </a:spcAft>
              <a:buSzPts val="1000"/>
              <a:buNone/>
              <a:tabLst>
                <a:tab pos="457200" algn="l"/>
              </a:tabLst>
            </a:pPr>
            <a:endParaRPr lang="en-GB" b="1">
              <a:effectLst/>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322217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66E17-1C62-4637-B9AF-C5E2A139B1DE}"/>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Calibri" panose="020F0502020204030204" pitchFamily="34" charset="0"/>
                <a:ea typeface="SimSun" panose="02010600030101010101" pitchFamily="2" charset="-122"/>
                <a:cs typeface="Times New Roman" panose="02020603050405020304" pitchFamily="18" charset="0"/>
              </a:rPr>
              <a:t>Strategies for dealing with awkward questions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DA93FCA-3571-4621-A5AF-9FD5800B3B85}"/>
              </a:ext>
            </a:extLst>
          </p:cNvPr>
          <p:cNvSpPr>
            <a:spLocks noGrp="1"/>
          </p:cNvSpPr>
          <p:nvPr>
            <p:ph idx="1"/>
          </p:nvPr>
        </p:nvSpPr>
        <p:spPr>
          <a:xfrm>
            <a:off x="4447308" y="591344"/>
            <a:ext cx="6906491" cy="5585619"/>
          </a:xfrm>
        </p:spPr>
        <p:txBody>
          <a:bodyPr anchor="ctr">
            <a:normAutofit/>
          </a:bodyPr>
          <a:lstStyle/>
          <a:p>
            <a:pPr marL="0" marR="0" lvl="0" indent="0">
              <a:spcBef>
                <a:spcPts val="0"/>
              </a:spcBef>
              <a:spcAft>
                <a:spcPts val="0"/>
              </a:spcAft>
              <a:buSzPts val="1000"/>
              <a:buNone/>
              <a:tabLst>
                <a:tab pos="457200" algn="l"/>
              </a:tabLst>
            </a:pPr>
            <a:r>
              <a:rPr lang="en-US" b="1"/>
              <a:t>‘Simplify and Kill’:</a:t>
            </a:r>
          </a:p>
          <a:p>
            <a:pPr marL="0" marR="0" lvl="0" indent="0">
              <a:spcBef>
                <a:spcPts val="0"/>
              </a:spcBef>
              <a:spcAft>
                <a:spcPts val="0"/>
              </a:spcAft>
              <a:buSzPts val="1000"/>
              <a:buNone/>
              <a:tabLst>
                <a:tab pos="457200" algn="l"/>
              </a:tabLst>
            </a:pPr>
            <a:r>
              <a:rPr lang="en-US"/>
              <a:t>Paraphrase what they're saying into a yes or no question, proceed immediately after they say "yes" or "no“</a:t>
            </a:r>
          </a:p>
          <a:p>
            <a:pPr marL="0" marR="0" lvl="0" indent="0">
              <a:spcBef>
                <a:spcPts val="0"/>
              </a:spcBef>
              <a:spcAft>
                <a:spcPts val="0"/>
              </a:spcAft>
              <a:buSzPts val="1000"/>
              <a:buNone/>
              <a:tabLst>
                <a:tab pos="457200" algn="l"/>
              </a:tabLst>
            </a:pPr>
            <a:endParaRPr lang="en-US"/>
          </a:p>
          <a:p>
            <a:pPr marL="0" marR="0" lvl="0" indent="0">
              <a:spcBef>
                <a:spcPts val="0"/>
              </a:spcBef>
              <a:spcAft>
                <a:spcPts val="0"/>
              </a:spcAft>
              <a:buSzPts val="1000"/>
              <a:buNone/>
              <a:tabLst>
                <a:tab pos="457200" algn="l"/>
              </a:tabLst>
            </a:pPr>
            <a:r>
              <a:rPr lang="en-US" b="1">
                <a:effectLst/>
                <a:ea typeface="SimSun" panose="02010600030101010101" pitchFamily="2" charset="-122"/>
                <a:cs typeface="Times New Roman" panose="02020603050405020304" pitchFamily="18" charset="0"/>
              </a:rPr>
              <a:t>e.g. How soon will a decision be reached?</a:t>
            </a:r>
          </a:p>
          <a:p>
            <a:pPr marL="0" marR="0" lvl="0" indent="0">
              <a:spcBef>
                <a:spcPts val="0"/>
              </a:spcBef>
              <a:spcAft>
                <a:spcPts val="0"/>
              </a:spcAft>
              <a:buSzPts val="1000"/>
              <a:buNone/>
              <a:tabLst>
                <a:tab pos="457200" algn="l"/>
              </a:tabLst>
            </a:pPr>
            <a:r>
              <a:rPr lang="en-US" b="1">
                <a:ea typeface="SimSun" panose="02010600030101010101" pitchFamily="2" charset="-122"/>
                <a:cs typeface="Times New Roman" panose="02020603050405020304" pitchFamily="18" charset="0"/>
              </a:rPr>
              <a:t>Will a decision be reached today? No.</a:t>
            </a:r>
          </a:p>
          <a:p>
            <a:pPr marL="0" marR="0" lvl="0" indent="0">
              <a:spcBef>
                <a:spcPts val="0"/>
              </a:spcBef>
              <a:spcAft>
                <a:spcPts val="0"/>
              </a:spcAft>
              <a:buSzPts val="1000"/>
              <a:buNone/>
              <a:tabLst>
                <a:tab pos="457200" algn="l"/>
              </a:tabLst>
            </a:pPr>
            <a:r>
              <a:rPr lang="en-GB" b="1">
                <a:effectLst/>
                <a:ea typeface="SimSun" panose="02010600030101010101" pitchFamily="2" charset="-122"/>
                <a:cs typeface="Times New Roman" panose="02020603050405020304" pitchFamily="18" charset="0"/>
              </a:rPr>
              <a:t>Will a decision be reached soon? Yes. </a:t>
            </a:r>
          </a:p>
          <a:p>
            <a:pPr marL="0" marR="0" lvl="0" indent="0">
              <a:spcBef>
                <a:spcPts val="0"/>
              </a:spcBef>
              <a:spcAft>
                <a:spcPts val="0"/>
              </a:spcAft>
              <a:buSzPts val="1000"/>
              <a:buNone/>
              <a:tabLst>
                <a:tab pos="457200" algn="l"/>
              </a:tabLst>
            </a:pPr>
            <a:endParaRPr lang="en-GB" b="1">
              <a:effectLst/>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109737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B0B2A-C267-4EF2-A989-D44154A78318}"/>
              </a:ext>
            </a:extLst>
          </p:cNvPr>
          <p:cNvSpPr>
            <a:spLocks noGrp="1"/>
          </p:cNvSpPr>
          <p:nvPr>
            <p:ph type="title"/>
          </p:nvPr>
        </p:nvSpPr>
        <p:spPr>
          <a:xfrm>
            <a:off x="686834" y="1153572"/>
            <a:ext cx="3200400" cy="4461163"/>
          </a:xfrm>
        </p:spPr>
        <p:txBody>
          <a:bodyPr>
            <a:normAutofit/>
          </a:bodyPr>
          <a:lstStyle/>
          <a:p>
            <a:r>
              <a:rPr lang="en-GB" b="1">
                <a:solidFill>
                  <a:srgbClr val="FFFFFF"/>
                </a:solidFill>
                <a:latin typeface="Calibri" panose="020F0502020204030204" pitchFamily="34" charset="0"/>
                <a:ea typeface="SimSun" panose="02010600030101010101" pitchFamily="2" charset="-122"/>
                <a:cs typeface="Arial" panose="020B0604020202020204" pitchFamily="34" charset="0"/>
              </a:rPr>
              <a:t>Task 2 – bringing it all together</a:t>
            </a:r>
            <a:br>
              <a:rPr lang="es-CO">
                <a:solidFill>
                  <a:srgbClr val="FFFFFF"/>
                </a:solidFill>
                <a:latin typeface="Times New Roman" panose="02020603050405020304" pitchFamily="18" charset="0"/>
                <a:ea typeface="SimSun" panose="02010600030101010101" pitchFamily="2" charset="-122"/>
              </a:rPr>
            </a:b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0607414-A76E-44B6-B477-B0B5A8641B42}"/>
              </a:ext>
            </a:extLst>
          </p:cNvPr>
          <p:cNvSpPr>
            <a:spLocks noGrp="1"/>
          </p:cNvSpPr>
          <p:nvPr>
            <p:ph idx="1"/>
          </p:nvPr>
        </p:nvSpPr>
        <p:spPr>
          <a:xfrm>
            <a:off x="4447308" y="591344"/>
            <a:ext cx="6906491" cy="5585619"/>
          </a:xfrm>
        </p:spPr>
        <p:txBody>
          <a:bodyPr anchor="ctr">
            <a:normAutofit/>
          </a:bodyPr>
          <a:lstStyle/>
          <a:p>
            <a:pPr marL="0" marR="0" indent="0">
              <a:spcBef>
                <a:spcPts val="0"/>
              </a:spcBef>
              <a:spcAft>
                <a:spcPts val="0"/>
              </a:spcAft>
              <a:buNone/>
            </a:pPr>
            <a:r>
              <a:rPr lang="en-US" sz="2600" b="1" dirty="0">
                <a:latin typeface="Calibri" panose="020F0502020204030204" pitchFamily="34" charset="0"/>
                <a:ea typeface="SimSun" panose="02010600030101010101" pitchFamily="2" charset="-122"/>
                <a:cs typeface="Arial" panose="020B0604020202020204" pitchFamily="34" charset="0"/>
              </a:rPr>
              <a:t>Remembering aspects of NVC, including eye contact, delivery – stress, intonation, pace </a:t>
            </a:r>
            <a:r>
              <a:rPr lang="en-US" sz="2600" b="1" dirty="0" err="1">
                <a:latin typeface="Calibri" panose="020F0502020204030204" pitchFamily="34" charset="0"/>
                <a:ea typeface="SimSun" panose="02010600030101010101" pitchFamily="2" charset="-122"/>
                <a:cs typeface="Arial" panose="020B0604020202020204" pitchFamily="34" charset="0"/>
              </a:rPr>
              <a:t>etc</a:t>
            </a:r>
            <a:r>
              <a:rPr lang="en-US" sz="2600" b="1" dirty="0">
                <a:latin typeface="Calibri" panose="020F0502020204030204" pitchFamily="34" charset="0"/>
                <a:ea typeface="SimSun" panose="02010600030101010101" pitchFamily="2" charset="-122"/>
                <a:cs typeface="Arial" panose="020B0604020202020204" pitchFamily="34" charset="0"/>
              </a:rPr>
              <a:t>, we will take turns handling deliberately awkward questions</a:t>
            </a:r>
            <a:endParaRPr lang="es-CO" sz="2600" dirty="0">
              <a:effectLst/>
              <a:latin typeface="Times New Roman" panose="02020603050405020304" pitchFamily="18" charset="0"/>
              <a:ea typeface="SimSun" panose="02010600030101010101" pitchFamily="2" charset="-122"/>
            </a:endParaRPr>
          </a:p>
          <a:p>
            <a:pPr marL="0" marR="0" indent="0">
              <a:spcBef>
                <a:spcPts val="0"/>
              </a:spcBef>
              <a:spcAft>
                <a:spcPts val="0"/>
              </a:spcAft>
              <a:buNone/>
            </a:pPr>
            <a:endParaRPr lang="es-CO" sz="2600" dirty="0">
              <a:effectLst/>
              <a:latin typeface="Times New Roman" panose="02020603050405020304" pitchFamily="18" charset="0"/>
              <a:ea typeface="SimSun" panose="02010600030101010101" pitchFamily="2" charset="-122"/>
            </a:endParaRPr>
          </a:p>
          <a:p>
            <a:pPr marL="0" marR="0" lvl="0" indent="0">
              <a:spcBef>
                <a:spcPts val="0"/>
              </a:spcBef>
              <a:spcAft>
                <a:spcPts val="0"/>
              </a:spcAft>
              <a:buNone/>
              <a:tabLst>
                <a:tab pos="457200" algn="l"/>
              </a:tabLst>
            </a:pPr>
            <a:r>
              <a:rPr lang="en-GB" sz="2600" dirty="0">
                <a:effectLst/>
                <a:latin typeface="Calibri" panose="020F0502020204030204" pitchFamily="34" charset="0"/>
                <a:ea typeface="SimSun" panose="02010600030101010101" pitchFamily="2" charset="-122"/>
                <a:cs typeface="Arial" panose="020B0604020202020204" pitchFamily="34" charset="0"/>
              </a:rPr>
              <a:t>What’s the precise population of </a:t>
            </a:r>
            <a:r>
              <a:rPr lang="en-GB" sz="2600">
                <a:effectLst/>
                <a:latin typeface="Calibri" panose="020F0502020204030204" pitchFamily="34" charset="0"/>
                <a:ea typeface="SimSun" panose="02010600030101010101" pitchFamily="2" charset="-122"/>
                <a:cs typeface="Arial" panose="020B0604020202020204" pitchFamily="34" charset="0"/>
              </a:rPr>
              <a:t>Finland?</a:t>
            </a:r>
            <a:endParaRPr lang="es-CO" sz="2600" dirty="0">
              <a:effectLst/>
              <a:latin typeface="Times New Roman" panose="02020603050405020304" pitchFamily="18" charset="0"/>
              <a:ea typeface="SimSun" panose="02010600030101010101" pitchFamily="2" charset="-122"/>
            </a:endParaRPr>
          </a:p>
          <a:p>
            <a:pPr marL="0" marR="0" lvl="0" indent="0">
              <a:spcBef>
                <a:spcPts val="0"/>
              </a:spcBef>
              <a:spcAft>
                <a:spcPts val="0"/>
              </a:spcAft>
              <a:buNone/>
              <a:tabLst>
                <a:tab pos="457200" algn="l"/>
              </a:tabLst>
            </a:pPr>
            <a:r>
              <a:rPr lang="en-GB" sz="2600" dirty="0">
                <a:effectLst/>
                <a:latin typeface="Calibri" panose="020F0502020204030204" pitchFamily="34" charset="0"/>
                <a:ea typeface="SimSun" panose="02010600030101010101" pitchFamily="2" charset="-122"/>
                <a:cs typeface="Arial" panose="020B0604020202020204" pitchFamily="34" charset="0"/>
              </a:rPr>
              <a:t>By how many degrees will global temperatures going to rise in th</a:t>
            </a:r>
            <a:r>
              <a:rPr lang="en-GB" sz="2600" dirty="0">
                <a:latin typeface="Calibri" panose="020F0502020204030204" pitchFamily="34" charset="0"/>
                <a:ea typeface="SimSun" panose="02010600030101010101" pitchFamily="2" charset="-122"/>
                <a:cs typeface="Arial" panose="020B0604020202020204" pitchFamily="34" charset="0"/>
              </a:rPr>
              <a:t>e next 5 years</a:t>
            </a:r>
            <a:r>
              <a:rPr lang="en-GB" sz="2600" dirty="0">
                <a:effectLst/>
                <a:latin typeface="Calibri" panose="020F0502020204030204" pitchFamily="34" charset="0"/>
                <a:ea typeface="SimSun" panose="02010600030101010101" pitchFamily="2" charset="-122"/>
                <a:cs typeface="Arial" panose="020B0604020202020204" pitchFamily="34" charset="0"/>
              </a:rPr>
              <a:t>?</a:t>
            </a:r>
            <a:endParaRPr lang="es-CO" sz="2600" dirty="0">
              <a:effectLst/>
              <a:latin typeface="Times New Roman" panose="02020603050405020304" pitchFamily="18" charset="0"/>
              <a:ea typeface="SimSun" panose="02010600030101010101" pitchFamily="2" charset="-122"/>
            </a:endParaRPr>
          </a:p>
          <a:p>
            <a:pPr marL="0" marR="0" lvl="0" indent="0">
              <a:spcBef>
                <a:spcPts val="0"/>
              </a:spcBef>
              <a:spcAft>
                <a:spcPts val="0"/>
              </a:spcAft>
              <a:buNone/>
              <a:tabLst>
                <a:tab pos="457200" algn="l"/>
              </a:tabLst>
            </a:pPr>
            <a:r>
              <a:rPr lang="en-GB" sz="2600" dirty="0">
                <a:latin typeface="Calibri" panose="020F0502020204030204" pitchFamily="34" charset="0"/>
                <a:ea typeface="SimSun" panose="02010600030101010101" pitchFamily="2" charset="-122"/>
                <a:cs typeface="Arial" panose="020B0604020202020204" pitchFamily="34" charset="0"/>
              </a:rPr>
              <a:t>How long will it be before we have a fully operational colony on Mars</a:t>
            </a:r>
            <a:r>
              <a:rPr lang="en-GB" sz="2600" dirty="0">
                <a:effectLst/>
                <a:latin typeface="Calibri" panose="020F0502020204030204" pitchFamily="34" charset="0"/>
                <a:ea typeface="SimSun" panose="02010600030101010101" pitchFamily="2" charset="-122"/>
                <a:cs typeface="Arial" panose="020B0604020202020204" pitchFamily="34" charset="0"/>
              </a:rPr>
              <a:t>?</a:t>
            </a:r>
          </a:p>
          <a:p>
            <a:pPr marL="0" marR="0" lvl="0" indent="0">
              <a:spcBef>
                <a:spcPts val="0"/>
              </a:spcBef>
              <a:spcAft>
                <a:spcPts val="0"/>
              </a:spcAft>
              <a:buNone/>
              <a:tabLst>
                <a:tab pos="457200" algn="l"/>
              </a:tabLst>
            </a:pPr>
            <a:r>
              <a:rPr lang="en-GB" sz="2600" dirty="0">
                <a:latin typeface="Calibri" panose="020F0502020204030204" pitchFamily="34" charset="0"/>
                <a:ea typeface="SimSun" panose="02010600030101010101" pitchFamily="2" charset="-122"/>
                <a:cs typeface="Arial" panose="020B0604020202020204" pitchFamily="34" charset="0"/>
              </a:rPr>
              <a:t>Can you explain the history of medical developments that made MRI scanning a modern reality?</a:t>
            </a:r>
          </a:p>
          <a:p>
            <a:pPr marL="0" marR="0" lvl="0" indent="0">
              <a:spcBef>
                <a:spcPts val="0"/>
              </a:spcBef>
              <a:spcAft>
                <a:spcPts val="0"/>
              </a:spcAft>
              <a:buNone/>
              <a:tabLst>
                <a:tab pos="457200" algn="l"/>
              </a:tabLst>
            </a:pPr>
            <a:r>
              <a:rPr lang="en-GB" sz="2600" dirty="0">
                <a:effectLst/>
                <a:latin typeface="Calibri" panose="020F0502020204030204" pitchFamily="34" charset="0"/>
                <a:ea typeface="SimSun" panose="02010600030101010101" pitchFamily="2" charset="-122"/>
                <a:cs typeface="Arial" panose="020B0604020202020204" pitchFamily="34" charset="0"/>
              </a:rPr>
              <a:t>Why are the direct impacts of globalisation on </a:t>
            </a:r>
            <a:r>
              <a:rPr lang="en-US" sz="2600" dirty="0">
                <a:effectLst/>
                <a:latin typeface="Calibri" panose="020F0502020204030204" pitchFamily="34" charset="0"/>
                <a:ea typeface="SimSun" panose="02010600030101010101" pitchFamily="2" charset="-122"/>
                <a:cs typeface="Arial" panose="020B0604020202020204" pitchFamily="34" charset="0"/>
              </a:rPr>
              <a:t>race relations in major 1</a:t>
            </a:r>
            <a:r>
              <a:rPr lang="en-US" sz="2600" baseline="30000" dirty="0">
                <a:effectLst/>
                <a:latin typeface="Calibri" panose="020F0502020204030204" pitchFamily="34" charset="0"/>
                <a:ea typeface="SimSun" panose="02010600030101010101" pitchFamily="2" charset="-122"/>
                <a:cs typeface="Arial" panose="020B0604020202020204" pitchFamily="34" charset="0"/>
              </a:rPr>
              <a:t>st</a:t>
            </a:r>
            <a:r>
              <a:rPr lang="en-US" sz="2600" dirty="0">
                <a:effectLst/>
                <a:latin typeface="Calibri" panose="020F0502020204030204" pitchFamily="34" charset="0"/>
                <a:ea typeface="SimSun" panose="02010600030101010101" pitchFamily="2" charset="-122"/>
                <a:cs typeface="Arial" panose="020B0604020202020204" pitchFamily="34" charset="0"/>
              </a:rPr>
              <a:t> world cities?</a:t>
            </a:r>
          </a:p>
          <a:p>
            <a:pPr marL="0" marR="0" lvl="0" indent="0">
              <a:spcBef>
                <a:spcPts val="0"/>
              </a:spcBef>
              <a:spcAft>
                <a:spcPts val="0"/>
              </a:spcAft>
              <a:buNone/>
              <a:tabLst>
                <a:tab pos="457200" algn="l"/>
              </a:tabLst>
            </a:pPr>
            <a:endParaRPr lang="en-US" sz="2600" dirty="0">
              <a:effectLst/>
              <a:latin typeface="Calibri" panose="020F0502020204030204" pitchFamily="34" charset="0"/>
              <a:ea typeface="SimSun" panose="02010600030101010101" pitchFamily="2" charset="-122"/>
              <a:cs typeface="Arial" panose="020B0604020202020204" pitchFamily="34" charset="0"/>
            </a:endParaRPr>
          </a:p>
          <a:p>
            <a:pPr marL="342900" marR="0" lvl="0" indent="-342900">
              <a:spcBef>
                <a:spcPts val="0"/>
              </a:spcBef>
              <a:spcAft>
                <a:spcPts val="0"/>
              </a:spcAft>
              <a:buFont typeface="Symbol" panose="05050102010706020507" pitchFamily="18" charset="2"/>
              <a:buChar char=""/>
              <a:tabLst>
                <a:tab pos="457200" algn="l"/>
              </a:tabLst>
            </a:pPr>
            <a:endParaRPr lang="es-CO" sz="2600" dirty="0">
              <a:effectLst/>
              <a:latin typeface="Times New Roman" panose="02020603050405020304" pitchFamily="18" charset="0"/>
              <a:ea typeface="SimSun" panose="02010600030101010101" pitchFamily="2" charset="-122"/>
            </a:endParaRPr>
          </a:p>
          <a:p>
            <a:pPr marL="0" indent="0">
              <a:buNone/>
            </a:pPr>
            <a:endParaRPr lang="en-US" sz="2600" dirty="0"/>
          </a:p>
        </p:txBody>
      </p:sp>
    </p:spTree>
    <p:extLst>
      <p:ext uri="{BB962C8B-B14F-4D97-AF65-F5344CB8AC3E}">
        <p14:creationId xmlns:p14="http://schemas.microsoft.com/office/powerpoint/2010/main" val="264636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686834" y="1153572"/>
            <a:ext cx="3200400" cy="44611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dirty="0">
                <a:solidFill>
                  <a:srgbClr val="FFFFFF"/>
                </a:solidFill>
                <a:latin typeface="+mj-lt"/>
                <a:ea typeface="+mj-ea"/>
                <a:cs typeface="+mj-cs"/>
              </a:rPr>
              <a:t>Next Week</a:t>
            </a:r>
          </a:p>
        </p:txBody>
      </p:sp>
      <p:sp>
        <p:nvSpPr>
          <p:cNvPr id="17"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3"/>
          <p:cNvSpPr/>
          <p:nvPr/>
        </p:nvSpPr>
        <p:spPr>
          <a:xfrm>
            <a:off x="4447308" y="591344"/>
            <a:ext cx="6906491" cy="5585619"/>
          </a:xfrm>
          <a:prstGeom prst="rect">
            <a:avLst/>
          </a:prstGeom>
        </p:spPr>
        <p:txBody>
          <a:bodyPr vert="horz" lIns="91440" tIns="45720" rIns="91440" bIns="45720" rtlCol="0" anchor="ctr">
            <a:normAutofit/>
          </a:bodyPr>
          <a:lstStyle/>
          <a:p>
            <a:pPr marL="571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sz="3600" dirty="0"/>
              <a:t>Argument and overcoming speech anxiety</a:t>
            </a:r>
          </a:p>
          <a:p>
            <a:pPr marL="285750" indent="-228600">
              <a:lnSpc>
                <a:spcPct val="90000"/>
              </a:lnSpc>
              <a:spcAft>
                <a:spcPts val="600"/>
              </a:spcAft>
              <a:buFont typeface="Arial" panose="020B0604020202020204" pitchFamily="34" charset="0"/>
              <a:buChar char="•"/>
            </a:pPr>
            <a:r>
              <a:rPr lang="en-US" sz="3600" dirty="0"/>
              <a:t>Formal practice before a speaking event will help you feel more confident about what you’re going to say and how you’ll say it. </a:t>
            </a:r>
          </a:p>
        </p:txBody>
      </p:sp>
    </p:spTree>
    <p:extLst>
      <p:ext uri="{BB962C8B-B14F-4D97-AF65-F5344CB8AC3E}">
        <p14:creationId xmlns:p14="http://schemas.microsoft.com/office/powerpoint/2010/main" val="1406920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1046</Words>
  <Application>Microsoft Office PowerPoint</Application>
  <PresentationFormat>Widescreen</PresentationFormat>
  <Paragraphs>123</Paragraphs>
  <Slides>16</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Calibri</vt:lpstr>
      <vt:lpstr>Calibri Light</vt:lpstr>
      <vt:lpstr>Century Gothic</vt:lpstr>
      <vt:lpstr>Garamond</vt:lpstr>
      <vt:lpstr>Palatino Linotype</vt:lpstr>
      <vt:lpstr>Symbol</vt:lpstr>
      <vt:lpstr>Tahoma</vt:lpstr>
      <vt:lpstr>Times New Roman</vt:lpstr>
      <vt:lpstr>Wingdings</vt:lpstr>
      <vt:lpstr>Office Theme</vt:lpstr>
      <vt:lpstr>Effective Delivery </vt:lpstr>
      <vt:lpstr>Today</vt:lpstr>
      <vt:lpstr>What do we mean by delivery?</vt:lpstr>
      <vt:lpstr>Voice &amp; pace </vt:lpstr>
      <vt:lpstr>Voice &amp; pace </vt:lpstr>
      <vt:lpstr>Body Language</vt:lpstr>
      <vt:lpstr>Body language that creates barriers: </vt:lpstr>
      <vt:lpstr>How to deliver the perfect speech</vt:lpstr>
      <vt:lpstr>Practice.</vt:lpstr>
      <vt:lpstr>Tips for dealing with questions </vt:lpstr>
      <vt:lpstr>Strategies for dealing with awkward questions</vt:lpstr>
      <vt:lpstr>Strategies for dealing with awkward questions</vt:lpstr>
      <vt:lpstr>Strategies for dealing with awkward questions</vt:lpstr>
      <vt:lpstr>Strategies for dealing with awkward questions</vt:lpstr>
      <vt:lpstr>Task 2 – bringing it all together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 Vanin</dc:creator>
  <cp:lastModifiedBy>Martha Vanin</cp:lastModifiedBy>
  <cp:revision>17</cp:revision>
  <dcterms:created xsi:type="dcterms:W3CDTF">2021-10-20T10:08:25Z</dcterms:created>
  <dcterms:modified xsi:type="dcterms:W3CDTF">2022-11-22T12:10:27Z</dcterms:modified>
</cp:coreProperties>
</file>