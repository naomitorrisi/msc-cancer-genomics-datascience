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0" r:id="rId2"/>
    <p:sldMasterId id="2147483705" r:id="rId3"/>
    <p:sldMasterId id="2147483717" r:id="rId4"/>
    <p:sldMasterId id="2147483693" r:id="rId5"/>
  </p:sldMasterIdLst>
  <p:notesMasterIdLst>
    <p:notesMasterId r:id="rId27"/>
  </p:notesMasterIdLst>
  <p:handoutMasterIdLst>
    <p:handoutMasterId r:id="rId28"/>
  </p:handoutMasterIdLst>
  <p:sldIdLst>
    <p:sldId id="302" r:id="rId6"/>
    <p:sldId id="326" r:id="rId7"/>
    <p:sldId id="320" r:id="rId8"/>
    <p:sldId id="347" r:id="rId9"/>
    <p:sldId id="336" r:id="rId10"/>
    <p:sldId id="321" r:id="rId11"/>
    <p:sldId id="322" r:id="rId12"/>
    <p:sldId id="315" r:id="rId13"/>
    <p:sldId id="328" r:id="rId14"/>
    <p:sldId id="337" r:id="rId15"/>
    <p:sldId id="338" r:id="rId16"/>
    <p:sldId id="331" r:id="rId17"/>
    <p:sldId id="330" r:id="rId18"/>
    <p:sldId id="334" r:id="rId19"/>
    <p:sldId id="339" r:id="rId20"/>
    <p:sldId id="343" r:id="rId21"/>
    <p:sldId id="346" r:id="rId22"/>
    <p:sldId id="340" r:id="rId23"/>
    <p:sldId id="341" r:id="rId24"/>
    <p:sldId id="344" r:id="rId25"/>
    <p:sldId id="34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08F56546-8063-4F91-8B94-EA18817DA36A}">
          <p14:sldIdLst/>
        </p14:section>
        <p14:section name="Example Layouts" id="{EA444CFD-9734-4821-B705-6E63F9671A70}">
          <p14:sldIdLst>
            <p14:sldId id="302"/>
            <p14:sldId id="326"/>
            <p14:sldId id="320"/>
            <p14:sldId id="347"/>
            <p14:sldId id="336"/>
            <p14:sldId id="321"/>
            <p14:sldId id="322"/>
            <p14:sldId id="315"/>
            <p14:sldId id="328"/>
            <p14:sldId id="337"/>
            <p14:sldId id="338"/>
            <p14:sldId id="331"/>
            <p14:sldId id="330"/>
            <p14:sldId id="334"/>
            <p14:sldId id="339"/>
            <p14:sldId id="343"/>
            <p14:sldId id="346"/>
            <p14:sldId id="340"/>
            <p14:sldId id="341"/>
            <p14:sldId id="344"/>
            <p14:sldId id="345"/>
          </p14:sldIdLst>
        </p14:section>
      </p14:sectionLst>
    </p:ext>
    <p:ext uri="{EFAFB233-063F-42B5-8137-9DF3F51BA10A}">
      <p15:sldGuideLst xmlns:p15="http://schemas.microsoft.com/office/powerpoint/2012/main">
        <p15:guide id="2" pos="438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E79"/>
    <a:srgbClr val="2B167B"/>
    <a:srgbClr val="2E008B"/>
    <a:srgbClr val="A7A8AA"/>
    <a:srgbClr val="666666"/>
    <a:srgbClr val="00B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EC1857-CF68-1544-BD2B-557DED8BE6FD}" v="1" dt="2025-11-03T18:49:57.491"/>
    <p1510:client id="{D515EADA-17F0-5A4B-9FD8-4B06C3127D2C}" v="3" dt="2025-11-03T17:42:10.7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2"/>
    <p:restoredTop sz="91020" autoAdjust="0"/>
  </p:normalViewPr>
  <p:slideViewPr>
    <p:cSldViewPr showGuides="1">
      <p:cViewPr varScale="1">
        <p:scale>
          <a:sx n="116" d="100"/>
          <a:sy n="116" d="100"/>
        </p:scale>
        <p:origin x="896" y="184"/>
      </p:cViewPr>
      <p:guideLst>
        <p:guide pos="438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eni Maniati" userId="50ca6d75-5b0d-49bd-990c-35aad38e12cf" providerId="ADAL" clId="{90EC1857-CF68-1544-BD2B-557DED8BE6FD}"/>
    <pc:docChg chg="custSel modSld">
      <pc:chgData name="Eleni Maniati" userId="50ca6d75-5b0d-49bd-990c-35aad38e12cf" providerId="ADAL" clId="{90EC1857-CF68-1544-BD2B-557DED8BE6FD}" dt="2025-11-03T18:50:08.208" v="3" actId="1076"/>
      <pc:docMkLst>
        <pc:docMk/>
      </pc:docMkLst>
      <pc:sldChg chg="addSp delSp modSp mod">
        <pc:chgData name="Eleni Maniati" userId="50ca6d75-5b0d-49bd-990c-35aad38e12cf" providerId="ADAL" clId="{90EC1857-CF68-1544-BD2B-557DED8BE6FD}" dt="2025-11-03T18:50:08.208" v="3" actId="1076"/>
        <pc:sldMkLst>
          <pc:docMk/>
          <pc:sldMk cId="1740177751" sldId="347"/>
        </pc:sldMkLst>
        <pc:spChg chg="del">
          <ac:chgData name="Eleni Maniati" userId="50ca6d75-5b0d-49bd-990c-35aad38e12cf" providerId="ADAL" clId="{90EC1857-CF68-1544-BD2B-557DED8BE6FD}" dt="2025-11-03T18:49:57.115" v="0" actId="478"/>
          <ac:spMkLst>
            <pc:docMk/>
            <pc:sldMk cId="1740177751" sldId="347"/>
            <ac:spMk id="3" creationId="{A41A11CD-B688-EC84-A571-6EA84E0251C8}"/>
          </ac:spMkLst>
        </pc:spChg>
        <pc:spChg chg="add del mod">
          <ac:chgData name="Eleni Maniati" userId="50ca6d75-5b0d-49bd-990c-35aad38e12cf" providerId="ADAL" clId="{90EC1857-CF68-1544-BD2B-557DED8BE6FD}" dt="2025-11-03T18:50:01.672" v="2" actId="478"/>
          <ac:spMkLst>
            <pc:docMk/>
            <pc:sldMk cId="1740177751" sldId="347"/>
            <ac:spMk id="5" creationId="{1DE58A7B-631A-4515-C4C4-CF3923747F18}"/>
          </ac:spMkLst>
        </pc:spChg>
        <pc:spChg chg="add mod">
          <ac:chgData name="Eleni Maniati" userId="50ca6d75-5b0d-49bd-990c-35aad38e12cf" providerId="ADAL" clId="{90EC1857-CF68-1544-BD2B-557DED8BE6FD}" dt="2025-11-03T18:49:57.491" v="1"/>
          <ac:spMkLst>
            <pc:docMk/>
            <pc:sldMk cId="1740177751" sldId="347"/>
            <ac:spMk id="6" creationId="{4333BEA7-F896-A13F-837A-7B96975C46F3}"/>
          </ac:spMkLst>
        </pc:spChg>
        <pc:picChg chg="mod">
          <ac:chgData name="Eleni Maniati" userId="50ca6d75-5b0d-49bd-990c-35aad38e12cf" providerId="ADAL" clId="{90EC1857-CF68-1544-BD2B-557DED8BE6FD}" dt="2025-11-03T18:50:08.208" v="3" actId="1076"/>
          <ac:picMkLst>
            <pc:docMk/>
            <pc:sldMk cId="1740177751" sldId="347"/>
            <ac:picMk id="8" creationId="{FDDC72D2-88AE-B7BC-70C6-A11538CA36B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641B21-BD86-4201-8FF4-D6385DF043FF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4A784-0364-45B9-8516-0E04A55EE1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73538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764B69-A079-4E1A-BD87-9A9812A69E8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AE7D0-3DF3-4127-8202-6081F85048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9801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</a:t>
            </a:r>
            <a:r>
              <a:rPr lang="en-GB" baseline="0" dirty="0"/>
              <a:t> title slide should be used directly (with the addition of your presentation title, your name and your centre). </a:t>
            </a:r>
          </a:p>
          <a:p>
            <a:r>
              <a:rPr lang="en-GB" baseline="0" dirty="0"/>
              <a:t>Please do not add any additional logos to this slide.</a:t>
            </a:r>
          </a:p>
          <a:p>
            <a:endParaRPr lang="en-GB" baseline="0" dirty="0"/>
          </a:p>
          <a:p>
            <a:r>
              <a:rPr lang="en-GB" baseline="0" dirty="0"/>
              <a:t>If you would like to customise the image on the right-hand side of the slide, please use slide 2 which will allow you to add your own image.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AE7D0-3DF3-4127-8202-6081F850489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398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AE7D0-3DF3-4127-8202-6081F850489D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9884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image" Target="../media/image8.jpe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3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F5FA3-A20D-40FB-8BE3-44CD88DDE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416" y="1916830"/>
            <a:ext cx="5472000" cy="2088232"/>
          </a:xfrm>
          <a:prstGeom prst="rect">
            <a:avLst/>
          </a:prstGeom>
          <a:ln>
            <a:noFill/>
          </a:ln>
        </p:spPr>
        <p:txBody>
          <a:bodyPr bIns="0" anchor="ctr" anchorCtr="0">
            <a:noAutofit/>
          </a:bodyPr>
          <a:lstStyle>
            <a:lvl1pPr algn="ctr">
              <a:lnSpc>
                <a:spcPct val="7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91C51-1E93-4B29-9242-2D33D6D5A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5416" y="4201343"/>
            <a:ext cx="5040000" cy="307777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A112773-0389-44C1-9A6C-D346A4A50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72445" y="0"/>
            <a:ext cx="4919555" cy="68580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2281 w 12281"/>
              <a:gd name="connsiteY0" fmla="*/ 0 h 10000"/>
              <a:gd name="connsiteX1" fmla="*/ 12281 w 12281"/>
              <a:gd name="connsiteY1" fmla="*/ 0 h 10000"/>
              <a:gd name="connsiteX2" fmla="*/ 12281 w 12281"/>
              <a:gd name="connsiteY2" fmla="*/ 10000 h 10000"/>
              <a:gd name="connsiteX3" fmla="*/ 2281 w 12281"/>
              <a:gd name="connsiteY3" fmla="*/ 10000 h 10000"/>
              <a:gd name="connsiteX4" fmla="*/ 2281 w 12281"/>
              <a:gd name="connsiteY4" fmla="*/ 0 h 10000"/>
              <a:gd name="connsiteX0" fmla="*/ 2718 w 12718"/>
              <a:gd name="connsiteY0" fmla="*/ 0 h 10000"/>
              <a:gd name="connsiteX1" fmla="*/ 12718 w 12718"/>
              <a:gd name="connsiteY1" fmla="*/ 0 h 10000"/>
              <a:gd name="connsiteX2" fmla="*/ 12718 w 12718"/>
              <a:gd name="connsiteY2" fmla="*/ 10000 h 10000"/>
              <a:gd name="connsiteX3" fmla="*/ 2718 w 12718"/>
              <a:gd name="connsiteY3" fmla="*/ 10000 h 10000"/>
              <a:gd name="connsiteX4" fmla="*/ 2718 w 12718"/>
              <a:gd name="connsiteY4" fmla="*/ 0 h 10000"/>
              <a:gd name="connsiteX0" fmla="*/ 2205 w 12205"/>
              <a:gd name="connsiteY0" fmla="*/ 0 h 10000"/>
              <a:gd name="connsiteX1" fmla="*/ 12205 w 12205"/>
              <a:gd name="connsiteY1" fmla="*/ 0 h 10000"/>
              <a:gd name="connsiteX2" fmla="*/ 12205 w 12205"/>
              <a:gd name="connsiteY2" fmla="*/ 10000 h 10000"/>
              <a:gd name="connsiteX3" fmla="*/ 2205 w 12205"/>
              <a:gd name="connsiteY3" fmla="*/ 10000 h 10000"/>
              <a:gd name="connsiteX4" fmla="*/ 2205 w 12205"/>
              <a:gd name="connsiteY4" fmla="*/ 0 h 10000"/>
              <a:gd name="connsiteX0" fmla="*/ 2264 w 12264"/>
              <a:gd name="connsiteY0" fmla="*/ 0 h 10000"/>
              <a:gd name="connsiteX1" fmla="*/ 12264 w 12264"/>
              <a:gd name="connsiteY1" fmla="*/ 0 h 10000"/>
              <a:gd name="connsiteX2" fmla="*/ 12264 w 12264"/>
              <a:gd name="connsiteY2" fmla="*/ 10000 h 10000"/>
              <a:gd name="connsiteX3" fmla="*/ 2264 w 12264"/>
              <a:gd name="connsiteY3" fmla="*/ 10000 h 10000"/>
              <a:gd name="connsiteX4" fmla="*/ 2264 w 12264"/>
              <a:gd name="connsiteY4" fmla="*/ 0 h 10000"/>
              <a:gd name="connsiteX0" fmla="*/ 2303 w 12303"/>
              <a:gd name="connsiteY0" fmla="*/ 0 h 10000"/>
              <a:gd name="connsiteX1" fmla="*/ 12303 w 12303"/>
              <a:gd name="connsiteY1" fmla="*/ 0 h 10000"/>
              <a:gd name="connsiteX2" fmla="*/ 12303 w 12303"/>
              <a:gd name="connsiteY2" fmla="*/ 10000 h 10000"/>
              <a:gd name="connsiteX3" fmla="*/ 2303 w 12303"/>
              <a:gd name="connsiteY3" fmla="*/ 10000 h 10000"/>
              <a:gd name="connsiteX4" fmla="*/ 2303 w 12303"/>
              <a:gd name="connsiteY4" fmla="*/ 0 h 10000"/>
              <a:gd name="connsiteX0" fmla="*/ 2273 w 12273"/>
              <a:gd name="connsiteY0" fmla="*/ 0 h 10000"/>
              <a:gd name="connsiteX1" fmla="*/ 12273 w 12273"/>
              <a:gd name="connsiteY1" fmla="*/ 0 h 10000"/>
              <a:gd name="connsiteX2" fmla="*/ 12273 w 12273"/>
              <a:gd name="connsiteY2" fmla="*/ 10000 h 10000"/>
              <a:gd name="connsiteX3" fmla="*/ 2273 w 12273"/>
              <a:gd name="connsiteY3" fmla="*/ 10000 h 10000"/>
              <a:gd name="connsiteX4" fmla="*/ 2273 w 12273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73" h="10000">
                <a:moveTo>
                  <a:pt x="2273" y="0"/>
                </a:moveTo>
                <a:lnTo>
                  <a:pt x="12273" y="0"/>
                </a:lnTo>
                <a:lnTo>
                  <a:pt x="12273" y="10000"/>
                </a:lnTo>
                <a:lnTo>
                  <a:pt x="2273" y="10000"/>
                </a:lnTo>
                <a:cubicBezTo>
                  <a:pt x="215" y="7508"/>
                  <a:pt x="-1596" y="4260"/>
                  <a:pt x="2273" y="0"/>
                </a:cubicBezTo>
                <a:close/>
              </a:path>
            </a:pathLst>
          </a:cu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EAECAE8-8B32-4E0B-BC3B-F2E9E64868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560" y="5589240"/>
            <a:ext cx="2772612" cy="6916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F0892D67-F81D-4EAF-91FC-295D8C2F6020}"/>
              </a:ext>
            </a:extLst>
          </p:cNvPr>
          <p:cNvSpPr/>
          <p:nvPr userDrawn="1"/>
        </p:nvSpPr>
        <p:spPr>
          <a:xfrm>
            <a:off x="6655081" y="507294"/>
            <a:ext cx="414656" cy="414656"/>
          </a:xfrm>
          <a:prstGeom prst="ellipse">
            <a:avLst/>
          </a:prstGeom>
          <a:solidFill>
            <a:srgbClr val="17298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73C406D-B215-4935-8E9E-66DD87522B2E}"/>
              </a:ext>
            </a:extLst>
          </p:cNvPr>
          <p:cNvSpPr/>
          <p:nvPr userDrawn="1"/>
        </p:nvSpPr>
        <p:spPr>
          <a:xfrm>
            <a:off x="6875715" y="1673947"/>
            <a:ext cx="170476" cy="170476"/>
          </a:xfrm>
          <a:prstGeom prst="ellipse">
            <a:avLst/>
          </a:prstGeom>
          <a:solidFill>
            <a:srgbClr val="00B6ED"/>
          </a:solidFill>
          <a:ln>
            <a:solidFill>
              <a:srgbClr val="00B6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8AEAD39-6F92-40BC-B53B-719F85124F3E}"/>
              </a:ext>
            </a:extLst>
          </p:cNvPr>
          <p:cNvSpPr/>
          <p:nvPr userDrawn="1"/>
        </p:nvSpPr>
        <p:spPr>
          <a:xfrm>
            <a:off x="6127577" y="373944"/>
            <a:ext cx="266700" cy="266700"/>
          </a:xfrm>
          <a:prstGeom prst="ellipse">
            <a:avLst/>
          </a:prstGeom>
          <a:solidFill>
            <a:srgbClr val="EC008C"/>
          </a:solidFill>
          <a:ln>
            <a:solidFill>
              <a:srgbClr val="EC00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53" y="116632"/>
            <a:ext cx="2621213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287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2116" userDrawn="1">
          <p15:clr>
            <a:srgbClr val="FBAE40"/>
          </p15:clr>
        </p15:guide>
        <p15:guide id="3" pos="556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BE5FA-BEBB-4862-9C43-D14CCB29F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3DF61-D91B-41EB-AE86-A0DBDBFF5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4DDFD-0837-41FA-8FBA-D37B3BB6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404475-5ECB-4D36-A4F5-040C1856A096}" type="datetime2">
              <a:rPr lang="en-GB" smtClean="0"/>
              <a:pPr/>
              <a:t>Monday 3 November 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4EAA5-9395-4AA0-96B6-BD23C5245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Footer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C2346-9DC9-4EFE-9CC7-58A873883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90E331C-8DD5-41DE-A1D8-42719F204B7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7925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97D0358-D1A5-4615-A65D-68C0B35BE6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72445" y="0"/>
            <a:ext cx="4919555" cy="68580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2281 w 12281"/>
              <a:gd name="connsiteY0" fmla="*/ 0 h 10000"/>
              <a:gd name="connsiteX1" fmla="*/ 12281 w 12281"/>
              <a:gd name="connsiteY1" fmla="*/ 0 h 10000"/>
              <a:gd name="connsiteX2" fmla="*/ 12281 w 12281"/>
              <a:gd name="connsiteY2" fmla="*/ 10000 h 10000"/>
              <a:gd name="connsiteX3" fmla="*/ 2281 w 12281"/>
              <a:gd name="connsiteY3" fmla="*/ 10000 h 10000"/>
              <a:gd name="connsiteX4" fmla="*/ 2281 w 12281"/>
              <a:gd name="connsiteY4" fmla="*/ 0 h 10000"/>
              <a:gd name="connsiteX0" fmla="*/ 2718 w 12718"/>
              <a:gd name="connsiteY0" fmla="*/ 0 h 10000"/>
              <a:gd name="connsiteX1" fmla="*/ 12718 w 12718"/>
              <a:gd name="connsiteY1" fmla="*/ 0 h 10000"/>
              <a:gd name="connsiteX2" fmla="*/ 12718 w 12718"/>
              <a:gd name="connsiteY2" fmla="*/ 10000 h 10000"/>
              <a:gd name="connsiteX3" fmla="*/ 2718 w 12718"/>
              <a:gd name="connsiteY3" fmla="*/ 10000 h 10000"/>
              <a:gd name="connsiteX4" fmla="*/ 2718 w 12718"/>
              <a:gd name="connsiteY4" fmla="*/ 0 h 10000"/>
              <a:gd name="connsiteX0" fmla="*/ 2205 w 12205"/>
              <a:gd name="connsiteY0" fmla="*/ 0 h 10000"/>
              <a:gd name="connsiteX1" fmla="*/ 12205 w 12205"/>
              <a:gd name="connsiteY1" fmla="*/ 0 h 10000"/>
              <a:gd name="connsiteX2" fmla="*/ 12205 w 12205"/>
              <a:gd name="connsiteY2" fmla="*/ 10000 h 10000"/>
              <a:gd name="connsiteX3" fmla="*/ 2205 w 12205"/>
              <a:gd name="connsiteY3" fmla="*/ 10000 h 10000"/>
              <a:gd name="connsiteX4" fmla="*/ 2205 w 12205"/>
              <a:gd name="connsiteY4" fmla="*/ 0 h 10000"/>
              <a:gd name="connsiteX0" fmla="*/ 2264 w 12264"/>
              <a:gd name="connsiteY0" fmla="*/ 0 h 10000"/>
              <a:gd name="connsiteX1" fmla="*/ 12264 w 12264"/>
              <a:gd name="connsiteY1" fmla="*/ 0 h 10000"/>
              <a:gd name="connsiteX2" fmla="*/ 12264 w 12264"/>
              <a:gd name="connsiteY2" fmla="*/ 10000 h 10000"/>
              <a:gd name="connsiteX3" fmla="*/ 2264 w 12264"/>
              <a:gd name="connsiteY3" fmla="*/ 10000 h 10000"/>
              <a:gd name="connsiteX4" fmla="*/ 2264 w 12264"/>
              <a:gd name="connsiteY4" fmla="*/ 0 h 10000"/>
              <a:gd name="connsiteX0" fmla="*/ 2303 w 12303"/>
              <a:gd name="connsiteY0" fmla="*/ 0 h 10000"/>
              <a:gd name="connsiteX1" fmla="*/ 12303 w 12303"/>
              <a:gd name="connsiteY1" fmla="*/ 0 h 10000"/>
              <a:gd name="connsiteX2" fmla="*/ 12303 w 12303"/>
              <a:gd name="connsiteY2" fmla="*/ 10000 h 10000"/>
              <a:gd name="connsiteX3" fmla="*/ 2303 w 12303"/>
              <a:gd name="connsiteY3" fmla="*/ 10000 h 10000"/>
              <a:gd name="connsiteX4" fmla="*/ 2303 w 12303"/>
              <a:gd name="connsiteY4" fmla="*/ 0 h 10000"/>
              <a:gd name="connsiteX0" fmla="*/ 2273 w 12273"/>
              <a:gd name="connsiteY0" fmla="*/ 0 h 10000"/>
              <a:gd name="connsiteX1" fmla="*/ 12273 w 12273"/>
              <a:gd name="connsiteY1" fmla="*/ 0 h 10000"/>
              <a:gd name="connsiteX2" fmla="*/ 12273 w 12273"/>
              <a:gd name="connsiteY2" fmla="*/ 10000 h 10000"/>
              <a:gd name="connsiteX3" fmla="*/ 2273 w 12273"/>
              <a:gd name="connsiteY3" fmla="*/ 10000 h 10000"/>
              <a:gd name="connsiteX4" fmla="*/ 2273 w 12273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73" h="10000">
                <a:moveTo>
                  <a:pt x="2273" y="0"/>
                </a:moveTo>
                <a:lnTo>
                  <a:pt x="12273" y="0"/>
                </a:lnTo>
                <a:lnTo>
                  <a:pt x="12273" y="10000"/>
                </a:lnTo>
                <a:lnTo>
                  <a:pt x="2273" y="10000"/>
                </a:lnTo>
                <a:cubicBezTo>
                  <a:pt x="215" y="7508"/>
                  <a:pt x="-1596" y="4260"/>
                  <a:pt x="2273" y="0"/>
                </a:cubicBezTo>
                <a:close/>
              </a:path>
            </a:pathLst>
          </a:cu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3936653-3080-447B-B85A-CA4AC2D8E1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416" y="1844824"/>
            <a:ext cx="5472000" cy="2088232"/>
          </a:xfrm>
          <a:prstGeom prst="rect">
            <a:avLst/>
          </a:prstGeom>
          <a:ln>
            <a:noFill/>
          </a:ln>
        </p:spPr>
        <p:txBody>
          <a:bodyPr bIns="0" anchor="ctr" anchorCtr="0">
            <a:noAutofit/>
          </a:bodyPr>
          <a:lstStyle>
            <a:lvl1pPr algn="ctr">
              <a:lnSpc>
                <a:spcPct val="7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083680-74B4-4455-AFC5-36F2C960F739}"/>
              </a:ext>
            </a:extLst>
          </p:cNvPr>
          <p:cNvSpPr/>
          <p:nvPr userDrawn="1"/>
        </p:nvSpPr>
        <p:spPr>
          <a:xfrm>
            <a:off x="335360" y="5034992"/>
            <a:ext cx="2448272" cy="1706376"/>
          </a:xfrm>
          <a:prstGeom prst="rect">
            <a:avLst/>
          </a:prstGeom>
          <a:solidFill>
            <a:srgbClr val="2E008B"/>
          </a:solidFill>
          <a:ln>
            <a:solidFill>
              <a:srgbClr val="2E00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0DC25F-9AEB-4A63-A2DF-AAAB31C65E5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5931278"/>
            <a:ext cx="2952328" cy="73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807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2116" userDrawn="1">
          <p15:clr>
            <a:srgbClr val="FBAE40"/>
          </p15:clr>
        </p15:guide>
        <p15:guide id="3" pos="556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option 3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F5FA3-A20D-40FB-8BE3-44CD88DDE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416" y="1700808"/>
            <a:ext cx="5472000" cy="2088232"/>
          </a:xfrm>
          <a:prstGeom prst="rect">
            <a:avLst/>
          </a:prstGeom>
          <a:ln>
            <a:noFill/>
          </a:ln>
        </p:spPr>
        <p:txBody>
          <a:bodyPr bIns="0" anchor="ctr" anchorCtr="0">
            <a:noAutofit/>
          </a:bodyPr>
          <a:lstStyle>
            <a:lvl1pPr algn="ctr">
              <a:lnSpc>
                <a:spcPct val="7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91C51-1E93-4B29-9242-2D33D6D5A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5416" y="4057329"/>
            <a:ext cx="5040000" cy="307777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A112773-0389-44C1-9A6C-D346A4A50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72445" y="0"/>
            <a:ext cx="4919555" cy="68580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2281 w 12281"/>
              <a:gd name="connsiteY0" fmla="*/ 0 h 10000"/>
              <a:gd name="connsiteX1" fmla="*/ 12281 w 12281"/>
              <a:gd name="connsiteY1" fmla="*/ 0 h 10000"/>
              <a:gd name="connsiteX2" fmla="*/ 12281 w 12281"/>
              <a:gd name="connsiteY2" fmla="*/ 10000 h 10000"/>
              <a:gd name="connsiteX3" fmla="*/ 2281 w 12281"/>
              <a:gd name="connsiteY3" fmla="*/ 10000 h 10000"/>
              <a:gd name="connsiteX4" fmla="*/ 2281 w 12281"/>
              <a:gd name="connsiteY4" fmla="*/ 0 h 10000"/>
              <a:gd name="connsiteX0" fmla="*/ 2718 w 12718"/>
              <a:gd name="connsiteY0" fmla="*/ 0 h 10000"/>
              <a:gd name="connsiteX1" fmla="*/ 12718 w 12718"/>
              <a:gd name="connsiteY1" fmla="*/ 0 h 10000"/>
              <a:gd name="connsiteX2" fmla="*/ 12718 w 12718"/>
              <a:gd name="connsiteY2" fmla="*/ 10000 h 10000"/>
              <a:gd name="connsiteX3" fmla="*/ 2718 w 12718"/>
              <a:gd name="connsiteY3" fmla="*/ 10000 h 10000"/>
              <a:gd name="connsiteX4" fmla="*/ 2718 w 12718"/>
              <a:gd name="connsiteY4" fmla="*/ 0 h 10000"/>
              <a:gd name="connsiteX0" fmla="*/ 2205 w 12205"/>
              <a:gd name="connsiteY0" fmla="*/ 0 h 10000"/>
              <a:gd name="connsiteX1" fmla="*/ 12205 w 12205"/>
              <a:gd name="connsiteY1" fmla="*/ 0 h 10000"/>
              <a:gd name="connsiteX2" fmla="*/ 12205 w 12205"/>
              <a:gd name="connsiteY2" fmla="*/ 10000 h 10000"/>
              <a:gd name="connsiteX3" fmla="*/ 2205 w 12205"/>
              <a:gd name="connsiteY3" fmla="*/ 10000 h 10000"/>
              <a:gd name="connsiteX4" fmla="*/ 2205 w 12205"/>
              <a:gd name="connsiteY4" fmla="*/ 0 h 10000"/>
              <a:gd name="connsiteX0" fmla="*/ 2264 w 12264"/>
              <a:gd name="connsiteY0" fmla="*/ 0 h 10000"/>
              <a:gd name="connsiteX1" fmla="*/ 12264 w 12264"/>
              <a:gd name="connsiteY1" fmla="*/ 0 h 10000"/>
              <a:gd name="connsiteX2" fmla="*/ 12264 w 12264"/>
              <a:gd name="connsiteY2" fmla="*/ 10000 h 10000"/>
              <a:gd name="connsiteX3" fmla="*/ 2264 w 12264"/>
              <a:gd name="connsiteY3" fmla="*/ 10000 h 10000"/>
              <a:gd name="connsiteX4" fmla="*/ 2264 w 12264"/>
              <a:gd name="connsiteY4" fmla="*/ 0 h 10000"/>
              <a:gd name="connsiteX0" fmla="*/ 2303 w 12303"/>
              <a:gd name="connsiteY0" fmla="*/ 0 h 10000"/>
              <a:gd name="connsiteX1" fmla="*/ 12303 w 12303"/>
              <a:gd name="connsiteY1" fmla="*/ 0 h 10000"/>
              <a:gd name="connsiteX2" fmla="*/ 12303 w 12303"/>
              <a:gd name="connsiteY2" fmla="*/ 10000 h 10000"/>
              <a:gd name="connsiteX3" fmla="*/ 2303 w 12303"/>
              <a:gd name="connsiteY3" fmla="*/ 10000 h 10000"/>
              <a:gd name="connsiteX4" fmla="*/ 2303 w 12303"/>
              <a:gd name="connsiteY4" fmla="*/ 0 h 10000"/>
              <a:gd name="connsiteX0" fmla="*/ 2273 w 12273"/>
              <a:gd name="connsiteY0" fmla="*/ 0 h 10000"/>
              <a:gd name="connsiteX1" fmla="*/ 12273 w 12273"/>
              <a:gd name="connsiteY1" fmla="*/ 0 h 10000"/>
              <a:gd name="connsiteX2" fmla="*/ 12273 w 12273"/>
              <a:gd name="connsiteY2" fmla="*/ 10000 h 10000"/>
              <a:gd name="connsiteX3" fmla="*/ 2273 w 12273"/>
              <a:gd name="connsiteY3" fmla="*/ 10000 h 10000"/>
              <a:gd name="connsiteX4" fmla="*/ 2273 w 12273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73" h="10000">
                <a:moveTo>
                  <a:pt x="2273" y="0"/>
                </a:moveTo>
                <a:lnTo>
                  <a:pt x="12273" y="0"/>
                </a:lnTo>
                <a:lnTo>
                  <a:pt x="12273" y="10000"/>
                </a:lnTo>
                <a:lnTo>
                  <a:pt x="2273" y="10000"/>
                </a:lnTo>
                <a:cubicBezTo>
                  <a:pt x="215" y="7508"/>
                  <a:pt x="-1596" y="4260"/>
                  <a:pt x="2273" y="0"/>
                </a:cubicBezTo>
                <a:close/>
              </a:path>
            </a:pathLst>
          </a:cu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0892D67-F81D-4EAF-91FC-295D8C2F6020}"/>
              </a:ext>
            </a:extLst>
          </p:cNvPr>
          <p:cNvSpPr/>
          <p:nvPr userDrawn="1"/>
        </p:nvSpPr>
        <p:spPr>
          <a:xfrm>
            <a:off x="6655081" y="507294"/>
            <a:ext cx="414656" cy="414656"/>
          </a:xfrm>
          <a:prstGeom prst="ellipse">
            <a:avLst/>
          </a:prstGeom>
          <a:solidFill>
            <a:srgbClr val="17298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73C406D-B215-4935-8E9E-66DD87522B2E}"/>
              </a:ext>
            </a:extLst>
          </p:cNvPr>
          <p:cNvSpPr/>
          <p:nvPr userDrawn="1"/>
        </p:nvSpPr>
        <p:spPr>
          <a:xfrm>
            <a:off x="6875715" y="1673947"/>
            <a:ext cx="170476" cy="170476"/>
          </a:xfrm>
          <a:prstGeom prst="ellipse">
            <a:avLst/>
          </a:prstGeom>
          <a:solidFill>
            <a:srgbClr val="00B6ED"/>
          </a:solidFill>
          <a:ln>
            <a:solidFill>
              <a:srgbClr val="00B6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AEAD39-6F92-40BC-B53B-719F85124F3E}"/>
              </a:ext>
            </a:extLst>
          </p:cNvPr>
          <p:cNvSpPr/>
          <p:nvPr userDrawn="1"/>
        </p:nvSpPr>
        <p:spPr>
          <a:xfrm>
            <a:off x="6127577" y="373944"/>
            <a:ext cx="266700" cy="266700"/>
          </a:xfrm>
          <a:prstGeom prst="ellipse">
            <a:avLst/>
          </a:prstGeom>
          <a:solidFill>
            <a:srgbClr val="EC008C"/>
          </a:solidFill>
          <a:ln>
            <a:solidFill>
              <a:srgbClr val="EC00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907" y="5805264"/>
            <a:ext cx="1456740" cy="86902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EAECAE8-8B32-4E0B-BC3B-F2E9E64868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1" y="5924204"/>
            <a:ext cx="2530106" cy="63114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53" y="116632"/>
            <a:ext cx="2621213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44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2116" userDrawn="1">
          <p15:clr>
            <a:srgbClr val="FBAE40"/>
          </p15:clr>
        </p15:guide>
        <p15:guide id="3" pos="556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DFA11-9616-41BC-915F-FAF0C22C93A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768A-EFD8-40F2-8B7D-E87548535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40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DFA11-9616-41BC-915F-FAF0C22C93A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768A-EFD8-40F2-8B7D-E87548535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8362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DFA11-9616-41BC-915F-FAF0C22C93A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768A-EFD8-40F2-8B7D-E87548535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0605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DFA11-9616-41BC-915F-FAF0C22C93A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768A-EFD8-40F2-8B7D-E87548535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051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DFA11-9616-41BC-915F-FAF0C22C93A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768A-EFD8-40F2-8B7D-E87548535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450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DFA11-9616-41BC-915F-FAF0C22C93A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768A-EFD8-40F2-8B7D-E87548535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666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DFA11-9616-41BC-915F-FAF0C22C93A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768A-EFD8-40F2-8B7D-E87548535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702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DFA11-9616-41BC-915F-FAF0C22C93A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768A-EFD8-40F2-8B7D-E87548535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4163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DFA11-9616-41BC-915F-FAF0C22C93A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768A-EFD8-40F2-8B7D-E87548535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202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DFA11-9616-41BC-915F-FAF0C22C93A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768A-EFD8-40F2-8B7D-E87548535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463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DFA11-9616-41BC-915F-FAF0C22C93A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768A-EFD8-40F2-8B7D-E87548535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866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5339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C4134F-6C38-49F6-A4BA-62E2BC5ABF59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C729DC-42C9-468A-8D4C-E1E9306F8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12081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C4134F-6C38-49F6-A4BA-62E2BC5ABF59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C729DC-42C9-468A-8D4C-E1E9306F8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29679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C4134F-6C38-49F6-A4BA-62E2BC5ABF59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C729DC-42C9-468A-8D4C-E1E9306F8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1238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C4134F-6C38-49F6-A4BA-62E2BC5ABF59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C729DC-42C9-468A-8D4C-E1E9306F8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0613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C4134F-6C38-49F6-A4BA-62E2BC5ABF59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C729DC-42C9-468A-8D4C-E1E9306F8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68233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C4134F-6C38-49F6-A4BA-62E2BC5ABF59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C729DC-42C9-468A-8D4C-E1E9306F8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2074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C4134F-6C38-49F6-A4BA-62E2BC5ABF59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C729DC-42C9-468A-8D4C-E1E9306F8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82915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C4134F-6C38-49F6-A4BA-62E2BC5ABF59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C729DC-42C9-468A-8D4C-E1E9306F8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4973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C4134F-6C38-49F6-A4BA-62E2BC5ABF59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C729DC-42C9-468A-8D4C-E1E9306F8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84680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C4134F-6C38-49F6-A4BA-62E2BC5ABF59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C729DC-42C9-468A-8D4C-E1E9306F8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2237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25335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C4134F-6C38-49F6-A4BA-62E2BC5ABF59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C729DC-42C9-468A-8D4C-E1E9306F8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63715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C4134F-6C38-49F6-A4BA-62E2BC5ABF59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C729DC-42C9-468A-8D4C-E1E9306F8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2441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C4134F-6C38-49F6-A4BA-62E2BC5ABF59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C729DC-42C9-468A-8D4C-E1E9306F8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2225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C4134F-6C38-49F6-A4BA-62E2BC5ABF59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C729DC-42C9-468A-8D4C-E1E9306F8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7322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C4134F-6C38-49F6-A4BA-62E2BC5ABF59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C729DC-42C9-468A-8D4C-E1E9306F8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74409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C4134F-6C38-49F6-A4BA-62E2BC5ABF59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C729DC-42C9-468A-8D4C-E1E9306F8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34009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C4134F-6C38-49F6-A4BA-62E2BC5ABF59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C729DC-42C9-468A-8D4C-E1E9306F8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74412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C4134F-6C38-49F6-A4BA-62E2BC5ABF59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C729DC-42C9-468A-8D4C-E1E9306F8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54464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C4134F-6C38-49F6-A4BA-62E2BC5ABF59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C729DC-42C9-468A-8D4C-E1E9306F8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71064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C4134F-6C38-49F6-A4BA-62E2BC5ABF59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C729DC-42C9-468A-8D4C-E1E9306F8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44350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F6C3886-FE44-4283-9137-CBBA050D84B0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4251808-5BF7-4C2D-9816-F39977B48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4168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F6C3886-FE44-4283-9137-CBBA050D84B0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4251808-5BF7-4C2D-9816-F39977B48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1459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F6C3886-FE44-4283-9137-CBBA050D84B0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4251808-5BF7-4C2D-9816-F39977B48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835996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F6C3886-FE44-4283-9137-CBBA050D84B0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4251808-5BF7-4C2D-9816-F39977B48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975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F6C3886-FE44-4283-9137-CBBA050D84B0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4251808-5BF7-4C2D-9816-F39977B48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245575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F6C3886-FE44-4283-9137-CBBA050D84B0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4251808-5BF7-4C2D-9816-F39977B48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5700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F6C3886-FE44-4283-9137-CBBA050D84B0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4251808-5BF7-4C2D-9816-F39977B48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4957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F6C3886-FE44-4283-9137-CBBA050D84B0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4251808-5BF7-4C2D-9816-F39977B48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060981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F6C3886-FE44-4283-9137-CBBA050D84B0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4251808-5BF7-4C2D-9816-F39977B48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9882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F6C3886-FE44-4283-9137-CBBA050D84B0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4251808-5BF7-4C2D-9816-F39977B48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45396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F6C3886-FE44-4283-9137-CBBA050D84B0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4251808-5BF7-4C2D-9816-F39977B48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534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9.pn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image" Target="../media/image10.gif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25EF75-4D52-440A-A177-AD7D86E62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4666"/>
            <a:ext cx="10515600" cy="615553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0E384-7329-4F48-9513-487423506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72818"/>
            <a:ext cx="10515600" cy="1608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2CADF-0F3F-4A6D-8357-3E5A357960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9788" y="6330227"/>
            <a:ext cx="5256000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7BFF6A76-928D-4240-A973-B16EE178E0D9}" type="datetime2">
              <a:rPr lang="en-GB" smtClean="0"/>
              <a:pPr/>
              <a:t>Monday 3 November 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8B8C9-4F22-4557-AE82-C88DC9015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9788" y="6525346"/>
            <a:ext cx="10512000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Footer Goes Here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40DCD-F5B7-4664-87EE-F1FFDD430D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30227"/>
            <a:ext cx="767408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F90E331C-8DD5-41DE-A1D8-42719F204B7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9640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0" r:id="rId2"/>
    <p:sldLayoutId id="2147483678" r:id="rId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baseline="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358775" indent="-358775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Clr>
          <a:schemeClr val="bg2"/>
        </a:buClr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31825" indent="-273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bg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90600" indent="-3587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bg2"/>
        </a:buClr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54125" indent="-263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bg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 userDrawn="1">
          <p15:clr>
            <a:srgbClr val="F26B43"/>
          </p15:clr>
        </p15:guide>
        <p15:guide id="2" pos="7151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orient="horz" pos="1117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7" orient="horz" pos="411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DFA11-9616-41BC-915F-FAF0C22C93A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92768A-EFD8-40F2-8B7D-E87548535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695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 userDrawn="1"/>
        </p:nvSpPr>
        <p:spPr bwMode="auto">
          <a:xfrm>
            <a:off x="0" y="0"/>
            <a:ext cx="12192000" cy="1124744"/>
          </a:xfrm>
          <a:prstGeom prst="rect">
            <a:avLst/>
          </a:prstGeom>
          <a:solidFill>
            <a:srgbClr val="2B167B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en-GB" sz="4400" kern="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9672898" y="6334002"/>
            <a:ext cx="22261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600" b="0" dirty="0">
                <a:solidFill>
                  <a:srgbClr val="2B167B"/>
                </a:solidFill>
                <a:latin typeface="+mj-lt"/>
              </a:rPr>
              <a:t>www.bartscancer.london</a:t>
            </a:r>
          </a:p>
        </p:txBody>
      </p:sp>
      <p:sp>
        <p:nvSpPr>
          <p:cNvPr id="4" name="TextBox 10"/>
          <p:cNvSpPr txBox="1">
            <a:spLocks noChangeArrowheads="1"/>
          </p:cNvSpPr>
          <p:nvPr userDrawn="1"/>
        </p:nvSpPr>
        <p:spPr bwMode="auto">
          <a:xfrm>
            <a:off x="407368" y="6345235"/>
            <a:ext cx="86748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200" dirty="0">
                <a:solidFill>
                  <a:srgbClr val="2B167B"/>
                </a:solidFill>
                <a:latin typeface="+mn-lt"/>
              </a:rPr>
              <a:t>@QMBCI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60" y="6331964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015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 userDrawn="1"/>
        </p:nvSpPr>
        <p:spPr bwMode="auto">
          <a:xfrm>
            <a:off x="0" y="0"/>
            <a:ext cx="12192000" cy="1124744"/>
          </a:xfrm>
          <a:prstGeom prst="rect">
            <a:avLst/>
          </a:prstGeom>
          <a:solidFill>
            <a:srgbClr val="2B167B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en-GB" sz="4400" kern="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2963652" y="260648"/>
            <a:ext cx="6264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+mj-lt"/>
              </a:rPr>
              <a:t>Acknowledgements</a:t>
            </a:r>
          </a:p>
        </p:txBody>
      </p:sp>
    </p:spTree>
    <p:extLst>
      <p:ext uri="{BB962C8B-B14F-4D97-AF65-F5344CB8AC3E}">
        <p14:creationId xmlns:p14="http://schemas.microsoft.com/office/powerpoint/2010/main" val="2845711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 userDrawn="1"/>
        </p:nvSpPr>
        <p:spPr bwMode="auto">
          <a:xfrm>
            <a:off x="0" y="0"/>
            <a:ext cx="12192000" cy="1268760"/>
          </a:xfrm>
          <a:prstGeom prst="rect">
            <a:avLst/>
          </a:prstGeom>
          <a:solidFill>
            <a:srgbClr val="2B167B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en-GB" sz="4400" kern="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\\uk-chs-lnetb\QMCR-USERS\baker17\My Pictures\Logos\BCI logos\BCI_w_Queen_Mary_nocommaWhite.gif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13980" y="59933"/>
            <a:ext cx="2476821" cy="1087529"/>
          </a:xfrm>
          <a:prstGeom prst="rect">
            <a:avLst/>
          </a:prstGeom>
          <a:noFill/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59933"/>
            <a:ext cx="1965365" cy="70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543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mea.support.illumina.com/bulletins/2016/04/fastq-files-explained.html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7.png"/><Relationship Id="rId4" Type="http://schemas.openxmlformats.org/officeDocument/2006/relationships/hyperlink" Target="https://www.bioinformatics.babraham.ac.uk/projects/fastqc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oinformatics.babraham.ac.uk/projects/trim_galore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exdobin/STAR/blob/master/doc/STARmanual.pdf" TargetMode="Externa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ftp://ftp.ensembl.org/pub/release-105/gtf/homo_sapiens/Homo_sapiens.GRCh38.105.gtf.gz" TargetMode="Externa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deweylab.github.io/RSEM/rsem-calculate-expression.html" TargetMode="Externa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deweylab.github.io/RSEM/rsem-calculate-expression.html" TargetMode="Externa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deweylab.github.io/RSEM/rsem-calculate-expression.html" TargetMode="Externa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hpc.qmul.ac.uk/using/arrays/" TargetMode="Externa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hpc.qmul.ac.uk/using/arrays/" TargetMode="Externa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oinformatics.babraham.ac.uk/projects/fastqc/" TargetMode="External"/><Relationship Id="rId2" Type="http://schemas.openxmlformats.org/officeDocument/2006/relationships/hyperlink" Target="https://emea.support.illumina.com/bulletins/2016/04/fastq-files-explained.html" TargetMode="Externa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2C8B18EE-7374-4FE3-A69B-EDD56315976F}"/>
              </a:ext>
            </a:extLst>
          </p:cNvPr>
          <p:cNvSpPr txBox="1">
            <a:spLocks/>
          </p:cNvSpPr>
          <p:nvPr/>
        </p:nvSpPr>
        <p:spPr>
          <a:xfrm>
            <a:off x="839788" y="4005064"/>
            <a:ext cx="5040000" cy="6924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2B167B"/>
                </a:solidFill>
                <a:latin typeface="+mj-lt"/>
              </a:rPr>
              <a:t>Eleni </a:t>
            </a:r>
            <a:r>
              <a:rPr lang="en-GB" dirty="0" err="1">
                <a:solidFill>
                  <a:srgbClr val="2B167B"/>
                </a:solidFill>
                <a:latin typeface="+mj-lt"/>
              </a:rPr>
              <a:t>Maniati</a:t>
            </a:r>
            <a:r>
              <a:rPr lang="en-GB" dirty="0">
                <a:solidFill>
                  <a:srgbClr val="2B167B"/>
                </a:solidFill>
                <a:latin typeface="+mj-lt"/>
              </a:rPr>
              <a:t>, PhD</a:t>
            </a:r>
          </a:p>
          <a:p>
            <a:r>
              <a:rPr lang="en-GB" dirty="0">
                <a:solidFill>
                  <a:srgbClr val="2B167B"/>
                </a:solidFill>
                <a:latin typeface="+mj-lt"/>
              </a:rPr>
              <a:t>Centre for Cancer Genomics and Data Science</a:t>
            </a:r>
          </a:p>
        </p:txBody>
      </p:sp>
      <p:pic>
        <p:nvPicPr>
          <p:cNvPr id="28" name="Picture Placeholder 27">
            <a:extLst>
              <a:ext uri="{FF2B5EF4-FFF2-40B4-BE49-F238E27FC236}">
                <a16:creationId xmlns:a16="http://schemas.microsoft.com/office/drawing/2014/main" id="{CDABA51B-FBC0-2D44-180C-61360E2E775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99" r="23099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32E460-5B44-A611-5EF3-4C8668796146}"/>
              </a:ext>
            </a:extLst>
          </p:cNvPr>
          <p:cNvSpPr txBox="1">
            <a:spLocks/>
          </p:cNvSpPr>
          <p:nvPr/>
        </p:nvSpPr>
        <p:spPr>
          <a:xfrm>
            <a:off x="-78674" y="2074019"/>
            <a:ext cx="7164212" cy="208823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6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1200"/>
              </a:spcAft>
            </a:pPr>
            <a:r>
              <a:rPr lang="en-GB" dirty="0">
                <a:solidFill>
                  <a:srgbClr val="2B167B"/>
                </a:solidFill>
              </a:rPr>
              <a:t>RNA-</a:t>
            </a:r>
            <a:r>
              <a:rPr lang="en-GB" dirty="0" err="1">
                <a:solidFill>
                  <a:srgbClr val="2B167B"/>
                </a:solidFill>
              </a:rPr>
              <a:t>Seq</a:t>
            </a:r>
            <a:r>
              <a:rPr lang="en-GB" dirty="0">
                <a:solidFill>
                  <a:srgbClr val="2B167B"/>
                </a:solidFill>
              </a:rPr>
              <a:t> Analysis </a:t>
            </a:r>
          </a:p>
          <a:p>
            <a:pPr>
              <a:spcAft>
                <a:spcPts val="1200"/>
              </a:spcAft>
            </a:pPr>
            <a:r>
              <a:rPr lang="en-GB" sz="3600" dirty="0">
                <a:solidFill>
                  <a:srgbClr val="2B167B"/>
                </a:solidFill>
              </a:rPr>
              <a:t>Part 1: Read Alignment and Count</a:t>
            </a:r>
            <a:endParaRPr lang="en-GB" dirty="0">
              <a:solidFill>
                <a:srgbClr val="2B167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30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94F87-C9D7-B676-C387-9D8999CFB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65125"/>
            <a:ext cx="10658475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Overview of </a:t>
            </a:r>
            <a:r>
              <a:rPr lang="en-US" dirty="0" err="1">
                <a:solidFill>
                  <a:schemeClr val="bg1"/>
                </a:solidFill>
              </a:rPr>
              <a:t>RNASeq</a:t>
            </a:r>
            <a:r>
              <a:rPr lang="en-US" dirty="0">
                <a:solidFill>
                  <a:schemeClr val="bg1"/>
                </a:solidFill>
              </a:rPr>
              <a:t>-seq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7D5A61-DEEA-BBF9-C5CC-B9C0D33088D5}"/>
              </a:ext>
            </a:extLst>
          </p:cNvPr>
          <p:cNvSpPr txBox="1"/>
          <p:nvPr/>
        </p:nvSpPr>
        <p:spPr>
          <a:xfrm>
            <a:off x="4149510" y="1196752"/>
            <a:ext cx="1990738" cy="430887"/>
          </a:xfrm>
          <a:prstGeom prst="rect">
            <a:avLst/>
          </a:prstGeom>
          <a:noFill/>
          <a:ln w="2540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2200" dirty="0"/>
              <a:t>Sequence reads</a:t>
            </a: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191A0034-F776-8E52-1640-0F11C39486B0}"/>
              </a:ext>
            </a:extLst>
          </p:cNvPr>
          <p:cNvSpPr/>
          <p:nvPr/>
        </p:nvSpPr>
        <p:spPr>
          <a:xfrm>
            <a:off x="5066265" y="1646717"/>
            <a:ext cx="285549" cy="370160"/>
          </a:xfrm>
          <a:prstGeom prst="downArrow">
            <a:avLst/>
          </a:prstGeom>
          <a:solidFill>
            <a:srgbClr val="FF7E79"/>
          </a:solidFill>
          <a:ln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11B881-318B-C2CE-4FDC-5A58ED72BECD}"/>
              </a:ext>
            </a:extLst>
          </p:cNvPr>
          <p:cNvSpPr txBox="1"/>
          <p:nvPr/>
        </p:nvSpPr>
        <p:spPr>
          <a:xfrm>
            <a:off x="4246570" y="2061960"/>
            <a:ext cx="1882310" cy="430887"/>
          </a:xfrm>
          <a:prstGeom prst="rect">
            <a:avLst/>
          </a:prstGeom>
          <a:noFill/>
          <a:ln w="2540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2200" dirty="0"/>
              <a:t>Quality control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E221A380-432A-C99F-3AE9-295CA2D6A45F}"/>
              </a:ext>
            </a:extLst>
          </p:cNvPr>
          <p:cNvSpPr/>
          <p:nvPr/>
        </p:nvSpPr>
        <p:spPr>
          <a:xfrm>
            <a:off x="5051243" y="2546522"/>
            <a:ext cx="285549" cy="370160"/>
          </a:xfrm>
          <a:prstGeom prst="downArrow">
            <a:avLst/>
          </a:prstGeom>
          <a:solidFill>
            <a:srgbClr val="FF7E79"/>
          </a:solidFill>
          <a:ln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C86AFB-5894-0780-7407-A29DE1415663}"/>
              </a:ext>
            </a:extLst>
          </p:cNvPr>
          <p:cNvSpPr txBox="1"/>
          <p:nvPr/>
        </p:nvSpPr>
        <p:spPr>
          <a:xfrm>
            <a:off x="3892954" y="3862160"/>
            <a:ext cx="2667974" cy="430887"/>
          </a:xfrm>
          <a:prstGeom prst="rect">
            <a:avLst/>
          </a:prstGeom>
          <a:noFill/>
          <a:ln w="2540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2200" dirty="0"/>
              <a:t>Alignment to genome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02398F6F-4CA4-C69F-D044-C9F56452B30C}"/>
              </a:ext>
            </a:extLst>
          </p:cNvPr>
          <p:cNvSpPr/>
          <p:nvPr/>
        </p:nvSpPr>
        <p:spPr>
          <a:xfrm>
            <a:off x="5051243" y="4380468"/>
            <a:ext cx="285549" cy="370160"/>
          </a:xfrm>
          <a:prstGeom prst="downArrow">
            <a:avLst/>
          </a:prstGeom>
          <a:solidFill>
            <a:srgbClr val="FF7E79"/>
          </a:solidFill>
          <a:ln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D66C1D-84E2-7422-16B2-B6322B8B6296}"/>
              </a:ext>
            </a:extLst>
          </p:cNvPr>
          <p:cNvSpPr txBox="1"/>
          <p:nvPr/>
        </p:nvSpPr>
        <p:spPr>
          <a:xfrm>
            <a:off x="3104544" y="4798264"/>
            <a:ext cx="4178965" cy="430887"/>
          </a:xfrm>
          <a:prstGeom prst="rect">
            <a:avLst/>
          </a:prstGeom>
          <a:noFill/>
          <a:ln w="2540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2200" dirty="0"/>
              <a:t>Quantification of gene abundances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825002-9189-C845-1283-8ADC7AEBB1FD}"/>
              </a:ext>
            </a:extLst>
          </p:cNvPr>
          <p:cNvSpPr txBox="1"/>
          <p:nvPr/>
        </p:nvSpPr>
        <p:spPr>
          <a:xfrm>
            <a:off x="6165635" y="2077728"/>
            <a:ext cx="910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FASTQC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C16946-AE0B-1CC4-372D-07CC3D1AB0B9}"/>
              </a:ext>
            </a:extLst>
          </p:cNvPr>
          <p:cNvSpPr txBox="1"/>
          <p:nvPr/>
        </p:nvSpPr>
        <p:spPr>
          <a:xfrm>
            <a:off x="6595952" y="3876377"/>
            <a:ext cx="3573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STAR</a:t>
            </a:r>
            <a:r>
              <a:rPr lang="en-US" i="1" dirty="0"/>
              <a:t> aligner with optimized settings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924F3C-04F6-9FA1-D0EE-C5BCE8CC8043}"/>
              </a:ext>
            </a:extLst>
          </p:cNvPr>
          <p:cNvSpPr txBox="1"/>
          <p:nvPr/>
        </p:nvSpPr>
        <p:spPr>
          <a:xfrm>
            <a:off x="3939313" y="4334662"/>
            <a:ext cx="1072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BAM files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B3C29E-C77C-B68F-8152-2B780C250D00}"/>
              </a:ext>
            </a:extLst>
          </p:cNvPr>
          <p:cNvSpPr txBox="1"/>
          <p:nvPr/>
        </p:nvSpPr>
        <p:spPr>
          <a:xfrm>
            <a:off x="7293381" y="4814032"/>
            <a:ext cx="2434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rsem</a:t>
            </a:r>
            <a:r>
              <a:rPr lang="en-US" i="1" dirty="0"/>
              <a:t> for read counting </a:t>
            </a:r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4EDEEA48-3D89-E33A-6AC5-89F5C4F23D81}"/>
              </a:ext>
            </a:extLst>
          </p:cNvPr>
          <p:cNvSpPr/>
          <p:nvPr/>
        </p:nvSpPr>
        <p:spPr>
          <a:xfrm>
            <a:off x="5051243" y="5297439"/>
            <a:ext cx="285549" cy="370160"/>
          </a:xfrm>
          <a:prstGeom prst="downArrow">
            <a:avLst/>
          </a:prstGeom>
          <a:solidFill>
            <a:srgbClr val="FF7E79"/>
          </a:solidFill>
          <a:ln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5322E9-5145-B271-C73C-5EEEA877CDCA}"/>
              </a:ext>
            </a:extLst>
          </p:cNvPr>
          <p:cNvSpPr txBox="1"/>
          <p:nvPr/>
        </p:nvSpPr>
        <p:spPr>
          <a:xfrm>
            <a:off x="3896632" y="5733207"/>
            <a:ext cx="2609048" cy="430887"/>
          </a:xfrm>
          <a:prstGeom prst="rect">
            <a:avLst/>
          </a:prstGeom>
          <a:noFill/>
          <a:ln w="2540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2200" dirty="0"/>
              <a:t>Downstream analysis</a:t>
            </a: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72739124-A463-5673-F22E-C91A3F3C6005}"/>
              </a:ext>
            </a:extLst>
          </p:cNvPr>
          <p:cNvSpPr/>
          <p:nvPr/>
        </p:nvSpPr>
        <p:spPr>
          <a:xfrm>
            <a:off x="6602446" y="5391351"/>
            <a:ext cx="246514" cy="1258545"/>
          </a:xfrm>
          <a:prstGeom prst="leftBrace">
            <a:avLst>
              <a:gd name="adj1" fmla="val 99752"/>
              <a:gd name="adj2" fmla="val 50000"/>
            </a:avLst>
          </a:prstGeom>
          <a:ln>
            <a:solidFill>
              <a:srgbClr val="FF7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AC7392-BBB0-2256-EACD-CFF329BD3F4C}"/>
              </a:ext>
            </a:extLst>
          </p:cNvPr>
          <p:cNvSpPr txBox="1"/>
          <p:nvPr/>
        </p:nvSpPr>
        <p:spPr>
          <a:xfrm>
            <a:off x="6750391" y="5279179"/>
            <a:ext cx="49231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Data wrangling to assemble all samples into one gene expression matrix (R)</a:t>
            </a:r>
          </a:p>
          <a:p>
            <a:r>
              <a:rPr lang="en-US" i="1" dirty="0"/>
              <a:t>Differential expression analysis(R package DESeq2)</a:t>
            </a:r>
          </a:p>
          <a:p>
            <a:r>
              <a:rPr lang="en-US" i="1" dirty="0"/>
              <a:t>Gene Set Enrichment Analysis (R packages </a:t>
            </a:r>
            <a:r>
              <a:rPr lang="en-US" i="1" dirty="0" err="1"/>
              <a:t>fgsea</a:t>
            </a:r>
            <a:r>
              <a:rPr lang="en-US" i="1" dirty="0"/>
              <a:t> and </a:t>
            </a:r>
            <a:r>
              <a:rPr lang="en-US" i="1" dirty="0" err="1"/>
              <a:t>clusterProfiler</a:t>
            </a:r>
            <a:r>
              <a:rPr lang="en-US" i="1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5897AB-220C-B335-2810-9296F1D77C41}"/>
              </a:ext>
            </a:extLst>
          </p:cNvPr>
          <p:cNvSpPr txBox="1"/>
          <p:nvPr/>
        </p:nvSpPr>
        <p:spPr>
          <a:xfrm>
            <a:off x="4577232" y="2998064"/>
            <a:ext cx="1263616" cy="430887"/>
          </a:xfrm>
          <a:prstGeom prst="rect">
            <a:avLst/>
          </a:prstGeom>
          <a:noFill/>
          <a:ln w="2540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2200" dirty="0"/>
              <a:t>Trimming</a:t>
            </a:r>
          </a:p>
        </p:txBody>
      </p:sp>
      <p:sp>
        <p:nvSpPr>
          <p:cNvPr id="26" name="Down Arrow 25">
            <a:extLst>
              <a:ext uri="{FF2B5EF4-FFF2-40B4-BE49-F238E27FC236}">
                <a16:creationId xmlns:a16="http://schemas.microsoft.com/office/drawing/2014/main" id="{010685BA-5F5E-9BB2-5787-F7920C6FACCE}"/>
              </a:ext>
            </a:extLst>
          </p:cNvPr>
          <p:cNvSpPr/>
          <p:nvPr/>
        </p:nvSpPr>
        <p:spPr>
          <a:xfrm>
            <a:off x="5051243" y="3463495"/>
            <a:ext cx="285549" cy="370160"/>
          </a:xfrm>
          <a:prstGeom prst="downArrow">
            <a:avLst/>
          </a:prstGeom>
          <a:solidFill>
            <a:srgbClr val="FF7E79"/>
          </a:solidFill>
          <a:ln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17270B-1B56-C7E2-FE0E-484E12871CB8}"/>
              </a:ext>
            </a:extLst>
          </p:cNvPr>
          <p:cNvSpPr txBox="1"/>
          <p:nvPr/>
        </p:nvSpPr>
        <p:spPr>
          <a:xfrm>
            <a:off x="5852845" y="3008186"/>
            <a:ext cx="5340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Trimgalore</a:t>
            </a:r>
            <a:r>
              <a:rPr lang="en-US" i="1" dirty="0"/>
              <a:t> to remove artifacts and adapter sequences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235D9D-435B-FAA2-8B45-60977044047B}"/>
              </a:ext>
            </a:extLst>
          </p:cNvPr>
          <p:cNvSpPr txBox="1"/>
          <p:nvPr/>
        </p:nvSpPr>
        <p:spPr>
          <a:xfrm>
            <a:off x="3104544" y="3410842"/>
            <a:ext cx="2000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trimmed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fastq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files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CF9C4C-7CFE-F9D9-D26B-95D13740C60F}"/>
              </a:ext>
            </a:extLst>
          </p:cNvPr>
          <p:cNvSpPr txBox="1"/>
          <p:nvPr/>
        </p:nvSpPr>
        <p:spPr>
          <a:xfrm>
            <a:off x="6198867" y="1204398"/>
            <a:ext cx="2018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Zipped FASTQ input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D99196-98DF-8B73-875A-FE44F23107C1}"/>
              </a:ext>
            </a:extLst>
          </p:cNvPr>
          <p:cNvSpPr txBox="1"/>
          <p:nvPr/>
        </p:nvSpPr>
        <p:spPr>
          <a:xfrm>
            <a:off x="2567608" y="5248229"/>
            <a:ext cx="2573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gene abundance tab files</a:t>
            </a:r>
          </a:p>
        </p:txBody>
      </p:sp>
    </p:spTree>
    <p:extLst>
      <p:ext uri="{BB962C8B-B14F-4D97-AF65-F5344CB8AC3E}">
        <p14:creationId xmlns:p14="http://schemas.microsoft.com/office/powerpoint/2010/main" val="140166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8A46650-2C37-FACD-3F2B-29B765699211}"/>
              </a:ext>
            </a:extLst>
          </p:cNvPr>
          <p:cNvSpPr/>
          <p:nvPr/>
        </p:nvSpPr>
        <p:spPr>
          <a:xfrm>
            <a:off x="838200" y="2780928"/>
            <a:ext cx="5977880" cy="432048"/>
          </a:xfrm>
          <a:prstGeom prst="roundRect">
            <a:avLst/>
          </a:prstGeom>
          <a:solidFill>
            <a:srgbClr val="FFFF00">
              <a:alpha val="2414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8C0626-3087-6785-11EA-0228110C1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65125"/>
            <a:ext cx="10658475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1. Setup </a:t>
            </a:r>
            <a:r>
              <a:rPr lang="en-US" dirty="0" err="1">
                <a:solidFill>
                  <a:schemeClr val="bg1"/>
                </a:solidFill>
              </a:rPr>
              <a:t>qlogin</a:t>
            </a:r>
            <a:r>
              <a:rPr lang="en-US" dirty="0">
                <a:solidFill>
                  <a:schemeClr val="bg1"/>
                </a:solidFill>
              </a:rPr>
              <a:t> in HPC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CA431-31CE-4D86-CDB6-6163D1B8C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4739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Start a </a:t>
            </a:r>
            <a:r>
              <a:rPr lang="en-US" dirty="0" err="1"/>
              <a:t>qlogin</a:t>
            </a:r>
            <a:r>
              <a:rPr lang="en-US" dirty="0"/>
              <a:t> session so that you can use an interactive node in HPC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$</a:t>
            </a:r>
            <a:r>
              <a:rPr lang="en-US" sz="2400" dirty="0" err="1"/>
              <a:t>qlogin</a:t>
            </a:r>
            <a:r>
              <a:rPr lang="en-US" sz="2400" dirty="0"/>
              <a:t> -pe </a:t>
            </a:r>
            <a:r>
              <a:rPr lang="en-US" sz="2400" dirty="0" err="1"/>
              <a:t>smp</a:t>
            </a:r>
            <a:r>
              <a:rPr lang="en-US" sz="2400" dirty="0"/>
              <a:t> 4 -l </a:t>
            </a:r>
            <a:r>
              <a:rPr lang="en-US" sz="2400" dirty="0" err="1"/>
              <a:t>h_vmem</a:t>
            </a:r>
            <a:r>
              <a:rPr lang="en-US" sz="2400" dirty="0"/>
              <a:t>=10G -l </a:t>
            </a:r>
            <a:r>
              <a:rPr lang="en-US" sz="2400" dirty="0" err="1"/>
              <a:t>h_rt</a:t>
            </a:r>
            <a:r>
              <a:rPr lang="en-US" sz="2400" dirty="0"/>
              <a:t>=24:0:0</a:t>
            </a:r>
          </a:p>
          <a:p>
            <a:pPr marL="0" indent="0">
              <a:buNone/>
            </a:pPr>
            <a:r>
              <a:rPr lang="en-US" sz="1400" dirty="0"/>
              <a:t>(this </a:t>
            </a:r>
            <a:r>
              <a:rPr lang="en-US" sz="1400" dirty="0" err="1"/>
              <a:t>qlogin</a:t>
            </a:r>
            <a:r>
              <a:rPr lang="en-US" sz="1400" dirty="0"/>
              <a:t> example requests 4 cores of CPU, 8GB of RAM and runtime of 24 hours)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151294-1CC1-0FA0-A3E8-A0D3CC2681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791" b="20339"/>
          <a:stretch/>
        </p:blipFill>
        <p:spPr>
          <a:xfrm>
            <a:off x="335360" y="3861048"/>
            <a:ext cx="9001000" cy="1656184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0F22E33-BA0D-03C9-8879-DF7D80BB4D65}"/>
              </a:ext>
            </a:extLst>
          </p:cNvPr>
          <p:cNvSpPr/>
          <p:nvPr/>
        </p:nvSpPr>
        <p:spPr>
          <a:xfrm>
            <a:off x="337050" y="3726110"/>
            <a:ext cx="8855293" cy="1863129"/>
          </a:xfrm>
          <a:prstGeom prst="roundRect">
            <a:avLst/>
          </a:prstGeom>
          <a:solidFill>
            <a:schemeClr val="bg1">
              <a:lumMod val="65000"/>
              <a:alpha val="1703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361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DEF6FAE-455B-AB72-16B5-52E5A79E4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65125"/>
            <a:ext cx="10658475" cy="1325563"/>
          </a:xfrm>
        </p:spPr>
        <p:txBody>
          <a:bodyPr/>
          <a:lstStyle/>
          <a:p>
            <a:r>
              <a:rPr lang="en-US" sz="3600" dirty="0">
                <a:solidFill>
                  <a:schemeClr val="bg1"/>
                </a:solidFill>
              </a:rPr>
              <a:t>1*. Copy data from HPC teaching directory to scratch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DC72D2-88AE-B7BC-70C6-A11538CA3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15" y="5773782"/>
            <a:ext cx="11055294" cy="5330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E19B5F-A58C-ECE7-A3D7-7D8C7EEFF40A}"/>
              </a:ext>
            </a:extLst>
          </p:cNvPr>
          <p:cNvSpPr txBox="1"/>
          <p:nvPr/>
        </p:nvSpPr>
        <p:spPr>
          <a:xfrm>
            <a:off x="4475820" y="6308209"/>
            <a:ext cx="3240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Ready to continue </a:t>
            </a:r>
            <a:r>
              <a:rPr lang="en-GB" dirty="0">
                <a:solidFill>
                  <a:srgbClr val="000000"/>
                </a:solidFill>
                <a:latin typeface="Menlo" panose="020B0609030804020204" pitchFamily="49" charset="0"/>
                <a:sym typeface="Wingdings" pitchFamily="2" charset="2"/>
              </a:rPr>
              <a:t>:)</a:t>
            </a:r>
            <a:endParaRPr lang="en-GB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333BEA7-F896-A13F-837A-7B96975C46F3}"/>
              </a:ext>
            </a:extLst>
          </p:cNvPr>
          <p:cNvSpPr txBox="1">
            <a:spLocks/>
          </p:cNvSpPr>
          <p:nvPr/>
        </p:nvSpPr>
        <p:spPr>
          <a:xfrm>
            <a:off x="1343472" y="1058463"/>
            <a:ext cx="8568952" cy="419292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800" dirty="0">
                <a:solidFill>
                  <a:srgbClr val="000000"/>
                </a:solidFill>
                <a:latin typeface="Menlo" panose="020B0609030804020204" pitchFamily="49" charset="0"/>
              </a:rPr>
              <a:t>cd /data/scratch/</a:t>
            </a:r>
            <a:r>
              <a:rPr lang="en-GB" sz="1800" dirty="0">
                <a:solidFill>
                  <a:srgbClr val="FF0000"/>
                </a:solidFill>
                <a:latin typeface="Menlo" panose="020B0609030804020204" pitchFamily="49" charset="0"/>
              </a:rPr>
              <a:t>YOUR_ID</a:t>
            </a:r>
            <a:r>
              <a:rPr lang="en-GB" sz="1800" dirty="0">
                <a:solidFill>
                  <a:srgbClr val="000000"/>
                </a:solidFill>
                <a:latin typeface="Menlo" panose="020B0609030804020204" pitchFamily="49" charset="0"/>
              </a:rPr>
              <a:t>/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800" dirty="0">
                <a:solidFill>
                  <a:srgbClr val="000000"/>
                </a:solidFill>
                <a:latin typeface="Menlo" panose="020B0609030804020204" pitchFamily="49" charset="0"/>
              </a:rPr>
              <a:t>cp –r /data/teaching/</a:t>
            </a:r>
            <a:r>
              <a:rPr lang="en-GB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bci_teaching</a:t>
            </a:r>
            <a:r>
              <a:rPr lang="en-GB" sz="1800" dirty="0">
                <a:solidFill>
                  <a:srgbClr val="000000"/>
                </a:solidFill>
                <a:latin typeface="Menlo" panose="020B0609030804020204" pitchFamily="49" charset="0"/>
              </a:rPr>
              <a:t>/</a:t>
            </a:r>
            <a:r>
              <a:rPr lang="en-GB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RNASeq</a:t>
            </a:r>
            <a:r>
              <a:rPr lang="en-GB" sz="1800" dirty="0">
                <a:solidFill>
                  <a:srgbClr val="000000"/>
                </a:solidFill>
                <a:latin typeface="Menlo" panose="020B0609030804020204" pitchFamily="49" charset="0"/>
              </a:rPr>
              <a:t> .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mkdir</a:t>
            </a:r>
            <a:r>
              <a:rPr lang="en-GB" sz="1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myRNASeq</a:t>
            </a:r>
            <a:endParaRPr lang="en-GB" sz="18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800" dirty="0">
                <a:solidFill>
                  <a:srgbClr val="000000"/>
                </a:solidFill>
                <a:latin typeface="Menlo" panose="020B0609030804020204" pitchFamily="49" charset="0"/>
              </a:rPr>
              <a:t>cd </a:t>
            </a:r>
            <a:r>
              <a:rPr lang="en-GB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myRNASeq</a:t>
            </a:r>
            <a:endParaRPr lang="en-GB" sz="18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800" dirty="0">
                <a:solidFill>
                  <a:srgbClr val="000000"/>
                </a:solidFill>
                <a:latin typeface="Menlo" panose="020B0609030804020204" pitchFamily="49" charset="0"/>
              </a:rPr>
              <a:t>cp –r ../</a:t>
            </a:r>
            <a:r>
              <a:rPr lang="en-GB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RNASeq</a:t>
            </a:r>
            <a:r>
              <a:rPr lang="en-GB" sz="1800" dirty="0">
                <a:solidFill>
                  <a:srgbClr val="000000"/>
                </a:solidFill>
                <a:latin typeface="Menlo" panose="020B0609030804020204" pitchFamily="49" charset="0"/>
              </a:rPr>
              <a:t>/</a:t>
            </a:r>
            <a:r>
              <a:rPr lang="en-GB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raw_FASTQs</a:t>
            </a:r>
            <a:r>
              <a:rPr lang="en-GB" sz="1800" dirty="0">
                <a:solidFill>
                  <a:srgbClr val="000000"/>
                </a:solidFill>
                <a:latin typeface="Menlo" panose="020B0609030804020204" pitchFamily="49" charset="0"/>
              </a:rPr>
              <a:t>/* .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800" dirty="0">
                <a:solidFill>
                  <a:srgbClr val="000000"/>
                </a:solidFill>
                <a:latin typeface="Menlo" panose="020B0609030804020204" pitchFamily="49" charset="0"/>
              </a:rPr>
              <a:t>cp –r ../</a:t>
            </a:r>
            <a:r>
              <a:rPr lang="en-GB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RNASeq</a:t>
            </a:r>
            <a:r>
              <a:rPr lang="en-GB" sz="1800" dirty="0">
                <a:solidFill>
                  <a:srgbClr val="000000"/>
                </a:solidFill>
                <a:latin typeface="Menlo" panose="020B0609030804020204" pitchFamily="49" charset="0"/>
              </a:rPr>
              <a:t>/GRCh38.genome/ .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800" dirty="0">
                <a:solidFill>
                  <a:srgbClr val="000000"/>
                </a:solidFill>
                <a:latin typeface="Menlo" panose="020B0609030804020204" pitchFamily="49" charset="0"/>
              </a:rPr>
              <a:t>cp –r ../</a:t>
            </a:r>
            <a:r>
              <a:rPr lang="en-GB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RNASeq</a:t>
            </a:r>
            <a:r>
              <a:rPr lang="en-GB" sz="1800" dirty="0">
                <a:solidFill>
                  <a:srgbClr val="000000"/>
                </a:solidFill>
                <a:latin typeface="Menlo" panose="020B0609030804020204" pitchFamily="49" charset="0"/>
              </a:rPr>
              <a:t>/GRCh38.105.rsem.ref/ .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800" dirty="0">
                <a:solidFill>
                  <a:srgbClr val="000000"/>
                </a:solidFill>
                <a:latin typeface="Menlo" panose="020B0609030804020204" pitchFamily="49" charset="0"/>
              </a:rPr>
              <a:t>cp –r ../</a:t>
            </a:r>
            <a:r>
              <a:rPr lang="en-GB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RNASeq</a:t>
            </a:r>
            <a:r>
              <a:rPr lang="en-GB" sz="1800" dirty="0">
                <a:solidFill>
                  <a:srgbClr val="000000"/>
                </a:solidFill>
                <a:latin typeface="Menlo" panose="020B0609030804020204" pitchFamily="49" charset="0"/>
              </a:rPr>
              <a:t>/Homo_sapiens.GRCh38.105.gtf .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800" dirty="0">
                <a:solidFill>
                  <a:srgbClr val="000000"/>
                </a:solidFill>
                <a:latin typeface="Menlo" panose="020B0609030804020204" pitchFamily="49" charset="0"/>
              </a:rPr>
              <a:t>ls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GB" sz="18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GB" sz="18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GB" sz="18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GB" sz="18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GB" sz="18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GB" sz="18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GB" sz="18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GB" sz="18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40177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0626-3087-6785-11EA-0228110C1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65125"/>
            <a:ext cx="10658475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2. FASTQ file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6804BD-20B8-F4D0-CC91-004389145DD3}"/>
              </a:ext>
            </a:extLst>
          </p:cNvPr>
          <p:cNvSpPr txBox="1"/>
          <p:nvPr/>
        </p:nvSpPr>
        <p:spPr>
          <a:xfrm>
            <a:off x="3337766" y="4160087"/>
            <a:ext cx="840140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Each entry in a FASTQ files consists of 4 lines:</a:t>
            </a:r>
          </a:p>
          <a:p>
            <a:pPr algn="l">
              <a:buFont typeface="+mj-lt"/>
              <a:buAutoNum type="arabicPeriod"/>
            </a:pPr>
            <a:r>
              <a:rPr lang="en-GB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 sequence identifier with information about the sequencing run and the cluster. The exact contents of this line vary by based on the BCL to FASTQ conversion software used.</a:t>
            </a:r>
          </a:p>
          <a:p>
            <a:pPr algn="l">
              <a:buFont typeface="+mj-lt"/>
              <a:buAutoNum type="arabicPeriod"/>
            </a:pPr>
            <a:r>
              <a:rPr lang="en-GB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The sequence (the base calls; A, C, T, G and N).</a:t>
            </a:r>
          </a:p>
          <a:p>
            <a:pPr algn="l">
              <a:buFont typeface="+mj-lt"/>
              <a:buAutoNum type="arabicPeriod"/>
            </a:pPr>
            <a:r>
              <a:rPr lang="en-GB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 separator, which is simply a plus (+) sign.</a:t>
            </a:r>
          </a:p>
          <a:p>
            <a:pPr algn="l">
              <a:buFont typeface="+mj-lt"/>
              <a:buAutoNum type="arabicPeriod"/>
            </a:pPr>
            <a:r>
              <a:rPr lang="en-GB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The base call quality scores. These are </a:t>
            </a:r>
            <a:r>
              <a:rPr lang="en-GB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Phred</a:t>
            </a:r>
            <a:r>
              <a:rPr lang="en-GB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+33 encoded, using </a:t>
            </a:r>
            <a:r>
              <a:rPr lang="en-GB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ASCII</a:t>
            </a:r>
            <a:r>
              <a:rPr lang="en-GB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characters to represent the numerical quality scores.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3FE6C1-2165-AB52-A746-4FBF01CB9EEA}"/>
              </a:ext>
            </a:extLst>
          </p:cNvPr>
          <p:cNvSpPr txBox="1"/>
          <p:nvPr/>
        </p:nvSpPr>
        <p:spPr>
          <a:xfrm>
            <a:off x="263352" y="1464809"/>
            <a:ext cx="6097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/>
              <a:t>Lets have a look into a </a:t>
            </a:r>
            <a:r>
              <a:rPr lang="en-US" sz="2800" dirty="0" err="1"/>
              <a:t>fastq</a:t>
            </a:r>
            <a:r>
              <a:rPr lang="en-US" sz="2800" dirty="0"/>
              <a:t> file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E026E38-B3BE-4480-A3A5-DB11F980F64D}"/>
              </a:ext>
            </a:extLst>
          </p:cNvPr>
          <p:cNvGrpSpPr/>
          <p:nvPr/>
        </p:nvGrpSpPr>
        <p:grpSpPr>
          <a:xfrm>
            <a:off x="391987" y="2349144"/>
            <a:ext cx="4539557" cy="404867"/>
            <a:chOff x="1198240" y="2697110"/>
            <a:chExt cx="4539557" cy="404867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C8A46650-2C37-FACD-3F2B-29B765699211}"/>
                </a:ext>
              </a:extLst>
            </p:cNvPr>
            <p:cNvSpPr/>
            <p:nvPr/>
          </p:nvSpPr>
          <p:spPr>
            <a:xfrm>
              <a:off x="1198240" y="2697110"/>
              <a:ext cx="4249688" cy="404867"/>
            </a:xfrm>
            <a:prstGeom prst="roundRect">
              <a:avLst/>
            </a:prstGeom>
            <a:solidFill>
              <a:srgbClr val="FFFF00">
                <a:alpha val="24145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C561F86-413F-DDF1-B9C2-B4AB67C49F63}"/>
                </a:ext>
              </a:extLst>
            </p:cNvPr>
            <p:cNvSpPr txBox="1"/>
            <p:nvPr/>
          </p:nvSpPr>
          <p:spPr>
            <a:xfrm>
              <a:off x="1345309" y="2710413"/>
              <a:ext cx="43924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1800" dirty="0"/>
                <a:t>$</a:t>
              </a:r>
              <a:r>
                <a:rPr lang="en-GB" sz="1800" dirty="0" err="1"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zcat</a:t>
              </a:r>
              <a:r>
                <a:rPr lang="en-GB" sz="1800" dirty="0"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 Ovcar4_2m_1.fastq.gz | head -n </a:t>
              </a:r>
              <a:r>
                <a:rPr lang="en-GB" dirty="0"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  <a:endParaRPr lang="en-GB" sz="1800" dirty="0">
                <a:effectLst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4A20957E-9063-34CD-5B24-605F7141A1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565" y="2180570"/>
            <a:ext cx="6578600" cy="939800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C73617A-CAF7-B7E0-0629-95D7E1D5EE84}"/>
              </a:ext>
            </a:extLst>
          </p:cNvPr>
          <p:cNvCxnSpPr>
            <a:cxnSpLocks/>
          </p:cNvCxnSpPr>
          <p:nvPr/>
        </p:nvCxnSpPr>
        <p:spPr>
          <a:xfrm>
            <a:off x="5735960" y="3284984"/>
            <a:ext cx="0" cy="67502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5B477D1-CCB9-5606-E426-058651543B6C}"/>
              </a:ext>
            </a:extLst>
          </p:cNvPr>
          <p:cNvSpPr/>
          <p:nvPr/>
        </p:nvSpPr>
        <p:spPr>
          <a:xfrm>
            <a:off x="4839139" y="2180570"/>
            <a:ext cx="6709072" cy="1032406"/>
          </a:xfrm>
          <a:prstGeom prst="roundRect">
            <a:avLst/>
          </a:prstGeom>
          <a:solidFill>
            <a:schemeClr val="bg1">
              <a:lumMod val="65000"/>
              <a:alpha val="1703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D1F4BC-6388-9C56-AA37-B74A5F9F780C}"/>
              </a:ext>
            </a:extLst>
          </p:cNvPr>
          <p:cNvSpPr txBox="1"/>
          <p:nvPr/>
        </p:nvSpPr>
        <p:spPr>
          <a:xfrm>
            <a:off x="1631504" y="6308209"/>
            <a:ext cx="10009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https://emea.support.illumina.com/bulletins/2016/04/fastq-files-explained.html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600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2047BBF-E14E-56FC-4C3A-770F7091BD92}"/>
              </a:ext>
            </a:extLst>
          </p:cNvPr>
          <p:cNvSpPr/>
          <p:nvPr/>
        </p:nvSpPr>
        <p:spPr>
          <a:xfrm>
            <a:off x="971329" y="2416172"/>
            <a:ext cx="2964431" cy="646331"/>
          </a:xfrm>
          <a:prstGeom prst="roundRect">
            <a:avLst/>
          </a:prstGeom>
          <a:solidFill>
            <a:srgbClr val="FFFF00">
              <a:alpha val="2414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0E40A5-F180-E328-58B5-A9B6433CE47C}"/>
              </a:ext>
            </a:extLst>
          </p:cNvPr>
          <p:cNvSpPr txBox="1"/>
          <p:nvPr/>
        </p:nvSpPr>
        <p:spPr>
          <a:xfrm>
            <a:off x="983432" y="2416172"/>
            <a:ext cx="3096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rgbClr val="000000"/>
                </a:solidFill>
                <a:effectLst/>
              </a:rPr>
              <a:t>$ module load </a:t>
            </a:r>
            <a:r>
              <a:rPr lang="en-GB" sz="1800" dirty="0" err="1">
                <a:solidFill>
                  <a:srgbClr val="000000"/>
                </a:solidFill>
                <a:effectLst/>
              </a:rPr>
              <a:t>fastqc</a:t>
            </a:r>
            <a:endParaRPr lang="en-GB" sz="180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en-US" sz="1800" dirty="0"/>
              <a:t>$</a:t>
            </a:r>
            <a:r>
              <a:rPr lang="en-US" sz="1800" dirty="0" err="1"/>
              <a:t>fastqc</a:t>
            </a:r>
            <a:r>
              <a:rPr lang="en-US" sz="1800" dirty="0"/>
              <a:t> </a:t>
            </a:r>
            <a:r>
              <a:rPr lang="en-GB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Ovcar4_2m_1.fastq.gz </a:t>
            </a:r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909068-C67F-769E-65A7-45BCD4E2A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65125"/>
            <a:ext cx="10658475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3. QC </a:t>
            </a:r>
            <a:r>
              <a:rPr lang="en-US" dirty="0" err="1">
                <a:solidFill>
                  <a:schemeClr val="bg1"/>
                </a:solidFill>
              </a:rPr>
              <a:t>fastq</a:t>
            </a:r>
            <a:r>
              <a:rPr lang="en-US" dirty="0">
                <a:solidFill>
                  <a:schemeClr val="bg1"/>
                </a:solidFill>
              </a:rPr>
              <a:t> file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003EBE7-5DCD-75D5-A294-35D74D1C68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284" y="3789040"/>
            <a:ext cx="3538093" cy="294887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580D3D-B52F-0280-C7FC-FAAC2553C9EA}"/>
              </a:ext>
            </a:extLst>
          </p:cNvPr>
          <p:cNvSpPr txBox="1"/>
          <p:nvPr/>
        </p:nvSpPr>
        <p:spPr>
          <a:xfrm>
            <a:off x="5448504" y="4498790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https://www.bioinformatics.babraham.ac.uk/projects/fastqc/</a:t>
            </a:r>
            <a:endParaRPr lang="en-US" dirty="0"/>
          </a:p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39D5C4B-6BCE-EBE8-38F8-76B73D13C4A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8"/>
          <a:stretch/>
        </p:blipFill>
        <p:spPr>
          <a:xfrm>
            <a:off x="4511824" y="2516729"/>
            <a:ext cx="2592896" cy="406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C1CBA26-E8C6-C02A-F284-37D7A81A6EB9}"/>
              </a:ext>
            </a:extLst>
          </p:cNvPr>
          <p:cNvSpPr txBox="1"/>
          <p:nvPr/>
        </p:nvSpPr>
        <p:spPr>
          <a:xfrm>
            <a:off x="1021228" y="3375581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html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D6B476-2D2A-C09C-9DAA-72EA24860582}"/>
              </a:ext>
            </a:extLst>
          </p:cNvPr>
          <p:cNvSpPr txBox="1"/>
          <p:nvPr/>
        </p:nvSpPr>
        <p:spPr>
          <a:xfrm>
            <a:off x="363293" y="1336885"/>
            <a:ext cx="11173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FastQC</a:t>
            </a:r>
            <a:r>
              <a:rPr lang="en-GB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provides a simple way to do some quality control checks on raw sequence data coming from high throughput sequencing pipelines.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B2A74D1-B55A-BF05-4D45-8E6E910811C5}"/>
              </a:ext>
            </a:extLst>
          </p:cNvPr>
          <p:cNvSpPr/>
          <p:nvPr/>
        </p:nvSpPr>
        <p:spPr>
          <a:xfrm>
            <a:off x="4367809" y="2416172"/>
            <a:ext cx="2448272" cy="646331"/>
          </a:xfrm>
          <a:prstGeom prst="roundRect">
            <a:avLst/>
          </a:prstGeom>
          <a:solidFill>
            <a:schemeClr val="bg1">
              <a:lumMod val="65000"/>
              <a:alpha val="1703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505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6A0734C-FECE-A202-7D2C-0BE6AF298A21}"/>
              </a:ext>
            </a:extLst>
          </p:cNvPr>
          <p:cNvSpPr/>
          <p:nvPr/>
        </p:nvSpPr>
        <p:spPr>
          <a:xfrm>
            <a:off x="692484" y="2475320"/>
            <a:ext cx="9579979" cy="1745768"/>
          </a:xfrm>
          <a:prstGeom prst="roundRect">
            <a:avLst/>
          </a:prstGeom>
          <a:solidFill>
            <a:srgbClr val="FFFF00">
              <a:alpha val="2414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8FCA1-950D-1A74-706A-D5032EED2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261" y="2516229"/>
            <a:ext cx="10515600" cy="1110978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$module load </a:t>
            </a:r>
            <a:r>
              <a:rPr lang="en-US" sz="1800" dirty="0" err="1"/>
              <a:t>trimgalore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$</a:t>
            </a:r>
            <a:r>
              <a:rPr lang="en-GB" sz="1800" dirty="0" err="1"/>
              <a:t>mkdir</a:t>
            </a:r>
            <a:r>
              <a:rPr lang="en-GB" sz="1800" dirty="0"/>
              <a:t> </a:t>
            </a:r>
            <a:r>
              <a:rPr lang="en-GB" sz="1800" dirty="0" err="1"/>
              <a:t>trimmed_FASTQs</a:t>
            </a:r>
            <a:endParaRPr lang="en-GB" sz="1800" dirty="0"/>
          </a:p>
          <a:p>
            <a:pPr marL="0" indent="0">
              <a:buNone/>
            </a:pPr>
            <a:r>
              <a:rPr lang="en-US" sz="1800" dirty="0"/>
              <a:t>$</a:t>
            </a:r>
            <a:r>
              <a:rPr lang="en-GB" sz="1800" dirty="0" err="1"/>
              <a:t>mkdir</a:t>
            </a:r>
            <a:r>
              <a:rPr lang="en-GB" sz="1800" dirty="0"/>
              <a:t> </a:t>
            </a:r>
            <a:r>
              <a:rPr lang="en-GB" sz="1800" dirty="0" err="1"/>
              <a:t>trimmed_fastQC</a:t>
            </a:r>
            <a:endParaRPr lang="en-US" sz="1800" dirty="0"/>
          </a:p>
          <a:p>
            <a:pPr marL="0" indent="0">
              <a:buNone/>
            </a:pPr>
            <a:r>
              <a:rPr lang="en-GB" sz="1800" dirty="0">
                <a:effectLst/>
              </a:rPr>
              <a:t>$</a:t>
            </a:r>
            <a:r>
              <a:rPr lang="en-GB" sz="1800" dirty="0" err="1">
                <a:effectLst/>
              </a:rPr>
              <a:t>trim_galore</a:t>
            </a:r>
            <a:r>
              <a:rPr lang="en-GB" sz="1800" dirty="0">
                <a:effectLst/>
              </a:rPr>
              <a:t> --paired --</a:t>
            </a:r>
            <a:r>
              <a:rPr lang="en-GB" sz="1800" dirty="0" err="1">
                <a:effectLst/>
              </a:rPr>
              <a:t>illumina</a:t>
            </a:r>
            <a:r>
              <a:rPr lang="en-GB" sz="1800" dirty="0">
                <a:effectLst/>
              </a:rPr>
              <a:t> --</a:t>
            </a:r>
            <a:r>
              <a:rPr lang="en-GB" sz="1800" dirty="0" err="1">
                <a:effectLst/>
              </a:rPr>
              <a:t>dont_gzip</a:t>
            </a:r>
            <a:r>
              <a:rPr lang="en-GB" sz="1800" dirty="0">
                <a:effectLst/>
              </a:rPr>
              <a:t> --</a:t>
            </a:r>
            <a:r>
              <a:rPr lang="en-GB" sz="1800" dirty="0" err="1">
                <a:effectLst/>
              </a:rPr>
              <a:t>fastqc_args</a:t>
            </a:r>
            <a:r>
              <a:rPr lang="en-GB" sz="1800" dirty="0">
                <a:effectLst/>
              </a:rPr>
              <a:t> "-o </a:t>
            </a:r>
            <a:r>
              <a:rPr lang="en-GB" sz="1800" dirty="0" err="1">
                <a:effectLst/>
              </a:rPr>
              <a:t>trimmed_fastQC</a:t>
            </a:r>
            <a:r>
              <a:rPr lang="en-GB" sz="1800" dirty="0">
                <a:effectLst/>
              </a:rPr>
              <a:t>"  -o </a:t>
            </a:r>
            <a:r>
              <a:rPr lang="en-GB" sz="1800" dirty="0" err="1">
                <a:effectLst/>
              </a:rPr>
              <a:t>trimmed_FASTQs</a:t>
            </a:r>
            <a:r>
              <a:rPr lang="en-GB" sz="1800" dirty="0">
                <a:effectLst/>
              </a:rPr>
              <a:t> Ovcar4_2m_1.fastq.gz Ovcar4_2m_2.fastq.gz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C3B4-C700-5170-1BC9-EB76ECC14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195" y="225255"/>
            <a:ext cx="10673621" cy="1325563"/>
          </a:xfrm>
        </p:spPr>
        <p:txBody>
          <a:bodyPr/>
          <a:lstStyle/>
          <a:p>
            <a:r>
              <a:rPr lang="en-US" sz="3600" dirty="0">
                <a:solidFill>
                  <a:schemeClr val="bg1"/>
                </a:solidFill>
              </a:rPr>
              <a:t>4. Quality and adapter trimming using </a:t>
            </a:r>
            <a:r>
              <a:rPr lang="en-US" sz="3600" dirty="0" err="1">
                <a:solidFill>
                  <a:schemeClr val="bg1"/>
                </a:solidFill>
              </a:rPr>
              <a:t>trimgalore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C79E03-C4F4-41E6-C5D3-18ED00D361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64" y="4797152"/>
            <a:ext cx="4013200" cy="1485900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B78B171-889F-1A8D-4580-27132088CBDE}"/>
              </a:ext>
            </a:extLst>
          </p:cNvPr>
          <p:cNvSpPr/>
          <p:nvPr/>
        </p:nvSpPr>
        <p:spPr>
          <a:xfrm>
            <a:off x="667648" y="4797152"/>
            <a:ext cx="3960440" cy="1576189"/>
          </a:xfrm>
          <a:prstGeom prst="roundRect">
            <a:avLst/>
          </a:prstGeom>
          <a:solidFill>
            <a:schemeClr val="bg1">
              <a:lumMod val="65000"/>
              <a:alpha val="1703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CA359F-1DCA-2F9C-1B44-02E48505CFAC}"/>
              </a:ext>
            </a:extLst>
          </p:cNvPr>
          <p:cNvSpPr txBox="1"/>
          <p:nvPr/>
        </p:nvSpPr>
        <p:spPr>
          <a:xfrm>
            <a:off x="277009" y="1568369"/>
            <a:ext cx="116379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Performing quality and adapter trimming using </a:t>
            </a:r>
            <a:r>
              <a:rPr lang="en-US" sz="2000" dirty="0" err="1"/>
              <a:t>trimgalore</a:t>
            </a:r>
            <a:r>
              <a:rPr lang="en-US" sz="2000" dirty="0"/>
              <a:t>. We can include FASTQC to be done once trimming is complete by adding the –</a:t>
            </a:r>
            <a:r>
              <a:rPr lang="en-US" sz="2000" dirty="0" err="1"/>
              <a:t>fastqc_args</a:t>
            </a:r>
            <a:r>
              <a:rPr lang="en-US" sz="2000" dirty="0"/>
              <a:t> parameter. We will be using the trimmed </a:t>
            </a:r>
            <a:r>
              <a:rPr lang="en-US" sz="2000" dirty="0" err="1"/>
              <a:t>fq</a:t>
            </a:r>
            <a:r>
              <a:rPr lang="en-US" sz="2000" dirty="0"/>
              <a:t> files for further analysis.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DCE750-BE8C-EA3F-9D51-62B93FEDBE90}"/>
              </a:ext>
            </a:extLst>
          </p:cNvPr>
          <p:cNvSpPr txBox="1"/>
          <p:nvPr/>
        </p:nvSpPr>
        <p:spPr>
          <a:xfrm>
            <a:off x="4834406" y="5877272"/>
            <a:ext cx="7234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https://www.bioinformatics.babraham.ac.uk/projects/trim_galore/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98561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489A357-6ED2-C6F8-663E-0EE36C77F4BE}"/>
              </a:ext>
            </a:extLst>
          </p:cNvPr>
          <p:cNvSpPr/>
          <p:nvPr/>
        </p:nvSpPr>
        <p:spPr>
          <a:xfrm>
            <a:off x="435057" y="2415274"/>
            <a:ext cx="11321883" cy="2093846"/>
          </a:xfrm>
          <a:prstGeom prst="roundRect">
            <a:avLst/>
          </a:prstGeom>
          <a:solidFill>
            <a:srgbClr val="FFFF00">
              <a:alpha val="2414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01846-5E8C-81C6-A088-1323015A5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058" y="1688043"/>
            <a:ext cx="11321883" cy="4764187"/>
          </a:xfrm>
        </p:spPr>
        <p:txBody>
          <a:bodyPr/>
          <a:lstStyle/>
          <a:p>
            <a:r>
              <a:rPr lang="en-US" sz="2000" dirty="0"/>
              <a:t>Running STAR alignment for 150bp paired-end reads on GRCh38: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GB" sz="180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$module load </a:t>
            </a:r>
            <a:r>
              <a:rPr lang="en-GB" sz="1800" dirty="0">
                <a:solidFill>
                  <a:srgbClr val="000000"/>
                </a:solidFill>
                <a:cs typeface="Calibri" panose="020F0502020204030204" pitchFamily="34" charset="0"/>
              </a:rPr>
              <a:t>star</a:t>
            </a:r>
            <a:endParaRPr lang="en-GB" sz="1800" dirty="0">
              <a:solidFill>
                <a:srgbClr val="000000"/>
              </a:solidFill>
              <a:effectLst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1800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$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STAR --</a:t>
            </a:r>
            <a:r>
              <a:rPr lang="en-GB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runThreadN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4 </a:t>
            </a:r>
            <a:r>
              <a:rPr lang="en-GB" sz="1800" i="1" dirty="0">
                <a:solidFill>
                  <a:srgbClr val="0070C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--</a:t>
            </a:r>
            <a:r>
              <a:rPr lang="en-GB" sz="1800" i="1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genomeDir</a:t>
            </a:r>
            <a:r>
              <a:rPr lang="en-GB" sz="1800" i="1" dirty="0">
                <a:solidFill>
                  <a:srgbClr val="0070C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GRCh38.genome </a:t>
            </a:r>
            <a:r>
              <a:rPr lang="en-GB" sz="1800" i="1" dirty="0">
                <a:solidFill>
                  <a:srgbClr val="0070C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--</a:t>
            </a:r>
            <a:r>
              <a:rPr lang="en-GB" sz="1800" i="1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sjdbGTFfile</a:t>
            </a:r>
            <a:r>
              <a:rPr lang="en-GB" sz="1800" i="1" dirty="0">
                <a:solidFill>
                  <a:srgbClr val="0070C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Homo_sapiens.GRCh38.105.gtf 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--</a:t>
            </a:r>
            <a:r>
              <a:rPr lang="en-GB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sjdbOverhang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149 --</a:t>
            </a:r>
            <a:r>
              <a:rPr lang="en-GB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outFilterType</a:t>
            </a:r>
            <a:r>
              <a:rPr lang="en-GB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BySJout</a:t>
            </a:r>
            <a:r>
              <a:rPr lang="en-GB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--</a:t>
            </a:r>
            <a:r>
              <a:rPr lang="en-GB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outFilterMultimapNmax</a:t>
            </a:r>
            <a:r>
              <a:rPr lang="en-GB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20 --</a:t>
            </a:r>
            <a:r>
              <a:rPr lang="en-GB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alignSJoverhangMin</a:t>
            </a:r>
            <a:r>
              <a:rPr lang="en-GB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8 --</a:t>
            </a:r>
            <a:r>
              <a:rPr lang="en-GB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alignSJDBoverhangMin</a:t>
            </a:r>
            <a:r>
              <a:rPr lang="en-GB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1 --</a:t>
            </a:r>
            <a:r>
              <a:rPr lang="en-GB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outFilterMismatchNmax</a:t>
            </a:r>
            <a:r>
              <a:rPr lang="en-GB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999 --</a:t>
            </a:r>
            <a:r>
              <a:rPr lang="en-GB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outFilterMismatchNoverReadLmax</a:t>
            </a:r>
            <a:r>
              <a:rPr lang="en-GB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0.04 --</a:t>
            </a:r>
            <a:r>
              <a:rPr lang="en-GB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alignIntronMin</a:t>
            </a:r>
            <a:r>
              <a:rPr lang="en-GB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20 --</a:t>
            </a:r>
            <a:r>
              <a:rPr lang="en-GB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alignIntronMax</a:t>
            </a:r>
            <a:r>
              <a:rPr lang="en-GB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1000000 --</a:t>
            </a:r>
            <a:r>
              <a:rPr lang="en-GB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alignMatesGapMax</a:t>
            </a:r>
            <a:r>
              <a:rPr lang="en-GB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1000000 --</a:t>
            </a:r>
            <a:r>
              <a:rPr lang="en-GB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readFilesIn</a:t>
            </a:r>
            <a:r>
              <a:rPr lang="en-GB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trimmed_FASTQs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GB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Ovcar4_2m_1_val_1.fq </a:t>
            </a:r>
            <a:r>
              <a:rPr lang="en-GB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trimmed_FASTQs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GB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Ovcar4_2m_2_val_2.fq --</a:t>
            </a:r>
            <a:r>
              <a:rPr lang="en-GB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outSAMtype</a:t>
            </a:r>
            <a:r>
              <a:rPr lang="en-GB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BAM </a:t>
            </a:r>
            <a:r>
              <a:rPr lang="en-GB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SortedByCoordinate</a:t>
            </a:r>
            <a:r>
              <a:rPr lang="en-GB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--</a:t>
            </a:r>
            <a:r>
              <a:rPr lang="en-GB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quantMode</a:t>
            </a:r>
            <a:r>
              <a:rPr lang="en-GB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TranscriptomeSAM</a:t>
            </a:r>
            <a:r>
              <a:rPr lang="en-GB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--</a:t>
            </a:r>
            <a:r>
              <a:rPr lang="en-GB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outFileNamePrefix</a:t>
            </a:r>
            <a:r>
              <a:rPr lang="en-GB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Ovcar4_2m_</a:t>
            </a:r>
          </a:p>
          <a:p>
            <a:pPr marL="0" indent="0">
              <a:buNone/>
            </a:pPr>
            <a:endParaRPr lang="en-US" dirty="0"/>
          </a:p>
          <a:p>
            <a:r>
              <a:rPr lang="en-GB" sz="2000" dirty="0"/>
              <a:t>The ---</a:t>
            </a:r>
            <a:r>
              <a:rPr lang="en-GB" sz="2000" dirty="0" err="1"/>
              <a:t>quantMode</a:t>
            </a:r>
            <a:r>
              <a:rPr lang="en-GB" sz="2000" dirty="0"/>
              <a:t> </a:t>
            </a:r>
            <a:r>
              <a:rPr lang="en-GB" sz="2000" dirty="0" err="1"/>
              <a:t>TranscriptomeSAM</a:t>
            </a:r>
            <a:r>
              <a:rPr lang="en-GB" sz="2000" dirty="0"/>
              <a:t> option activates the transcriptomic output</a:t>
            </a:r>
          </a:p>
          <a:p>
            <a:r>
              <a:rPr lang="en-US" sz="2000" dirty="0"/>
              <a:t>Parameters are ENCODE standard options </a:t>
            </a:r>
          </a:p>
          <a:p>
            <a:r>
              <a:rPr lang="en-US" sz="2000" dirty="0"/>
              <a:t>Note: The output of the alignment is SAM (which in other pipelines needs to be converted to bam using </a:t>
            </a:r>
            <a:r>
              <a:rPr lang="en-US" sz="2000" dirty="0" err="1"/>
              <a:t>samtools</a:t>
            </a:r>
            <a:r>
              <a:rPr lang="en-US" sz="2000" dirty="0"/>
              <a:t>). However, STAR allows SAM to BAM conversion while mapping, significantly reducing the time required to the sorting/conversion.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A79662-791F-1A68-AEEE-FC1AEFF0F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65125"/>
            <a:ext cx="10658475" cy="1325563"/>
          </a:xfrm>
        </p:spPr>
        <p:txBody>
          <a:bodyPr/>
          <a:lstStyle/>
          <a:p>
            <a:r>
              <a:rPr lang="en-US" sz="3600" dirty="0">
                <a:solidFill>
                  <a:schemeClr val="bg1"/>
                </a:solidFill>
              </a:rPr>
              <a:t>5. STAR alignment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1C80C9-9CA5-36A6-F457-4A83BF0039F3}"/>
              </a:ext>
            </a:extLst>
          </p:cNvPr>
          <p:cNvSpPr txBox="1"/>
          <p:nvPr/>
        </p:nvSpPr>
        <p:spPr>
          <a:xfrm>
            <a:off x="4775176" y="6511254"/>
            <a:ext cx="7416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https://github.com/alexdobin/STAR/blob/master/doc/STARmanual.pdf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7349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AD8D73A-F2E6-E4FE-4496-B5C8B67C7924}"/>
              </a:ext>
            </a:extLst>
          </p:cNvPr>
          <p:cNvSpPr/>
          <p:nvPr/>
        </p:nvSpPr>
        <p:spPr>
          <a:xfrm>
            <a:off x="0" y="3398824"/>
            <a:ext cx="11784632" cy="2850147"/>
          </a:xfrm>
          <a:prstGeom prst="roundRect">
            <a:avLst/>
          </a:prstGeom>
          <a:solidFill>
            <a:srgbClr val="FFFF00">
              <a:alpha val="2414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01846-5E8C-81C6-A088-1323015A5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84784"/>
            <a:ext cx="13585340" cy="4764187"/>
          </a:xfrm>
        </p:spPr>
        <p:txBody>
          <a:bodyPr/>
          <a:lstStyle/>
          <a:p>
            <a:r>
              <a:rPr lang="en-GB" sz="2400" dirty="0"/>
              <a:t>Generating Genome Indices for STAR (we have done this step for you)</a:t>
            </a:r>
          </a:p>
          <a:p>
            <a:pPr lvl="1"/>
            <a:r>
              <a:rPr lang="en-GB" sz="1800" dirty="0"/>
              <a:t>This step generates genome indices using the genome FASTA file as input. </a:t>
            </a:r>
          </a:p>
          <a:p>
            <a:pPr lvl="1"/>
            <a:r>
              <a:rPr lang="en-GB" sz="1800" dirty="0"/>
              <a:t>Genome indices are required for all types of mapping jobs. </a:t>
            </a:r>
          </a:p>
          <a:p>
            <a:pPr lvl="1"/>
            <a:r>
              <a:rPr lang="en-GB" sz="1800" dirty="0"/>
              <a:t>This step needs to be performed only once for each genome assembly. </a:t>
            </a:r>
          </a:p>
          <a:p>
            <a:pPr lvl="1"/>
            <a:r>
              <a:rPr lang="en-GB" sz="1800" dirty="0"/>
              <a:t>The resulting files can be re-used for mapping different samples to the same genome</a:t>
            </a:r>
          </a:p>
          <a:p>
            <a:pPr marL="457200" lvl="1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$</a:t>
            </a:r>
            <a:r>
              <a:rPr lang="en-GB" sz="1800" dirty="0" err="1"/>
              <a:t>mkdir</a:t>
            </a:r>
            <a:r>
              <a:rPr lang="en-GB" sz="1800" dirty="0"/>
              <a:t> -p ~/star/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GRCh38.genome </a:t>
            </a:r>
          </a:p>
          <a:p>
            <a:pPr marL="0" indent="0">
              <a:buNone/>
            </a:pPr>
            <a:r>
              <a:rPr lang="en-GB" sz="1800" dirty="0"/>
              <a:t>$cd ~/star/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GRCh38.genome </a:t>
            </a:r>
          </a:p>
          <a:p>
            <a:pPr marL="0" indent="0">
              <a:buNone/>
            </a:pPr>
            <a:r>
              <a:rPr lang="en-GB" sz="1800" dirty="0"/>
              <a:t>$</a:t>
            </a:r>
            <a:r>
              <a:rPr lang="en-GB" sz="1800" dirty="0" err="1"/>
              <a:t>wget</a:t>
            </a:r>
            <a:r>
              <a:rPr lang="en-GB" sz="1800" dirty="0"/>
              <a:t> ftp://</a:t>
            </a:r>
            <a:r>
              <a:rPr lang="en-GB" sz="1800" dirty="0" err="1"/>
              <a:t>ftp.ensembl.org</a:t>
            </a:r>
            <a:r>
              <a:rPr lang="en-GB" sz="1800" dirty="0"/>
              <a:t>/pub/release-105/</a:t>
            </a:r>
            <a:r>
              <a:rPr lang="en-GB" sz="1800" dirty="0" err="1"/>
              <a:t>fasta</a:t>
            </a:r>
            <a:r>
              <a:rPr lang="en-GB" sz="1800" dirty="0"/>
              <a:t>/</a:t>
            </a:r>
            <a:r>
              <a:rPr lang="en-GB" sz="1800" dirty="0" err="1"/>
              <a:t>homo_sapiens</a:t>
            </a:r>
            <a:r>
              <a:rPr lang="en-GB" sz="1800" dirty="0"/>
              <a:t>/</a:t>
            </a:r>
            <a:r>
              <a:rPr lang="en-GB" sz="1800" dirty="0" err="1"/>
              <a:t>dna</a:t>
            </a:r>
            <a:r>
              <a:rPr lang="en-GB" sz="1800" dirty="0"/>
              <a:t>/ Homo_sapiens.GRCh38.dna.primary_assembly.fa.gz </a:t>
            </a:r>
          </a:p>
          <a:p>
            <a:pPr marL="0" indent="0">
              <a:buNone/>
            </a:pPr>
            <a:r>
              <a:rPr lang="en-GB" sz="1800" dirty="0"/>
              <a:t>$</a:t>
            </a:r>
            <a:r>
              <a:rPr lang="en-GB" sz="1800" dirty="0" err="1"/>
              <a:t>gunzip</a:t>
            </a:r>
            <a:r>
              <a:rPr lang="en-GB" sz="1800" dirty="0"/>
              <a:t> Homo_sapiens.GRCh38.dna.primary_assembly.fa.gz</a:t>
            </a:r>
          </a:p>
          <a:p>
            <a:pPr marL="0" indent="0">
              <a:buNone/>
            </a:pPr>
            <a:r>
              <a:rPr lang="en-GB" sz="1800" dirty="0"/>
              <a:t>$cd ~/star/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GRCh38.genome 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0000"/>
                </a:solidFill>
                <a:effectLst/>
              </a:rPr>
              <a:t>$STAR --</a:t>
            </a:r>
            <a:r>
              <a:rPr lang="en-GB" sz="1800" dirty="0" err="1">
                <a:solidFill>
                  <a:srgbClr val="000000"/>
                </a:solidFill>
                <a:effectLst/>
              </a:rPr>
              <a:t>runThreadN</a:t>
            </a:r>
            <a:r>
              <a:rPr lang="en-GB" sz="1800" dirty="0">
                <a:solidFill>
                  <a:srgbClr val="000000"/>
                </a:solidFill>
                <a:effectLst/>
              </a:rPr>
              <a:t> 5 --</a:t>
            </a:r>
            <a:r>
              <a:rPr lang="en-GB" sz="1800" dirty="0" err="1">
                <a:solidFill>
                  <a:srgbClr val="000000"/>
                </a:solidFill>
                <a:effectLst/>
              </a:rPr>
              <a:t>runMode</a:t>
            </a:r>
            <a:r>
              <a:rPr lang="en-GB" sz="1800" dirty="0">
                <a:solidFill>
                  <a:srgbClr val="000000"/>
                </a:solidFill>
                <a:effectLst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</a:rPr>
              <a:t>genomeGenerate</a:t>
            </a:r>
            <a:r>
              <a:rPr lang="en-GB" sz="1800" dirty="0">
                <a:solidFill>
                  <a:srgbClr val="000000"/>
                </a:solidFill>
                <a:effectLst/>
              </a:rPr>
              <a:t> --</a:t>
            </a:r>
            <a:r>
              <a:rPr lang="en-GB" sz="1800" dirty="0" err="1">
                <a:solidFill>
                  <a:srgbClr val="000000"/>
                </a:solidFill>
                <a:effectLst/>
              </a:rPr>
              <a:t>genomeDir</a:t>
            </a:r>
            <a:r>
              <a:rPr lang="en-GB" sz="1800" dirty="0">
                <a:solidFill>
                  <a:srgbClr val="000000"/>
                </a:solidFill>
                <a:effectLst/>
              </a:rPr>
              <a:t> ./GRCh38.genome –</a:t>
            </a:r>
            <a:r>
              <a:rPr lang="en-GB" sz="1800" dirty="0" err="1">
                <a:solidFill>
                  <a:srgbClr val="000000"/>
                </a:solidFill>
                <a:effectLst/>
              </a:rPr>
              <a:t>genomeFastaFiles</a:t>
            </a:r>
            <a:r>
              <a:rPr lang="en-GB" sz="1800" dirty="0">
                <a:solidFill>
                  <a:srgbClr val="000000"/>
                </a:solidFill>
              </a:rPr>
              <a:t> 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0000"/>
                </a:solidFill>
              </a:rPr>
              <a:t>.</a:t>
            </a:r>
            <a:r>
              <a:rPr lang="en-GB" sz="1800" dirty="0">
                <a:solidFill>
                  <a:srgbClr val="000000"/>
                </a:solidFill>
                <a:effectLst/>
              </a:rPr>
              <a:t>/GRCh38.genome/Homo_sapiens.GRCh38.dna.primary_assembly.fa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A79662-791F-1A68-AEEE-FC1AEFF0F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1"/>
                </a:solidFill>
              </a:rPr>
              <a:t>5. STAR alignment (Genome index)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86729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79662-791F-1A68-AEEE-FC1AEFF0F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65125"/>
            <a:ext cx="10658475" cy="1325563"/>
          </a:xfrm>
        </p:spPr>
        <p:txBody>
          <a:bodyPr/>
          <a:lstStyle/>
          <a:p>
            <a:r>
              <a:rPr lang="en-US" sz="3600" dirty="0">
                <a:solidFill>
                  <a:schemeClr val="bg1"/>
                </a:solidFill>
              </a:rPr>
              <a:t>5. STAR alignment (Genome index output)</a:t>
            </a:r>
            <a:endParaRPr lang="en-US" sz="3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852506-D2F9-87A3-89BB-A9A05274A4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2438400"/>
            <a:ext cx="4000500" cy="1981200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955C052-7C79-35DE-2C37-BE8BC2857073}"/>
              </a:ext>
            </a:extLst>
          </p:cNvPr>
          <p:cNvSpPr/>
          <p:nvPr/>
        </p:nvSpPr>
        <p:spPr>
          <a:xfrm>
            <a:off x="838200" y="2312529"/>
            <a:ext cx="4177680" cy="2232942"/>
          </a:xfrm>
          <a:prstGeom prst="roundRect">
            <a:avLst/>
          </a:prstGeom>
          <a:solidFill>
            <a:schemeClr val="bg1">
              <a:lumMod val="65000"/>
              <a:alpha val="1703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08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AD8D73A-F2E6-E4FE-4496-B5C8B67C7924}"/>
              </a:ext>
            </a:extLst>
          </p:cNvPr>
          <p:cNvSpPr/>
          <p:nvPr/>
        </p:nvSpPr>
        <p:spPr>
          <a:xfrm>
            <a:off x="695325" y="3429000"/>
            <a:ext cx="9433124" cy="933773"/>
          </a:xfrm>
          <a:prstGeom prst="roundRect">
            <a:avLst/>
          </a:prstGeom>
          <a:solidFill>
            <a:srgbClr val="FFFF00">
              <a:alpha val="2414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A79662-791F-1A68-AEEE-FC1AEFF0F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65125"/>
            <a:ext cx="10658475" cy="1325563"/>
          </a:xfrm>
        </p:spPr>
        <p:txBody>
          <a:bodyPr/>
          <a:lstStyle/>
          <a:p>
            <a:r>
              <a:rPr lang="en-US" sz="3600" dirty="0">
                <a:solidFill>
                  <a:schemeClr val="bg1"/>
                </a:solidFill>
              </a:rPr>
              <a:t>5. STAR alignment (Annotation file .</a:t>
            </a:r>
            <a:r>
              <a:rPr lang="en-US" sz="3600" dirty="0" err="1">
                <a:solidFill>
                  <a:schemeClr val="bg1"/>
                </a:solidFill>
              </a:rPr>
              <a:t>gtf</a:t>
            </a:r>
            <a:r>
              <a:rPr lang="en-US" sz="3600" dirty="0">
                <a:solidFill>
                  <a:schemeClr val="bg1"/>
                </a:solidFill>
              </a:rPr>
              <a:t>)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7CE3C0-8FD4-BCF1-F3F1-B2EF198ECC1D}"/>
              </a:ext>
            </a:extLst>
          </p:cNvPr>
          <p:cNvSpPr txBox="1"/>
          <p:nvPr/>
        </p:nvSpPr>
        <p:spPr>
          <a:xfrm>
            <a:off x="263352" y="1556792"/>
            <a:ext cx="114492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STAR can be run without the annotation file but it is strongly recommended to use it when available. Always best to match the source of FASTA file and the .</a:t>
            </a:r>
            <a:r>
              <a:rPr lang="en-GB" sz="1800" dirty="0" err="1"/>
              <a:t>gtf</a:t>
            </a:r>
            <a:r>
              <a:rPr lang="en-GB" sz="1800" dirty="0"/>
              <a:t>. For example, if you downloaded FASTA from </a:t>
            </a:r>
            <a:r>
              <a:rPr lang="en-GB" sz="1800" dirty="0" err="1"/>
              <a:t>Ensembl</a:t>
            </a:r>
            <a:r>
              <a:rPr lang="en-GB" sz="1800" dirty="0"/>
              <a:t> it is good practice to download the GTF from </a:t>
            </a:r>
            <a:r>
              <a:rPr lang="en-GB" sz="1800" dirty="0" err="1"/>
              <a:t>Ensembl</a:t>
            </a:r>
            <a:r>
              <a:rPr lang="en-GB" sz="1800" dirty="0"/>
              <a:t> too. Otherwise you may encounter incompatibilities between the two e.g. on the way chromosomes are named, it can be chr1, chr2 in some … or 1,2,3 etc. in other.</a:t>
            </a:r>
            <a:endParaRPr lang="en-GB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DD7777-7155-904D-451E-D0310A1953C4}"/>
              </a:ext>
            </a:extLst>
          </p:cNvPr>
          <p:cNvSpPr txBox="1"/>
          <p:nvPr/>
        </p:nvSpPr>
        <p:spPr>
          <a:xfrm>
            <a:off x="695325" y="3439443"/>
            <a:ext cx="113773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cd ~/star </a:t>
            </a:r>
          </a:p>
          <a:p>
            <a:r>
              <a:rPr lang="en-GB" dirty="0" err="1"/>
              <a:t>wget</a:t>
            </a:r>
            <a:r>
              <a:rPr lang="en-GB" dirty="0"/>
              <a:t> </a:t>
            </a:r>
            <a:r>
              <a:rPr lang="en-GB" u="sng" dirty="0">
                <a:solidFill>
                  <a:srgbClr val="376FAA"/>
                </a:solidFill>
                <a:effectLst/>
                <a:hlinkClick r:id="rId2"/>
              </a:rPr>
              <a:t>ftp://ftp.ensembl.org/pub/release-105/gtf/homo_sapiens/Homo_sapiens.GRCh38.105.gtf.gz</a:t>
            </a:r>
            <a:r>
              <a:rPr lang="en-GB" dirty="0"/>
              <a:t> </a:t>
            </a:r>
          </a:p>
          <a:p>
            <a:r>
              <a:rPr lang="en-GB" dirty="0" err="1"/>
              <a:t>gunzip</a:t>
            </a:r>
            <a:r>
              <a:rPr lang="en-GB" dirty="0"/>
              <a:t> Homo_sapiens.GRCh38.79.gtf.gz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393790-C0A6-3F86-BC3A-FD2D89068A41}"/>
              </a:ext>
            </a:extLst>
          </p:cNvPr>
          <p:cNvSpPr txBox="1"/>
          <p:nvPr/>
        </p:nvSpPr>
        <p:spPr>
          <a:xfrm>
            <a:off x="623392" y="4849986"/>
            <a:ext cx="4176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Homo_sapiens.GRCh38.105.gtf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CA8045D-D4B0-4A05-A652-5867306ECF33}"/>
              </a:ext>
            </a:extLst>
          </p:cNvPr>
          <p:cNvSpPr/>
          <p:nvPr/>
        </p:nvSpPr>
        <p:spPr>
          <a:xfrm>
            <a:off x="623392" y="4705904"/>
            <a:ext cx="3868892" cy="678381"/>
          </a:xfrm>
          <a:prstGeom prst="roundRect">
            <a:avLst/>
          </a:prstGeom>
          <a:solidFill>
            <a:schemeClr val="bg1">
              <a:lumMod val="65000"/>
              <a:alpha val="1703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355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79662-791F-1A68-AEEE-FC1AEFF0F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65125"/>
            <a:ext cx="10658475" cy="1325563"/>
          </a:xfrm>
        </p:spPr>
        <p:txBody>
          <a:bodyPr/>
          <a:lstStyle/>
          <a:p>
            <a:r>
              <a:rPr lang="en-US" sz="3600" dirty="0">
                <a:solidFill>
                  <a:schemeClr val="bg1"/>
                </a:solidFill>
              </a:rPr>
              <a:t>5. STAR alignment (OUTPUT)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01846-5E8C-81C6-A088-1323015A5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696" y="1491030"/>
            <a:ext cx="11568608" cy="807557"/>
          </a:xfrm>
        </p:spPr>
        <p:txBody>
          <a:bodyPr/>
          <a:lstStyle/>
          <a:p>
            <a:r>
              <a:rPr lang="en-GB" sz="2400" dirty="0"/>
              <a:t>STAR outputs bam files and various mapping metrics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817B92-1B0A-E85B-6A50-36FB1A8187A8}"/>
              </a:ext>
            </a:extLst>
          </p:cNvPr>
          <p:cNvSpPr txBox="1"/>
          <p:nvPr/>
        </p:nvSpPr>
        <p:spPr>
          <a:xfrm>
            <a:off x="7990994" y="2438471"/>
            <a:ext cx="26642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the bam file in transcriptomic co-ordinates. It going to be used for the read counting step using </a:t>
            </a:r>
            <a:r>
              <a:rPr lang="en-US" dirty="0" err="1"/>
              <a:t>rsem</a:t>
            </a:r>
            <a:r>
              <a:rPr lang="en-US" dirty="0"/>
              <a:t>-count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5761B5-BF2A-8738-3655-E1AEBB944A57}"/>
              </a:ext>
            </a:extLst>
          </p:cNvPr>
          <p:cNvSpPr txBox="1"/>
          <p:nvPr/>
        </p:nvSpPr>
        <p:spPr>
          <a:xfrm>
            <a:off x="2999656" y="4992221"/>
            <a:ext cx="33843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can be used to evaluate mapping performance and quality of </a:t>
            </a:r>
            <a:r>
              <a:rPr lang="en-US" dirty="0" err="1"/>
              <a:t>RNASeq</a:t>
            </a:r>
            <a:r>
              <a:rPr lang="en-US" dirty="0"/>
              <a:t> (STAR manual for details)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548CF6-0A31-498E-E37A-F08B157781D1}"/>
              </a:ext>
            </a:extLst>
          </p:cNvPr>
          <p:cNvSpPr txBox="1"/>
          <p:nvPr/>
        </p:nvSpPr>
        <p:spPr>
          <a:xfrm>
            <a:off x="7086169" y="4365105"/>
            <a:ext cx="4009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the classic genomic bam file that can be used in other pipelines downstream </a:t>
            </a:r>
            <a:r>
              <a:rPr lang="en-US" dirty="0" err="1"/>
              <a:t>eg</a:t>
            </a:r>
            <a:r>
              <a:rPr lang="en-US" dirty="0"/>
              <a:t> </a:t>
            </a:r>
            <a:r>
              <a:rPr lang="en-US" dirty="0" err="1"/>
              <a:t>htseq</a:t>
            </a:r>
            <a:r>
              <a:rPr lang="en-US" dirty="0"/>
              <a:t> etc.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705ACE-7409-18B2-F44A-C0A03ADFA4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2438471"/>
            <a:ext cx="6192763" cy="2050307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51BE3EC-5EBD-A4F9-40E1-9E2BD3CE4BEE}"/>
              </a:ext>
            </a:extLst>
          </p:cNvPr>
          <p:cNvSpPr/>
          <p:nvPr/>
        </p:nvSpPr>
        <p:spPr>
          <a:xfrm>
            <a:off x="407368" y="2312529"/>
            <a:ext cx="6096000" cy="2232942"/>
          </a:xfrm>
          <a:prstGeom prst="roundRect">
            <a:avLst/>
          </a:prstGeom>
          <a:solidFill>
            <a:schemeClr val="bg1">
              <a:lumMod val="65000"/>
              <a:alpha val="1703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FA695D9-9331-39CC-B76C-9245AB97AFE5}"/>
              </a:ext>
            </a:extLst>
          </p:cNvPr>
          <p:cNvCxnSpPr>
            <a:cxnSpLocks/>
          </p:cNvCxnSpPr>
          <p:nvPr/>
        </p:nvCxnSpPr>
        <p:spPr>
          <a:xfrm>
            <a:off x="6287269" y="3485693"/>
            <a:ext cx="829258" cy="753264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CA8E167-3D62-F682-8807-4B524F6ABE40}"/>
              </a:ext>
            </a:extLst>
          </p:cNvPr>
          <p:cNvCxnSpPr>
            <a:cxnSpLocks/>
          </p:cNvCxnSpPr>
          <p:nvPr/>
        </p:nvCxnSpPr>
        <p:spPr>
          <a:xfrm>
            <a:off x="6519987" y="2846393"/>
            <a:ext cx="1448221" cy="0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16DA2A7-E3AB-945C-821A-FDFBDBC872AE}"/>
              </a:ext>
            </a:extLst>
          </p:cNvPr>
          <p:cNvCxnSpPr>
            <a:cxnSpLocks/>
          </p:cNvCxnSpPr>
          <p:nvPr/>
        </p:nvCxnSpPr>
        <p:spPr>
          <a:xfrm>
            <a:off x="3719736" y="4149080"/>
            <a:ext cx="0" cy="856364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767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800B11C-3081-BCF0-E26E-87253BEF9AF0}"/>
              </a:ext>
            </a:extLst>
          </p:cNvPr>
          <p:cNvSpPr/>
          <p:nvPr/>
        </p:nvSpPr>
        <p:spPr>
          <a:xfrm>
            <a:off x="335968" y="2492896"/>
            <a:ext cx="11376656" cy="936104"/>
          </a:xfrm>
          <a:prstGeom prst="roundRect">
            <a:avLst/>
          </a:prstGeom>
          <a:solidFill>
            <a:srgbClr val="FFFF00">
              <a:alpha val="2414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959A9-C4B8-2CB8-840A-9AFADDD57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968" y="1657310"/>
            <a:ext cx="11810528" cy="4351338"/>
          </a:xfrm>
        </p:spPr>
        <p:txBody>
          <a:bodyPr/>
          <a:lstStyle/>
          <a:p>
            <a:r>
              <a:rPr lang="en-US" sz="2000" dirty="0" err="1"/>
              <a:t>rsem</a:t>
            </a:r>
            <a:r>
              <a:rPr lang="en-US" sz="2000" dirty="0"/>
              <a:t>-calculate-expression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module load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rsem</a:t>
            </a:r>
            <a:endParaRPr lang="en-GB" sz="180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n-GB" sz="18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rsem</a:t>
            </a:r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-calculate-expression --bam --</a:t>
            </a:r>
            <a:r>
              <a:rPr lang="en-GB" sz="18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strandedness</a:t>
            </a:r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reverse --no-bam-output -p 2 --paired-end  Ovcar4_2m_Aligned.toTranscriptome.out.</a:t>
            </a:r>
            <a:r>
              <a:rPr lang="en-GB" sz="1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bam ../</a:t>
            </a:r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GRCh38.105.rsem.ref/ref </a:t>
            </a:r>
            <a:r>
              <a:rPr lang="en-GB" sz="1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Ovcar4_2m_Quant</a:t>
            </a:r>
            <a:endParaRPr lang="en-GB" sz="1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en-GB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000" dirty="0"/>
              <a:t>--paired-end –</a:t>
            </a:r>
            <a:r>
              <a:rPr lang="en-GB" sz="2000" dirty="0" err="1"/>
              <a:t>strandness</a:t>
            </a:r>
            <a:r>
              <a:rPr lang="en-GB" sz="2000" dirty="0"/>
              <a:t> reverse options are applicable to paired stranded RNA-</a:t>
            </a:r>
            <a:r>
              <a:rPr lang="en-GB" sz="2000" dirty="0" err="1"/>
              <a:t>seq</a:t>
            </a:r>
            <a:r>
              <a:rPr lang="en-GB" sz="2000" dirty="0"/>
              <a:t> data such as Illumina stranded </a:t>
            </a:r>
            <a:r>
              <a:rPr lang="en-GB" sz="2000" dirty="0" err="1"/>
              <a:t>Tru-seq</a:t>
            </a:r>
            <a:r>
              <a:rPr lang="en-GB" sz="2000" dirty="0"/>
              <a:t> protocol</a:t>
            </a:r>
          </a:p>
          <a:p>
            <a:pPr marL="0" indent="0">
              <a:buNone/>
            </a:pPr>
            <a:r>
              <a:rPr lang="en-GB" sz="2000" dirty="0"/>
              <a:t>-p 2 defines the number of threads used by RSEM</a:t>
            </a:r>
          </a:p>
          <a:p>
            <a:pPr marL="0" indent="0">
              <a:buNone/>
            </a:pPr>
            <a:r>
              <a:rPr lang="en-GB" sz="2000" dirty="0"/>
              <a:t>Refer to RSEM documentation for detailed description of RSEM parameters</a:t>
            </a:r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E235BD-F221-B369-7FE4-2A00C8B8CA1A}"/>
              </a:ext>
            </a:extLst>
          </p:cNvPr>
          <p:cNvSpPr txBox="1">
            <a:spLocks/>
          </p:cNvSpPr>
          <p:nvPr/>
        </p:nvSpPr>
        <p:spPr>
          <a:xfrm>
            <a:off x="335968" y="332656"/>
            <a:ext cx="11810528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</a:rPr>
              <a:t>6. Quantification of gene abundance using </a:t>
            </a:r>
            <a:r>
              <a:rPr lang="en-US" sz="3600" dirty="0" err="1">
                <a:solidFill>
                  <a:schemeClr val="bg1"/>
                </a:solidFill>
              </a:rPr>
              <a:t>rsem</a:t>
            </a:r>
            <a:r>
              <a:rPr lang="en-US" sz="3600" dirty="0">
                <a:solidFill>
                  <a:schemeClr val="bg1"/>
                </a:solidFill>
              </a:rPr>
              <a:t> (COMMAND)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04433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959A9-C4B8-2CB8-840A-9AFADDD57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968" y="1657310"/>
            <a:ext cx="10728584" cy="4351338"/>
          </a:xfrm>
        </p:spPr>
        <p:txBody>
          <a:bodyPr/>
          <a:lstStyle/>
          <a:p>
            <a:pPr marL="0" indent="0">
              <a:buNone/>
            </a:pPr>
            <a:r>
              <a:rPr lang="en-GB" sz="1800" dirty="0"/>
              <a:t>To prepare the RSEM reference we need to run the following commands (We have run this step for you)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mkdir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 ~/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GRCh38.105.rsem.ref </a:t>
            </a:r>
          </a:p>
          <a:p>
            <a:pPr marL="0" indent="0">
              <a:buNone/>
            </a:pPr>
            <a:r>
              <a:rPr lang="en-GB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rsem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-prepare-reference --</a:t>
            </a:r>
            <a:r>
              <a:rPr lang="en-GB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gtf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./Homo_sapiens.GRCh38.105.gtf  ./GRCh38.genome ./GRCh38.105.rsem.ref/ref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Again, the reference is created once for a certain genome (FASTA) and annotation (GTF) and re-used to run multiple samples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E235BD-F221-B369-7FE4-2A00C8B8CA1A}"/>
              </a:ext>
            </a:extLst>
          </p:cNvPr>
          <p:cNvSpPr txBox="1">
            <a:spLocks/>
          </p:cNvSpPr>
          <p:nvPr/>
        </p:nvSpPr>
        <p:spPr>
          <a:xfrm>
            <a:off x="335968" y="332656"/>
            <a:ext cx="11810528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</a:rPr>
              <a:t>6. Quantification of gene abundance using </a:t>
            </a:r>
            <a:r>
              <a:rPr lang="en-US" sz="3600" dirty="0" err="1">
                <a:solidFill>
                  <a:schemeClr val="bg1"/>
                </a:solidFill>
              </a:rPr>
              <a:t>rsem</a:t>
            </a:r>
            <a:r>
              <a:rPr lang="en-US" sz="3600" dirty="0">
                <a:solidFill>
                  <a:schemeClr val="bg1"/>
                </a:solidFill>
              </a:rPr>
              <a:t> (reference file)</a:t>
            </a:r>
            <a:endParaRPr lang="en-US" sz="36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2B7C27E-7181-64F2-BD47-F78C1FEEB288}"/>
              </a:ext>
            </a:extLst>
          </p:cNvPr>
          <p:cNvSpPr/>
          <p:nvPr/>
        </p:nvSpPr>
        <p:spPr>
          <a:xfrm>
            <a:off x="335968" y="2276872"/>
            <a:ext cx="10224528" cy="936104"/>
          </a:xfrm>
          <a:prstGeom prst="roundRect">
            <a:avLst/>
          </a:prstGeom>
          <a:solidFill>
            <a:srgbClr val="FFFF00">
              <a:alpha val="2414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916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2B7545E-C770-2A01-E834-047E29511014}"/>
              </a:ext>
            </a:extLst>
          </p:cNvPr>
          <p:cNvSpPr txBox="1"/>
          <p:nvPr/>
        </p:nvSpPr>
        <p:spPr>
          <a:xfrm>
            <a:off x="662126" y="3493457"/>
            <a:ext cx="1122656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These contain the expression estimates at gene and isoform level. They are tab delimited files with the following columns:</a:t>
            </a:r>
          </a:p>
          <a:p>
            <a:r>
              <a:rPr lang="en-GB" sz="1800" dirty="0"/>
              <a:t>	</a:t>
            </a:r>
            <a:r>
              <a:rPr lang="en-GB" sz="1800" dirty="0" err="1"/>
              <a:t>gene_id</a:t>
            </a:r>
            <a:r>
              <a:rPr lang="en-GB" sz="1800" dirty="0"/>
              <a:t>, </a:t>
            </a:r>
            <a:r>
              <a:rPr lang="en-GB" sz="1800" dirty="0" err="1"/>
              <a:t>transcript_id</a:t>
            </a:r>
            <a:r>
              <a:rPr lang="en-GB" sz="1800" dirty="0"/>
              <a:t>(s), length, </a:t>
            </a:r>
            <a:r>
              <a:rPr lang="en-GB" sz="1800" dirty="0" err="1"/>
              <a:t>effective_length</a:t>
            </a:r>
            <a:r>
              <a:rPr lang="en-GB" sz="1800" dirty="0"/>
              <a:t>, </a:t>
            </a:r>
            <a:r>
              <a:rPr lang="en-GB" sz="1800" dirty="0" err="1"/>
              <a:t>expected_count</a:t>
            </a:r>
            <a:r>
              <a:rPr lang="en-GB" sz="1800" dirty="0"/>
              <a:t>, TPM, FPKM</a:t>
            </a:r>
          </a:p>
          <a:p>
            <a:endParaRPr 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A gene's 'length' and '</a:t>
            </a:r>
            <a:r>
              <a:rPr lang="en-GB" sz="1800" dirty="0" err="1"/>
              <a:t>effective_length</a:t>
            </a:r>
            <a:r>
              <a:rPr lang="en-GB" sz="1800" dirty="0"/>
              <a:t>' are defined as the weighted average of its transcripts' lengths and effective lengths. A gene's abundance estimates are just the sum of its transcripts' abundance estimates. You can read in more detail on </a:t>
            </a:r>
            <a:r>
              <a:rPr lang="en-US" sz="1200" dirty="0">
                <a:hlinkClick r:id="rId2"/>
              </a:rPr>
              <a:t>https://deweylab.github.io/RSEM/rsem-calculate-expression.html</a:t>
            </a:r>
            <a:r>
              <a:rPr lang="en-US" sz="1200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E235BD-F221-B369-7FE4-2A00C8B8CA1A}"/>
              </a:ext>
            </a:extLst>
          </p:cNvPr>
          <p:cNvSpPr txBox="1">
            <a:spLocks/>
          </p:cNvSpPr>
          <p:nvPr/>
        </p:nvSpPr>
        <p:spPr>
          <a:xfrm>
            <a:off x="551384" y="332656"/>
            <a:ext cx="10947648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</a:rPr>
              <a:t>6. Quantification of gene abundance using </a:t>
            </a:r>
            <a:r>
              <a:rPr lang="en-US" sz="3600" dirty="0" err="1">
                <a:solidFill>
                  <a:schemeClr val="bg1"/>
                </a:solidFill>
              </a:rPr>
              <a:t>rsem</a:t>
            </a:r>
            <a:r>
              <a:rPr lang="en-US" sz="3600" dirty="0">
                <a:solidFill>
                  <a:schemeClr val="bg1"/>
                </a:solidFill>
              </a:rPr>
              <a:t> (OUTPUT)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F612CA-2D8F-11FD-07FB-51B7170225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11" y="2636912"/>
            <a:ext cx="3455485" cy="4616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6EB4B1-5378-04BD-DEC6-91F5B4B7B75F}"/>
              </a:ext>
            </a:extLst>
          </p:cNvPr>
          <p:cNvSpPr txBox="1"/>
          <p:nvPr/>
        </p:nvSpPr>
        <p:spPr>
          <a:xfrm>
            <a:off x="662127" y="1743921"/>
            <a:ext cx="93223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rsem</a:t>
            </a:r>
            <a:r>
              <a:rPr lang="en-US" sz="2400" dirty="0"/>
              <a:t>-calculate-expression </a:t>
            </a:r>
            <a:r>
              <a:rPr lang="en-GB" sz="2400" dirty="0"/>
              <a:t>produces the following output files: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6591004-9CBF-B740-D357-88420A8E7E09}"/>
              </a:ext>
            </a:extLst>
          </p:cNvPr>
          <p:cNvSpPr/>
          <p:nvPr/>
        </p:nvSpPr>
        <p:spPr>
          <a:xfrm>
            <a:off x="662126" y="2564903"/>
            <a:ext cx="3345641" cy="533673"/>
          </a:xfrm>
          <a:prstGeom prst="roundRect">
            <a:avLst/>
          </a:prstGeom>
          <a:solidFill>
            <a:schemeClr val="bg1">
              <a:lumMod val="65000"/>
              <a:alpha val="1703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36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2B7545E-C770-2A01-E834-047E29511014}"/>
              </a:ext>
            </a:extLst>
          </p:cNvPr>
          <p:cNvSpPr txBox="1"/>
          <p:nvPr/>
        </p:nvSpPr>
        <p:spPr>
          <a:xfrm>
            <a:off x="662126" y="3493457"/>
            <a:ext cx="1122656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These contain the expression estimates at gene and isoform level. They are tab delimited files with the following columns:</a:t>
            </a:r>
          </a:p>
          <a:p>
            <a:r>
              <a:rPr lang="en-GB" sz="1800" dirty="0"/>
              <a:t>	</a:t>
            </a:r>
            <a:r>
              <a:rPr lang="en-GB" sz="1800" dirty="0" err="1"/>
              <a:t>gene_id</a:t>
            </a:r>
            <a:r>
              <a:rPr lang="en-GB" sz="1800" dirty="0"/>
              <a:t>, </a:t>
            </a:r>
            <a:r>
              <a:rPr lang="en-GB" sz="1800" dirty="0" err="1"/>
              <a:t>transcript_id</a:t>
            </a:r>
            <a:r>
              <a:rPr lang="en-GB" sz="1800" dirty="0"/>
              <a:t>(s), length, </a:t>
            </a:r>
            <a:r>
              <a:rPr lang="en-GB" sz="1800" dirty="0" err="1"/>
              <a:t>effective_length</a:t>
            </a:r>
            <a:r>
              <a:rPr lang="en-GB" sz="1800" dirty="0"/>
              <a:t>, </a:t>
            </a:r>
            <a:r>
              <a:rPr lang="en-GB" sz="1800" dirty="0" err="1"/>
              <a:t>expected_count</a:t>
            </a:r>
            <a:r>
              <a:rPr lang="en-GB" sz="1800" dirty="0"/>
              <a:t>, TPM, FPKM</a:t>
            </a:r>
          </a:p>
          <a:p>
            <a:endParaRPr 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A gene's 'length' and '</a:t>
            </a:r>
            <a:r>
              <a:rPr lang="en-GB" sz="1800" dirty="0" err="1"/>
              <a:t>effective_length</a:t>
            </a:r>
            <a:r>
              <a:rPr lang="en-GB" sz="1800" dirty="0"/>
              <a:t>' are defined as the weighted average of its transcripts' lengths and effective lengths. A gene's abundance estimates are just the sum of its transcripts' abundance estimates. You can read in more detail on </a:t>
            </a:r>
            <a:r>
              <a:rPr lang="en-US" sz="1200" dirty="0">
                <a:hlinkClick r:id="rId2"/>
              </a:rPr>
              <a:t>https://deweylab.github.io/RSEM/rsem-calculate-expression.html</a:t>
            </a:r>
            <a:r>
              <a:rPr lang="en-US" sz="1200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E235BD-F221-B369-7FE4-2A00C8B8CA1A}"/>
              </a:ext>
            </a:extLst>
          </p:cNvPr>
          <p:cNvSpPr txBox="1">
            <a:spLocks/>
          </p:cNvSpPr>
          <p:nvPr/>
        </p:nvSpPr>
        <p:spPr>
          <a:xfrm>
            <a:off x="551384" y="332656"/>
            <a:ext cx="10947648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</a:rPr>
              <a:t>6. Quantification of gene abundance using </a:t>
            </a:r>
            <a:r>
              <a:rPr lang="en-US" sz="3600" dirty="0" err="1">
                <a:solidFill>
                  <a:schemeClr val="bg1"/>
                </a:solidFill>
              </a:rPr>
              <a:t>rsem</a:t>
            </a:r>
            <a:r>
              <a:rPr lang="en-US" sz="3600" dirty="0">
                <a:solidFill>
                  <a:schemeClr val="bg1"/>
                </a:solidFill>
              </a:rPr>
              <a:t> (OUTPUT)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F612CA-2D8F-11FD-07FB-51B7170225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11" y="2636912"/>
            <a:ext cx="3455485" cy="4616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6EB4B1-5378-04BD-DEC6-91F5B4B7B75F}"/>
              </a:ext>
            </a:extLst>
          </p:cNvPr>
          <p:cNvSpPr txBox="1"/>
          <p:nvPr/>
        </p:nvSpPr>
        <p:spPr>
          <a:xfrm>
            <a:off x="662127" y="1743921"/>
            <a:ext cx="93223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rsem</a:t>
            </a:r>
            <a:r>
              <a:rPr lang="en-US" sz="2400" dirty="0"/>
              <a:t>-calculate-expression </a:t>
            </a:r>
            <a:r>
              <a:rPr lang="en-GB" sz="2400" dirty="0"/>
              <a:t>produces the following output files: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6591004-9CBF-B740-D357-88420A8E7E09}"/>
              </a:ext>
            </a:extLst>
          </p:cNvPr>
          <p:cNvSpPr/>
          <p:nvPr/>
        </p:nvSpPr>
        <p:spPr>
          <a:xfrm>
            <a:off x="662126" y="2564903"/>
            <a:ext cx="3345641" cy="533673"/>
          </a:xfrm>
          <a:prstGeom prst="roundRect">
            <a:avLst/>
          </a:prstGeom>
          <a:solidFill>
            <a:schemeClr val="bg1">
              <a:lumMod val="65000"/>
              <a:alpha val="1703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33665C-0DAA-FCCB-D2BF-219F24D92393}"/>
              </a:ext>
            </a:extLst>
          </p:cNvPr>
          <p:cNvSpPr/>
          <p:nvPr/>
        </p:nvSpPr>
        <p:spPr>
          <a:xfrm>
            <a:off x="6312024" y="4088318"/>
            <a:ext cx="1584176" cy="36004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D4FA685-87D1-FCA7-FBBE-219BDDACCAD6}"/>
              </a:ext>
            </a:extLst>
          </p:cNvPr>
          <p:cNvCxnSpPr>
            <a:cxnSpLocks/>
          </p:cNvCxnSpPr>
          <p:nvPr/>
        </p:nvCxnSpPr>
        <p:spPr>
          <a:xfrm>
            <a:off x="7320136" y="4509119"/>
            <a:ext cx="360040" cy="1224137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E1AFC74-C794-F76E-12EE-64A9F2E5E6CE}"/>
              </a:ext>
            </a:extLst>
          </p:cNvPr>
          <p:cNvSpPr txBox="1"/>
          <p:nvPr/>
        </p:nvSpPr>
        <p:spPr>
          <a:xfrm>
            <a:off x="6962528" y="5733256"/>
            <a:ext cx="4536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These are the columns that we need to use for the differential expression analysis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D7E684-B0E0-2FC9-E651-16AA46E42250}"/>
              </a:ext>
            </a:extLst>
          </p:cNvPr>
          <p:cNvSpPr/>
          <p:nvPr/>
        </p:nvSpPr>
        <p:spPr>
          <a:xfrm>
            <a:off x="1487488" y="4068439"/>
            <a:ext cx="1008112" cy="36004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EECF57A-8B2C-C0EC-6AAC-149BB8F3A016}"/>
              </a:ext>
            </a:extLst>
          </p:cNvPr>
          <p:cNvCxnSpPr>
            <a:cxnSpLocks/>
          </p:cNvCxnSpPr>
          <p:nvPr/>
        </p:nvCxnSpPr>
        <p:spPr>
          <a:xfrm>
            <a:off x="2552568" y="4497545"/>
            <a:ext cx="4335520" cy="1235711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759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2B7545E-C770-2A01-E834-047E29511014}"/>
              </a:ext>
            </a:extLst>
          </p:cNvPr>
          <p:cNvSpPr txBox="1"/>
          <p:nvPr/>
        </p:nvSpPr>
        <p:spPr>
          <a:xfrm>
            <a:off x="662126" y="3493457"/>
            <a:ext cx="1122656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These contain the expression estimates at gene and isoform level. They are tab delimited files with the following columns:</a:t>
            </a:r>
          </a:p>
          <a:p>
            <a:r>
              <a:rPr lang="en-GB" sz="1800" dirty="0"/>
              <a:t>	</a:t>
            </a:r>
            <a:r>
              <a:rPr lang="en-GB" sz="1800" dirty="0" err="1"/>
              <a:t>gene_id</a:t>
            </a:r>
            <a:r>
              <a:rPr lang="en-GB" sz="1800" dirty="0"/>
              <a:t>, </a:t>
            </a:r>
            <a:r>
              <a:rPr lang="en-GB" sz="1800" dirty="0" err="1"/>
              <a:t>transcript_id</a:t>
            </a:r>
            <a:r>
              <a:rPr lang="en-GB" sz="1800" dirty="0"/>
              <a:t>(s), length, </a:t>
            </a:r>
            <a:r>
              <a:rPr lang="en-GB" sz="1800" dirty="0" err="1"/>
              <a:t>effective_length</a:t>
            </a:r>
            <a:r>
              <a:rPr lang="en-GB" sz="1800" dirty="0"/>
              <a:t>, </a:t>
            </a:r>
            <a:r>
              <a:rPr lang="en-GB" sz="1800" dirty="0" err="1"/>
              <a:t>expected_count</a:t>
            </a:r>
            <a:r>
              <a:rPr lang="en-GB" sz="1800" dirty="0"/>
              <a:t>, TPM, FPKM</a:t>
            </a:r>
          </a:p>
          <a:p>
            <a:endParaRPr 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A gene's 'length' and '</a:t>
            </a:r>
            <a:r>
              <a:rPr lang="en-GB" sz="1800" dirty="0" err="1"/>
              <a:t>effective_length</a:t>
            </a:r>
            <a:r>
              <a:rPr lang="en-GB" sz="1800" dirty="0"/>
              <a:t>' are defined as the weighted average of its transcripts' lengths and effective lengths. A gene's abundance estimates are just the sum of its transcripts' abundance estimates. You can read in more detail on </a:t>
            </a:r>
            <a:r>
              <a:rPr lang="en-US" sz="1200" dirty="0">
                <a:hlinkClick r:id="rId2"/>
              </a:rPr>
              <a:t>https://deweylab.github.io/RSEM/rsem-calculate-expression.html</a:t>
            </a:r>
            <a:r>
              <a:rPr lang="en-US" sz="1200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E235BD-F221-B369-7FE4-2A00C8B8CA1A}"/>
              </a:ext>
            </a:extLst>
          </p:cNvPr>
          <p:cNvSpPr txBox="1">
            <a:spLocks/>
          </p:cNvSpPr>
          <p:nvPr/>
        </p:nvSpPr>
        <p:spPr>
          <a:xfrm>
            <a:off x="551384" y="332656"/>
            <a:ext cx="10947648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</a:rPr>
              <a:t>6. Quantification of gene abundance using </a:t>
            </a:r>
            <a:r>
              <a:rPr lang="en-US" sz="3600" dirty="0" err="1">
                <a:solidFill>
                  <a:schemeClr val="bg1"/>
                </a:solidFill>
              </a:rPr>
              <a:t>rsem</a:t>
            </a:r>
            <a:r>
              <a:rPr lang="en-US" sz="3600" dirty="0">
                <a:solidFill>
                  <a:schemeClr val="bg1"/>
                </a:solidFill>
              </a:rPr>
              <a:t> (OUTPUT)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F612CA-2D8F-11FD-07FB-51B7170225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11" y="2636912"/>
            <a:ext cx="3455485" cy="4616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6EB4B1-5378-04BD-DEC6-91F5B4B7B75F}"/>
              </a:ext>
            </a:extLst>
          </p:cNvPr>
          <p:cNvSpPr txBox="1"/>
          <p:nvPr/>
        </p:nvSpPr>
        <p:spPr>
          <a:xfrm>
            <a:off x="662127" y="1743921"/>
            <a:ext cx="93223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rsem</a:t>
            </a:r>
            <a:r>
              <a:rPr lang="en-US" sz="2400" dirty="0"/>
              <a:t>-calculate-expression </a:t>
            </a:r>
            <a:r>
              <a:rPr lang="en-GB" sz="2400" dirty="0"/>
              <a:t>produces the following output files: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6591004-9CBF-B740-D357-88420A8E7E09}"/>
              </a:ext>
            </a:extLst>
          </p:cNvPr>
          <p:cNvSpPr/>
          <p:nvPr/>
        </p:nvSpPr>
        <p:spPr>
          <a:xfrm>
            <a:off x="662126" y="2564903"/>
            <a:ext cx="3345641" cy="533673"/>
          </a:xfrm>
          <a:prstGeom prst="roundRect">
            <a:avLst/>
          </a:prstGeom>
          <a:solidFill>
            <a:schemeClr val="bg1">
              <a:lumMod val="65000"/>
              <a:alpha val="1703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18F8C4-FA41-9360-76A9-F9E1C0BAFB5D}"/>
              </a:ext>
            </a:extLst>
          </p:cNvPr>
          <p:cNvSpPr/>
          <p:nvPr/>
        </p:nvSpPr>
        <p:spPr>
          <a:xfrm>
            <a:off x="7896200" y="4025398"/>
            <a:ext cx="1224136" cy="360040"/>
          </a:xfrm>
          <a:prstGeom prst="rect">
            <a:avLst/>
          </a:prstGeom>
          <a:noFill/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88DB10D-7F4B-1959-DD89-310C8B506D28}"/>
              </a:ext>
            </a:extLst>
          </p:cNvPr>
          <p:cNvCxnSpPr>
            <a:cxnSpLocks/>
          </p:cNvCxnSpPr>
          <p:nvPr/>
        </p:nvCxnSpPr>
        <p:spPr>
          <a:xfrm>
            <a:off x="8904312" y="4446199"/>
            <a:ext cx="216024" cy="1078583"/>
          </a:xfrm>
          <a:prstGeom prst="straightConnector1">
            <a:avLst/>
          </a:prstGeom>
          <a:ln w="158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E37F3E0-BE61-7B74-29F4-D0503D3749AA}"/>
              </a:ext>
            </a:extLst>
          </p:cNvPr>
          <p:cNvSpPr txBox="1"/>
          <p:nvPr/>
        </p:nvSpPr>
        <p:spPr>
          <a:xfrm>
            <a:off x="7032285" y="5499218"/>
            <a:ext cx="5137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These are normalized counts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TPM = transcripts per million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FPKM = </a:t>
            </a:r>
            <a:r>
              <a:rPr lang="en-GB" b="0" i="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fragments per kilobase of transcript per million fragments mapped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719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E235BD-F221-B369-7FE4-2A00C8B8CA1A}"/>
              </a:ext>
            </a:extLst>
          </p:cNvPr>
          <p:cNvSpPr txBox="1">
            <a:spLocks/>
          </p:cNvSpPr>
          <p:nvPr/>
        </p:nvSpPr>
        <p:spPr>
          <a:xfrm>
            <a:off x="622176" y="357053"/>
            <a:ext cx="10947648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</a:rPr>
              <a:t>7. Automation</a:t>
            </a:r>
            <a:endParaRPr 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6EB4B1-5378-04BD-DEC6-91F5B4B7B75F}"/>
              </a:ext>
            </a:extLst>
          </p:cNvPr>
          <p:cNvSpPr txBox="1"/>
          <p:nvPr/>
        </p:nvSpPr>
        <p:spPr>
          <a:xfrm>
            <a:off x="550776" y="1916832"/>
            <a:ext cx="110904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24292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Once we have optimized the tools and parameters using a single sample (in an interactive session), we can write a script to run multiple samples.</a:t>
            </a:r>
          </a:p>
          <a:p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To do that we need to be flexible with the variables. </a:t>
            </a:r>
            <a:r>
              <a:rPr lang="en-GB" sz="2000" b="0" i="0" dirty="0">
                <a:solidFill>
                  <a:srgbClr val="24292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 example, we can refer to components of the command as numbered variables </a:t>
            </a:r>
            <a:r>
              <a:rPr lang="en-GB" sz="2000" b="1" i="0" dirty="0">
                <a:solidFill>
                  <a:srgbClr val="24292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within</a:t>
            </a:r>
            <a:r>
              <a:rPr lang="en-GB" sz="2000" b="0" i="0" dirty="0">
                <a:solidFill>
                  <a:srgbClr val="24292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the actual script:</a:t>
            </a:r>
          </a:p>
          <a:p>
            <a:pPr lvl="2"/>
            <a:r>
              <a:rPr lang="en-GB" sz="2000" b="0" i="0" dirty="0">
                <a:solidFill>
                  <a:srgbClr val="24292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$1 = </a:t>
            </a:r>
            <a:r>
              <a:rPr lang="en-GB" sz="2000" b="0" i="0" dirty="0" err="1">
                <a:solidFill>
                  <a:srgbClr val="24292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input.fastq</a:t>
            </a:r>
            <a:endParaRPr lang="en-GB" sz="2000" b="0" i="0" dirty="0">
              <a:solidFill>
                <a:srgbClr val="24292F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en-GB" sz="2000" b="0" i="0" dirty="0">
                <a:solidFill>
                  <a:srgbClr val="24292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$2 = </a:t>
            </a:r>
            <a:r>
              <a:rPr lang="en-GB" sz="2000" b="0" i="0" dirty="0" err="1">
                <a:solidFill>
                  <a:srgbClr val="24292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input.gtf</a:t>
            </a:r>
            <a:endParaRPr lang="en-GB" sz="2000" b="0" i="0" dirty="0">
              <a:solidFill>
                <a:srgbClr val="24292F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en-GB" sz="2000" b="0" i="0" dirty="0">
                <a:solidFill>
                  <a:srgbClr val="24292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$3 = </a:t>
            </a:r>
            <a:r>
              <a:rPr lang="en-GB" sz="2000" b="0" i="0" dirty="0" err="1">
                <a:solidFill>
                  <a:srgbClr val="24292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output.bam</a:t>
            </a:r>
            <a:endParaRPr lang="en-GB" sz="2000" b="0" i="0" dirty="0">
              <a:solidFill>
                <a:srgbClr val="24292F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endParaRPr lang="en-GB" sz="2000" b="0" i="0" dirty="0">
              <a:solidFill>
                <a:srgbClr val="24292F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We also need to create “array jobs” and submit them through </a:t>
            </a:r>
            <a:r>
              <a:rPr lang="en-GB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qsub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to HPC. You can read more details about this task on  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https://docs.hpc.qmul.ac.uk/using/arrays/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677511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2D84C9-613C-4FF4-909C-8FFCED6D6132}"/>
              </a:ext>
            </a:extLst>
          </p:cNvPr>
          <p:cNvSpPr txBox="1"/>
          <p:nvPr/>
        </p:nvSpPr>
        <p:spPr>
          <a:xfrm>
            <a:off x="839416" y="1268760"/>
            <a:ext cx="892899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#!/bin/</a:t>
            </a:r>
            <a:r>
              <a:rPr lang="en-GB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sh</a:t>
            </a:r>
            <a:endParaRPr lang="en-GB" sz="160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#$ -</a:t>
            </a:r>
            <a:r>
              <a:rPr lang="en-GB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cwd</a:t>
            </a:r>
            <a:endParaRPr lang="en-GB" sz="160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#$ -pe </a:t>
            </a:r>
            <a:r>
              <a:rPr lang="en-GB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smp</a:t>
            </a:r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1  # Request 1 CPU core</a:t>
            </a:r>
          </a:p>
          <a:p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#$ -l </a:t>
            </a:r>
            <a:r>
              <a:rPr lang="en-GB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h_rt</a:t>
            </a:r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=200:0:0</a:t>
            </a:r>
          </a:p>
          <a:p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#$ -l </a:t>
            </a:r>
            <a:r>
              <a:rPr lang="en-GB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h_vmem</a:t>
            </a:r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=23G</a:t>
            </a:r>
          </a:p>
          <a:p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#$ -t 1-10</a:t>
            </a:r>
          </a:p>
          <a:p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#$ -</a:t>
            </a:r>
            <a:r>
              <a:rPr lang="en-GB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tc</a:t>
            </a:r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5</a:t>
            </a:r>
          </a:p>
          <a:p>
            <a:endParaRPr lang="en-GB" sz="160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module load java/1.8.0_152-oracle</a:t>
            </a:r>
          </a:p>
          <a:p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module load </a:t>
            </a:r>
            <a:r>
              <a:rPr lang="en-GB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fastqc</a:t>
            </a:r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/0.11.5</a:t>
            </a:r>
          </a:p>
          <a:p>
            <a:endParaRPr lang="en-GB" sz="160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fastq_dir</a:t>
            </a:r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=/data/</a:t>
            </a:r>
            <a:r>
              <a:rPr lang="en-GB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RNASeq_exp</a:t>
            </a:r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/FASTQs</a:t>
            </a:r>
          </a:p>
          <a:p>
            <a:r>
              <a:rPr lang="en-GB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results_dir</a:t>
            </a:r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=/data/</a:t>
            </a:r>
            <a:r>
              <a:rPr lang="en-GB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RNASeq_exp</a:t>
            </a:r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/results</a:t>
            </a:r>
          </a:p>
          <a:p>
            <a:endParaRPr lang="en-GB" sz="160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mkdir</a:t>
            </a:r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-p ${</a:t>
            </a:r>
            <a:r>
              <a:rPr lang="en-GB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results_dir</a:t>
            </a:r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}/</a:t>
            </a:r>
            <a:r>
              <a:rPr lang="en-GB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fastQC</a:t>
            </a:r>
            <a:endParaRPr lang="en-GB" sz="160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60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fastq</a:t>
            </a:r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=$(</a:t>
            </a:r>
            <a:r>
              <a:rPr lang="en-GB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-n "${SGE_TASK_ID}p" ./</a:t>
            </a:r>
            <a:r>
              <a:rPr lang="en-GB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all_raw_fastqs_list</a:t>
            </a:r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GB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fastqc</a:t>
            </a:r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${</a:t>
            </a:r>
            <a:r>
              <a:rPr lang="en-GB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fastq_dir</a:t>
            </a:r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}/${</a:t>
            </a:r>
            <a:r>
              <a:rPr lang="en-GB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fastq</a:t>
            </a:r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} -o ${</a:t>
            </a:r>
            <a:r>
              <a:rPr lang="en-GB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results_dir</a:t>
            </a:r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}/</a:t>
            </a:r>
            <a:r>
              <a:rPr lang="en-GB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fastQC</a:t>
            </a:r>
            <a:endParaRPr lang="en-GB" sz="160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B8296D-2C97-A11A-B160-1E5F6C5ED67E}"/>
              </a:ext>
            </a:extLst>
          </p:cNvPr>
          <p:cNvSpPr txBox="1">
            <a:spLocks/>
          </p:cNvSpPr>
          <p:nvPr/>
        </p:nvSpPr>
        <p:spPr>
          <a:xfrm>
            <a:off x="695325" y="402143"/>
            <a:ext cx="10947648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</a:rPr>
              <a:t>7. Example array job for FASTQC of all </a:t>
            </a:r>
            <a:r>
              <a:rPr lang="en-US" sz="3600" dirty="0" err="1">
                <a:solidFill>
                  <a:schemeClr val="bg1"/>
                </a:solidFill>
              </a:rPr>
              <a:t>fastq</a:t>
            </a:r>
            <a:r>
              <a:rPr lang="en-US" sz="3600" dirty="0">
                <a:solidFill>
                  <a:schemeClr val="bg1"/>
                </a:solidFill>
              </a:rPr>
              <a:t> files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AD8323-801F-D2FC-A36B-1A85442F0936}"/>
              </a:ext>
            </a:extLst>
          </p:cNvPr>
          <p:cNvSpPr txBox="1"/>
          <p:nvPr/>
        </p:nvSpPr>
        <p:spPr>
          <a:xfrm>
            <a:off x="1179513" y="6290360"/>
            <a:ext cx="99792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can find out more about array jobs here </a:t>
            </a:r>
            <a:r>
              <a:rPr lang="en-US" dirty="0">
                <a:hlinkClick r:id="rId2"/>
              </a:rPr>
              <a:t>https://docs.hpc.qmul.ac.uk/using/arrays/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40271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F052E8-9429-D8A3-88D9-BB18AD3A3EE6}"/>
              </a:ext>
            </a:extLst>
          </p:cNvPr>
          <p:cNvSpPr txBox="1">
            <a:spLocks/>
          </p:cNvSpPr>
          <p:nvPr/>
        </p:nvSpPr>
        <p:spPr>
          <a:xfrm>
            <a:off x="695325" y="402143"/>
            <a:ext cx="10947648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</a:rPr>
              <a:t>8. How to create a counts matrix of all the samples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BA793D-69D7-A20A-8EED-1E795E222DA5}"/>
              </a:ext>
            </a:extLst>
          </p:cNvPr>
          <p:cNvSpPr txBox="1"/>
          <p:nvPr/>
        </p:nvSpPr>
        <p:spPr>
          <a:xfrm>
            <a:off x="1199456" y="5373216"/>
            <a:ext cx="85689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How could we extract the </a:t>
            </a:r>
            <a:r>
              <a:rPr lang="en-US" sz="1600" dirty="0" err="1"/>
              <a:t>expected_counts</a:t>
            </a:r>
            <a:r>
              <a:rPr lang="en-US" sz="1600" dirty="0"/>
              <a:t> column of the </a:t>
            </a:r>
            <a:r>
              <a:rPr lang="en-US" sz="1600" dirty="0" err="1"/>
              <a:t>rsem</a:t>
            </a:r>
            <a:r>
              <a:rPr lang="en-US" sz="1600" dirty="0"/>
              <a:t> result tab file and make a matrix like the above containing of the expected counts across all the samples of an </a:t>
            </a:r>
            <a:r>
              <a:rPr lang="en-US" sz="1600" dirty="0" err="1"/>
              <a:t>RNASeq</a:t>
            </a:r>
            <a:r>
              <a:rPr lang="en-US" sz="1600" dirty="0"/>
              <a:t> experiment?</a:t>
            </a:r>
          </a:p>
          <a:p>
            <a:endParaRPr lang="en-US" sz="1600" dirty="0"/>
          </a:p>
          <a:p>
            <a:r>
              <a:rPr lang="en-US" sz="1600" dirty="0"/>
              <a:t>This requires a bit of data wrangling, there are many ways you could do it, you can find one way to do it in the last chunk of the R markdown file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B29C71-1DE6-B427-B55B-5533ACF88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2038781"/>
            <a:ext cx="6261100" cy="3060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B920F7-0940-95F0-3FC0-909721DEF75E}"/>
              </a:ext>
            </a:extLst>
          </p:cNvPr>
          <p:cNvSpPr txBox="1"/>
          <p:nvPr/>
        </p:nvSpPr>
        <p:spPr>
          <a:xfrm>
            <a:off x="119486" y="1298375"/>
            <a:ext cx="11377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what we are ultimately aiming for; a matrix of the </a:t>
            </a:r>
            <a:r>
              <a:rPr lang="en-US" dirty="0" err="1"/>
              <a:t>rsem</a:t>
            </a:r>
            <a:r>
              <a:rPr lang="en-US" dirty="0"/>
              <a:t> </a:t>
            </a:r>
            <a:r>
              <a:rPr lang="en-US" dirty="0" err="1"/>
              <a:t>estimated_counts</a:t>
            </a:r>
            <a:r>
              <a:rPr lang="en-US" dirty="0"/>
              <a:t> that has gene ids in rows and samples in columns.</a:t>
            </a:r>
          </a:p>
        </p:txBody>
      </p:sp>
    </p:spTree>
    <p:extLst>
      <p:ext uri="{BB962C8B-B14F-4D97-AF65-F5344CB8AC3E}">
        <p14:creationId xmlns:p14="http://schemas.microsoft.com/office/powerpoint/2010/main" val="3990068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C2FCD3E-BCF4-BA6F-F3A6-37393A24DF30}"/>
              </a:ext>
            </a:extLst>
          </p:cNvPr>
          <p:cNvSpPr txBox="1">
            <a:spLocks/>
          </p:cNvSpPr>
          <p:nvPr/>
        </p:nvSpPr>
        <p:spPr>
          <a:xfrm>
            <a:off x="695325" y="402143"/>
            <a:ext cx="10947648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</a:rPr>
              <a:t>References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217F4E-5A9C-662B-A721-68B376CD6E3E}"/>
              </a:ext>
            </a:extLst>
          </p:cNvPr>
          <p:cNvSpPr txBox="1"/>
          <p:nvPr/>
        </p:nvSpPr>
        <p:spPr>
          <a:xfrm>
            <a:off x="692100" y="1916832"/>
            <a:ext cx="1058525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https://emea.support.illumina.com/bulletins/2016/04/fastq-files-explained.html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https://www.bioinformatics.babraham.ac.uk/projects/fastqc/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Dobin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et al. </a:t>
            </a:r>
            <a:r>
              <a:rPr lang="en-GB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Mapping RNA-</a:t>
            </a:r>
            <a:r>
              <a:rPr lang="en-GB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seq</a:t>
            </a:r>
            <a:r>
              <a:rPr lang="en-GB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Reads with STAR. </a:t>
            </a:r>
            <a:r>
              <a:rPr lang="en-GB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Curr</a:t>
            </a:r>
            <a:r>
              <a:rPr lang="en-GB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Protoc</a:t>
            </a:r>
            <a:r>
              <a:rPr lang="en-GB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Bioinformatics. 2015 Sep 3;51:11.14.1-11.14.19.</a:t>
            </a:r>
            <a:endParaRPr lang="en-GB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707090"/>
      </p:ext>
    </p:extLst>
  </p:cSld>
  <p:clrMapOvr>
    <a:masterClrMapping/>
  </p:clrMapOvr>
</p:sld>
</file>

<file path=ppt/theme/theme1.xml><?xml version="1.0" encoding="utf-8"?>
<a:theme xmlns:a="http://schemas.openxmlformats.org/drawingml/2006/main" name="Cancer Research UK">
  <a:themeElements>
    <a:clrScheme name="Cancer Research 2">
      <a:dk1>
        <a:srgbClr val="58595B"/>
      </a:dk1>
      <a:lt1>
        <a:sysClr val="window" lastClr="FFFFFF"/>
      </a:lt1>
      <a:dk2>
        <a:srgbClr val="2E008B"/>
      </a:dk2>
      <a:lt2>
        <a:srgbClr val="EC008C"/>
      </a:lt2>
      <a:accent1>
        <a:srgbClr val="00B6ED"/>
      </a:accent1>
      <a:accent2>
        <a:srgbClr val="A7A8AA"/>
      </a:accent2>
      <a:accent3>
        <a:srgbClr val="AB99D1"/>
      </a:accent3>
      <a:accent4>
        <a:srgbClr val="F799D1"/>
      </a:accent4>
      <a:accent5>
        <a:srgbClr val="99E2F8"/>
      </a:accent5>
      <a:accent6>
        <a:srgbClr val="D9D9D8"/>
      </a:accent6>
      <a:hlink>
        <a:srgbClr val="AB99D1"/>
      </a:hlink>
      <a:folHlink>
        <a:srgbClr val="99E2F8"/>
      </a:folHlink>
    </a:clrScheme>
    <a:fontScheme name="Cancer Research UK - specialist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ncer Research UK (Specialist)_16x9 template_draft4" id="{490E78E8-C2C9-433E-86D7-22AA4C5D3088}" vid="{15F283FA-0709-499B-976B-8A074D77DAEE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69df091-b013-40e3-86ee-bd9cb9e25814}" enabled="0" method="" siteId="{569df091-b013-40e3-86ee-bd9cb9e2581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10761</TotalTime>
  <Words>2254</Words>
  <Application>Microsoft Macintosh PowerPoint</Application>
  <PresentationFormat>Widescreen</PresentationFormat>
  <Paragraphs>187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Light</vt:lpstr>
      <vt:lpstr>Menlo</vt:lpstr>
      <vt:lpstr>Cancer Research UK</vt:lpstr>
      <vt:lpstr>Custom Design</vt:lpstr>
      <vt:lpstr>2_Custom Design</vt:lpstr>
      <vt:lpstr>3_Custom Design</vt:lpstr>
      <vt:lpstr>1_Custom Design</vt:lpstr>
      <vt:lpstr>PowerPoint Presentation</vt:lpstr>
      <vt:lpstr>Overview of RNASeq-seq analysis</vt:lpstr>
      <vt:lpstr>1. Setup qlogin in HPC</vt:lpstr>
      <vt:lpstr>1*. Copy data from HPC teaching directory to scratch</vt:lpstr>
      <vt:lpstr>2. FASTQ file</vt:lpstr>
      <vt:lpstr>3. QC fastq file</vt:lpstr>
      <vt:lpstr>4. Quality and adapter trimming using trimgalore</vt:lpstr>
      <vt:lpstr>5. STAR alignment</vt:lpstr>
      <vt:lpstr>5. STAR alignment (Genome index)</vt:lpstr>
      <vt:lpstr>5. STAR alignment (Genome index output)</vt:lpstr>
      <vt:lpstr>5. STAR alignment (Annotation file .gtf)</vt:lpstr>
      <vt:lpstr>5. STAR alignment (OUTPUT)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formatting instructions</dc:title>
  <dc:creator>Alex Allaway</dc:creator>
  <cp:lastModifiedBy>Eleni Maniati</cp:lastModifiedBy>
  <cp:revision>351</cp:revision>
  <dcterms:created xsi:type="dcterms:W3CDTF">2018-10-02T14:26:27Z</dcterms:created>
  <dcterms:modified xsi:type="dcterms:W3CDTF">2025-11-03T18:50:12Z</dcterms:modified>
</cp:coreProperties>
</file>