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705" r:id="rId3"/>
    <p:sldMasterId id="2147483717" r:id="rId4"/>
    <p:sldMasterId id="2147483693" r:id="rId5"/>
  </p:sldMasterIdLst>
  <p:notesMasterIdLst>
    <p:notesMasterId r:id="rId31"/>
  </p:notesMasterIdLst>
  <p:handoutMasterIdLst>
    <p:handoutMasterId r:id="rId32"/>
  </p:handoutMasterIdLst>
  <p:sldIdLst>
    <p:sldId id="302" r:id="rId6"/>
    <p:sldId id="326" r:id="rId7"/>
    <p:sldId id="342" r:id="rId8"/>
    <p:sldId id="359" r:id="rId9"/>
    <p:sldId id="343" r:id="rId10"/>
    <p:sldId id="344" r:id="rId11"/>
    <p:sldId id="345" r:id="rId12"/>
    <p:sldId id="347" r:id="rId13"/>
    <p:sldId id="346" r:id="rId14"/>
    <p:sldId id="363" r:id="rId15"/>
    <p:sldId id="354" r:id="rId16"/>
    <p:sldId id="355" r:id="rId17"/>
    <p:sldId id="357" r:id="rId18"/>
    <p:sldId id="356" r:id="rId19"/>
    <p:sldId id="348" r:id="rId20"/>
    <p:sldId id="361" r:id="rId21"/>
    <p:sldId id="360" r:id="rId22"/>
    <p:sldId id="349" r:id="rId23"/>
    <p:sldId id="364" r:id="rId24"/>
    <p:sldId id="350" r:id="rId25"/>
    <p:sldId id="351" r:id="rId26"/>
    <p:sldId id="352" r:id="rId27"/>
    <p:sldId id="353" r:id="rId28"/>
    <p:sldId id="362" r:id="rId29"/>
    <p:sldId id="32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08F56546-8063-4F91-8B94-EA18817DA36A}">
          <p14:sldIdLst/>
        </p14:section>
        <p14:section name="Example Layouts" id="{EA444CFD-9734-4821-B705-6E63F9671A70}">
          <p14:sldIdLst>
            <p14:sldId id="302"/>
            <p14:sldId id="326"/>
            <p14:sldId id="342"/>
            <p14:sldId id="359"/>
            <p14:sldId id="343"/>
            <p14:sldId id="344"/>
            <p14:sldId id="345"/>
            <p14:sldId id="347"/>
            <p14:sldId id="346"/>
            <p14:sldId id="363"/>
            <p14:sldId id="354"/>
            <p14:sldId id="355"/>
            <p14:sldId id="357"/>
            <p14:sldId id="356"/>
            <p14:sldId id="348"/>
            <p14:sldId id="361"/>
            <p14:sldId id="360"/>
            <p14:sldId id="349"/>
            <p14:sldId id="364"/>
            <p14:sldId id="350"/>
            <p14:sldId id="351"/>
            <p14:sldId id="352"/>
            <p14:sldId id="353"/>
            <p14:sldId id="362"/>
            <p14:sldId id="320"/>
          </p14:sldIdLst>
        </p14:section>
      </p14:sectionLst>
    </p:ext>
    <p:ext uri="{EFAFB233-063F-42B5-8137-9DF3F51BA10A}">
      <p15:sldGuideLst xmlns:p15="http://schemas.microsoft.com/office/powerpoint/2012/main">
        <p15:guide id="1" orient="horz" pos="2160" userDrawn="1">
          <p15:clr>
            <a:srgbClr val="A4A3A4"/>
          </p15:clr>
        </p15:guide>
        <p15:guide id="2" pos="34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2B167B"/>
    <a:srgbClr val="2E008B"/>
    <a:srgbClr val="A7A8AA"/>
    <a:srgbClr val="666666"/>
    <a:srgbClr val="00B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36"/>
    <p:restoredTop sz="90929" autoAdjust="0"/>
  </p:normalViewPr>
  <p:slideViewPr>
    <p:cSldViewPr showGuides="1">
      <p:cViewPr varScale="1">
        <p:scale>
          <a:sx n="108" d="100"/>
          <a:sy n="108" d="100"/>
        </p:scale>
        <p:origin x="488" y="192"/>
      </p:cViewPr>
      <p:guideLst>
        <p:guide orient="horz" pos="2160"/>
        <p:guide pos="347"/>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112" d="100"/>
          <a:sy n="112" d="100"/>
        </p:scale>
        <p:origin x="528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eni Maniati" userId="50ca6d75-5b0d-49bd-990c-35aad38e12cf" providerId="ADAL" clId="{CCD7E960-5FE8-094E-82AF-4E180634D7C0}"/>
    <pc:docChg chg="undo custSel modSld">
      <pc:chgData name="Eleni Maniati" userId="50ca6d75-5b0d-49bd-990c-35aad38e12cf" providerId="ADAL" clId="{CCD7E960-5FE8-094E-82AF-4E180634D7C0}" dt="2024-11-04T23:33:00.766" v="2" actId="1036"/>
      <pc:docMkLst>
        <pc:docMk/>
      </pc:docMkLst>
      <pc:sldChg chg="modSp mod">
        <pc:chgData name="Eleni Maniati" userId="50ca6d75-5b0d-49bd-990c-35aad38e12cf" providerId="ADAL" clId="{CCD7E960-5FE8-094E-82AF-4E180634D7C0}" dt="2024-11-04T23:33:00.766" v="2" actId="1036"/>
        <pc:sldMkLst>
          <pc:docMk/>
          <pc:sldMk cId="2377729433" sldId="360"/>
        </pc:sldMkLst>
        <pc:picChg chg="mod">
          <ac:chgData name="Eleni Maniati" userId="50ca6d75-5b0d-49bd-990c-35aad38e12cf" providerId="ADAL" clId="{CCD7E960-5FE8-094E-82AF-4E180634D7C0}" dt="2024-11-04T23:33:00.766" v="2" actId="1036"/>
          <ac:picMkLst>
            <pc:docMk/>
            <pc:sldMk cId="2377729433" sldId="360"/>
            <ac:picMk id="10" creationId="{07D35587-0CBB-3DB2-63B3-6CD5BE2AB90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641B21-BD86-4201-8FF4-D6385DF043FF}" type="datetimeFigureOut">
              <a:rPr lang="en-GB" smtClean="0"/>
              <a:t>04/11/2024</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14A784-0364-45B9-8516-0E04A55EE18D}" type="slidenum">
              <a:rPr lang="en-GB" smtClean="0"/>
              <a:t>‹#›</a:t>
            </a:fld>
            <a:endParaRPr lang="en-GB"/>
          </a:p>
        </p:txBody>
      </p:sp>
    </p:spTree>
    <p:extLst>
      <p:ext uri="{BB962C8B-B14F-4D97-AF65-F5344CB8AC3E}">
        <p14:creationId xmlns:p14="http://schemas.microsoft.com/office/powerpoint/2010/main" val="2047353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764B69-A079-4E1A-BD87-9A9812A69E87}" type="datetimeFigureOut">
              <a:rPr lang="en-GB" smtClean="0"/>
              <a:t>04/11/2024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AE7D0-3DF3-4127-8202-6081F850489D}" type="slidenum">
              <a:rPr lang="en-GB" smtClean="0"/>
              <a:t>‹#›</a:t>
            </a:fld>
            <a:endParaRPr lang="en-GB"/>
          </a:p>
        </p:txBody>
      </p:sp>
    </p:spTree>
    <p:extLst>
      <p:ext uri="{BB962C8B-B14F-4D97-AF65-F5344CB8AC3E}">
        <p14:creationId xmlns:p14="http://schemas.microsoft.com/office/powerpoint/2010/main" val="377980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a:t>
            </a:r>
            <a:r>
              <a:rPr lang="en-GB" baseline="0" dirty="0"/>
              <a:t> title slide should be used directly (with the addition of your presentation title, your name and your centre). </a:t>
            </a:r>
          </a:p>
          <a:p>
            <a:r>
              <a:rPr lang="en-GB" baseline="0" dirty="0"/>
              <a:t>Please do not add any additional logos to this slide.</a:t>
            </a:r>
          </a:p>
          <a:p>
            <a:endParaRPr lang="en-GB" baseline="0" dirty="0"/>
          </a:p>
          <a:p>
            <a:r>
              <a:rPr lang="en-GB" baseline="0" dirty="0"/>
              <a:t>If you would like to customise the image on the right-hand side of the slide, please use slide 2 which will allow you to add your own image.</a:t>
            </a:r>
            <a:endParaRPr lang="en-GB" dirty="0"/>
          </a:p>
        </p:txBody>
      </p:sp>
      <p:sp>
        <p:nvSpPr>
          <p:cNvPr id="4" name="Slide Number Placeholder 3"/>
          <p:cNvSpPr>
            <a:spLocks noGrp="1"/>
          </p:cNvSpPr>
          <p:nvPr>
            <p:ph type="sldNum" sz="quarter" idx="10"/>
          </p:nvPr>
        </p:nvSpPr>
        <p:spPr/>
        <p:txBody>
          <a:bodyPr/>
          <a:lstStyle/>
          <a:p>
            <a:fld id="{256AE7D0-3DF3-4127-8202-6081F850489D}" type="slidenum">
              <a:rPr lang="en-GB" smtClean="0"/>
              <a:t>1</a:t>
            </a:fld>
            <a:endParaRPr lang="en-GB"/>
          </a:p>
        </p:txBody>
      </p:sp>
    </p:spTree>
    <p:extLst>
      <p:ext uri="{BB962C8B-B14F-4D97-AF65-F5344CB8AC3E}">
        <p14:creationId xmlns:p14="http://schemas.microsoft.com/office/powerpoint/2010/main" val="3930398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6AE7D0-3DF3-4127-8202-6081F850489D}" type="slidenum">
              <a:rPr lang="en-GB" smtClean="0"/>
              <a:t>6</a:t>
            </a:fld>
            <a:endParaRPr lang="en-GB"/>
          </a:p>
        </p:txBody>
      </p:sp>
    </p:spTree>
    <p:extLst>
      <p:ext uri="{BB962C8B-B14F-4D97-AF65-F5344CB8AC3E}">
        <p14:creationId xmlns:p14="http://schemas.microsoft.com/office/powerpoint/2010/main" val="4432100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8.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839416" y="1916830"/>
            <a:ext cx="5472000" cy="2088232"/>
          </a:xfrm>
          <a:prstGeom prst="rect">
            <a:avLst/>
          </a:prstGeom>
          <a:ln>
            <a:noFill/>
          </a:ln>
        </p:spPr>
        <p:txBody>
          <a:bodyPr bIns="0" anchor="ctr" anchorCtr="0">
            <a:noAutofit/>
          </a:bodyPr>
          <a:lstStyle>
            <a:lvl1pPr algn="ctr">
              <a:lnSpc>
                <a:spcPct val="70000"/>
              </a:lnSpc>
              <a:defRPr sz="60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1055416" y="4201343"/>
            <a:ext cx="5040000" cy="307777"/>
          </a:xfrm>
        </p:spPr>
        <p:txBody>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pic>
        <p:nvPicPr>
          <p:cNvPr id="14" name="Picture 13">
            <a:extLst>
              <a:ext uri="{FF2B5EF4-FFF2-40B4-BE49-F238E27FC236}">
                <a16:creationId xmlns:a16="http://schemas.microsoft.com/office/drawing/2014/main" id="{FEAECAE8-8B32-4E0B-BC3B-F2E9E64868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35560" y="5589240"/>
            <a:ext cx="2772612" cy="691636"/>
          </a:xfrm>
          <a:prstGeom prst="rect">
            <a:avLst/>
          </a:prstGeom>
        </p:spPr>
      </p:pic>
      <p:sp>
        <p:nvSpPr>
          <p:cNvPr id="19" name="Oval 18">
            <a:extLst>
              <a:ext uri="{FF2B5EF4-FFF2-40B4-BE49-F238E27FC236}">
                <a16:creationId xmlns:a16="http://schemas.microsoft.com/office/drawing/2014/main" id="{F0892D67-F81D-4EAF-91FC-295D8C2F6020}"/>
              </a:ext>
            </a:extLst>
          </p:cNvPr>
          <p:cNvSpPr/>
          <p:nvPr userDrawn="1"/>
        </p:nvSpPr>
        <p:spPr>
          <a:xfrm>
            <a:off x="6655081" y="507294"/>
            <a:ext cx="414656" cy="414656"/>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 name="Oval 19">
            <a:extLst>
              <a:ext uri="{FF2B5EF4-FFF2-40B4-BE49-F238E27FC236}">
                <a16:creationId xmlns:a16="http://schemas.microsoft.com/office/drawing/2014/main" id="{673C406D-B215-4935-8E9E-66DD87522B2E}"/>
              </a:ext>
            </a:extLst>
          </p:cNvPr>
          <p:cNvSpPr/>
          <p:nvPr userDrawn="1"/>
        </p:nvSpPr>
        <p:spPr>
          <a:xfrm>
            <a:off x="6875715" y="1673947"/>
            <a:ext cx="170476" cy="170476"/>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Oval 20">
            <a:extLst>
              <a:ext uri="{FF2B5EF4-FFF2-40B4-BE49-F238E27FC236}">
                <a16:creationId xmlns:a16="http://schemas.microsoft.com/office/drawing/2014/main" id="{68AEAD39-6F92-40BC-B53B-719F85124F3E}"/>
              </a:ext>
            </a:extLst>
          </p:cNvPr>
          <p:cNvSpPr/>
          <p:nvPr userDrawn="1"/>
        </p:nvSpPr>
        <p:spPr>
          <a:xfrm>
            <a:off x="6127577" y="373944"/>
            <a:ext cx="266700" cy="2667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9653" y="116632"/>
            <a:ext cx="2621213" cy="1080120"/>
          </a:xfrm>
          <a:prstGeom prst="rect">
            <a:avLst/>
          </a:prstGeom>
        </p:spPr>
      </p:pic>
    </p:spTree>
    <p:extLst>
      <p:ext uri="{BB962C8B-B14F-4D97-AF65-F5344CB8AC3E}">
        <p14:creationId xmlns:p14="http://schemas.microsoft.com/office/powerpoint/2010/main" val="6832876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E5FA-BEBB-4862-9C43-D14CCB29FFFA}"/>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D33DF61-D91B-41EB-AE86-A0DBDBFF582B}"/>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3BE4DDFD-0837-41FA-8FBA-D37B3BB687F1}"/>
              </a:ext>
            </a:extLst>
          </p:cNvPr>
          <p:cNvSpPr>
            <a:spLocks noGrp="1"/>
          </p:cNvSpPr>
          <p:nvPr>
            <p:ph type="dt" sz="half" idx="10"/>
          </p:nvPr>
        </p:nvSpPr>
        <p:spPr/>
        <p:txBody>
          <a:bodyPr/>
          <a:lstStyle>
            <a:lvl1pPr>
              <a:defRPr>
                <a:solidFill>
                  <a:schemeClr val="tx2"/>
                </a:solidFill>
              </a:defRPr>
            </a:lvl1pPr>
          </a:lstStyle>
          <a:p>
            <a:fld id="{3C404475-5ECB-4D36-A4F5-040C1856A096}" type="datetime2">
              <a:rPr lang="en-GB" smtClean="0"/>
              <a:pPr/>
              <a:t>Monday, 4 November 2024</a:t>
            </a:fld>
            <a:endParaRPr lang="en-GB"/>
          </a:p>
        </p:txBody>
      </p:sp>
      <p:sp>
        <p:nvSpPr>
          <p:cNvPr id="5" name="Footer Placeholder 4">
            <a:extLst>
              <a:ext uri="{FF2B5EF4-FFF2-40B4-BE49-F238E27FC236}">
                <a16:creationId xmlns:a16="http://schemas.microsoft.com/office/drawing/2014/main" id="{0A34EAA5-9395-4AA0-96B6-BD23C5245551}"/>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6" name="Slide Number Placeholder 5">
            <a:extLst>
              <a:ext uri="{FF2B5EF4-FFF2-40B4-BE49-F238E27FC236}">
                <a16:creationId xmlns:a16="http://schemas.microsoft.com/office/drawing/2014/main" id="{031C2346-9DC9-4EFE-9CC7-58A873883353}"/>
              </a:ext>
            </a:extLst>
          </p:cNvPr>
          <p:cNvSpPr>
            <a:spLocks noGrp="1"/>
          </p:cNvSpPr>
          <p:nvPr>
            <p:ph type="sldNum" sz="quarter" idx="12"/>
          </p:nvPr>
        </p:nvSpPr>
        <p:spPr/>
        <p:txBody>
          <a:bodyPr/>
          <a:lstStyle>
            <a:lvl1pPr>
              <a:defRPr>
                <a:solidFill>
                  <a:schemeClr val="tx2"/>
                </a:solidFill>
              </a:defRPr>
            </a:lvl1pPr>
          </a:lstStyle>
          <a:p>
            <a:fld id="{F90E331C-8DD5-41DE-A1D8-42719F204B7E}" type="slidenum">
              <a:rPr lang="en-GB" smtClean="0"/>
              <a:pPr/>
              <a:t>‹#›</a:t>
            </a:fld>
            <a:endParaRPr lang="en-GB"/>
          </a:p>
        </p:txBody>
      </p:sp>
    </p:spTree>
    <p:extLst>
      <p:ext uri="{BB962C8B-B14F-4D97-AF65-F5344CB8AC3E}">
        <p14:creationId xmlns:p14="http://schemas.microsoft.com/office/powerpoint/2010/main" val="847925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sp>
        <p:nvSpPr>
          <p:cNvPr id="6" name="Title 1">
            <a:extLst>
              <a:ext uri="{FF2B5EF4-FFF2-40B4-BE49-F238E27FC236}">
                <a16:creationId xmlns:a16="http://schemas.microsoft.com/office/drawing/2014/main" id="{13936653-3080-447B-B85A-CA4AC2D8E173}"/>
              </a:ext>
            </a:extLst>
          </p:cNvPr>
          <p:cNvSpPr>
            <a:spLocks noGrp="1"/>
          </p:cNvSpPr>
          <p:nvPr>
            <p:ph type="ctrTitle"/>
          </p:nvPr>
        </p:nvSpPr>
        <p:spPr>
          <a:xfrm>
            <a:off x="839416" y="1844824"/>
            <a:ext cx="5472000" cy="2088232"/>
          </a:xfrm>
          <a:prstGeom prst="rect">
            <a:avLst/>
          </a:prstGeom>
          <a:ln>
            <a:noFill/>
          </a:ln>
        </p:spPr>
        <p:txBody>
          <a:bodyPr bIns="0" anchor="ctr" anchorCtr="0">
            <a:noAutofit/>
          </a:bodyPr>
          <a:lstStyle>
            <a:lvl1pPr algn="ctr">
              <a:lnSpc>
                <a:spcPct val="70000"/>
              </a:lnSpc>
              <a:defRPr sz="6000">
                <a:solidFill>
                  <a:schemeClr val="bg1"/>
                </a:solidFill>
              </a:defRPr>
            </a:lvl1pPr>
          </a:lstStyle>
          <a:p>
            <a:r>
              <a:rPr lang="en-US"/>
              <a:t>Click to edit Master title style</a:t>
            </a:r>
            <a:endParaRPr lang="en-GB" dirty="0"/>
          </a:p>
        </p:txBody>
      </p:sp>
      <p:sp>
        <p:nvSpPr>
          <p:cNvPr id="7" name="Rectangle 6">
            <a:extLst>
              <a:ext uri="{FF2B5EF4-FFF2-40B4-BE49-F238E27FC236}">
                <a16:creationId xmlns:a16="http://schemas.microsoft.com/office/drawing/2014/main" id="{1B083680-74B4-4455-AFC5-36F2C960F739}"/>
              </a:ext>
            </a:extLst>
          </p:cNvPr>
          <p:cNvSpPr/>
          <p:nvPr userDrawn="1"/>
        </p:nvSpPr>
        <p:spPr>
          <a:xfrm>
            <a:off x="335360" y="5034992"/>
            <a:ext cx="2448272" cy="170637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9" name="Picture 8">
            <a:extLst>
              <a:ext uri="{FF2B5EF4-FFF2-40B4-BE49-F238E27FC236}">
                <a16:creationId xmlns:a16="http://schemas.microsoft.com/office/drawing/2014/main" id="{330DC25F-9AEB-4A63-A2DF-AAAB31C65E5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3352" y="5931278"/>
            <a:ext cx="2952328" cy="738082"/>
          </a:xfrm>
          <a:prstGeom prst="rect">
            <a:avLst/>
          </a:prstGeom>
        </p:spPr>
      </p:pic>
    </p:spTree>
    <p:extLst>
      <p:ext uri="{BB962C8B-B14F-4D97-AF65-F5344CB8AC3E}">
        <p14:creationId xmlns:p14="http://schemas.microsoft.com/office/powerpoint/2010/main" val="704807507"/>
      </p:ext>
    </p:extLst>
  </p:cSld>
  <p:clrMapOvr>
    <a:masterClrMapping/>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839416" y="1700808"/>
            <a:ext cx="5472000" cy="2088232"/>
          </a:xfrm>
          <a:prstGeom prst="rect">
            <a:avLst/>
          </a:prstGeom>
          <a:ln>
            <a:noFill/>
          </a:ln>
        </p:spPr>
        <p:txBody>
          <a:bodyPr bIns="0" anchor="ctr" anchorCtr="0">
            <a:noAutofit/>
          </a:bodyPr>
          <a:lstStyle>
            <a:lvl1pPr algn="ctr">
              <a:lnSpc>
                <a:spcPct val="70000"/>
              </a:lnSpc>
              <a:defRPr sz="60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1055416" y="4057329"/>
            <a:ext cx="5040000" cy="307777"/>
          </a:xfrm>
        </p:spPr>
        <p:txBody>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sp>
        <p:nvSpPr>
          <p:cNvPr id="5" name="Oval 4">
            <a:extLst>
              <a:ext uri="{FF2B5EF4-FFF2-40B4-BE49-F238E27FC236}">
                <a16:creationId xmlns:a16="http://schemas.microsoft.com/office/drawing/2014/main" id="{F0892D67-F81D-4EAF-91FC-295D8C2F6020}"/>
              </a:ext>
            </a:extLst>
          </p:cNvPr>
          <p:cNvSpPr/>
          <p:nvPr userDrawn="1"/>
        </p:nvSpPr>
        <p:spPr>
          <a:xfrm>
            <a:off x="6655081" y="507294"/>
            <a:ext cx="414656" cy="414656"/>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Oval 5">
            <a:extLst>
              <a:ext uri="{FF2B5EF4-FFF2-40B4-BE49-F238E27FC236}">
                <a16:creationId xmlns:a16="http://schemas.microsoft.com/office/drawing/2014/main" id="{673C406D-B215-4935-8E9E-66DD87522B2E}"/>
              </a:ext>
            </a:extLst>
          </p:cNvPr>
          <p:cNvSpPr/>
          <p:nvPr userDrawn="1"/>
        </p:nvSpPr>
        <p:spPr>
          <a:xfrm>
            <a:off x="6875715" y="1673947"/>
            <a:ext cx="170476" cy="170476"/>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Oval 6">
            <a:extLst>
              <a:ext uri="{FF2B5EF4-FFF2-40B4-BE49-F238E27FC236}">
                <a16:creationId xmlns:a16="http://schemas.microsoft.com/office/drawing/2014/main" id="{68AEAD39-6F92-40BC-B53B-719F85124F3E}"/>
              </a:ext>
            </a:extLst>
          </p:cNvPr>
          <p:cNvSpPr/>
          <p:nvPr userDrawn="1"/>
        </p:nvSpPr>
        <p:spPr>
          <a:xfrm>
            <a:off x="6127577" y="373944"/>
            <a:ext cx="266700" cy="2667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65907" y="5805264"/>
            <a:ext cx="1456740" cy="869021"/>
          </a:xfrm>
          <a:prstGeom prst="rect">
            <a:avLst/>
          </a:prstGeom>
        </p:spPr>
      </p:pic>
      <p:pic>
        <p:nvPicPr>
          <p:cNvPr id="19" name="Picture 18">
            <a:extLst>
              <a:ext uri="{FF2B5EF4-FFF2-40B4-BE49-F238E27FC236}">
                <a16:creationId xmlns:a16="http://schemas.microsoft.com/office/drawing/2014/main" id="{FEAECAE8-8B32-4E0B-BC3B-F2E9E64868C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2591" y="5924204"/>
            <a:ext cx="2530106" cy="631142"/>
          </a:xfrm>
          <a:prstGeom prst="rect">
            <a:avLst/>
          </a:prstGeom>
        </p:spPr>
      </p:pic>
      <p:pic>
        <p:nvPicPr>
          <p:cNvPr id="22" name="Picture 2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653" y="116632"/>
            <a:ext cx="2621213" cy="1080120"/>
          </a:xfrm>
          <a:prstGeom prst="rect">
            <a:avLst/>
          </a:prstGeom>
        </p:spPr>
      </p:pic>
    </p:spTree>
    <p:extLst>
      <p:ext uri="{BB962C8B-B14F-4D97-AF65-F5344CB8AC3E}">
        <p14:creationId xmlns:p14="http://schemas.microsoft.com/office/powerpoint/2010/main" val="22304490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30140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708362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FA11-9616-41BC-915F-FAF0C22C93A7}"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17060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28DFA11-9616-41BC-915F-FAF0C22C93A7}"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53305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28DFA11-9616-41BC-915F-FAF0C22C93A7}" type="datetimeFigureOut">
              <a:rPr lang="en-GB" smtClean="0"/>
              <a:t>04/11/2024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45450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28DFA11-9616-41BC-915F-FAF0C22C93A7}" type="datetimeFigureOut">
              <a:rPr lang="en-GB" smtClean="0"/>
              <a:t>04/11/2024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1366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DFA11-9616-41BC-915F-FAF0C22C93A7}" type="datetimeFigureOut">
              <a:rPr lang="en-GB" smtClean="0"/>
              <a:t>04/11/2024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79870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DFA11-9616-41BC-915F-FAF0C22C93A7}"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4094163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DFA11-9616-41BC-915F-FAF0C22C93A7}" type="datetimeFigureOut">
              <a:rPr lang="en-GB" smtClean="0"/>
              <a:t>04/11/2024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90020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70463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04/11/2024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3152866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78533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75120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892967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914123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369061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18682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534207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8282915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964973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3484680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4772237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8725335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0463715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0812441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5022225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4292732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657440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42534009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8874412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1254464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7371064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04/11/2024</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04443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8704168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41171459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6683599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935975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1324557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38705700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36364957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590609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3499882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439453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04/11/2024</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145348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9.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10.gif"/><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25EF75-4D52-440A-A177-AD7D86E621B3}"/>
              </a:ext>
            </a:extLst>
          </p:cNvPr>
          <p:cNvSpPr>
            <a:spLocks noGrp="1"/>
          </p:cNvSpPr>
          <p:nvPr>
            <p:ph type="title"/>
          </p:nvPr>
        </p:nvSpPr>
        <p:spPr>
          <a:xfrm>
            <a:off x="838200" y="404666"/>
            <a:ext cx="10515600" cy="615553"/>
          </a:xfrm>
          <a:prstGeom prst="rect">
            <a:avLst/>
          </a:prstGeom>
        </p:spPr>
        <p:txBody>
          <a:bodyPr vert="horz" lIns="0" tIns="0" rIns="0" bIns="0" rtlCol="0" anchor="t" anchorCtr="0">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A660E384-7329-4F48-9513-487423506C14}"/>
              </a:ext>
            </a:extLst>
          </p:cNvPr>
          <p:cNvSpPr>
            <a:spLocks noGrp="1"/>
          </p:cNvSpPr>
          <p:nvPr>
            <p:ph type="body" idx="1"/>
          </p:nvPr>
        </p:nvSpPr>
        <p:spPr>
          <a:xfrm>
            <a:off x="838200" y="1772818"/>
            <a:ext cx="10515600" cy="1608133"/>
          </a:xfrm>
          <a:prstGeom prst="rect">
            <a:avLst/>
          </a:prstGeom>
        </p:spPr>
        <p:txBody>
          <a:bodyPr vert="horz"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A02CADF-0F3F-4A6D-8357-3E5A35796082}"/>
              </a:ext>
            </a:extLst>
          </p:cNvPr>
          <p:cNvSpPr>
            <a:spLocks noGrp="1"/>
          </p:cNvSpPr>
          <p:nvPr>
            <p:ph type="dt" sz="half" idx="2"/>
          </p:nvPr>
        </p:nvSpPr>
        <p:spPr>
          <a:xfrm>
            <a:off x="839788" y="6330227"/>
            <a:ext cx="5256000" cy="123111"/>
          </a:xfrm>
          <a:prstGeom prst="rect">
            <a:avLst/>
          </a:prstGeom>
        </p:spPr>
        <p:txBody>
          <a:bodyPr vert="horz" wrap="square" lIns="0" tIns="0" rIns="0" bIns="0" rtlCol="0" anchor="b" anchorCtr="0">
            <a:spAutoFit/>
          </a:bodyPr>
          <a:lstStyle>
            <a:lvl1pPr algn="l">
              <a:defRPr sz="800">
                <a:solidFill>
                  <a:schemeClr val="tx2"/>
                </a:solidFill>
              </a:defRPr>
            </a:lvl1pPr>
          </a:lstStyle>
          <a:p>
            <a:fld id="{7BFF6A76-928D-4240-A973-B16EE178E0D9}" type="datetime2">
              <a:rPr lang="en-GB" smtClean="0"/>
              <a:pPr/>
              <a:t>Monday, 4 November 2024</a:t>
            </a:fld>
            <a:endParaRPr lang="en-GB" dirty="0"/>
          </a:p>
        </p:txBody>
      </p:sp>
      <p:sp>
        <p:nvSpPr>
          <p:cNvPr id="5" name="Footer Placeholder 4">
            <a:extLst>
              <a:ext uri="{FF2B5EF4-FFF2-40B4-BE49-F238E27FC236}">
                <a16:creationId xmlns:a16="http://schemas.microsoft.com/office/drawing/2014/main" id="{99B8B8C9-4F22-4557-AE82-C88DC9015F8B}"/>
              </a:ext>
            </a:extLst>
          </p:cNvPr>
          <p:cNvSpPr>
            <a:spLocks noGrp="1"/>
          </p:cNvSpPr>
          <p:nvPr>
            <p:ph type="ftr" sz="quarter" idx="3"/>
          </p:nvPr>
        </p:nvSpPr>
        <p:spPr>
          <a:xfrm>
            <a:off x="839788" y="6525346"/>
            <a:ext cx="10512000" cy="123111"/>
          </a:xfrm>
          <a:prstGeom prst="rect">
            <a:avLst/>
          </a:prstGeom>
        </p:spPr>
        <p:txBody>
          <a:bodyPr vert="horz" wrap="square" lIns="0" tIns="0" rIns="0" bIns="0" rtlCol="0" anchor="t" anchorCtr="0">
            <a:spAutoFit/>
          </a:bodyPr>
          <a:lstStyle>
            <a:lvl1pPr algn="l">
              <a:defRPr sz="800">
                <a:solidFill>
                  <a:schemeClr val="tx2"/>
                </a:solidFill>
              </a:defRPr>
            </a:lvl1pPr>
          </a:lstStyle>
          <a:p>
            <a:r>
              <a:rPr lang="en-GB"/>
              <a:t>Footer Goes Here</a:t>
            </a:r>
            <a:endParaRPr lang="en-GB" dirty="0"/>
          </a:p>
        </p:txBody>
      </p:sp>
      <p:sp>
        <p:nvSpPr>
          <p:cNvPr id="6" name="Slide Number Placeholder 5">
            <a:extLst>
              <a:ext uri="{FF2B5EF4-FFF2-40B4-BE49-F238E27FC236}">
                <a16:creationId xmlns:a16="http://schemas.microsoft.com/office/drawing/2014/main" id="{3B240DCD-F5B7-4664-87EE-F1FFDD430D8C}"/>
              </a:ext>
            </a:extLst>
          </p:cNvPr>
          <p:cNvSpPr>
            <a:spLocks noGrp="1"/>
          </p:cNvSpPr>
          <p:nvPr>
            <p:ph type="sldNum" sz="quarter" idx="4"/>
          </p:nvPr>
        </p:nvSpPr>
        <p:spPr>
          <a:xfrm>
            <a:off x="0" y="6330227"/>
            <a:ext cx="767408" cy="123111"/>
          </a:xfrm>
          <a:prstGeom prst="rect">
            <a:avLst/>
          </a:prstGeom>
        </p:spPr>
        <p:txBody>
          <a:bodyPr vert="horz" wrap="square" lIns="0" tIns="0" rIns="0" bIns="0" rtlCol="0" anchor="b" anchorCtr="0">
            <a:spAutoFit/>
          </a:bodyPr>
          <a:lstStyle>
            <a:lvl1pPr algn="r">
              <a:defRPr sz="800">
                <a:solidFill>
                  <a:schemeClr val="tx2"/>
                </a:solidFill>
              </a:defRPr>
            </a:lvl1pPr>
          </a:lstStyle>
          <a:p>
            <a:fld id="{F90E331C-8DD5-41DE-A1D8-42719F204B7E}" type="slidenum">
              <a:rPr lang="en-GB" smtClean="0"/>
              <a:pPr/>
              <a:t>‹#›</a:t>
            </a:fld>
            <a:endParaRPr lang="en-GB" dirty="0"/>
          </a:p>
        </p:txBody>
      </p:sp>
    </p:spTree>
    <p:extLst>
      <p:ext uri="{BB962C8B-B14F-4D97-AF65-F5344CB8AC3E}">
        <p14:creationId xmlns:p14="http://schemas.microsoft.com/office/powerpoint/2010/main" val="639640934"/>
      </p:ext>
    </p:extLst>
  </p:cSld>
  <p:clrMap bg1="lt1" tx1="dk1" bg2="lt2" tx2="dk2" accent1="accent1" accent2="accent2" accent3="accent3" accent4="accent4" accent5="accent5" accent6="accent6" hlink="hlink" folHlink="folHlink"/>
  <p:sldLayoutIdLst>
    <p:sldLayoutId id="2147483657" r:id="rId1"/>
    <p:sldLayoutId id="2147483650" r:id="rId2"/>
    <p:sldLayoutId id="2147483678" r:id="rId3"/>
  </p:sldLayoutIdLst>
  <p:hf hdr="0"/>
  <p:txStyles>
    <p:titleStyle>
      <a:lvl1pPr algn="l" defTabSz="914400" rtl="0" eaLnBrk="1" latinLnBrk="0" hangingPunct="1">
        <a:lnSpc>
          <a:spcPct val="100000"/>
        </a:lnSpc>
        <a:spcBef>
          <a:spcPct val="0"/>
        </a:spcBef>
        <a:buNone/>
        <a:defRPr sz="4000" kern="1200" cap="all" baseline="0">
          <a:solidFill>
            <a:schemeClr val="accent3"/>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400" kern="1200">
          <a:solidFill>
            <a:schemeClr val="tx1"/>
          </a:solidFill>
          <a:latin typeface="+mn-lt"/>
          <a:ea typeface="+mn-ea"/>
          <a:cs typeface="+mn-cs"/>
        </a:defRPr>
      </a:lvl1pPr>
      <a:lvl2pPr marL="358775" indent="-358775" algn="l" defTabSz="914400" rtl="0" eaLnBrk="1" latinLnBrk="0" hangingPunct="1">
        <a:lnSpc>
          <a:spcPct val="100000"/>
        </a:lnSpc>
        <a:spcBef>
          <a:spcPts val="600"/>
        </a:spcBef>
        <a:spcAft>
          <a:spcPts val="300"/>
        </a:spcAft>
        <a:buClr>
          <a:schemeClr val="bg2"/>
        </a:buClr>
        <a:buFont typeface="Arial" panose="020B0604020202020204" pitchFamily="34" charset="0"/>
        <a:buChar char="‒"/>
        <a:defRPr sz="2000" kern="1200">
          <a:solidFill>
            <a:schemeClr val="tx1"/>
          </a:solidFill>
          <a:latin typeface="+mn-lt"/>
          <a:ea typeface="+mn-ea"/>
          <a:cs typeface="+mn-cs"/>
        </a:defRPr>
      </a:lvl2pPr>
      <a:lvl3pPr marL="631825" indent="-273050"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800" kern="1200">
          <a:solidFill>
            <a:schemeClr val="tx1"/>
          </a:solidFill>
          <a:latin typeface="+mn-lt"/>
          <a:ea typeface="+mn-ea"/>
          <a:cs typeface="+mn-cs"/>
        </a:defRPr>
      </a:lvl3pPr>
      <a:lvl4pPr marL="990600" indent="-358775"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600" kern="1200">
          <a:solidFill>
            <a:schemeClr val="tx1"/>
          </a:solidFill>
          <a:latin typeface="+mn-lt"/>
          <a:ea typeface="+mn-ea"/>
          <a:cs typeface="+mn-cs"/>
        </a:defRPr>
      </a:lvl4pPr>
      <a:lvl5pPr marL="1254125" indent="-263525"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7151" userDrawn="1">
          <p15:clr>
            <a:srgbClr val="F26B43"/>
          </p15:clr>
        </p15:guide>
        <p15:guide id="3" pos="3840" userDrawn="1">
          <p15:clr>
            <a:srgbClr val="F26B43"/>
          </p15:clr>
        </p15:guide>
        <p15:guide id="4" orient="horz" pos="1117" userDrawn="1">
          <p15:clr>
            <a:srgbClr val="F26B43"/>
          </p15:clr>
        </p15:guide>
        <p15:guide id="5" orient="horz" pos="4065" userDrawn="1">
          <p15:clr>
            <a:srgbClr val="F26B43"/>
          </p15:clr>
        </p15:guide>
        <p15:guide id="7" orient="horz" pos="41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DFA11-9616-41BC-915F-FAF0C22C93A7}" type="datetimeFigureOut">
              <a:rPr lang="en-GB" smtClean="0"/>
              <a:t>04/11/2024</a:t>
            </a:fld>
            <a:endParaRPr lang="en-GB"/>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92768A-EFD8-40F2-8B7D-E875485359F3}" type="slidenum">
              <a:rPr lang="en-GB" smtClean="0"/>
              <a:t>‹#›</a:t>
            </a:fld>
            <a:endParaRPr lang="en-GB"/>
          </a:p>
        </p:txBody>
      </p:sp>
    </p:spTree>
    <p:extLst>
      <p:ext uri="{BB962C8B-B14F-4D97-AF65-F5344CB8AC3E}">
        <p14:creationId xmlns:p14="http://schemas.microsoft.com/office/powerpoint/2010/main" val="1310695190"/>
      </p:ext>
    </p:extLst>
  </p:cSld>
  <p:clrMap bg1="lt1" tx1="dk1" bg2="lt2" tx2="dk2" accent1="accent1" accent2="accent2" accent3="accent3" accent4="accent4" accent5="accent5" accent6="accent6" hlink="hlink" folHlink="folHlink"/>
  <p:sldLayoutIdLst>
    <p:sldLayoutId id="2147483692"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124744"/>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sp>
        <p:nvSpPr>
          <p:cNvPr id="3" name="Rectangle 2"/>
          <p:cNvSpPr/>
          <p:nvPr userDrawn="1"/>
        </p:nvSpPr>
        <p:spPr>
          <a:xfrm>
            <a:off x="9672898" y="6334002"/>
            <a:ext cx="2226187" cy="338554"/>
          </a:xfrm>
          <a:prstGeom prst="rect">
            <a:avLst/>
          </a:prstGeom>
        </p:spPr>
        <p:txBody>
          <a:bodyPr wrap="none">
            <a:spAutoFit/>
          </a:bodyPr>
          <a:lstStyle/>
          <a:p>
            <a:pPr algn="ctr"/>
            <a:r>
              <a:rPr lang="en-GB" sz="1600" b="0" dirty="0">
                <a:solidFill>
                  <a:srgbClr val="2B167B"/>
                </a:solidFill>
                <a:latin typeface="+mj-lt"/>
              </a:rPr>
              <a:t>www.bartscancer.london</a:t>
            </a:r>
          </a:p>
        </p:txBody>
      </p:sp>
      <p:sp>
        <p:nvSpPr>
          <p:cNvPr id="4" name="TextBox 10"/>
          <p:cNvSpPr txBox="1">
            <a:spLocks noChangeArrowheads="1"/>
          </p:cNvSpPr>
          <p:nvPr userDrawn="1"/>
        </p:nvSpPr>
        <p:spPr bwMode="auto">
          <a:xfrm>
            <a:off x="407368" y="6345235"/>
            <a:ext cx="867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1200" dirty="0">
                <a:solidFill>
                  <a:srgbClr val="2B167B"/>
                </a:solidFill>
                <a:latin typeface="+mn-lt"/>
              </a:rPr>
              <a:t>@QMBCI</a:t>
            </a:r>
          </a:p>
        </p:txBody>
      </p:sp>
      <p:pic>
        <p:nvPicPr>
          <p:cNvPr id="5" name="Picture 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42460" y="6331964"/>
            <a:ext cx="288000" cy="288000"/>
          </a:xfrm>
          <a:prstGeom prst="rect">
            <a:avLst/>
          </a:prstGeom>
        </p:spPr>
      </p:pic>
    </p:spTree>
    <p:extLst>
      <p:ext uri="{BB962C8B-B14F-4D97-AF65-F5344CB8AC3E}">
        <p14:creationId xmlns:p14="http://schemas.microsoft.com/office/powerpoint/2010/main" val="3365015177"/>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124744"/>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sp>
        <p:nvSpPr>
          <p:cNvPr id="2" name="TextBox 1"/>
          <p:cNvSpPr txBox="1"/>
          <p:nvPr userDrawn="1"/>
        </p:nvSpPr>
        <p:spPr>
          <a:xfrm>
            <a:off x="2963652" y="260648"/>
            <a:ext cx="6264696" cy="707886"/>
          </a:xfrm>
          <a:prstGeom prst="rect">
            <a:avLst/>
          </a:prstGeom>
          <a:noFill/>
        </p:spPr>
        <p:txBody>
          <a:bodyPr wrap="square" rtlCol="0">
            <a:spAutoFit/>
          </a:bodyPr>
          <a:lstStyle/>
          <a:p>
            <a:pPr algn="ctr"/>
            <a:r>
              <a:rPr lang="en-GB" sz="4000" dirty="0">
                <a:solidFill>
                  <a:schemeClr val="bg1"/>
                </a:solidFill>
                <a:latin typeface="+mj-lt"/>
              </a:rPr>
              <a:t>Acknowledgements</a:t>
            </a:r>
          </a:p>
        </p:txBody>
      </p:sp>
    </p:spTree>
    <p:extLst>
      <p:ext uri="{BB962C8B-B14F-4D97-AF65-F5344CB8AC3E}">
        <p14:creationId xmlns:p14="http://schemas.microsoft.com/office/powerpoint/2010/main" val="2845711733"/>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268760"/>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pic>
        <p:nvPicPr>
          <p:cNvPr id="8" name="Picture 2" descr="\\uk-chs-lnetb\QMCR-USERS\baker17\My Pictures\Logos\BCI logos\BCI_w_Queen_Mary_nocommaWhite.gif"/>
          <p:cNvPicPr>
            <a:picLocks noChangeAspect="1" noChangeArrowheads="1"/>
          </p:cNvPicPr>
          <p:nvPr userDrawn="1"/>
        </p:nvPicPr>
        <p:blipFill>
          <a:blip r:embed="rId13" cstate="print"/>
          <a:srcRect/>
          <a:stretch>
            <a:fillRect/>
          </a:stretch>
        </p:blipFill>
        <p:spPr bwMode="auto">
          <a:xfrm>
            <a:off x="113980" y="59933"/>
            <a:ext cx="2476821" cy="1087529"/>
          </a:xfrm>
          <a:prstGeom prst="rect">
            <a:avLst/>
          </a:prstGeom>
          <a:noFill/>
        </p:spPr>
      </p:pic>
      <p:pic>
        <p:nvPicPr>
          <p:cNvPr id="9" name="Picture 8"/>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984432" y="59933"/>
            <a:ext cx="1965365" cy="704773"/>
          </a:xfrm>
          <a:prstGeom prst="rect">
            <a:avLst/>
          </a:prstGeom>
        </p:spPr>
      </p:pic>
    </p:spTree>
    <p:extLst>
      <p:ext uri="{BB962C8B-B14F-4D97-AF65-F5344CB8AC3E}">
        <p14:creationId xmlns:p14="http://schemas.microsoft.com/office/powerpoint/2010/main" val="206354362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bioconductor.org/packages/release/bioc/html/DESeq2.html" TargetMode="Externa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hyperlink" Target="https://www.ncbi.nlm.nih.gov/geo/query/acc.cgi?acc=GSE141630" TargetMode="Externa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hyperlink" Target="https://bioconductor.org/packages/release/bioc/vignettes/DESeq2/inst/doc/DESeq2.html" TargetMode="External"/><Relationship Id="rId7" Type="http://schemas.openxmlformats.org/officeDocument/2006/relationships/hyperlink" Target="https://github.com/hbctraining/DGE_workshop/tree/master/lessons" TargetMode="External"/><Relationship Id="rId2" Type="http://schemas.openxmlformats.org/officeDocument/2006/relationships/hyperlink" Target="https://doi.org/10.1186/s13059-014-0550-8" TargetMode="External"/><Relationship Id="rId1" Type="http://schemas.openxmlformats.org/officeDocument/2006/relationships/slideLayout" Target="../slideLayouts/slideLayout17.xml"/><Relationship Id="rId6" Type="http://schemas.openxmlformats.org/officeDocument/2006/relationships/hyperlink" Target="https://bioconductor.org/packages/release/bioc/vignettes/edgeR/inst/doc/edgeRUsersGuide.pdf" TargetMode="External"/><Relationship Id="rId5" Type="http://schemas.openxmlformats.org/officeDocument/2006/relationships/hyperlink" Target="https://bioconductor.org/packages/devel/bioc/vignettes/EnhancedVolcano/inst/doc/EnhancedVolcano.html" TargetMode="External"/><Relationship Id="rId4" Type="http://schemas.openxmlformats.org/officeDocument/2006/relationships/hyperlink" Target="https://github.com/kevinblighe/EnhancedVolca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2C8B18EE-7374-4FE3-A69B-EDD56315976F}"/>
              </a:ext>
            </a:extLst>
          </p:cNvPr>
          <p:cNvSpPr txBox="1">
            <a:spLocks/>
          </p:cNvSpPr>
          <p:nvPr/>
        </p:nvSpPr>
        <p:spPr>
          <a:xfrm>
            <a:off x="983432" y="4148532"/>
            <a:ext cx="5040000" cy="69249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rgbClr val="2B167B"/>
                </a:solidFill>
                <a:latin typeface="+mj-lt"/>
              </a:rPr>
              <a:t>Eleni </a:t>
            </a:r>
            <a:r>
              <a:rPr lang="en-GB" dirty="0" err="1">
                <a:solidFill>
                  <a:srgbClr val="2B167B"/>
                </a:solidFill>
                <a:latin typeface="+mj-lt"/>
              </a:rPr>
              <a:t>Maniati</a:t>
            </a:r>
            <a:r>
              <a:rPr lang="en-GB" dirty="0">
                <a:solidFill>
                  <a:srgbClr val="2B167B"/>
                </a:solidFill>
                <a:latin typeface="+mj-lt"/>
              </a:rPr>
              <a:t>, PhD</a:t>
            </a:r>
          </a:p>
          <a:p>
            <a:r>
              <a:rPr lang="en-GB" dirty="0">
                <a:solidFill>
                  <a:srgbClr val="2B167B"/>
                </a:solidFill>
                <a:latin typeface="+mj-lt"/>
              </a:rPr>
              <a:t>Centre for Cancer Genomics and Data Science</a:t>
            </a:r>
          </a:p>
        </p:txBody>
      </p:sp>
      <p:pic>
        <p:nvPicPr>
          <p:cNvPr id="32" name="Picture Placeholder 31">
            <a:extLst>
              <a:ext uri="{FF2B5EF4-FFF2-40B4-BE49-F238E27FC236}">
                <a16:creationId xmlns:a16="http://schemas.microsoft.com/office/drawing/2014/main" id="{6319D637-7F85-9420-2071-A21BE3FCC9F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3863" r="13863"/>
          <a:stretch>
            <a:fillRect/>
          </a:stretch>
        </p:blipFill>
        <p:spPr/>
      </p:pic>
      <p:sp>
        <p:nvSpPr>
          <p:cNvPr id="2" name="Title 1">
            <a:extLst>
              <a:ext uri="{FF2B5EF4-FFF2-40B4-BE49-F238E27FC236}">
                <a16:creationId xmlns:a16="http://schemas.microsoft.com/office/drawing/2014/main" id="{1367068F-0487-A49A-2EE9-3065A748564A}"/>
              </a:ext>
            </a:extLst>
          </p:cNvPr>
          <p:cNvSpPr txBox="1">
            <a:spLocks/>
          </p:cNvSpPr>
          <p:nvPr/>
        </p:nvSpPr>
        <p:spPr>
          <a:xfrm>
            <a:off x="0" y="2249003"/>
            <a:ext cx="7164212" cy="1872756"/>
          </a:xfrm>
          <a:prstGeom prst="rect">
            <a:avLst/>
          </a:prstGeom>
          <a:ln>
            <a:noFill/>
          </a:ln>
        </p:spPr>
        <p:txBody>
          <a:bodyPr vert="horz" lIns="91440" tIns="45720" rIns="91440" bIns="0" rtlCol="0" anchor="ctr" anchorCtr="0">
            <a:noAutofit/>
          </a:bodyPr>
          <a:lstStyle>
            <a:lvl1pPr algn="ctr" defTabSz="914400" rtl="0" eaLnBrk="1" latinLnBrk="0" hangingPunct="1">
              <a:lnSpc>
                <a:spcPct val="70000"/>
              </a:lnSpc>
              <a:spcBef>
                <a:spcPct val="0"/>
              </a:spcBef>
              <a:buNone/>
              <a:defRPr sz="6000" kern="1200">
                <a:solidFill>
                  <a:schemeClr val="tx2"/>
                </a:solidFill>
                <a:latin typeface="+mj-lt"/>
                <a:ea typeface="+mj-ea"/>
                <a:cs typeface="+mj-cs"/>
              </a:defRPr>
            </a:lvl1pPr>
          </a:lstStyle>
          <a:p>
            <a:pPr>
              <a:spcAft>
                <a:spcPts val="1200"/>
              </a:spcAft>
            </a:pPr>
            <a:r>
              <a:rPr lang="en-GB" dirty="0">
                <a:solidFill>
                  <a:srgbClr val="2B167B"/>
                </a:solidFill>
              </a:rPr>
              <a:t>RNA-</a:t>
            </a:r>
            <a:r>
              <a:rPr lang="en-GB" dirty="0" err="1">
                <a:solidFill>
                  <a:srgbClr val="2B167B"/>
                </a:solidFill>
              </a:rPr>
              <a:t>Seq</a:t>
            </a:r>
            <a:r>
              <a:rPr lang="en-GB" dirty="0">
                <a:solidFill>
                  <a:srgbClr val="2B167B"/>
                </a:solidFill>
              </a:rPr>
              <a:t> Analysis </a:t>
            </a:r>
          </a:p>
          <a:p>
            <a:pPr>
              <a:spcAft>
                <a:spcPts val="1200"/>
              </a:spcAft>
            </a:pPr>
            <a:r>
              <a:rPr lang="en-GB" sz="3600" dirty="0">
                <a:solidFill>
                  <a:srgbClr val="2B167B"/>
                </a:solidFill>
              </a:rPr>
              <a:t>Part 2: Differential Expression Analysis</a:t>
            </a:r>
            <a:endParaRPr lang="en-GB" dirty="0">
              <a:solidFill>
                <a:srgbClr val="2B167B"/>
              </a:solidFill>
            </a:endParaRPr>
          </a:p>
        </p:txBody>
      </p:sp>
    </p:spTree>
    <p:extLst>
      <p:ext uri="{BB962C8B-B14F-4D97-AF65-F5344CB8AC3E}">
        <p14:creationId xmlns:p14="http://schemas.microsoft.com/office/powerpoint/2010/main" val="35043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550862" y="332656"/>
            <a:ext cx="11641137" cy="1325563"/>
          </a:xfrm>
        </p:spPr>
        <p:txBody>
          <a:bodyPr/>
          <a:lstStyle/>
          <a:p>
            <a:r>
              <a:rPr lang="en-US" dirty="0">
                <a:solidFill>
                  <a:schemeClr val="bg1"/>
                </a:solidFill>
              </a:rPr>
              <a:t>What is Differential Expression Analysis</a:t>
            </a:r>
          </a:p>
        </p:txBody>
      </p:sp>
      <p:sp>
        <p:nvSpPr>
          <p:cNvPr id="16" name="TextBox 15">
            <a:extLst>
              <a:ext uri="{FF2B5EF4-FFF2-40B4-BE49-F238E27FC236}">
                <a16:creationId xmlns:a16="http://schemas.microsoft.com/office/drawing/2014/main" id="{8563C7EE-7B5F-0DB3-5EBF-8CE69399CB90}"/>
              </a:ext>
            </a:extLst>
          </p:cNvPr>
          <p:cNvSpPr txBox="1"/>
          <p:nvPr/>
        </p:nvSpPr>
        <p:spPr>
          <a:xfrm>
            <a:off x="983432" y="1988840"/>
            <a:ext cx="8642176" cy="2169825"/>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US" dirty="0">
                <a:latin typeface="Calibri" panose="020F0502020204030204" pitchFamily="34" charset="0"/>
                <a:cs typeface="Calibri" panose="020F0502020204030204" pitchFamily="34" charset="0"/>
              </a:rPr>
              <a:t>Differential expression analysis is </a:t>
            </a:r>
            <a:r>
              <a:rPr lang="en-GB" b="0" i="0" dirty="0">
                <a:solidFill>
                  <a:srgbClr val="1A1A1A"/>
                </a:solidFill>
                <a:effectLst/>
                <a:latin typeface="Calibri" panose="020F0502020204030204" pitchFamily="34" charset="0"/>
                <a:cs typeface="Calibri" panose="020F0502020204030204" pitchFamily="34" charset="0"/>
              </a:rPr>
              <a:t>used to identify differences in gene expression across two (or more) groups of samples (</a:t>
            </a:r>
            <a:r>
              <a:rPr lang="en-GB" b="0" i="0" dirty="0" err="1">
                <a:solidFill>
                  <a:srgbClr val="1A1A1A"/>
                </a:solidFill>
                <a:effectLst/>
                <a:latin typeface="Calibri" panose="020F0502020204030204" pitchFamily="34" charset="0"/>
                <a:cs typeface="Calibri" panose="020F0502020204030204" pitchFamily="34" charset="0"/>
              </a:rPr>
              <a:t>eg</a:t>
            </a:r>
            <a:r>
              <a:rPr lang="en-GB" b="0" i="0" dirty="0">
                <a:solidFill>
                  <a:srgbClr val="1A1A1A"/>
                </a:solidFill>
                <a:effectLst/>
                <a:latin typeface="Calibri" panose="020F0502020204030204" pitchFamily="34" charset="0"/>
                <a:cs typeface="Calibri" panose="020F0502020204030204" pitchFamily="34" charset="0"/>
              </a:rPr>
              <a:t> drug treated</a:t>
            </a:r>
            <a:r>
              <a:rPr lang="en-GB" dirty="0">
                <a:solidFill>
                  <a:srgbClr val="1A1A1A"/>
                </a:solidFill>
                <a:latin typeface="Calibri" panose="020F0502020204030204" pitchFamily="34" charset="0"/>
                <a:cs typeface="Calibri" panose="020F0502020204030204" pitchFamily="34" charset="0"/>
              </a:rPr>
              <a:t> vs untreated) </a:t>
            </a:r>
            <a:r>
              <a:rPr lang="en-GB" b="0" i="0" dirty="0">
                <a:solidFill>
                  <a:srgbClr val="1A1A1A"/>
                </a:solidFill>
                <a:effectLst/>
                <a:latin typeface="Calibri" panose="020F0502020204030204" pitchFamily="34" charset="0"/>
                <a:cs typeface="Calibri" panose="020F0502020204030204" pitchFamily="34" charset="0"/>
              </a:rPr>
              <a:t>. </a:t>
            </a:r>
          </a:p>
          <a:p>
            <a:pPr marL="285750" indent="-285750" algn="l" fontAlgn="base">
              <a:spcAft>
                <a:spcPts val="1800"/>
              </a:spcAft>
              <a:buFont typeface="Arial" panose="020B0604020202020204" pitchFamily="34" charset="0"/>
              <a:buChar char="•"/>
            </a:pPr>
            <a:r>
              <a:rPr lang="en-GB" b="0" i="0" dirty="0">
                <a:solidFill>
                  <a:srgbClr val="1A1A1A"/>
                </a:solidFill>
                <a:effectLst/>
                <a:latin typeface="Calibri" panose="020F0502020204030204" pitchFamily="34" charset="0"/>
                <a:cs typeface="Calibri" panose="020F0502020204030204" pitchFamily="34" charset="0"/>
              </a:rPr>
              <a:t>Many tools are available to perform this type of analysis. </a:t>
            </a:r>
          </a:p>
          <a:p>
            <a:pPr marL="285750" indent="-285750" algn="l" fontAlgn="base">
              <a:spcAft>
                <a:spcPts val="1800"/>
              </a:spcAft>
              <a:buFont typeface="Arial" panose="020B0604020202020204" pitchFamily="34" charset="0"/>
              <a:buChar char="•"/>
            </a:pPr>
            <a:r>
              <a:rPr lang="en-GB" b="0" i="0" dirty="0">
                <a:solidFill>
                  <a:srgbClr val="1A1A1A"/>
                </a:solidFill>
                <a:effectLst/>
                <a:latin typeface="Calibri" panose="020F0502020204030204" pitchFamily="34" charset="0"/>
                <a:cs typeface="Calibri" panose="020F0502020204030204" pitchFamily="34" charset="0"/>
              </a:rPr>
              <a:t>In this practical we will use Bioconductor R package </a:t>
            </a:r>
            <a:r>
              <a:rPr lang="en-GB" b="0" i="0" u="none" strike="noStrike" dirty="0">
                <a:solidFill>
                  <a:srgbClr val="7BC23C"/>
                </a:solidFill>
                <a:effectLst/>
                <a:latin typeface="Calibri" panose="020F0502020204030204" pitchFamily="34" charset="0"/>
                <a:cs typeface="Calibri" panose="020F0502020204030204" pitchFamily="34" charset="0"/>
                <a:hlinkClick r:id="rId2"/>
              </a:rPr>
              <a:t>DEseq2</a:t>
            </a:r>
            <a:r>
              <a:rPr lang="en-GB" b="0" i="0" dirty="0">
                <a:solidFill>
                  <a:srgbClr val="1A1A1A"/>
                </a:solidFill>
                <a:effectLst/>
                <a:latin typeface="Calibri" panose="020F0502020204030204" pitchFamily="34" charset="0"/>
                <a:cs typeface="Calibri" panose="020F0502020204030204" pitchFamily="34" charset="0"/>
              </a:rPr>
              <a:t>. </a:t>
            </a:r>
          </a:p>
          <a:p>
            <a:pPr marL="285750" indent="-285750" algn="l" fontAlgn="base">
              <a:spcAft>
                <a:spcPts val="1800"/>
              </a:spcAft>
              <a:buFont typeface="Arial" panose="020B0604020202020204" pitchFamily="34" charset="0"/>
              <a:buChar char="•"/>
            </a:pPr>
            <a:r>
              <a:rPr lang="en-GB" b="0" i="0" dirty="0">
                <a:solidFill>
                  <a:srgbClr val="1A1A1A"/>
                </a:solidFill>
                <a:effectLst/>
                <a:latin typeface="Calibri" panose="020F0502020204030204" pitchFamily="34" charset="0"/>
                <a:cs typeface="Calibri" panose="020F0502020204030204" pitchFamily="34" charset="0"/>
              </a:rPr>
              <a:t>We will also make graphical visualizations to help interpret our results.</a:t>
            </a:r>
          </a:p>
        </p:txBody>
      </p:sp>
    </p:spTree>
    <p:extLst>
      <p:ext uri="{BB962C8B-B14F-4D97-AF65-F5344CB8AC3E}">
        <p14:creationId xmlns:p14="http://schemas.microsoft.com/office/powerpoint/2010/main" val="140166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550862" y="332656"/>
            <a:ext cx="11641137" cy="1325563"/>
          </a:xfrm>
        </p:spPr>
        <p:txBody>
          <a:bodyPr/>
          <a:lstStyle/>
          <a:p>
            <a:r>
              <a:rPr lang="en-US" dirty="0">
                <a:solidFill>
                  <a:schemeClr val="bg1"/>
                </a:solidFill>
              </a:rPr>
              <a:t>Dataset</a:t>
            </a:r>
          </a:p>
        </p:txBody>
      </p:sp>
      <p:sp>
        <p:nvSpPr>
          <p:cNvPr id="16" name="TextBox 15">
            <a:extLst>
              <a:ext uri="{FF2B5EF4-FFF2-40B4-BE49-F238E27FC236}">
                <a16:creationId xmlns:a16="http://schemas.microsoft.com/office/drawing/2014/main" id="{8563C7EE-7B5F-0DB3-5EBF-8CE69399CB90}"/>
              </a:ext>
            </a:extLst>
          </p:cNvPr>
          <p:cNvSpPr txBox="1"/>
          <p:nvPr/>
        </p:nvSpPr>
        <p:spPr>
          <a:xfrm>
            <a:off x="948644" y="2348880"/>
            <a:ext cx="10153128" cy="2954655"/>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We will analyse a publicly available dataset that was generated here at BCI (</a:t>
            </a:r>
            <a:r>
              <a:rPr lang="en-GB" dirty="0">
                <a:latin typeface="Calibri" panose="020F0502020204030204" pitchFamily="34" charset="0"/>
                <a:cs typeface="Calibri" panose="020F0502020204030204" pitchFamily="34" charset="0"/>
                <a:hlinkClick r:id="rId2"/>
              </a:rPr>
              <a:t>https://www.ncbi.nlm.nih.gov/geo/query/acc.cgi?acc=GSE141630</a:t>
            </a:r>
            <a:r>
              <a:rPr lang="en-GB" dirty="0">
                <a:latin typeface="Calibri" panose="020F0502020204030204" pitchFamily="34" charset="0"/>
                <a:cs typeface="Calibri" panose="020F0502020204030204" pitchFamily="34" charset="0"/>
              </a:rPr>
              <a:t>)</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The study aimed to examine chemotherapy resistance in ovarian cancer cell lines</a:t>
            </a:r>
          </a:p>
          <a:p>
            <a:pPr marL="285750" indent="-285750" algn="l" fontAlgn="base">
              <a:spcAft>
                <a:spcPts val="1800"/>
              </a:spcAft>
              <a:buFont typeface="Arial" panose="020B0604020202020204" pitchFamily="34" charset="0"/>
              <a:buChar char="•"/>
            </a:pPr>
            <a:r>
              <a:rPr lang="en-GB" b="0" i="0" dirty="0">
                <a:solidFill>
                  <a:srgbClr val="1A1A1A"/>
                </a:solidFill>
                <a:effectLst/>
                <a:latin typeface="Calibri" panose="020F0502020204030204" pitchFamily="34" charset="0"/>
                <a:cs typeface="Calibri" panose="020F0502020204030204" pitchFamily="34" charset="0"/>
              </a:rPr>
              <a:t>In this practical, we will use part of this data and compare </a:t>
            </a:r>
            <a:r>
              <a:rPr lang="en-GB" dirty="0">
                <a:solidFill>
                  <a:srgbClr val="1A1A1A"/>
                </a:solidFill>
                <a:latin typeface="Calibri" panose="020F0502020204030204" pitchFamily="34" charset="0"/>
                <a:cs typeface="Calibri" panose="020F0502020204030204" pitchFamily="34" charset="0"/>
              </a:rPr>
              <a:t>chemotherapy resistant cells to chemotherapy sensitive cells. We will have 3 samples per group and two groups in total. </a:t>
            </a:r>
          </a:p>
          <a:p>
            <a:pPr marL="285750" indent="-285750" algn="l" fontAlgn="base">
              <a:spcAft>
                <a:spcPts val="1800"/>
              </a:spcAft>
              <a:buFont typeface="Arial" panose="020B0604020202020204" pitchFamily="34" charset="0"/>
              <a:buChar char="•"/>
            </a:pPr>
            <a:r>
              <a:rPr lang="en-GB" dirty="0">
                <a:solidFill>
                  <a:srgbClr val="1A1A1A"/>
                </a:solidFill>
                <a:latin typeface="Calibri" panose="020F0502020204030204" pitchFamily="34" charset="0"/>
                <a:cs typeface="Calibri" panose="020F0502020204030204" pitchFamily="34" charset="0"/>
              </a:rPr>
              <a:t>Our aim is to identify the differentially expressed genes in resistant versus sensitive cells</a:t>
            </a:r>
          </a:p>
          <a:p>
            <a:pPr marL="285750" indent="-285750" algn="l" fontAlgn="base">
              <a:spcAft>
                <a:spcPts val="1800"/>
              </a:spcAft>
              <a:buFont typeface="Arial" panose="020B0604020202020204" pitchFamily="34" charset="0"/>
              <a:buChar char="•"/>
            </a:pPr>
            <a:endParaRPr lang="en-GB" b="0" i="0" dirty="0">
              <a:solidFill>
                <a:srgbClr val="1A1A1A"/>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193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550862" y="365125"/>
            <a:ext cx="11641137" cy="1325563"/>
          </a:xfrm>
        </p:spPr>
        <p:txBody>
          <a:bodyPr/>
          <a:lstStyle/>
          <a:p>
            <a:r>
              <a:rPr lang="en-GB" dirty="0">
                <a:solidFill>
                  <a:schemeClr val="bg1"/>
                </a:solidFill>
              </a:rPr>
              <a:t>DE analysis workflow using DESeq2</a:t>
            </a:r>
            <a:endParaRPr lang="en-US" dirty="0">
              <a:solidFill>
                <a:schemeClr val="bg1"/>
              </a:solidFill>
            </a:endParaRPr>
          </a:p>
        </p:txBody>
      </p:sp>
      <p:sp>
        <p:nvSpPr>
          <p:cNvPr id="4" name="TextBox 3">
            <a:extLst>
              <a:ext uri="{FF2B5EF4-FFF2-40B4-BE49-F238E27FC236}">
                <a16:creationId xmlns:a16="http://schemas.microsoft.com/office/drawing/2014/main" id="{607D5A61-DEEA-BBF9-C5CC-B9C0D33088D5}"/>
              </a:ext>
            </a:extLst>
          </p:cNvPr>
          <p:cNvSpPr txBox="1"/>
          <p:nvPr/>
        </p:nvSpPr>
        <p:spPr>
          <a:xfrm>
            <a:off x="2567608" y="1277732"/>
            <a:ext cx="2384242" cy="430887"/>
          </a:xfrm>
          <a:prstGeom prst="rect">
            <a:avLst/>
          </a:prstGeom>
          <a:noFill/>
          <a:ln w="25400">
            <a:solidFill>
              <a:schemeClr val="accent5">
                <a:lumMod val="60000"/>
                <a:lumOff val="40000"/>
              </a:schemeClr>
            </a:solidFill>
          </a:ln>
        </p:spPr>
        <p:txBody>
          <a:bodyPr wrap="none" rtlCol="0">
            <a:spAutoFit/>
          </a:bodyPr>
          <a:lstStyle/>
          <a:p>
            <a:r>
              <a:rPr lang="en-US" sz="2200" dirty="0"/>
              <a:t>Read counts matrix</a:t>
            </a:r>
          </a:p>
        </p:txBody>
      </p:sp>
      <p:sp>
        <p:nvSpPr>
          <p:cNvPr id="6" name="TextBox 5">
            <a:extLst>
              <a:ext uri="{FF2B5EF4-FFF2-40B4-BE49-F238E27FC236}">
                <a16:creationId xmlns:a16="http://schemas.microsoft.com/office/drawing/2014/main" id="{A911B881-318B-C2CE-4FDC-5A58ED72BECD}"/>
              </a:ext>
            </a:extLst>
          </p:cNvPr>
          <p:cNvSpPr txBox="1"/>
          <p:nvPr/>
        </p:nvSpPr>
        <p:spPr>
          <a:xfrm>
            <a:off x="3733540" y="2257878"/>
            <a:ext cx="2551852" cy="430887"/>
          </a:xfrm>
          <a:prstGeom prst="rect">
            <a:avLst/>
          </a:prstGeom>
          <a:noFill/>
          <a:ln w="25400">
            <a:solidFill>
              <a:schemeClr val="accent5">
                <a:lumMod val="60000"/>
                <a:lumOff val="40000"/>
              </a:schemeClr>
            </a:solidFill>
          </a:ln>
        </p:spPr>
        <p:txBody>
          <a:bodyPr wrap="none" rtlCol="0">
            <a:spAutoFit/>
          </a:bodyPr>
          <a:lstStyle/>
          <a:p>
            <a:r>
              <a:rPr lang="en-US" sz="2200" dirty="0"/>
              <a:t>Count </a:t>
            </a:r>
            <a:r>
              <a:rPr lang="en-US" sz="2200" dirty="0" err="1"/>
              <a:t>Normalisation</a:t>
            </a:r>
            <a:endParaRPr lang="en-US" sz="2200" dirty="0"/>
          </a:p>
        </p:txBody>
      </p:sp>
      <p:sp>
        <p:nvSpPr>
          <p:cNvPr id="7" name="Down Arrow 6">
            <a:extLst>
              <a:ext uri="{FF2B5EF4-FFF2-40B4-BE49-F238E27FC236}">
                <a16:creationId xmlns:a16="http://schemas.microsoft.com/office/drawing/2014/main" id="{E221A380-432A-C99F-3AE9-295CA2D6A45F}"/>
              </a:ext>
            </a:extLst>
          </p:cNvPr>
          <p:cNvSpPr/>
          <p:nvPr/>
        </p:nvSpPr>
        <p:spPr>
          <a:xfrm>
            <a:off x="4900496" y="2791751"/>
            <a:ext cx="285549" cy="222435"/>
          </a:xfrm>
          <a:prstGeom prst="downArrow">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D66C1D-84E2-7422-16B2-B6322B8B6296}"/>
              </a:ext>
            </a:extLst>
          </p:cNvPr>
          <p:cNvSpPr txBox="1"/>
          <p:nvPr/>
        </p:nvSpPr>
        <p:spPr>
          <a:xfrm>
            <a:off x="3545926" y="3055665"/>
            <a:ext cx="2927083" cy="430887"/>
          </a:xfrm>
          <a:prstGeom prst="rect">
            <a:avLst/>
          </a:prstGeom>
          <a:noFill/>
          <a:ln w="25400">
            <a:solidFill>
              <a:schemeClr val="accent5">
                <a:lumMod val="60000"/>
                <a:lumOff val="40000"/>
              </a:schemeClr>
            </a:solidFill>
          </a:ln>
        </p:spPr>
        <p:txBody>
          <a:bodyPr wrap="none" rtlCol="0">
            <a:spAutoFit/>
          </a:bodyPr>
          <a:lstStyle/>
          <a:p>
            <a:r>
              <a:rPr lang="en-US" sz="2200" dirty="0"/>
              <a:t>Unsupervised clustering</a:t>
            </a:r>
          </a:p>
        </p:txBody>
      </p:sp>
      <p:sp>
        <p:nvSpPr>
          <p:cNvPr id="19" name="TextBox 18">
            <a:extLst>
              <a:ext uri="{FF2B5EF4-FFF2-40B4-BE49-F238E27FC236}">
                <a16:creationId xmlns:a16="http://schemas.microsoft.com/office/drawing/2014/main" id="{EA5322E9-5145-B271-C73C-5EEEA877CDCA}"/>
              </a:ext>
            </a:extLst>
          </p:cNvPr>
          <p:cNvSpPr txBox="1"/>
          <p:nvPr/>
        </p:nvSpPr>
        <p:spPr>
          <a:xfrm>
            <a:off x="4076358" y="3797089"/>
            <a:ext cx="1866217" cy="430887"/>
          </a:xfrm>
          <a:prstGeom prst="rect">
            <a:avLst/>
          </a:prstGeom>
          <a:noFill/>
          <a:ln w="25400">
            <a:solidFill>
              <a:schemeClr val="accent5">
                <a:lumMod val="60000"/>
                <a:lumOff val="40000"/>
              </a:schemeClr>
            </a:solidFill>
          </a:ln>
        </p:spPr>
        <p:txBody>
          <a:bodyPr wrap="none" rtlCol="0">
            <a:spAutoFit/>
          </a:bodyPr>
          <a:lstStyle/>
          <a:p>
            <a:r>
              <a:rPr lang="en-US" sz="2200" dirty="0"/>
              <a:t>Fit GLM model</a:t>
            </a:r>
          </a:p>
        </p:txBody>
      </p:sp>
      <p:sp>
        <p:nvSpPr>
          <p:cNvPr id="30" name="TextBox 29">
            <a:extLst>
              <a:ext uri="{FF2B5EF4-FFF2-40B4-BE49-F238E27FC236}">
                <a16:creationId xmlns:a16="http://schemas.microsoft.com/office/drawing/2014/main" id="{F6CF9C4C-7CFE-F9D9-D26B-95D13740C60F}"/>
              </a:ext>
            </a:extLst>
          </p:cNvPr>
          <p:cNvSpPr txBox="1"/>
          <p:nvPr/>
        </p:nvSpPr>
        <p:spPr>
          <a:xfrm>
            <a:off x="5204762" y="1907540"/>
            <a:ext cx="6526210" cy="369332"/>
          </a:xfrm>
          <a:prstGeom prst="rect">
            <a:avLst/>
          </a:prstGeom>
          <a:noFill/>
        </p:spPr>
        <p:txBody>
          <a:bodyPr wrap="none" rtlCol="0">
            <a:spAutoFit/>
          </a:bodyPr>
          <a:lstStyle/>
          <a:p>
            <a:r>
              <a:rPr lang="en-US" i="1" dirty="0"/>
              <a:t>Create DESeq2Dataset </a:t>
            </a:r>
            <a:r>
              <a:rPr lang="en-US" i="1" dirty="0" err="1"/>
              <a:t>object,filter</a:t>
            </a:r>
            <a:r>
              <a:rPr lang="en-US" i="1" dirty="0"/>
              <a:t> out low count genes, run DESeq2</a:t>
            </a:r>
          </a:p>
        </p:txBody>
      </p:sp>
      <p:sp>
        <p:nvSpPr>
          <p:cNvPr id="16" name="TextBox 15">
            <a:extLst>
              <a:ext uri="{FF2B5EF4-FFF2-40B4-BE49-F238E27FC236}">
                <a16:creationId xmlns:a16="http://schemas.microsoft.com/office/drawing/2014/main" id="{603D1314-AB3A-489E-1655-6A0A99A318B8}"/>
              </a:ext>
            </a:extLst>
          </p:cNvPr>
          <p:cNvSpPr txBox="1"/>
          <p:nvPr/>
        </p:nvSpPr>
        <p:spPr>
          <a:xfrm>
            <a:off x="5159896" y="1259801"/>
            <a:ext cx="3305007" cy="430887"/>
          </a:xfrm>
          <a:prstGeom prst="rect">
            <a:avLst/>
          </a:prstGeom>
          <a:noFill/>
          <a:ln w="25400">
            <a:solidFill>
              <a:schemeClr val="accent5">
                <a:lumMod val="60000"/>
                <a:lumOff val="40000"/>
              </a:schemeClr>
            </a:solidFill>
          </a:ln>
        </p:spPr>
        <p:txBody>
          <a:bodyPr wrap="none" rtlCol="0">
            <a:spAutoFit/>
          </a:bodyPr>
          <a:lstStyle/>
          <a:p>
            <a:r>
              <a:rPr lang="en-US" sz="2200" dirty="0"/>
              <a:t>Experimental design matrix</a:t>
            </a:r>
          </a:p>
        </p:txBody>
      </p:sp>
      <p:sp>
        <p:nvSpPr>
          <p:cNvPr id="17" name="TextBox 16">
            <a:extLst>
              <a:ext uri="{FF2B5EF4-FFF2-40B4-BE49-F238E27FC236}">
                <a16:creationId xmlns:a16="http://schemas.microsoft.com/office/drawing/2014/main" id="{8458EA48-9B46-A772-C396-08000460EEDB}"/>
              </a:ext>
            </a:extLst>
          </p:cNvPr>
          <p:cNvSpPr txBox="1"/>
          <p:nvPr/>
        </p:nvSpPr>
        <p:spPr>
          <a:xfrm>
            <a:off x="3063646" y="4560225"/>
            <a:ext cx="3891643" cy="430887"/>
          </a:xfrm>
          <a:prstGeom prst="rect">
            <a:avLst/>
          </a:prstGeom>
          <a:noFill/>
          <a:ln w="25400">
            <a:solidFill>
              <a:schemeClr val="accent5">
                <a:lumMod val="60000"/>
                <a:lumOff val="40000"/>
              </a:schemeClr>
            </a:solidFill>
          </a:ln>
        </p:spPr>
        <p:txBody>
          <a:bodyPr wrap="none" rtlCol="0">
            <a:spAutoFit/>
          </a:bodyPr>
          <a:lstStyle/>
          <a:p>
            <a:r>
              <a:rPr lang="en-US" sz="2200" dirty="0"/>
              <a:t>Check fit of dispersion estimates</a:t>
            </a:r>
          </a:p>
        </p:txBody>
      </p:sp>
      <p:sp>
        <p:nvSpPr>
          <p:cNvPr id="18" name="TextBox 17">
            <a:extLst>
              <a:ext uri="{FF2B5EF4-FFF2-40B4-BE49-F238E27FC236}">
                <a16:creationId xmlns:a16="http://schemas.microsoft.com/office/drawing/2014/main" id="{CF406891-5B54-5677-131F-CCC49C7C42C4}"/>
              </a:ext>
            </a:extLst>
          </p:cNvPr>
          <p:cNvSpPr txBox="1"/>
          <p:nvPr/>
        </p:nvSpPr>
        <p:spPr>
          <a:xfrm>
            <a:off x="2746831" y="5276374"/>
            <a:ext cx="4680384" cy="430887"/>
          </a:xfrm>
          <a:prstGeom prst="rect">
            <a:avLst/>
          </a:prstGeom>
          <a:noFill/>
          <a:ln w="25400">
            <a:solidFill>
              <a:schemeClr val="accent5">
                <a:lumMod val="60000"/>
                <a:lumOff val="40000"/>
              </a:schemeClr>
            </a:solidFill>
          </a:ln>
        </p:spPr>
        <p:txBody>
          <a:bodyPr wrap="none" rtlCol="0">
            <a:spAutoFit/>
          </a:bodyPr>
          <a:lstStyle/>
          <a:p>
            <a:r>
              <a:rPr lang="en-US" sz="2200" dirty="0"/>
              <a:t>Save DE results tables into .txt/.csv files</a:t>
            </a:r>
          </a:p>
        </p:txBody>
      </p:sp>
      <p:sp>
        <p:nvSpPr>
          <p:cNvPr id="20" name="TextBox 19">
            <a:extLst>
              <a:ext uri="{FF2B5EF4-FFF2-40B4-BE49-F238E27FC236}">
                <a16:creationId xmlns:a16="http://schemas.microsoft.com/office/drawing/2014/main" id="{0A359784-5925-BD30-5C0E-667226490D7C}"/>
              </a:ext>
            </a:extLst>
          </p:cNvPr>
          <p:cNvSpPr txBox="1"/>
          <p:nvPr/>
        </p:nvSpPr>
        <p:spPr>
          <a:xfrm>
            <a:off x="2711624" y="5992523"/>
            <a:ext cx="4682757" cy="430887"/>
          </a:xfrm>
          <a:prstGeom prst="rect">
            <a:avLst/>
          </a:prstGeom>
          <a:noFill/>
          <a:ln w="25400">
            <a:solidFill>
              <a:schemeClr val="accent5">
                <a:lumMod val="60000"/>
                <a:lumOff val="40000"/>
              </a:schemeClr>
            </a:solidFill>
          </a:ln>
        </p:spPr>
        <p:txBody>
          <a:bodyPr wrap="none" rtlCol="0">
            <a:spAutoFit/>
          </a:bodyPr>
          <a:lstStyle/>
          <a:p>
            <a:r>
              <a:rPr lang="en-US" sz="2200" dirty="0"/>
              <a:t>Graphical visualization of the DE results</a:t>
            </a:r>
          </a:p>
        </p:txBody>
      </p:sp>
      <p:sp>
        <p:nvSpPr>
          <p:cNvPr id="22" name="TextBox 21">
            <a:extLst>
              <a:ext uri="{FF2B5EF4-FFF2-40B4-BE49-F238E27FC236}">
                <a16:creationId xmlns:a16="http://schemas.microsoft.com/office/drawing/2014/main" id="{2344594C-8097-BE4B-7D16-93F6D29A66CD}"/>
              </a:ext>
            </a:extLst>
          </p:cNvPr>
          <p:cNvSpPr txBox="1"/>
          <p:nvPr/>
        </p:nvSpPr>
        <p:spPr>
          <a:xfrm>
            <a:off x="5391746" y="2698416"/>
            <a:ext cx="2745495" cy="369332"/>
          </a:xfrm>
          <a:prstGeom prst="rect">
            <a:avLst/>
          </a:prstGeom>
          <a:noFill/>
        </p:spPr>
        <p:txBody>
          <a:bodyPr wrap="none" rtlCol="0">
            <a:spAutoFit/>
          </a:bodyPr>
          <a:lstStyle/>
          <a:p>
            <a:r>
              <a:rPr lang="en-US" i="1" dirty="0"/>
              <a:t>Transform counts (</a:t>
            </a:r>
            <a:r>
              <a:rPr lang="en-US" i="1" dirty="0" err="1"/>
              <a:t>vst</a:t>
            </a:r>
            <a:r>
              <a:rPr lang="en-US" i="1" dirty="0"/>
              <a:t>, </a:t>
            </a:r>
            <a:r>
              <a:rPr lang="en-US" i="1" dirty="0" err="1"/>
              <a:t>rlog</a:t>
            </a:r>
            <a:r>
              <a:rPr lang="en-US" i="1" dirty="0"/>
              <a:t>)</a:t>
            </a:r>
          </a:p>
        </p:txBody>
      </p:sp>
      <p:sp>
        <p:nvSpPr>
          <p:cNvPr id="28" name="TextBox 27">
            <a:extLst>
              <a:ext uri="{FF2B5EF4-FFF2-40B4-BE49-F238E27FC236}">
                <a16:creationId xmlns:a16="http://schemas.microsoft.com/office/drawing/2014/main" id="{B3AC8929-D616-8078-1E9A-7938F8725F8D}"/>
              </a:ext>
            </a:extLst>
          </p:cNvPr>
          <p:cNvSpPr txBox="1"/>
          <p:nvPr/>
        </p:nvSpPr>
        <p:spPr>
          <a:xfrm>
            <a:off x="6949931" y="4608278"/>
            <a:ext cx="2510367" cy="369332"/>
          </a:xfrm>
          <a:prstGeom prst="rect">
            <a:avLst/>
          </a:prstGeom>
          <a:noFill/>
        </p:spPr>
        <p:txBody>
          <a:bodyPr wrap="none" rtlCol="0">
            <a:spAutoFit/>
          </a:bodyPr>
          <a:lstStyle/>
          <a:p>
            <a:r>
              <a:rPr lang="en-US" i="1" dirty="0"/>
              <a:t>Plot dispersion estimates</a:t>
            </a:r>
          </a:p>
        </p:txBody>
      </p:sp>
      <p:sp>
        <p:nvSpPr>
          <p:cNvPr id="32" name="TextBox 31">
            <a:extLst>
              <a:ext uri="{FF2B5EF4-FFF2-40B4-BE49-F238E27FC236}">
                <a16:creationId xmlns:a16="http://schemas.microsoft.com/office/drawing/2014/main" id="{47A60D5E-AA60-15DA-AAB6-C4D6E363847E}"/>
              </a:ext>
            </a:extLst>
          </p:cNvPr>
          <p:cNvSpPr txBox="1"/>
          <p:nvPr/>
        </p:nvSpPr>
        <p:spPr>
          <a:xfrm>
            <a:off x="7532034" y="6026194"/>
            <a:ext cx="2740430" cy="369332"/>
          </a:xfrm>
          <a:prstGeom prst="rect">
            <a:avLst/>
          </a:prstGeom>
          <a:noFill/>
        </p:spPr>
        <p:txBody>
          <a:bodyPr wrap="none" rtlCol="0">
            <a:spAutoFit/>
          </a:bodyPr>
          <a:lstStyle/>
          <a:p>
            <a:r>
              <a:rPr lang="en-US" i="1" dirty="0"/>
              <a:t>MA plot, volcano, heatmap</a:t>
            </a:r>
          </a:p>
        </p:txBody>
      </p:sp>
      <p:sp>
        <p:nvSpPr>
          <p:cNvPr id="33" name="Left Brace 32">
            <a:extLst>
              <a:ext uri="{FF2B5EF4-FFF2-40B4-BE49-F238E27FC236}">
                <a16:creationId xmlns:a16="http://schemas.microsoft.com/office/drawing/2014/main" id="{B9F69243-982B-9959-9E5F-B33B4890F744}"/>
              </a:ext>
            </a:extLst>
          </p:cNvPr>
          <p:cNvSpPr/>
          <p:nvPr/>
        </p:nvSpPr>
        <p:spPr>
          <a:xfrm rot="16200000">
            <a:off x="4902358" y="510822"/>
            <a:ext cx="369331" cy="2911888"/>
          </a:xfrm>
          <a:prstGeom prst="leftBrace">
            <a:avLst>
              <a:gd name="adj1" fmla="val 8333"/>
              <a:gd name="adj2" fmla="val 4842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FD1C6F56-3E2D-F1E8-0C75-97EC06DE0482}"/>
              </a:ext>
            </a:extLst>
          </p:cNvPr>
          <p:cNvSpPr txBox="1"/>
          <p:nvPr/>
        </p:nvSpPr>
        <p:spPr>
          <a:xfrm>
            <a:off x="6492365" y="3085298"/>
            <a:ext cx="2979619" cy="369332"/>
          </a:xfrm>
          <a:prstGeom prst="rect">
            <a:avLst/>
          </a:prstGeom>
          <a:noFill/>
        </p:spPr>
        <p:txBody>
          <a:bodyPr wrap="square">
            <a:spAutoFit/>
          </a:bodyPr>
          <a:lstStyle/>
          <a:p>
            <a:r>
              <a:rPr lang="en-US" i="1" dirty="0"/>
              <a:t>plot PCA, HCA</a:t>
            </a:r>
            <a:endParaRPr lang="en-US" dirty="0"/>
          </a:p>
        </p:txBody>
      </p:sp>
      <p:sp>
        <p:nvSpPr>
          <p:cNvPr id="36" name="Down Arrow 35">
            <a:extLst>
              <a:ext uri="{FF2B5EF4-FFF2-40B4-BE49-F238E27FC236}">
                <a16:creationId xmlns:a16="http://schemas.microsoft.com/office/drawing/2014/main" id="{4EEDE69C-90EA-F75A-6946-B4199E2CE2EE}"/>
              </a:ext>
            </a:extLst>
          </p:cNvPr>
          <p:cNvSpPr/>
          <p:nvPr/>
        </p:nvSpPr>
        <p:spPr>
          <a:xfrm>
            <a:off x="4871864" y="3501008"/>
            <a:ext cx="285549" cy="222435"/>
          </a:xfrm>
          <a:prstGeom prst="downArrow">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a:extLst>
              <a:ext uri="{FF2B5EF4-FFF2-40B4-BE49-F238E27FC236}">
                <a16:creationId xmlns:a16="http://schemas.microsoft.com/office/drawing/2014/main" id="{0243129F-5B7A-571E-BAF0-F87A42F9A872}"/>
              </a:ext>
            </a:extLst>
          </p:cNvPr>
          <p:cNvSpPr/>
          <p:nvPr/>
        </p:nvSpPr>
        <p:spPr>
          <a:xfrm>
            <a:off x="4871864" y="4286685"/>
            <a:ext cx="285549" cy="222435"/>
          </a:xfrm>
          <a:prstGeom prst="downArrow">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a:extLst>
              <a:ext uri="{FF2B5EF4-FFF2-40B4-BE49-F238E27FC236}">
                <a16:creationId xmlns:a16="http://schemas.microsoft.com/office/drawing/2014/main" id="{F0B995D7-774D-6C59-642C-C015C4E6BADE}"/>
              </a:ext>
            </a:extLst>
          </p:cNvPr>
          <p:cNvSpPr/>
          <p:nvPr/>
        </p:nvSpPr>
        <p:spPr>
          <a:xfrm>
            <a:off x="4871864" y="5013176"/>
            <a:ext cx="285549" cy="222435"/>
          </a:xfrm>
          <a:prstGeom prst="downArrow">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a:extLst>
              <a:ext uri="{FF2B5EF4-FFF2-40B4-BE49-F238E27FC236}">
                <a16:creationId xmlns:a16="http://schemas.microsoft.com/office/drawing/2014/main" id="{C295D52A-AD38-9A33-36CB-1CEF929B28DF}"/>
              </a:ext>
            </a:extLst>
          </p:cNvPr>
          <p:cNvSpPr/>
          <p:nvPr/>
        </p:nvSpPr>
        <p:spPr>
          <a:xfrm>
            <a:off x="4874347" y="5733256"/>
            <a:ext cx="285549" cy="222435"/>
          </a:xfrm>
          <a:prstGeom prst="downArrow">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36963E9-0AA4-696A-2533-8F72B7225723}"/>
              </a:ext>
            </a:extLst>
          </p:cNvPr>
          <p:cNvSpPr txBox="1"/>
          <p:nvPr/>
        </p:nvSpPr>
        <p:spPr>
          <a:xfrm>
            <a:off x="6006428" y="3810741"/>
            <a:ext cx="2979619" cy="369332"/>
          </a:xfrm>
          <a:prstGeom prst="rect">
            <a:avLst/>
          </a:prstGeom>
          <a:noFill/>
        </p:spPr>
        <p:txBody>
          <a:bodyPr wrap="square">
            <a:spAutoFit/>
          </a:bodyPr>
          <a:lstStyle/>
          <a:p>
            <a:r>
              <a:rPr lang="en-US" i="1" dirty="0"/>
              <a:t>Get DESeq2 DE results</a:t>
            </a:r>
            <a:endParaRPr lang="en-US" dirty="0"/>
          </a:p>
        </p:txBody>
      </p:sp>
      <p:sp>
        <p:nvSpPr>
          <p:cNvPr id="42" name="TextBox 41">
            <a:extLst>
              <a:ext uri="{FF2B5EF4-FFF2-40B4-BE49-F238E27FC236}">
                <a16:creationId xmlns:a16="http://schemas.microsoft.com/office/drawing/2014/main" id="{923B4B12-E08D-0BD4-DD3F-1788D31E6478}"/>
              </a:ext>
            </a:extLst>
          </p:cNvPr>
          <p:cNvSpPr txBox="1"/>
          <p:nvPr/>
        </p:nvSpPr>
        <p:spPr>
          <a:xfrm>
            <a:off x="7427215" y="5314847"/>
            <a:ext cx="4307654" cy="369332"/>
          </a:xfrm>
          <a:prstGeom prst="rect">
            <a:avLst/>
          </a:prstGeom>
          <a:noFill/>
        </p:spPr>
        <p:txBody>
          <a:bodyPr wrap="square">
            <a:spAutoFit/>
          </a:bodyPr>
          <a:lstStyle/>
          <a:p>
            <a:r>
              <a:rPr lang="en-US" i="1" dirty="0"/>
              <a:t>Also save transformed counts into .txt/.csv </a:t>
            </a:r>
            <a:endParaRPr lang="en-US" dirty="0"/>
          </a:p>
        </p:txBody>
      </p:sp>
    </p:spTree>
    <p:extLst>
      <p:ext uri="{BB962C8B-B14F-4D97-AF65-F5344CB8AC3E}">
        <p14:creationId xmlns:p14="http://schemas.microsoft.com/office/powerpoint/2010/main" val="374129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550862" y="332656"/>
            <a:ext cx="11641137" cy="1325563"/>
          </a:xfrm>
        </p:spPr>
        <p:txBody>
          <a:bodyPr/>
          <a:lstStyle/>
          <a:p>
            <a:r>
              <a:rPr lang="en-US" dirty="0">
                <a:solidFill>
                  <a:schemeClr val="bg1"/>
                </a:solidFill>
              </a:rPr>
              <a:t>1. Getting started with DESeq2</a:t>
            </a:r>
          </a:p>
        </p:txBody>
      </p:sp>
      <p:sp>
        <p:nvSpPr>
          <p:cNvPr id="16" name="TextBox 15">
            <a:extLst>
              <a:ext uri="{FF2B5EF4-FFF2-40B4-BE49-F238E27FC236}">
                <a16:creationId xmlns:a16="http://schemas.microsoft.com/office/drawing/2014/main" id="{8563C7EE-7B5F-0DB3-5EBF-8CE69399CB90}"/>
              </a:ext>
            </a:extLst>
          </p:cNvPr>
          <p:cNvSpPr txBox="1"/>
          <p:nvPr/>
        </p:nvSpPr>
        <p:spPr>
          <a:xfrm>
            <a:off x="695324" y="1658219"/>
            <a:ext cx="10081195" cy="1892826"/>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Available through Bioconductor</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Provides a set of methods and functions to perform differential expression analysis. </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The differential expression tests are based on negative binomial generalized linear models</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Lets get started by downloading the package and loading it on R</a:t>
            </a:r>
          </a:p>
        </p:txBody>
      </p:sp>
      <p:sp>
        <p:nvSpPr>
          <p:cNvPr id="4" name="TextBox 3">
            <a:extLst>
              <a:ext uri="{FF2B5EF4-FFF2-40B4-BE49-F238E27FC236}">
                <a16:creationId xmlns:a16="http://schemas.microsoft.com/office/drawing/2014/main" id="{5B40E3E6-7454-8481-95F5-0FFE069149A6}"/>
              </a:ext>
            </a:extLst>
          </p:cNvPr>
          <p:cNvSpPr txBox="1"/>
          <p:nvPr/>
        </p:nvSpPr>
        <p:spPr>
          <a:xfrm>
            <a:off x="911424" y="3861048"/>
            <a:ext cx="4431442" cy="1477328"/>
          </a:xfrm>
          <a:prstGeom prst="rect">
            <a:avLst/>
          </a:prstGeom>
          <a:noFill/>
        </p:spPr>
        <p:txBody>
          <a:bodyPr wrap="square">
            <a:spAutoFit/>
          </a:bodyPr>
          <a:lstStyle/>
          <a:p>
            <a:r>
              <a:rPr lang="en-GB" dirty="0"/>
              <a:t>if (!require("</a:t>
            </a:r>
            <a:r>
              <a:rPr lang="en-GB" dirty="0" err="1"/>
              <a:t>BiocManager</a:t>
            </a:r>
            <a:r>
              <a:rPr lang="en-GB" dirty="0"/>
              <a:t>", quietly = TRUE)) </a:t>
            </a:r>
            <a:r>
              <a:rPr lang="en-GB" dirty="0" err="1"/>
              <a:t>install.packages</a:t>
            </a:r>
            <a:r>
              <a:rPr lang="en-GB" dirty="0"/>
              <a:t>("</a:t>
            </a:r>
            <a:r>
              <a:rPr lang="en-GB" dirty="0" err="1"/>
              <a:t>BiocManager</a:t>
            </a:r>
            <a:r>
              <a:rPr lang="en-GB" dirty="0"/>
              <a:t>") </a:t>
            </a:r>
            <a:r>
              <a:rPr lang="en-GB" dirty="0" err="1"/>
              <a:t>BiocManager</a:t>
            </a:r>
            <a:r>
              <a:rPr lang="en-GB" dirty="0"/>
              <a:t>::install("DESeq2")</a:t>
            </a:r>
          </a:p>
          <a:p>
            <a:endParaRPr lang="en-GB" dirty="0"/>
          </a:p>
          <a:p>
            <a:r>
              <a:rPr lang="en-GB" dirty="0"/>
              <a:t>library(“DESeq2”)</a:t>
            </a:r>
            <a:endParaRPr lang="en-US" dirty="0"/>
          </a:p>
        </p:txBody>
      </p:sp>
      <p:sp>
        <p:nvSpPr>
          <p:cNvPr id="5" name="Rounded Rectangle 4">
            <a:extLst>
              <a:ext uri="{FF2B5EF4-FFF2-40B4-BE49-F238E27FC236}">
                <a16:creationId xmlns:a16="http://schemas.microsoft.com/office/drawing/2014/main" id="{9651D155-D82B-DB66-4C7D-B97B63408BF4}"/>
              </a:ext>
            </a:extLst>
          </p:cNvPr>
          <p:cNvSpPr/>
          <p:nvPr/>
        </p:nvSpPr>
        <p:spPr>
          <a:xfrm>
            <a:off x="911424" y="3861048"/>
            <a:ext cx="4431442" cy="1477328"/>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5366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D6573BDE-C610-B338-2193-C3DDC8B9645E}"/>
              </a:ext>
            </a:extLst>
          </p:cNvPr>
          <p:cNvSpPr/>
          <p:nvPr/>
        </p:nvSpPr>
        <p:spPr>
          <a:xfrm>
            <a:off x="841008" y="4077072"/>
            <a:ext cx="8783384" cy="765049"/>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406BB21-7D48-EF99-A0BF-A51D846C5F9D}"/>
              </a:ext>
            </a:extLst>
          </p:cNvPr>
          <p:cNvSpPr txBox="1"/>
          <p:nvPr/>
        </p:nvSpPr>
        <p:spPr>
          <a:xfrm>
            <a:off x="830321" y="4005064"/>
            <a:ext cx="9370135" cy="923330"/>
          </a:xfrm>
          <a:prstGeom prst="rect">
            <a:avLst/>
          </a:prstGeom>
          <a:noFill/>
        </p:spPr>
        <p:txBody>
          <a:bodyPr wrap="square">
            <a:spAutoFit/>
          </a:bodyPr>
          <a:lstStyle/>
          <a:p>
            <a:r>
              <a:rPr lang="en-US" dirty="0" err="1">
                <a:latin typeface="Calibri" panose="020F0502020204030204" pitchFamily="34" charset="0"/>
                <a:cs typeface="Calibri" panose="020F0502020204030204" pitchFamily="34" charset="0"/>
              </a:rPr>
              <a:t>rawCounts</a:t>
            </a:r>
            <a:r>
              <a:rPr lang="en-US" dirty="0">
                <a:latin typeface="Calibri" panose="020F0502020204030204" pitchFamily="34" charset="0"/>
                <a:cs typeface="Calibri" panose="020F0502020204030204" pitchFamily="34" charset="0"/>
              </a:rPr>
              <a:t> &lt;- </a:t>
            </a:r>
            <a:r>
              <a:rPr lang="en-US" dirty="0" err="1">
                <a:latin typeface="Calibri" panose="020F0502020204030204" pitchFamily="34" charset="0"/>
                <a:cs typeface="Calibri" panose="020F0502020204030204" pitchFamily="34" charset="0"/>
              </a:rPr>
              <a:t>read.delim</a:t>
            </a: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counts.txt</a:t>
            </a:r>
            <a:r>
              <a:rPr lang="en-US" dirty="0">
                <a:latin typeface="Calibri" panose="020F0502020204030204" pitchFamily="34" charset="0"/>
                <a:cs typeface="Calibri" panose="020F0502020204030204" pitchFamily="34" charset="0"/>
              </a:rPr>
              <a:t>", header = T, </a:t>
            </a:r>
            <a:r>
              <a:rPr lang="en-US" dirty="0" err="1">
                <a:latin typeface="Calibri" panose="020F0502020204030204" pitchFamily="34" charset="0"/>
                <a:cs typeface="Calibri" panose="020F0502020204030204" pitchFamily="34" charset="0"/>
              </a:rPr>
              <a:t>row.names</a:t>
            </a:r>
            <a:r>
              <a:rPr lang="en-US" dirty="0">
                <a:latin typeface="Calibri" panose="020F0502020204030204" pitchFamily="34" charset="0"/>
                <a:cs typeface="Calibri" panose="020F0502020204030204" pitchFamily="34" charset="0"/>
              </a:rPr>
              <a:t> = 1)</a:t>
            </a:r>
          </a:p>
          <a:p>
            <a:r>
              <a:rPr lang="en-US" dirty="0" err="1">
                <a:latin typeface="Calibri" panose="020F0502020204030204" pitchFamily="34" charset="0"/>
                <a:cs typeface="Calibri" panose="020F0502020204030204" pitchFamily="34" charset="0"/>
              </a:rPr>
              <a:t>rawCounts</a:t>
            </a:r>
            <a:r>
              <a:rPr lang="en-US" dirty="0">
                <a:latin typeface="Calibri" panose="020F0502020204030204" pitchFamily="34" charset="0"/>
                <a:cs typeface="Calibri" panose="020F0502020204030204" pitchFamily="34" charset="0"/>
              </a:rPr>
              <a:t> &lt;- ceiling(</a:t>
            </a:r>
            <a:r>
              <a:rPr lang="en-US" dirty="0" err="1">
                <a:latin typeface="Calibri" panose="020F0502020204030204" pitchFamily="34" charset="0"/>
                <a:cs typeface="Calibri" panose="020F0502020204030204" pitchFamily="34" charset="0"/>
              </a:rPr>
              <a:t>rawCounts</a:t>
            </a:r>
            <a:r>
              <a:rPr lang="en-US" dirty="0">
                <a:latin typeface="Calibri" panose="020F0502020204030204" pitchFamily="34" charset="0"/>
                <a:cs typeface="Calibri" panose="020F0502020204030204" pitchFamily="34" charset="0"/>
              </a:rPr>
              <a:t>) #</a:t>
            </a:r>
            <a:r>
              <a:rPr lang="en-US" sz="1200" dirty="0">
                <a:latin typeface="Calibri" panose="020F0502020204030204" pitchFamily="34" charset="0"/>
                <a:cs typeface="Calibri" panose="020F0502020204030204" pitchFamily="34" charset="0"/>
              </a:rPr>
              <a:t>NOTE: </a:t>
            </a:r>
            <a:r>
              <a:rPr lang="en-US" sz="1200" dirty="0" err="1">
                <a:latin typeface="Calibri" panose="020F0502020204030204" pitchFamily="34" charset="0"/>
                <a:cs typeface="Calibri" panose="020F0502020204030204" pitchFamily="34" charset="0"/>
              </a:rPr>
              <a:t>expected_counts</a:t>
            </a:r>
            <a:r>
              <a:rPr lang="en-US" sz="1200" dirty="0">
                <a:latin typeface="Calibri" panose="020F0502020204030204" pitchFamily="34" charset="0"/>
                <a:cs typeface="Calibri" panose="020F0502020204030204" pitchFamily="34" charset="0"/>
              </a:rPr>
              <a:t> are floats, we need to convert them to integers for DESeq2</a:t>
            </a:r>
          </a:p>
          <a:p>
            <a:r>
              <a:rPr lang="en-US" dirty="0">
                <a:latin typeface="Calibri" panose="020F0502020204030204" pitchFamily="34" charset="0"/>
                <a:cs typeface="Calibri" panose="020F0502020204030204" pitchFamily="34" charset="0"/>
              </a:rPr>
              <a:t>head(</a:t>
            </a:r>
            <a:r>
              <a:rPr lang="en-US" dirty="0" err="1">
                <a:latin typeface="Calibri" panose="020F0502020204030204" pitchFamily="34" charset="0"/>
                <a:cs typeface="Calibri" panose="020F0502020204030204" pitchFamily="34" charset="0"/>
              </a:rPr>
              <a:t>rawCounts</a:t>
            </a:r>
            <a:r>
              <a:rPr lang="en-US" dirty="0">
                <a:latin typeface="Calibri" panose="020F0502020204030204" pitchFamily="34" charset="0"/>
                <a:cs typeface="Calibri" panose="020F0502020204030204" pitchFamily="34" charset="0"/>
              </a:rPr>
              <a:t>)</a:t>
            </a:r>
          </a:p>
        </p:txBody>
      </p:sp>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550862" y="332656"/>
            <a:ext cx="11593809" cy="1325563"/>
          </a:xfrm>
        </p:spPr>
        <p:txBody>
          <a:bodyPr/>
          <a:lstStyle/>
          <a:p>
            <a:r>
              <a:rPr lang="en-US" dirty="0">
                <a:solidFill>
                  <a:schemeClr val="bg1"/>
                </a:solidFill>
              </a:rPr>
              <a:t>2. Input data – Read Counts</a:t>
            </a:r>
          </a:p>
        </p:txBody>
      </p:sp>
      <p:sp>
        <p:nvSpPr>
          <p:cNvPr id="16" name="TextBox 15">
            <a:extLst>
              <a:ext uri="{FF2B5EF4-FFF2-40B4-BE49-F238E27FC236}">
                <a16:creationId xmlns:a16="http://schemas.microsoft.com/office/drawing/2014/main" id="{8563C7EE-7B5F-0DB3-5EBF-8CE69399CB90}"/>
              </a:ext>
            </a:extLst>
          </p:cNvPr>
          <p:cNvSpPr txBox="1"/>
          <p:nvPr/>
        </p:nvSpPr>
        <p:spPr>
          <a:xfrm>
            <a:off x="695324" y="1658219"/>
            <a:ext cx="10081195" cy="2446824"/>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Input data for DESeq2 is raw, un-normalised read counts at gene or transcript level</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I am providing you with the counts matrix which I have assembled from the individual gene abundance count tab files of each individual sample.</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The the counts matrix contains the sequence read counts for all genes. The genes are in rows and the sample ids are in columns.</a:t>
            </a:r>
          </a:p>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Lets load the counts matrix into R and have a look into it</a:t>
            </a:r>
          </a:p>
        </p:txBody>
      </p:sp>
      <p:pic>
        <p:nvPicPr>
          <p:cNvPr id="8" name="Picture 7">
            <a:extLst>
              <a:ext uri="{FF2B5EF4-FFF2-40B4-BE49-F238E27FC236}">
                <a16:creationId xmlns:a16="http://schemas.microsoft.com/office/drawing/2014/main" id="{2065A3F8-1CE3-A491-45DE-A888188F9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008" y="4960650"/>
            <a:ext cx="7344816" cy="1280809"/>
          </a:xfrm>
          <a:prstGeom prst="rect">
            <a:avLst/>
          </a:prstGeom>
        </p:spPr>
      </p:pic>
      <p:sp>
        <p:nvSpPr>
          <p:cNvPr id="10" name="TextBox 9">
            <a:extLst>
              <a:ext uri="{FF2B5EF4-FFF2-40B4-BE49-F238E27FC236}">
                <a16:creationId xmlns:a16="http://schemas.microsoft.com/office/drawing/2014/main" id="{A98B4EBA-E97D-570E-97FF-3604BB242D4F}"/>
              </a:ext>
            </a:extLst>
          </p:cNvPr>
          <p:cNvSpPr txBox="1"/>
          <p:nvPr/>
        </p:nvSpPr>
        <p:spPr>
          <a:xfrm>
            <a:off x="1271464" y="6340678"/>
            <a:ext cx="8496944" cy="369332"/>
          </a:xfrm>
          <a:prstGeom prst="rect">
            <a:avLst/>
          </a:prstGeom>
          <a:noFill/>
        </p:spPr>
        <p:txBody>
          <a:bodyPr wrap="square">
            <a:spAutoFit/>
          </a:bodyPr>
          <a:lstStyle/>
          <a:p>
            <a:r>
              <a:rPr lang="en-GB" b="0" i="0" dirty="0">
                <a:solidFill>
                  <a:srgbClr val="FF0000"/>
                </a:solidFill>
                <a:effectLst/>
              </a:rPr>
              <a:t>IMPORTANT! </a:t>
            </a:r>
            <a:r>
              <a:rPr lang="en-GB" b="0" i="0" dirty="0">
                <a:effectLst/>
              </a:rPr>
              <a:t>In order to test for differential expression, we operate on raw counts</a:t>
            </a:r>
            <a:endParaRPr lang="en-US" dirty="0"/>
          </a:p>
        </p:txBody>
      </p:sp>
      <p:sp>
        <p:nvSpPr>
          <p:cNvPr id="3" name="Rounded Rectangle 2">
            <a:extLst>
              <a:ext uri="{FF2B5EF4-FFF2-40B4-BE49-F238E27FC236}">
                <a16:creationId xmlns:a16="http://schemas.microsoft.com/office/drawing/2014/main" id="{01EE6967-14EE-937F-0379-4376FB61F96B}"/>
              </a:ext>
            </a:extLst>
          </p:cNvPr>
          <p:cNvSpPr/>
          <p:nvPr/>
        </p:nvSpPr>
        <p:spPr>
          <a:xfrm>
            <a:off x="767409" y="4958328"/>
            <a:ext cx="7272808" cy="1206976"/>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BC3F2E63-09E1-CC57-26C9-3CB861574AB6}"/>
              </a:ext>
            </a:extLst>
          </p:cNvPr>
          <p:cNvSpPr txBox="1"/>
          <p:nvPr/>
        </p:nvSpPr>
        <p:spPr>
          <a:xfrm>
            <a:off x="-32182" y="4842121"/>
            <a:ext cx="1152128" cy="369332"/>
          </a:xfrm>
          <a:prstGeom prst="rect">
            <a:avLst/>
          </a:prstGeom>
          <a:noFill/>
        </p:spPr>
        <p:txBody>
          <a:bodyPr wrap="square" rtlCol="0">
            <a:spAutoFit/>
          </a:bodyPr>
          <a:lstStyle/>
          <a:p>
            <a:r>
              <a:rPr lang="en-US" dirty="0"/>
              <a:t>genes</a:t>
            </a:r>
          </a:p>
        </p:txBody>
      </p:sp>
      <p:sp>
        <p:nvSpPr>
          <p:cNvPr id="5" name="TextBox 4">
            <a:extLst>
              <a:ext uri="{FF2B5EF4-FFF2-40B4-BE49-F238E27FC236}">
                <a16:creationId xmlns:a16="http://schemas.microsoft.com/office/drawing/2014/main" id="{A7E6070A-180F-B29D-1C3C-4643D782A417}"/>
              </a:ext>
            </a:extLst>
          </p:cNvPr>
          <p:cNvSpPr txBox="1"/>
          <p:nvPr/>
        </p:nvSpPr>
        <p:spPr>
          <a:xfrm>
            <a:off x="8341579" y="4869160"/>
            <a:ext cx="1152128" cy="369332"/>
          </a:xfrm>
          <a:prstGeom prst="rect">
            <a:avLst/>
          </a:prstGeom>
          <a:noFill/>
        </p:spPr>
        <p:txBody>
          <a:bodyPr wrap="square" rtlCol="0">
            <a:spAutoFit/>
          </a:bodyPr>
          <a:lstStyle/>
          <a:p>
            <a:r>
              <a:rPr lang="en-US" dirty="0"/>
              <a:t>samples</a:t>
            </a:r>
          </a:p>
        </p:txBody>
      </p:sp>
      <p:cxnSp>
        <p:nvCxnSpPr>
          <p:cNvPr id="11" name="Straight Arrow Connector 10">
            <a:extLst>
              <a:ext uri="{FF2B5EF4-FFF2-40B4-BE49-F238E27FC236}">
                <a16:creationId xmlns:a16="http://schemas.microsoft.com/office/drawing/2014/main" id="{4FE44A20-D00D-274F-576B-E22A01903B17}"/>
              </a:ext>
            </a:extLst>
          </p:cNvPr>
          <p:cNvCxnSpPr>
            <a:cxnSpLocks/>
          </p:cNvCxnSpPr>
          <p:nvPr/>
        </p:nvCxnSpPr>
        <p:spPr>
          <a:xfrm>
            <a:off x="412793" y="5140469"/>
            <a:ext cx="282532" cy="37027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C7F5AB8-66D3-85C2-A15B-BAF719413C16}"/>
              </a:ext>
            </a:extLst>
          </p:cNvPr>
          <p:cNvCxnSpPr>
            <a:cxnSpLocks/>
          </p:cNvCxnSpPr>
          <p:nvPr/>
        </p:nvCxnSpPr>
        <p:spPr>
          <a:xfrm flipH="1">
            <a:off x="7968208" y="5053826"/>
            <a:ext cx="431321"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189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99AF76-820C-AEB1-1B3E-B00DC270A03C}"/>
              </a:ext>
            </a:extLst>
          </p:cNvPr>
          <p:cNvSpPr txBox="1">
            <a:spLocks/>
          </p:cNvSpPr>
          <p:nvPr/>
        </p:nvSpPr>
        <p:spPr>
          <a:xfrm>
            <a:off x="550862" y="332656"/>
            <a:ext cx="116411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2. Input data – Sample Groups</a:t>
            </a:r>
          </a:p>
        </p:txBody>
      </p:sp>
      <p:sp>
        <p:nvSpPr>
          <p:cNvPr id="5" name="TextBox 4">
            <a:extLst>
              <a:ext uri="{FF2B5EF4-FFF2-40B4-BE49-F238E27FC236}">
                <a16:creationId xmlns:a16="http://schemas.microsoft.com/office/drawing/2014/main" id="{CFD81F4C-58BC-8CEF-A970-0C2065D0C8A3}"/>
              </a:ext>
            </a:extLst>
          </p:cNvPr>
          <p:cNvSpPr txBox="1"/>
          <p:nvPr/>
        </p:nvSpPr>
        <p:spPr>
          <a:xfrm>
            <a:off x="695324" y="1658219"/>
            <a:ext cx="10081195" cy="646331"/>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We also need to provide the sample groups (as well as other sample information if available, for more complex experimental designs this would include clinical parameters)</a:t>
            </a:r>
          </a:p>
        </p:txBody>
      </p:sp>
      <p:sp>
        <p:nvSpPr>
          <p:cNvPr id="7" name="TextBox 6">
            <a:extLst>
              <a:ext uri="{FF2B5EF4-FFF2-40B4-BE49-F238E27FC236}">
                <a16:creationId xmlns:a16="http://schemas.microsoft.com/office/drawing/2014/main" id="{2D8991DF-1B4F-987C-73F0-51F98BF291BF}"/>
              </a:ext>
            </a:extLst>
          </p:cNvPr>
          <p:cNvSpPr txBox="1"/>
          <p:nvPr/>
        </p:nvSpPr>
        <p:spPr>
          <a:xfrm>
            <a:off x="623392" y="2828835"/>
            <a:ext cx="10515600" cy="646331"/>
          </a:xfrm>
          <a:prstGeom prst="rect">
            <a:avLst/>
          </a:prstGeom>
          <a:noFill/>
        </p:spPr>
        <p:txBody>
          <a:bodyPr wrap="square">
            <a:spAutoFit/>
          </a:bodyPr>
          <a:lstStyle/>
          <a:p>
            <a:r>
              <a:rPr lang="en-US" dirty="0" err="1"/>
              <a:t>sampleData</a:t>
            </a:r>
            <a:r>
              <a:rPr lang="en-US" dirty="0"/>
              <a:t> &lt;- </a:t>
            </a:r>
            <a:r>
              <a:rPr lang="en-US" dirty="0" err="1"/>
              <a:t>read.delim</a:t>
            </a:r>
            <a:r>
              <a:rPr lang="en-US" dirty="0"/>
              <a:t>("</a:t>
            </a:r>
            <a:r>
              <a:rPr lang="en-US" dirty="0" err="1"/>
              <a:t>sampleGroups.txt</a:t>
            </a:r>
            <a:r>
              <a:rPr lang="en-US" dirty="0"/>
              <a:t>", header = T)</a:t>
            </a:r>
          </a:p>
          <a:p>
            <a:r>
              <a:rPr lang="en-US" dirty="0"/>
              <a:t>head(</a:t>
            </a:r>
            <a:r>
              <a:rPr lang="en-US" dirty="0" err="1"/>
              <a:t>sampleData</a:t>
            </a:r>
            <a:r>
              <a:rPr lang="en-US" dirty="0"/>
              <a:t>)</a:t>
            </a:r>
          </a:p>
        </p:txBody>
      </p:sp>
      <p:pic>
        <p:nvPicPr>
          <p:cNvPr id="9" name="Picture 8">
            <a:extLst>
              <a:ext uri="{FF2B5EF4-FFF2-40B4-BE49-F238E27FC236}">
                <a16:creationId xmlns:a16="http://schemas.microsoft.com/office/drawing/2014/main" id="{02CA6FCB-558F-E4D5-FE02-CE2721587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3938723"/>
            <a:ext cx="2921000" cy="1612900"/>
          </a:xfrm>
          <a:prstGeom prst="rect">
            <a:avLst/>
          </a:prstGeom>
        </p:spPr>
      </p:pic>
      <p:sp>
        <p:nvSpPr>
          <p:cNvPr id="2" name="Rounded Rectangle 1">
            <a:extLst>
              <a:ext uri="{FF2B5EF4-FFF2-40B4-BE49-F238E27FC236}">
                <a16:creationId xmlns:a16="http://schemas.microsoft.com/office/drawing/2014/main" id="{48157652-91F5-BE9C-A015-54D375271DB9}"/>
              </a:ext>
            </a:extLst>
          </p:cNvPr>
          <p:cNvSpPr/>
          <p:nvPr/>
        </p:nvSpPr>
        <p:spPr>
          <a:xfrm>
            <a:off x="665724" y="2789070"/>
            <a:ext cx="5502283" cy="68609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71607F44-F6FD-9A22-9D0A-3BED57D352DB}"/>
              </a:ext>
            </a:extLst>
          </p:cNvPr>
          <p:cNvSpPr/>
          <p:nvPr/>
        </p:nvSpPr>
        <p:spPr>
          <a:xfrm>
            <a:off x="1559496" y="3938722"/>
            <a:ext cx="3137024" cy="1612899"/>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AC4498B-A3FF-9AE3-798E-DC28D98D3A21}"/>
              </a:ext>
            </a:extLst>
          </p:cNvPr>
          <p:cNvSpPr txBox="1"/>
          <p:nvPr/>
        </p:nvSpPr>
        <p:spPr>
          <a:xfrm>
            <a:off x="1775520" y="5876418"/>
            <a:ext cx="5502282" cy="646331"/>
          </a:xfrm>
          <a:prstGeom prst="rect">
            <a:avLst/>
          </a:prstGeom>
          <a:noFill/>
        </p:spPr>
        <p:txBody>
          <a:bodyPr wrap="square" rtlCol="0">
            <a:spAutoFit/>
          </a:bodyPr>
          <a:lstStyle/>
          <a:p>
            <a:r>
              <a:rPr lang="en-US" dirty="0">
                <a:solidFill>
                  <a:srgbClr val="C00000"/>
                </a:solidFill>
              </a:rPr>
              <a:t>IMPORTANT! </a:t>
            </a:r>
            <a:r>
              <a:rPr lang="en-US" dirty="0"/>
              <a:t>The order of the sample names has to match the order of the columns in the </a:t>
            </a:r>
            <a:r>
              <a:rPr lang="en-US" dirty="0" err="1"/>
              <a:t>rawCounts</a:t>
            </a:r>
            <a:r>
              <a:rPr lang="en-US" dirty="0"/>
              <a:t> matrix</a:t>
            </a:r>
          </a:p>
        </p:txBody>
      </p:sp>
      <p:cxnSp>
        <p:nvCxnSpPr>
          <p:cNvPr id="8" name="Straight Arrow Connector 7">
            <a:extLst>
              <a:ext uri="{FF2B5EF4-FFF2-40B4-BE49-F238E27FC236}">
                <a16:creationId xmlns:a16="http://schemas.microsoft.com/office/drawing/2014/main" id="{F0D5CE81-1648-B8C0-0AE7-086C0CCD01B6}"/>
              </a:ext>
            </a:extLst>
          </p:cNvPr>
          <p:cNvCxnSpPr>
            <a:cxnSpLocks/>
          </p:cNvCxnSpPr>
          <p:nvPr/>
        </p:nvCxnSpPr>
        <p:spPr>
          <a:xfrm>
            <a:off x="2495600" y="5445224"/>
            <a:ext cx="0" cy="41878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79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2EEE-600E-807E-92A0-9A0B9837F4D8}"/>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3. Create DESeq2 object</a:t>
            </a:r>
          </a:p>
        </p:txBody>
      </p:sp>
      <p:sp>
        <p:nvSpPr>
          <p:cNvPr id="4" name="TextBox 3">
            <a:extLst>
              <a:ext uri="{FF2B5EF4-FFF2-40B4-BE49-F238E27FC236}">
                <a16:creationId xmlns:a16="http://schemas.microsoft.com/office/drawing/2014/main" id="{5775311B-C28C-5C81-3917-32B9C89A81B3}"/>
              </a:ext>
            </a:extLst>
          </p:cNvPr>
          <p:cNvSpPr txBox="1"/>
          <p:nvPr/>
        </p:nvSpPr>
        <p:spPr>
          <a:xfrm>
            <a:off x="692095" y="3009726"/>
            <a:ext cx="7848872" cy="923330"/>
          </a:xfrm>
          <a:prstGeom prst="rect">
            <a:avLst/>
          </a:prstGeom>
          <a:noFill/>
        </p:spPr>
        <p:txBody>
          <a:bodyPr wrap="square">
            <a:spAutoFit/>
          </a:bodyPr>
          <a:lstStyle/>
          <a:p>
            <a:r>
              <a:rPr lang="en-US" dirty="0" err="1"/>
              <a:t>dds</a:t>
            </a:r>
            <a:r>
              <a:rPr lang="en-US" dirty="0"/>
              <a:t> &lt;- </a:t>
            </a:r>
            <a:r>
              <a:rPr lang="en-US" dirty="0" err="1"/>
              <a:t>DESeqDataSetFromMatrix</a:t>
            </a:r>
            <a:r>
              <a:rPr lang="en-US" dirty="0"/>
              <a:t>(</a:t>
            </a:r>
            <a:r>
              <a:rPr lang="en-US" dirty="0" err="1"/>
              <a:t>countData</a:t>
            </a:r>
            <a:r>
              <a:rPr lang="en-US" dirty="0"/>
              <a:t> = </a:t>
            </a:r>
            <a:r>
              <a:rPr lang="en-US" dirty="0" err="1"/>
              <a:t>rawCounts</a:t>
            </a:r>
            <a:r>
              <a:rPr lang="en-US" dirty="0"/>
              <a:t>,</a:t>
            </a:r>
          </a:p>
          <a:p>
            <a:r>
              <a:rPr lang="en-US" dirty="0"/>
              <a:t>                              </a:t>
            </a:r>
            <a:r>
              <a:rPr lang="en-US" dirty="0" err="1"/>
              <a:t>colData</a:t>
            </a:r>
            <a:r>
              <a:rPr lang="en-US" dirty="0"/>
              <a:t> = </a:t>
            </a:r>
            <a:r>
              <a:rPr lang="en-US" dirty="0" err="1"/>
              <a:t>sampleData</a:t>
            </a:r>
            <a:r>
              <a:rPr lang="en-US" dirty="0"/>
              <a:t>,</a:t>
            </a:r>
          </a:p>
          <a:p>
            <a:r>
              <a:rPr lang="en-US" dirty="0"/>
              <a:t>                              design = ~ group)</a:t>
            </a:r>
          </a:p>
        </p:txBody>
      </p:sp>
      <p:sp>
        <p:nvSpPr>
          <p:cNvPr id="5" name="TextBox 4">
            <a:extLst>
              <a:ext uri="{FF2B5EF4-FFF2-40B4-BE49-F238E27FC236}">
                <a16:creationId xmlns:a16="http://schemas.microsoft.com/office/drawing/2014/main" id="{B0F8E6F2-D396-18B1-C741-1FC159260780}"/>
              </a:ext>
            </a:extLst>
          </p:cNvPr>
          <p:cNvSpPr txBox="1"/>
          <p:nvPr/>
        </p:nvSpPr>
        <p:spPr>
          <a:xfrm>
            <a:off x="668820" y="1988840"/>
            <a:ext cx="10081195" cy="646331"/>
          </a:xfrm>
          <a:prstGeom prst="rect">
            <a:avLst/>
          </a:prstGeom>
          <a:noFill/>
        </p:spPr>
        <p:txBody>
          <a:bodyPr wrap="square" rtlCol="0">
            <a:spAutoFit/>
          </a:bodyPr>
          <a:lstStyle/>
          <a:p>
            <a:pPr marL="285750" indent="-285750" algn="l" fontAlgn="base">
              <a:spcAft>
                <a:spcPts val="1800"/>
              </a:spcAft>
              <a:buFont typeface="Arial" panose="020B0604020202020204" pitchFamily="34" charset="0"/>
              <a:buChar char="•"/>
            </a:pPr>
            <a:r>
              <a:rPr lang="en-GB" dirty="0">
                <a:latin typeface="Calibri" panose="020F0502020204030204" pitchFamily="34" charset="0"/>
                <a:cs typeface="Calibri" panose="020F0502020204030204" pitchFamily="34" charset="0"/>
              </a:rPr>
              <a:t>We create a DESeq2 object that contains counts and sample info. This object will be used for all downstream DE analysis</a:t>
            </a:r>
          </a:p>
        </p:txBody>
      </p:sp>
      <p:pic>
        <p:nvPicPr>
          <p:cNvPr id="7" name="Picture 6">
            <a:extLst>
              <a:ext uri="{FF2B5EF4-FFF2-40B4-BE49-F238E27FC236}">
                <a16:creationId xmlns:a16="http://schemas.microsoft.com/office/drawing/2014/main" id="{B11CA898-EEED-079A-7476-4BA223B8D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81" y="4161854"/>
            <a:ext cx="7175500" cy="1638300"/>
          </a:xfrm>
          <a:prstGeom prst="rect">
            <a:avLst/>
          </a:prstGeom>
        </p:spPr>
      </p:pic>
      <p:sp>
        <p:nvSpPr>
          <p:cNvPr id="3" name="Rounded Rectangle 2">
            <a:extLst>
              <a:ext uri="{FF2B5EF4-FFF2-40B4-BE49-F238E27FC236}">
                <a16:creationId xmlns:a16="http://schemas.microsoft.com/office/drawing/2014/main" id="{2045B165-A6BF-E6C3-7448-05F545E6199F}"/>
              </a:ext>
            </a:extLst>
          </p:cNvPr>
          <p:cNvSpPr/>
          <p:nvPr/>
        </p:nvSpPr>
        <p:spPr>
          <a:xfrm>
            <a:off x="696034" y="2865710"/>
            <a:ext cx="5502283" cy="106734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ED7649A2-C6F7-F039-9690-2DA35D6C8A8F}"/>
              </a:ext>
            </a:extLst>
          </p:cNvPr>
          <p:cNvSpPr/>
          <p:nvPr/>
        </p:nvSpPr>
        <p:spPr>
          <a:xfrm>
            <a:off x="1010897" y="4077072"/>
            <a:ext cx="7098022" cy="1723082"/>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4933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C4D09-C665-CF12-46A5-980A611F14A5}"/>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4. Filtering out low count genes</a:t>
            </a:r>
          </a:p>
        </p:txBody>
      </p:sp>
      <p:sp>
        <p:nvSpPr>
          <p:cNvPr id="3" name="TextBox 2">
            <a:extLst>
              <a:ext uri="{FF2B5EF4-FFF2-40B4-BE49-F238E27FC236}">
                <a16:creationId xmlns:a16="http://schemas.microsoft.com/office/drawing/2014/main" id="{414613B3-58F8-CC64-802E-CEB1EF7F5307}"/>
              </a:ext>
            </a:extLst>
          </p:cNvPr>
          <p:cNvSpPr txBox="1"/>
          <p:nvPr/>
        </p:nvSpPr>
        <p:spPr>
          <a:xfrm>
            <a:off x="606622" y="1556792"/>
            <a:ext cx="10657184" cy="2031325"/>
          </a:xfrm>
          <a:prstGeom prst="rect">
            <a:avLst/>
          </a:prstGeom>
          <a:noFill/>
        </p:spPr>
        <p:txBody>
          <a:bodyPr wrap="square" rtlCol="0">
            <a:spAutoFit/>
          </a:bodyPr>
          <a:lstStyle/>
          <a:p>
            <a:pPr marL="285750" indent="-285750">
              <a:buFont typeface="Arial" panose="020B0604020202020204" pitchFamily="34" charset="0"/>
              <a:buChar char="•"/>
            </a:pPr>
            <a:r>
              <a:rPr lang="en-GB" b="0" i="0" dirty="0">
                <a:solidFill>
                  <a:srgbClr val="333333"/>
                </a:solidFill>
                <a:effectLst/>
              </a:rPr>
              <a:t>By removing rows in which there are very few reads, the memory size of the </a:t>
            </a:r>
            <a:r>
              <a:rPr lang="en-GB" dirty="0"/>
              <a:t>DESeq2 </a:t>
            </a:r>
            <a:r>
              <a:rPr lang="en-GB" b="0" i="0" dirty="0">
                <a:solidFill>
                  <a:srgbClr val="333333"/>
                </a:solidFill>
                <a:effectLst/>
              </a:rPr>
              <a:t>data object is reduced, and the speed of functions </a:t>
            </a:r>
            <a:r>
              <a:rPr lang="en-GB" dirty="0">
                <a:solidFill>
                  <a:srgbClr val="333333"/>
                </a:solidFill>
              </a:rPr>
              <a:t>is increased</a:t>
            </a:r>
            <a:endParaRPr lang="en-GB" b="0" i="0" dirty="0">
              <a:solidFill>
                <a:srgbClr val="333333"/>
              </a:solidFill>
              <a:effectLst/>
            </a:endParaRPr>
          </a:p>
          <a:p>
            <a:endParaRPr lang="en-GB" b="0" i="0" dirty="0">
              <a:solidFill>
                <a:srgbClr val="333333"/>
              </a:solidFill>
              <a:effectLst/>
            </a:endParaRPr>
          </a:p>
          <a:p>
            <a:pPr marL="285750" indent="-285750">
              <a:buFont typeface="Arial" panose="020B0604020202020204" pitchFamily="34" charset="0"/>
              <a:buChar char="•"/>
            </a:pPr>
            <a:r>
              <a:rPr lang="en-GB" b="0" i="0" dirty="0">
                <a:solidFill>
                  <a:srgbClr val="333333"/>
                </a:solidFill>
                <a:effectLst/>
              </a:rPr>
              <a:t>It </a:t>
            </a:r>
            <a:r>
              <a:rPr lang="en-GB" dirty="0">
                <a:solidFill>
                  <a:srgbClr val="333333"/>
                </a:solidFill>
              </a:rPr>
              <a:t>a</a:t>
            </a:r>
            <a:r>
              <a:rPr lang="en-GB" b="0" i="0" dirty="0">
                <a:solidFill>
                  <a:srgbClr val="333333"/>
                </a:solidFill>
                <a:effectLst/>
              </a:rPr>
              <a:t>lso improves graphical visualizations</a:t>
            </a:r>
          </a:p>
          <a:p>
            <a:pPr marL="285750" indent="-285750">
              <a:buFont typeface="Arial" panose="020B0604020202020204" pitchFamily="34" charset="0"/>
              <a:buChar char="•"/>
            </a:pPr>
            <a:endParaRPr lang="en-GB" dirty="0">
              <a:solidFill>
                <a:srgbClr val="333333"/>
              </a:solidFill>
            </a:endParaRPr>
          </a:p>
          <a:p>
            <a:pPr marL="285750" indent="-285750">
              <a:buFont typeface="Arial" panose="020B0604020202020204" pitchFamily="34" charset="0"/>
              <a:buChar char="•"/>
            </a:pPr>
            <a:r>
              <a:rPr lang="en-GB" dirty="0">
                <a:solidFill>
                  <a:srgbClr val="333333"/>
                </a:solidFill>
              </a:rPr>
              <a:t>A popular filter in DESeq2 is to ensure at least X samples with a count of 10 or more, where X can be chosen as the sample size of the smallest group of samples</a:t>
            </a:r>
            <a:endParaRPr lang="en-US" dirty="0">
              <a:solidFill>
                <a:srgbClr val="333333"/>
              </a:solidFill>
            </a:endParaRPr>
          </a:p>
        </p:txBody>
      </p:sp>
      <p:sp>
        <p:nvSpPr>
          <p:cNvPr id="7" name="TextBox 6">
            <a:extLst>
              <a:ext uri="{FF2B5EF4-FFF2-40B4-BE49-F238E27FC236}">
                <a16:creationId xmlns:a16="http://schemas.microsoft.com/office/drawing/2014/main" id="{27398535-590B-AF68-438D-E34AFADC4059}"/>
              </a:ext>
            </a:extLst>
          </p:cNvPr>
          <p:cNvSpPr txBox="1"/>
          <p:nvPr/>
        </p:nvSpPr>
        <p:spPr>
          <a:xfrm>
            <a:off x="786542" y="3797461"/>
            <a:ext cx="6097656" cy="646331"/>
          </a:xfrm>
          <a:prstGeom prst="rect">
            <a:avLst/>
          </a:prstGeom>
          <a:noFill/>
        </p:spPr>
        <p:txBody>
          <a:bodyPr wrap="square">
            <a:spAutoFit/>
          </a:bodyPr>
          <a:lstStyle/>
          <a:p>
            <a:r>
              <a:rPr lang="en-US" dirty="0"/>
              <a:t>keep &lt;- </a:t>
            </a:r>
            <a:r>
              <a:rPr lang="en-US" dirty="0" err="1"/>
              <a:t>rowSums</a:t>
            </a:r>
            <a:r>
              <a:rPr lang="en-US" dirty="0"/>
              <a:t>(counts(</a:t>
            </a:r>
            <a:r>
              <a:rPr lang="en-US" dirty="0" err="1"/>
              <a:t>dds</a:t>
            </a:r>
            <a:r>
              <a:rPr lang="en-US" dirty="0"/>
              <a:t>) &gt;= 10) &gt;= 3</a:t>
            </a:r>
          </a:p>
          <a:p>
            <a:r>
              <a:rPr lang="en-US" dirty="0" err="1"/>
              <a:t>dds</a:t>
            </a:r>
            <a:r>
              <a:rPr lang="en-US" dirty="0"/>
              <a:t> &lt;- </a:t>
            </a:r>
            <a:r>
              <a:rPr lang="en-US" dirty="0" err="1"/>
              <a:t>dds</a:t>
            </a:r>
            <a:r>
              <a:rPr lang="en-US" dirty="0"/>
              <a:t>[keep,]</a:t>
            </a:r>
          </a:p>
        </p:txBody>
      </p:sp>
      <p:pic>
        <p:nvPicPr>
          <p:cNvPr id="9" name="Picture 8">
            <a:extLst>
              <a:ext uri="{FF2B5EF4-FFF2-40B4-BE49-F238E27FC236}">
                <a16:creationId xmlns:a16="http://schemas.microsoft.com/office/drawing/2014/main" id="{BF9904FB-369F-35CB-8011-79DAFBEEE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903" y="4653136"/>
            <a:ext cx="7035800" cy="1600200"/>
          </a:xfrm>
          <a:prstGeom prst="rect">
            <a:avLst/>
          </a:prstGeom>
        </p:spPr>
      </p:pic>
      <p:sp>
        <p:nvSpPr>
          <p:cNvPr id="4" name="Rounded Rectangle 3">
            <a:extLst>
              <a:ext uri="{FF2B5EF4-FFF2-40B4-BE49-F238E27FC236}">
                <a16:creationId xmlns:a16="http://schemas.microsoft.com/office/drawing/2014/main" id="{C38636A6-80F9-AC62-7431-448F0FC16E1B}"/>
              </a:ext>
            </a:extLst>
          </p:cNvPr>
          <p:cNvSpPr/>
          <p:nvPr/>
        </p:nvSpPr>
        <p:spPr>
          <a:xfrm>
            <a:off x="783577" y="3757696"/>
            <a:ext cx="4016280" cy="68609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ounded Rectangle 4">
            <a:extLst>
              <a:ext uri="{FF2B5EF4-FFF2-40B4-BE49-F238E27FC236}">
                <a16:creationId xmlns:a16="http://schemas.microsoft.com/office/drawing/2014/main" id="{09A647E8-13B3-0493-8C32-8FDEA1FC5FFE}"/>
              </a:ext>
            </a:extLst>
          </p:cNvPr>
          <p:cNvSpPr/>
          <p:nvPr/>
        </p:nvSpPr>
        <p:spPr>
          <a:xfrm>
            <a:off x="767408" y="4653136"/>
            <a:ext cx="7035800" cy="1600200"/>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88021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8D5C14-C67F-510F-E4DC-01AA49F5C8A8}"/>
              </a:ext>
            </a:extLst>
          </p:cNvPr>
          <p:cNvSpPr txBox="1"/>
          <p:nvPr/>
        </p:nvSpPr>
        <p:spPr>
          <a:xfrm>
            <a:off x="1127448" y="2426531"/>
            <a:ext cx="6096000" cy="369332"/>
          </a:xfrm>
          <a:prstGeom prst="rect">
            <a:avLst/>
          </a:prstGeom>
          <a:noFill/>
        </p:spPr>
        <p:txBody>
          <a:bodyPr wrap="square">
            <a:spAutoFit/>
          </a:bodyPr>
          <a:lstStyle/>
          <a:p>
            <a:r>
              <a:rPr lang="en-US" dirty="0" err="1"/>
              <a:t>dds</a:t>
            </a:r>
            <a:r>
              <a:rPr lang="en-US" dirty="0"/>
              <a:t> &lt;- </a:t>
            </a:r>
            <a:r>
              <a:rPr lang="en-US" dirty="0" err="1"/>
              <a:t>DESeq</a:t>
            </a:r>
            <a:r>
              <a:rPr lang="en-US" dirty="0"/>
              <a:t>(</a:t>
            </a:r>
            <a:r>
              <a:rPr lang="en-US" dirty="0" err="1"/>
              <a:t>dds</a:t>
            </a:r>
            <a:r>
              <a:rPr lang="en-US" dirty="0"/>
              <a:t>)</a:t>
            </a:r>
          </a:p>
        </p:txBody>
      </p:sp>
      <p:sp>
        <p:nvSpPr>
          <p:cNvPr id="4" name="Title 1">
            <a:extLst>
              <a:ext uri="{FF2B5EF4-FFF2-40B4-BE49-F238E27FC236}">
                <a16:creationId xmlns:a16="http://schemas.microsoft.com/office/drawing/2014/main" id="{97AF0494-A87F-4C94-9045-9F6F400F7E08}"/>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5. Run </a:t>
            </a:r>
            <a:r>
              <a:rPr lang="en-US" dirty="0" err="1">
                <a:solidFill>
                  <a:schemeClr val="bg1"/>
                </a:solidFill>
              </a:rPr>
              <a:t>DESeq</a:t>
            </a:r>
            <a:r>
              <a:rPr lang="en-US" dirty="0">
                <a:solidFill>
                  <a:schemeClr val="bg1"/>
                </a:solidFill>
              </a:rPr>
              <a:t> algorithm</a:t>
            </a:r>
          </a:p>
        </p:txBody>
      </p:sp>
      <p:sp>
        <p:nvSpPr>
          <p:cNvPr id="5" name="Rounded Rectangle 4">
            <a:extLst>
              <a:ext uri="{FF2B5EF4-FFF2-40B4-BE49-F238E27FC236}">
                <a16:creationId xmlns:a16="http://schemas.microsoft.com/office/drawing/2014/main" id="{D9B19A07-AD6F-2629-C0BE-EC34FE28A467}"/>
              </a:ext>
            </a:extLst>
          </p:cNvPr>
          <p:cNvSpPr/>
          <p:nvPr/>
        </p:nvSpPr>
        <p:spPr>
          <a:xfrm>
            <a:off x="983432" y="2285113"/>
            <a:ext cx="2122990" cy="68609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C9390F25-8C16-3479-1375-91E8FBD3A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432" y="3356992"/>
            <a:ext cx="2832100" cy="1130300"/>
          </a:xfrm>
          <a:prstGeom prst="rect">
            <a:avLst/>
          </a:prstGeom>
        </p:spPr>
      </p:pic>
      <p:sp>
        <p:nvSpPr>
          <p:cNvPr id="8" name="TextBox 7">
            <a:extLst>
              <a:ext uri="{FF2B5EF4-FFF2-40B4-BE49-F238E27FC236}">
                <a16:creationId xmlns:a16="http://schemas.microsoft.com/office/drawing/2014/main" id="{17AC9213-A963-FD3F-9408-F45B01EB4979}"/>
              </a:ext>
            </a:extLst>
          </p:cNvPr>
          <p:cNvSpPr txBox="1"/>
          <p:nvPr/>
        </p:nvSpPr>
        <p:spPr>
          <a:xfrm>
            <a:off x="623392" y="1394417"/>
            <a:ext cx="10153128" cy="646331"/>
          </a:xfrm>
          <a:prstGeom prst="rect">
            <a:avLst/>
          </a:prstGeom>
          <a:noFill/>
        </p:spPr>
        <p:txBody>
          <a:bodyPr wrap="square">
            <a:spAutoFit/>
          </a:bodyPr>
          <a:lstStyle/>
          <a:p>
            <a:r>
              <a:rPr lang="en-US" dirty="0"/>
              <a:t>Now we need to run the </a:t>
            </a:r>
            <a:r>
              <a:rPr lang="en-US" dirty="0" err="1"/>
              <a:t>DESeq</a:t>
            </a:r>
            <a:r>
              <a:rPr lang="en-US" dirty="0"/>
              <a:t> algorithm in order to be able to run the next steps, we will talk in more detail about it a bit later on (in slide 16) </a:t>
            </a:r>
          </a:p>
        </p:txBody>
      </p:sp>
      <p:sp>
        <p:nvSpPr>
          <p:cNvPr id="9" name="Rounded Rectangle 8">
            <a:extLst>
              <a:ext uri="{FF2B5EF4-FFF2-40B4-BE49-F238E27FC236}">
                <a16:creationId xmlns:a16="http://schemas.microsoft.com/office/drawing/2014/main" id="{36E3E8FD-1C11-3B5A-A626-A5005232588D}"/>
              </a:ext>
            </a:extLst>
          </p:cNvPr>
          <p:cNvSpPr/>
          <p:nvPr/>
        </p:nvSpPr>
        <p:spPr>
          <a:xfrm>
            <a:off x="839416" y="3224702"/>
            <a:ext cx="2654424" cy="1428434"/>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0431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EB84344-0684-032B-7C12-BFEBBBD2FA4A}"/>
              </a:ext>
            </a:extLst>
          </p:cNvPr>
          <p:cNvSpPr/>
          <p:nvPr/>
        </p:nvSpPr>
        <p:spPr>
          <a:xfrm>
            <a:off x="539690" y="4745450"/>
            <a:ext cx="6852454" cy="843789"/>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7EA42C-F970-9228-2205-7BA4FA674CEE}"/>
              </a:ext>
            </a:extLst>
          </p:cNvPr>
          <p:cNvSpPr txBox="1">
            <a:spLocks/>
          </p:cNvSpPr>
          <p:nvPr/>
        </p:nvSpPr>
        <p:spPr>
          <a:xfrm>
            <a:off x="551384" y="332656"/>
            <a:ext cx="10731624"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5. Data </a:t>
            </a:r>
            <a:r>
              <a:rPr lang="en-US" dirty="0" err="1">
                <a:solidFill>
                  <a:schemeClr val="bg1"/>
                </a:solidFill>
              </a:rPr>
              <a:t>normalisation</a:t>
            </a:r>
            <a:endParaRPr lang="en-US" dirty="0">
              <a:solidFill>
                <a:schemeClr val="bg1"/>
              </a:solidFill>
            </a:endParaRPr>
          </a:p>
        </p:txBody>
      </p:sp>
      <p:sp>
        <p:nvSpPr>
          <p:cNvPr id="3" name="TextBox 2">
            <a:extLst>
              <a:ext uri="{FF2B5EF4-FFF2-40B4-BE49-F238E27FC236}">
                <a16:creationId xmlns:a16="http://schemas.microsoft.com/office/drawing/2014/main" id="{B24C20E1-5052-3079-690C-863616F26FBC}"/>
              </a:ext>
            </a:extLst>
          </p:cNvPr>
          <p:cNvSpPr txBox="1"/>
          <p:nvPr/>
        </p:nvSpPr>
        <p:spPr>
          <a:xfrm>
            <a:off x="551384" y="1166842"/>
            <a:ext cx="1022756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total number of reads (library size) in each sample slightly varies. We need to take this into account to be able to accurately compare gene expression between samples. For this reason we need to normalize the data to library size.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are many methods of data normalization e.g. </a:t>
            </a:r>
            <a:r>
              <a:rPr lang="en-GB" b="1" i="0" dirty="0">
                <a:solidFill>
                  <a:srgbClr val="24292F"/>
                </a:solidFill>
                <a:effectLst/>
                <a:latin typeface="-apple-system"/>
              </a:rPr>
              <a:t>DESeq2's</a:t>
            </a:r>
            <a:r>
              <a:rPr lang="en-GB" b="0" i="0" dirty="0">
                <a:solidFill>
                  <a:srgbClr val="24292F"/>
                </a:solidFill>
                <a:effectLst/>
                <a:latin typeface="-apple-system"/>
              </a:rPr>
              <a:t> </a:t>
            </a:r>
            <a:r>
              <a:rPr lang="en-GB" b="1" i="0" dirty="0">
                <a:solidFill>
                  <a:srgbClr val="24292F"/>
                </a:solidFill>
                <a:effectLst/>
                <a:latin typeface="-apple-system"/>
              </a:rPr>
              <a:t>median of ratios</a:t>
            </a:r>
            <a:r>
              <a:rPr lang="en-GB" dirty="0">
                <a:solidFill>
                  <a:srgbClr val="24292F"/>
                </a:solidFill>
                <a:latin typeface="-apple-system"/>
              </a:rPr>
              <a:t>, </a:t>
            </a:r>
            <a:r>
              <a:rPr lang="en-US" dirty="0"/>
              <a:t>CPM (counts per million), TPM (transcripts per kilobase million), RPKM/FPKM (</a:t>
            </a:r>
            <a:r>
              <a:rPr lang="en-GB" b="0" i="0" dirty="0">
                <a:solidFill>
                  <a:srgbClr val="24292F"/>
                </a:solidFill>
                <a:effectLst/>
                <a:latin typeface="-apple-system"/>
              </a:rPr>
              <a:t>reads/fragments per kilobase of exon per million reads/fragments mapped)</a:t>
            </a:r>
            <a:r>
              <a:rPr lang="en-GB" dirty="0">
                <a:solidFill>
                  <a:srgbClr val="24292F"/>
                </a:solidFill>
                <a:latin typeface="-apple-system"/>
              </a:rPr>
              <a:t>. </a:t>
            </a:r>
          </a:p>
          <a:p>
            <a:pPr marL="285750" indent="-285750">
              <a:buFont typeface="Arial" panose="020B0604020202020204" pitchFamily="34" charset="0"/>
              <a:buChar char="•"/>
            </a:pPr>
            <a:endParaRPr lang="en-GB" dirty="0">
              <a:solidFill>
                <a:srgbClr val="24292F"/>
              </a:solidFill>
              <a:latin typeface="-apple-system"/>
            </a:endParaRPr>
          </a:p>
          <a:p>
            <a:pPr marL="285750" indent="-285750">
              <a:buFont typeface="Arial" panose="020B0604020202020204" pitchFamily="34" charset="0"/>
              <a:buChar char="•"/>
            </a:pPr>
            <a:r>
              <a:rPr lang="en-GB" b="0" i="0" dirty="0">
                <a:solidFill>
                  <a:srgbClr val="24292F"/>
                </a:solidFill>
                <a:effectLst/>
                <a:latin typeface="-apple-system"/>
              </a:rPr>
              <a:t>DESeq2's </a:t>
            </a:r>
            <a:r>
              <a:rPr lang="en-GB" b="1" i="0" dirty="0">
                <a:solidFill>
                  <a:srgbClr val="24292F"/>
                </a:solidFill>
                <a:effectLst/>
                <a:latin typeface="-apple-system"/>
              </a:rPr>
              <a:t>median of ratios = </a:t>
            </a:r>
            <a:r>
              <a:rPr lang="en-GB" b="0" i="0" dirty="0">
                <a:solidFill>
                  <a:srgbClr val="24292F"/>
                </a:solidFill>
                <a:effectLst/>
                <a:latin typeface="-apple-system"/>
              </a:rPr>
              <a:t>counts divided by sample-specific size factors determined by median ratio of gene counts relative to geometric mean per gene.</a:t>
            </a:r>
          </a:p>
          <a:p>
            <a:pPr marL="285750" indent="-285750">
              <a:buFont typeface="Arial" panose="020B0604020202020204" pitchFamily="34" charset="0"/>
              <a:buChar char="•"/>
            </a:pPr>
            <a:endParaRPr lang="en-GB" dirty="0">
              <a:solidFill>
                <a:srgbClr val="24292F"/>
              </a:solidFill>
              <a:latin typeface="-apple-system"/>
            </a:endParaRPr>
          </a:p>
          <a:p>
            <a:pPr marL="285750" indent="-285750">
              <a:buFont typeface="Arial" panose="020B0604020202020204" pitchFamily="34" charset="0"/>
              <a:buChar char="•"/>
            </a:pPr>
            <a:r>
              <a:rPr lang="en-GB" dirty="0">
                <a:solidFill>
                  <a:srgbClr val="24292F"/>
                </a:solidFill>
                <a:latin typeface="-apple-system"/>
              </a:rPr>
              <a:t>To extract the normalised counts from the DESeq2 object: </a:t>
            </a:r>
          </a:p>
          <a:p>
            <a:pPr marL="285750" indent="-285750">
              <a:buFont typeface="Arial" panose="020B0604020202020204" pitchFamily="34" charset="0"/>
              <a:buChar char="•"/>
            </a:pPr>
            <a:endParaRPr lang="en-GB" dirty="0">
              <a:solidFill>
                <a:srgbClr val="24292F"/>
              </a:solidFill>
              <a:latin typeface="-apple-system"/>
            </a:endParaRPr>
          </a:p>
          <a:p>
            <a:r>
              <a:rPr lang="en-GB" dirty="0" err="1">
                <a:solidFill>
                  <a:srgbClr val="24292F"/>
                </a:solidFill>
                <a:latin typeface="-apple-system"/>
              </a:rPr>
              <a:t>norm.counts</a:t>
            </a:r>
            <a:r>
              <a:rPr lang="en-GB" dirty="0">
                <a:solidFill>
                  <a:srgbClr val="24292F"/>
                </a:solidFill>
                <a:latin typeface="-apple-system"/>
              </a:rPr>
              <a:t> &lt;- counts(</a:t>
            </a:r>
            <a:r>
              <a:rPr lang="en-GB" dirty="0" err="1">
                <a:solidFill>
                  <a:srgbClr val="24292F"/>
                </a:solidFill>
                <a:latin typeface="-apple-system"/>
              </a:rPr>
              <a:t>dds</a:t>
            </a:r>
            <a:r>
              <a:rPr lang="en-GB" dirty="0">
                <a:solidFill>
                  <a:srgbClr val="24292F"/>
                </a:solidFill>
                <a:latin typeface="-apple-system"/>
              </a:rPr>
              <a:t>, normalized=TRUE)</a:t>
            </a:r>
          </a:p>
          <a:p>
            <a:r>
              <a:rPr lang="en-GB" dirty="0" err="1"/>
              <a:t>write.csv</a:t>
            </a:r>
            <a:r>
              <a:rPr lang="en-GB" dirty="0"/>
              <a:t>(</a:t>
            </a:r>
            <a:r>
              <a:rPr lang="en-GB" dirty="0" err="1">
                <a:solidFill>
                  <a:srgbClr val="24292F"/>
                </a:solidFill>
                <a:latin typeface="-apple-system"/>
              </a:rPr>
              <a:t>norm.counts</a:t>
            </a:r>
            <a:r>
              <a:rPr lang="en-GB" dirty="0"/>
              <a:t>, </a:t>
            </a:r>
            <a:r>
              <a:rPr lang="en-GB" dirty="0">
                <a:effectLst/>
              </a:rPr>
              <a:t>file="</a:t>
            </a:r>
            <a:r>
              <a:rPr lang="en-GB" dirty="0" err="1">
                <a:effectLst/>
              </a:rPr>
              <a:t>normalized_counts.txt</a:t>
            </a:r>
            <a:r>
              <a:rPr lang="en-GB" dirty="0">
                <a:effectLst/>
              </a:rPr>
              <a:t>"</a:t>
            </a:r>
            <a:r>
              <a:rPr lang="en-GB" dirty="0"/>
              <a:t>, </a:t>
            </a:r>
            <a:r>
              <a:rPr lang="en-GB" dirty="0" err="1"/>
              <a:t>row</a:t>
            </a:r>
            <a:r>
              <a:rPr lang="en-GB" dirty="0" err="1">
                <a:effectLst/>
              </a:rPr>
              <a:t>.names</a:t>
            </a:r>
            <a:r>
              <a:rPr lang="en-GB" dirty="0">
                <a:effectLst/>
              </a:rPr>
              <a:t>=TRUE</a:t>
            </a:r>
            <a:r>
              <a:rPr lang="en-GB" dirty="0"/>
              <a:t>)</a:t>
            </a:r>
          </a:p>
          <a:p>
            <a:r>
              <a:rPr lang="en-GB" dirty="0">
                <a:solidFill>
                  <a:srgbClr val="24292F"/>
                </a:solidFill>
                <a:latin typeface="-apple-system"/>
              </a:rPr>
              <a:t>head(</a:t>
            </a:r>
            <a:r>
              <a:rPr lang="en-GB" dirty="0" err="1">
                <a:solidFill>
                  <a:srgbClr val="24292F"/>
                </a:solidFill>
                <a:latin typeface="-apple-system"/>
              </a:rPr>
              <a:t>norm.counts</a:t>
            </a:r>
            <a:r>
              <a:rPr lang="en-GB" dirty="0">
                <a:solidFill>
                  <a:srgbClr val="24292F"/>
                </a:solidFill>
                <a:latin typeface="-apple-system"/>
              </a:rPr>
              <a:t>)</a:t>
            </a:r>
          </a:p>
        </p:txBody>
      </p:sp>
      <p:pic>
        <p:nvPicPr>
          <p:cNvPr id="6" name="Picture 5">
            <a:extLst>
              <a:ext uri="{FF2B5EF4-FFF2-40B4-BE49-F238E27FC236}">
                <a16:creationId xmlns:a16="http://schemas.microsoft.com/office/drawing/2014/main" id="{548EBDE0-1682-B250-D636-7D6F43CB2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88" y="5843730"/>
            <a:ext cx="7772400" cy="735558"/>
          </a:xfrm>
          <a:prstGeom prst="rect">
            <a:avLst/>
          </a:prstGeom>
        </p:spPr>
      </p:pic>
      <p:sp>
        <p:nvSpPr>
          <p:cNvPr id="5" name="Rounded Rectangle 4">
            <a:extLst>
              <a:ext uri="{FF2B5EF4-FFF2-40B4-BE49-F238E27FC236}">
                <a16:creationId xmlns:a16="http://schemas.microsoft.com/office/drawing/2014/main" id="{5CD4397A-F489-5178-9F20-2D8C42E8C414}"/>
              </a:ext>
            </a:extLst>
          </p:cNvPr>
          <p:cNvSpPr/>
          <p:nvPr/>
        </p:nvSpPr>
        <p:spPr>
          <a:xfrm>
            <a:off x="1419180" y="5741811"/>
            <a:ext cx="7772400" cy="883165"/>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3492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C622544-019A-1144-3DF8-E04BB6B18535}"/>
              </a:ext>
            </a:extLst>
          </p:cNvPr>
          <p:cNvSpPr/>
          <p:nvPr/>
        </p:nvSpPr>
        <p:spPr>
          <a:xfrm>
            <a:off x="726499" y="4990103"/>
            <a:ext cx="2921230" cy="68609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967380-583B-A9EC-93C3-71950A7B0B99}"/>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5. Data transformation</a:t>
            </a:r>
          </a:p>
        </p:txBody>
      </p:sp>
      <p:sp>
        <p:nvSpPr>
          <p:cNvPr id="4" name="TextBox 3">
            <a:extLst>
              <a:ext uri="{FF2B5EF4-FFF2-40B4-BE49-F238E27FC236}">
                <a16:creationId xmlns:a16="http://schemas.microsoft.com/office/drawing/2014/main" id="{D9F4A859-E301-822E-8C71-E83C981B575D}"/>
              </a:ext>
            </a:extLst>
          </p:cNvPr>
          <p:cNvSpPr txBox="1"/>
          <p:nvPr/>
        </p:nvSpPr>
        <p:spPr>
          <a:xfrm>
            <a:off x="676161" y="1649387"/>
            <a:ext cx="10698093" cy="3416320"/>
          </a:xfrm>
          <a:prstGeom prst="rect">
            <a:avLst/>
          </a:prstGeom>
          <a:noFill/>
        </p:spPr>
        <p:txBody>
          <a:bodyPr wrap="square">
            <a:spAutoFit/>
          </a:bodyPr>
          <a:lstStyle/>
          <a:p>
            <a:pPr marL="285750" indent="-285750">
              <a:buFont typeface="Arial" panose="020B0604020202020204" pitchFamily="34" charset="0"/>
              <a:buChar char="•"/>
            </a:pPr>
            <a:r>
              <a:rPr lang="en-GB" b="0" i="0" dirty="0">
                <a:solidFill>
                  <a:srgbClr val="C00000"/>
                </a:solidFill>
                <a:effectLst/>
                <a:latin typeface="Calibri" panose="020F0502020204030204" pitchFamily="34" charset="0"/>
                <a:cs typeface="Calibri" panose="020F0502020204030204" pitchFamily="34" charset="0"/>
              </a:rPr>
              <a:t>IMPORTANT: In order to test for differential expression, DESeq2 operates on raw counts inside the Generalized Linear Model. However, </a:t>
            </a:r>
            <a:r>
              <a:rPr lang="en-GB" i="0" dirty="0">
                <a:solidFill>
                  <a:srgbClr val="C00000"/>
                </a:solidFill>
                <a:effectLst/>
                <a:latin typeface="Calibri" panose="020F0502020204030204" pitchFamily="34" charset="0"/>
                <a:cs typeface="Calibri" panose="020F0502020204030204" pitchFamily="34" charset="0"/>
              </a:rPr>
              <a:t>for downstream analyses – e.g. for visualization or clustering – it is useful to work with transformed versions of the count data</a:t>
            </a:r>
            <a:r>
              <a:rPr lang="en-GB" b="0" i="0" dirty="0">
                <a:solidFill>
                  <a:srgbClr val="C00000"/>
                </a:solidFill>
                <a:effectLst/>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GB" dirty="0">
              <a:solidFill>
                <a:srgbClr val="333333"/>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solidFill>
                  <a:srgbClr val="333333"/>
                </a:solidFill>
                <a:latin typeface="Calibri" panose="020F0502020204030204" pitchFamily="34" charset="0"/>
                <a:cs typeface="Calibri" panose="020F0502020204030204" pitchFamily="34" charset="0"/>
              </a:rPr>
              <a:t>DESeq2 provides two methods for data transformation:</a:t>
            </a:r>
          </a:p>
          <a:p>
            <a:pPr marL="285750" indent="-285750">
              <a:buFont typeface="Arial" panose="020B0604020202020204" pitchFamily="34" charset="0"/>
              <a:buChar char="•"/>
            </a:pPr>
            <a:endParaRPr lang="en-GB" dirty="0">
              <a:solidFill>
                <a:srgbClr val="333333"/>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GB" b="0" i="0" dirty="0">
                <a:solidFill>
                  <a:srgbClr val="333333"/>
                </a:solidFill>
                <a:effectLst/>
                <a:latin typeface="Calibri" panose="020F0502020204030204" pitchFamily="34" charset="0"/>
                <a:cs typeface="Calibri" panose="020F0502020204030204" pitchFamily="34" charset="0"/>
              </a:rPr>
              <a:t>variance stabilizing transformations (VST) which produces transformed data on the log</a:t>
            </a:r>
            <a:r>
              <a:rPr lang="en-GB" b="0" i="0" baseline="-25000" dirty="0">
                <a:solidFill>
                  <a:srgbClr val="333333"/>
                </a:solidFill>
                <a:effectLst/>
                <a:latin typeface="Calibri" panose="020F0502020204030204" pitchFamily="34" charset="0"/>
                <a:cs typeface="Calibri" panose="020F0502020204030204" pitchFamily="34" charset="0"/>
              </a:rPr>
              <a:t>2</a:t>
            </a:r>
            <a:r>
              <a:rPr lang="en-GB" b="0" i="0" dirty="0">
                <a:solidFill>
                  <a:srgbClr val="333333"/>
                </a:solidFill>
                <a:effectLst/>
                <a:latin typeface="Calibri" panose="020F0502020204030204" pitchFamily="34" charset="0"/>
                <a:cs typeface="Calibri" panose="020F0502020204030204" pitchFamily="34" charset="0"/>
              </a:rPr>
              <a:t> scale, normalized with respect to library size</a:t>
            </a:r>
          </a:p>
          <a:p>
            <a:pPr marL="742950" lvl="1" indent="-285750">
              <a:buFont typeface="Arial" panose="020B0604020202020204" pitchFamily="34" charset="0"/>
              <a:buChar char="•"/>
            </a:pPr>
            <a:r>
              <a:rPr lang="en-GB" b="0" dirty="0">
                <a:solidFill>
                  <a:srgbClr val="333333"/>
                </a:solidFill>
                <a:effectLst/>
                <a:latin typeface="Calibri" panose="020F0502020204030204" pitchFamily="34" charset="0"/>
                <a:cs typeface="Calibri" panose="020F0502020204030204" pitchFamily="34" charset="0"/>
              </a:rPr>
              <a:t>regularized logarithm (</a:t>
            </a:r>
            <a:r>
              <a:rPr lang="en-GB" b="0" dirty="0" err="1">
                <a:solidFill>
                  <a:srgbClr val="333333"/>
                </a:solidFill>
                <a:effectLst/>
                <a:latin typeface="Calibri" panose="020F0502020204030204" pitchFamily="34" charset="0"/>
                <a:cs typeface="Calibri" panose="020F0502020204030204" pitchFamily="34" charset="0"/>
              </a:rPr>
              <a:t>rlog</a:t>
            </a:r>
            <a:r>
              <a:rPr lang="en-GB" b="0" dirty="0">
                <a:solidFill>
                  <a:srgbClr val="333333"/>
                </a:solidFill>
                <a:effectLst/>
                <a:latin typeface="Calibri" panose="020F0502020204030204" pitchFamily="34" charset="0"/>
                <a:cs typeface="Calibri" panose="020F0502020204030204" pitchFamily="34" charset="0"/>
              </a:rPr>
              <a:t>), </a:t>
            </a:r>
            <a:r>
              <a:rPr lang="en-GB" b="0" i="0" dirty="0">
                <a:solidFill>
                  <a:srgbClr val="333333"/>
                </a:solidFill>
                <a:effectLst/>
                <a:latin typeface="Calibri" panose="020F0502020204030204" pitchFamily="34" charset="0"/>
                <a:cs typeface="Calibri" panose="020F0502020204030204" pitchFamily="34" charset="0"/>
              </a:rPr>
              <a:t>which incorporates a prior on the sample differences</a:t>
            </a:r>
            <a:r>
              <a:rPr lang="en-GB" dirty="0">
                <a:solidFill>
                  <a:srgbClr val="333333"/>
                </a:solidFill>
                <a:latin typeface="Calibri" panose="020F0502020204030204" pitchFamily="34" charset="0"/>
                <a:cs typeface="Calibri" panose="020F0502020204030204" pitchFamily="34" charset="0"/>
              </a:rPr>
              <a:t> and produces transformed data on the </a:t>
            </a:r>
            <a:r>
              <a:rPr lang="en-GB" b="0" i="0" dirty="0">
                <a:solidFill>
                  <a:srgbClr val="333333"/>
                </a:solidFill>
                <a:effectLst/>
                <a:latin typeface="Calibri" panose="020F0502020204030204" pitchFamily="34" charset="0"/>
                <a:cs typeface="Calibri" panose="020F0502020204030204" pitchFamily="34" charset="0"/>
              </a:rPr>
              <a:t>log2 scale normalized with respect to other normalization factors.</a:t>
            </a:r>
            <a:endParaRPr lang="en-GB" dirty="0">
              <a:solidFill>
                <a:srgbClr val="333333"/>
              </a:solidFill>
              <a:latin typeface="Calibri" panose="020F0502020204030204" pitchFamily="34" charset="0"/>
              <a:cs typeface="Calibri" panose="020F0502020204030204" pitchFamily="34" charset="0"/>
            </a:endParaRPr>
          </a:p>
          <a:p>
            <a:pPr lvl="1"/>
            <a:endParaRPr lang="en-GB" dirty="0">
              <a:solidFill>
                <a:srgbClr val="333333"/>
              </a:solidFill>
              <a:latin typeface="Calibri" panose="020F0502020204030204" pitchFamily="34" charset="0"/>
              <a:cs typeface="Calibri" panose="020F0502020204030204" pitchFamily="34" charset="0"/>
            </a:endParaRPr>
          </a:p>
          <a:p>
            <a:pPr lvl="1"/>
            <a:endParaRPr lang="en-GB" b="0" i="0" dirty="0">
              <a:solidFill>
                <a:srgbClr val="333333"/>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B101E6D-04C4-8C53-1A73-590624B7FDEA}"/>
              </a:ext>
            </a:extLst>
          </p:cNvPr>
          <p:cNvSpPr txBox="1"/>
          <p:nvPr/>
        </p:nvSpPr>
        <p:spPr>
          <a:xfrm>
            <a:off x="778114" y="5009986"/>
            <a:ext cx="3456384" cy="646331"/>
          </a:xfrm>
          <a:prstGeom prst="rect">
            <a:avLst/>
          </a:prstGeom>
          <a:noFill/>
        </p:spPr>
        <p:txBody>
          <a:bodyPr wrap="square">
            <a:spAutoFit/>
          </a:bodyPr>
          <a:lstStyle/>
          <a:p>
            <a:r>
              <a:rPr lang="en-US" dirty="0" err="1"/>
              <a:t>vsd</a:t>
            </a:r>
            <a:r>
              <a:rPr lang="en-US" dirty="0"/>
              <a:t> &lt;- </a:t>
            </a:r>
            <a:r>
              <a:rPr lang="en-US" dirty="0" err="1"/>
              <a:t>vst</a:t>
            </a:r>
            <a:r>
              <a:rPr lang="en-US" dirty="0"/>
              <a:t>(</a:t>
            </a:r>
            <a:r>
              <a:rPr lang="en-US" dirty="0" err="1"/>
              <a:t>dds</a:t>
            </a:r>
            <a:r>
              <a:rPr lang="en-US" dirty="0"/>
              <a:t>, blind=FALSE)</a:t>
            </a:r>
          </a:p>
          <a:p>
            <a:r>
              <a:rPr lang="en-US" dirty="0"/>
              <a:t>head(assay(</a:t>
            </a:r>
            <a:r>
              <a:rPr lang="en-US" dirty="0" err="1"/>
              <a:t>vsd</a:t>
            </a:r>
            <a:r>
              <a:rPr lang="en-US" dirty="0"/>
              <a:t>),3)</a:t>
            </a:r>
          </a:p>
        </p:txBody>
      </p:sp>
      <p:pic>
        <p:nvPicPr>
          <p:cNvPr id="8" name="Picture 7">
            <a:extLst>
              <a:ext uri="{FF2B5EF4-FFF2-40B4-BE49-F238E27FC236}">
                <a16:creationId xmlns:a16="http://schemas.microsoft.com/office/drawing/2014/main" id="{18B66D81-22C1-C7F5-6377-D5F4ACF1B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544" y="5864583"/>
            <a:ext cx="7196336" cy="736113"/>
          </a:xfrm>
          <a:prstGeom prst="rect">
            <a:avLst/>
          </a:prstGeom>
        </p:spPr>
      </p:pic>
      <p:sp>
        <p:nvSpPr>
          <p:cNvPr id="5" name="Rounded Rectangle 4">
            <a:extLst>
              <a:ext uri="{FF2B5EF4-FFF2-40B4-BE49-F238E27FC236}">
                <a16:creationId xmlns:a16="http://schemas.microsoft.com/office/drawing/2014/main" id="{B7049EE7-9203-3964-B7BD-05E6A674DFBA}"/>
              </a:ext>
            </a:extLst>
          </p:cNvPr>
          <p:cNvSpPr/>
          <p:nvPr/>
        </p:nvSpPr>
        <p:spPr>
          <a:xfrm>
            <a:off x="1668353" y="5864583"/>
            <a:ext cx="7595999" cy="736114"/>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64453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88FA3-E9A6-E225-197E-78E383686BFE}"/>
              </a:ext>
            </a:extLst>
          </p:cNvPr>
          <p:cNvSpPr txBox="1">
            <a:spLocks/>
          </p:cNvSpPr>
          <p:nvPr/>
        </p:nvSpPr>
        <p:spPr>
          <a:xfrm>
            <a:off x="550862" y="332656"/>
            <a:ext cx="116411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bg1"/>
                </a:solidFill>
              </a:rPr>
              <a:t>6. Unsupervised clustering – Hierarchical clustering (dendrogram)</a:t>
            </a:r>
          </a:p>
        </p:txBody>
      </p:sp>
      <p:sp>
        <p:nvSpPr>
          <p:cNvPr id="4" name="TextBox 3">
            <a:extLst>
              <a:ext uri="{FF2B5EF4-FFF2-40B4-BE49-F238E27FC236}">
                <a16:creationId xmlns:a16="http://schemas.microsoft.com/office/drawing/2014/main" id="{0C1EC2E2-9896-3673-A710-5E315B2F19D1}"/>
              </a:ext>
            </a:extLst>
          </p:cNvPr>
          <p:cNvSpPr txBox="1"/>
          <p:nvPr/>
        </p:nvSpPr>
        <p:spPr>
          <a:xfrm>
            <a:off x="479376" y="1556792"/>
            <a:ext cx="11233248" cy="1200329"/>
          </a:xfrm>
          <a:prstGeom prst="rect">
            <a:avLst/>
          </a:prstGeom>
          <a:noFill/>
        </p:spPr>
        <p:txBody>
          <a:bodyPr wrap="square">
            <a:spAutoFit/>
          </a:bodyPr>
          <a:lstStyle/>
          <a:p>
            <a:pPr marL="285750" indent="-285750">
              <a:buFont typeface="Arial" panose="020B0604020202020204" pitchFamily="34" charset="0"/>
              <a:buChar char="•"/>
            </a:pPr>
            <a:r>
              <a:rPr lang="en-US" dirty="0"/>
              <a:t>Hierarchical clustering is a method for cluster analysis where we seek to identify clusters of samples in an unsupervised manner. This is useful for visualizing the effects of the experiment or potential problems in the data such as batch effects. We apply the ‘</a:t>
            </a:r>
            <a:r>
              <a:rPr lang="en-US" dirty="0" err="1"/>
              <a:t>dist</a:t>
            </a:r>
            <a:r>
              <a:rPr lang="en-US" dirty="0"/>
              <a:t>’ function to the transpose of the transformed count matrix to get sample-to-sample distances and then we apply clustering with ‘</a:t>
            </a:r>
            <a:r>
              <a:rPr lang="en-US" dirty="0" err="1"/>
              <a:t>hclust</a:t>
            </a:r>
            <a:r>
              <a:rPr lang="en-US" dirty="0"/>
              <a:t>’, which we then plot.</a:t>
            </a:r>
          </a:p>
        </p:txBody>
      </p:sp>
      <p:sp>
        <p:nvSpPr>
          <p:cNvPr id="5" name="TextBox 4">
            <a:extLst>
              <a:ext uri="{FF2B5EF4-FFF2-40B4-BE49-F238E27FC236}">
                <a16:creationId xmlns:a16="http://schemas.microsoft.com/office/drawing/2014/main" id="{BF857683-E48A-ACFE-6824-9E5650925ABA}"/>
              </a:ext>
            </a:extLst>
          </p:cNvPr>
          <p:cNvSpPr txBox="1"/>
          <p:nvPr/>
        </p:nvSpPr>
        <p:spPr>
          <a:xfrm>
            <a:off x="695325" y="3105834"/>
            <a:ext cx="6097904" cy="646331"/>
          </a:xfrm>
          <a:prstGeom prst="rect">
            <a:avLst/>
          </a:prstGeom>
          <a:noFill/>
        </p:spPr>
        <p:txBody>
          <a:bodyPr wrap="square">
            <a:spAutoFit/>
          </a:bodyPr>
          <a:lstStyle/>
          <a:p>
            <a:r>
              <a:rPr lang="en-US" dirty="0" err="1"/>
              <a:t>sampleDists</a:t>
            </a:r>
            <a:r>
              <a:rPr lang="en-US" dirty="0"/>
              <a:t> &lt;- </a:t>
            </a:r>
            <a:r>
              <a:rPr lang="en-US" dirty="0" err="1"/>
              <a:t>dist</a:t>
            </a:r>
            <a:r>
              <a:rPr lang="en-US" dirty="0"/>
              <a:t>(t(assay(</a:t>
            </a:r>
            <a:r>
              <a:rPr lang="en-US" dirty="0" err="1"/>
              <a:t>vsd</a:t>
            </a:r>
            <a:r>
              <a:rPr lang="en-US" dirty="0"/>
              <a:t>)))</a:t>
            </a:r>
          </a:p>
          <a:p>
            <a:r>
              <a:rPr lang="en-US" dirty="0"/>
              <a:t>plot(</a:t>
            </a:r>
            <a:r>
              <a:rPr lang="en-US" dirty="0" err="1"/>
              <a:t>hclust</a:t>
            </a:r>
            <a:r>
              <a:rPr lang="en-US" dirty="0"/>
              <a:t>(</a:t>
            </a:r>
            <a:r>
              <a:rPr lang="en-US" dirty="0" err="1"/>
              <a:t>sampleDists</a:t>
            </a:r>
            <a:r>
              <a:rPr lang="en-US" dirty="0"/>
              <a:t>, method = "complete"))</a:t>
            </a:r>
          </a:p>
        </p:txBody>
      </p:sp>
      <p:sp>
        <p:nvSpPr>
          <p:cNvPr id="3" name="Rounded Rectangle 2">
            <a:extLst>
              <a:ext uri="{FF2B5EF4-FFF2-40B4-BE49-F238E27FC236}">
                <a16:creationId xmlns:a16="http://schemas.microsoft.com/office/drawing/2014/main" id="{B8C0B494-68B6-655C-783F-D0F194481FA5}"/>
              </a:ext>
            </a:extLst>
          </p:cNvPr>
          <p:cNvSpPr/>
          <p:nvPr/>
        </p:nvSpPr>
        <p:spPr>
          <a:xfrm>
            <a:off x="705184" y="3105093"/>
            <a:ext cx="4506511" cy="68609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4A831626-D7D2-8144-A59D-756393D9B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1984" y="3084439"/>
            <a:ext cx="5990506" cy="3704780"/>
          </a:xfrm>
          <a:prstGeom prst="rect">
            <a:avLst/>
          </a:prstGeom>
        </p:spPr>
      </p:pic>
    </p:spTree>
    <p:extLst>
      <p:ext uri="{BB962C8B-B14F-4D97-AF65-F5344CB8AC3E}">
        <p14:creationId xmlns:p14="http://schemas.microsoft.com/office/powerpoint/2010/main" val="1126029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88FA3-E9A6-E225-197E-78E383686BFE}"/>
              </a:ext>
            </a:extLst>
          </p:cNvPr>
          <p:cNvSpPr txBox="1">
            <a:spLocks/>
          </p:cNvSpPr>
          <p:nvPr/>
        </p:nvSpPr>
        <p:spPr>
          <a:xfrm>
            <a:off x="550863" y="375245"/>
            <a:ext cx="116411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6. Unsupervised clustering – PCA plot</a:t>
            </a:r>
          </a:p>
        </p:txBody>
      </p:sp>
      <p:sp>
        <p:nvSpPr>
          <p:cNvPr id="4" name="TextBox 3">
            <a:extLst>
              <a:ext uri="{FF2B5EF4-FFF2-40B4-BE49-F238E27FC236}">
                <a16:creationId xmlns:a16="http://schemas.microsoft.com/office/drawing/2014/main" id="{0C1EC2E2-9896-3673-A710-5E315B2F19D1}"/>
              </a:ext>
            </a:extLst>
          </p:cNvPr>
          <p:cNvSpPr txBox="1"/>
          <p:nvPr/>
        </p:nvSpPr>
        <p:spPr>
          <a:xfrm>
            <a:off x="767408" y="1772816"/>
            <a:ext cx="9674640" cy="923330"/>
          </a:xfrm>
          <a:prstGeom prst="rect">
            <a:avLst/>
          </a:prstGeom>
          <a:noFill/>
        </p:spPr>
        <p:txBody>
          <a:bodyPr wrap="square">
            <a:spAutoFit/>
          </a:bodyPr>
          <a:lstStyle/>
          <a:p>
            <a:pPr marL="285750" indent="-285750">
              <a:buFont typeface="Arial" panose="020B0604020202020204" pitchFamily="34" charset="0"/>
              <a:buChar char="•"/>
            </a:pPr>
            <a:r>
              <a:rPr lang="en-US" dirty="0"/>
              <a:t>Principal Component Analysis (PCA) plot </a:t>
            </a:r>
            <a:r>
              <a:rPr lang="en-US" dirty="0" err="1"/>
              <a:t>summarises</a:t>
            </a:r>
            <a:r>
              <a:rPr lang="en-US" dirty="0"/>
              <a:t> the data in 2D , plotting their first two principal components. Similar to hierarchical clustering this is useful for visualizing sample grouping in an unsupervised manner.</a:t>
            </a:r>
          </a:p>
        </p:txBody>
      </p:sp>
      <p:sp>
        <p:nvSpPr>
          <p:cNvPr id="8" name="TextBox 7">
            <a:extLst>
              <a:ext uri="{FF2B5EF4-FFF2-40B4-BE49-F238E27FC236}">
                <a16:creationId xmlns:a16="http://schemas.microsoft.com/office/drawing/2014/main" id="{9625FE57-E7D7-1617-FA3A-8DB22D5F32DD}"/>
              </a:ext>
            </a:extLst>
          </p:cNvPr>
          <p:cNvSpPr txBox="1"/>
          <p:nvPr/>
        </p:nvSpPr>
        <p:spPr>
          <a:xfrm>
            <a:off x="983432" y="2996952"/>
            <a:ext cx="3672408" cy="369332"/>
          </a:xfrm>
          <a:prstGeom prst="rect">
            <a:avLst/>
          </a:prstGeom>
          <a:noFill/>
        </p:spPr>
        <p:txBody>
          <a:bodyPr wrap="square">
            <a:spAutoFit/>
          </a:bodyPr>
          <a:lstStyle/>
          <a:p>
            <a:r>
              <a:rPr lang="en-US" dirty="0" err="1"/>
              <a:t>plotPCA</a:t>
            </a:r>
            <a:r>
              <a:rPr lang="en-US" dirty="0"/>
              <a:t>(</a:t>
            </a:r>
            <a:r>
              <a:rPr lang="en-US" dirty="0" err="1"/>
              <a:t>vsd</a:t>
            </a:r>
            <a:r>
              <a:rPr lang="en-US" dirty="0"/>
              <a:t>, </a:t>
            </a:r>
            <a:r>
              <a:rPr lang="en-US" dirty="0" err="1"/>
              <a:t>intgroup</a:t>
            </a:r>
            <a:r>
              <a:rPr lang="en-US" dirty="0"/>
              <a:t>=c("group"))</a:t>
            </a:r>
          </a:p>
        </p:txBody>
      </p:sp>
      <p:sp>
        <p:nvSpPr>
          <p:cNvPr id="3" name="Rounded Rectangle 2">
            <a:extLst>
              <a:ext uri="{FF2B5EF4-FFF2-40B4-BE49-F238E27FC236}">
                <a16:creationId xmlns:a16="http://schemas.microsoft.com/office/drawing/2014/main" id="{7D1AA115-4B41-08C8-047C-1AB4C74E9ED9}"/>
              </a:ext>
            </a:extLst>
          </p:cNvPr>
          <p:cNvSpPr/>
          <p:nvPr/>
        </p:nvSpPr>
        <p:spPr>
          <a:xfrm>
            <a:off x="983431" y="2924944"/>
            <a:ext cx="3354701" cy="550222"/>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F9BBDB8-6BB8-0E84-736E-937024798751}"/>
              </a:ext>
            </a:extLst>
          </p:cNvPr>
          <p:cNvPicPr>
            <a:picLocks noChangeAspect="1"/>
          </p:cNvPicPr>
          <p:nvPr/>
        </p:nvPicPr>
        <p:blipFill rotWithShape="1">
          <a:blip r:embed="rId2">
            <a:extLst>
              <a:ext uri="{28A0092B-C50C-407E-A947-70E740481C1C}">
                <a14:useLocalDpi xmlns:a14="http://schemas.microsoft.com/office/drawing/2010/main" val="0"/>
              </a:ext>
            </a:extLst>
          </a:blip>
          <a:srcRect t="26901" b="27950"/>
          <a:stretch/>
        </p:blipFill>
        <p:spPr>
          <a:xfrm>
            <a:off x="4625486" y="3005509"/>
            <a:ext cx="7509162" cy="3019405"/>
          </a:xfrm>
          <a:prstGeom prst="rect">
            <a:avLst/>
          </a:prstGeom>
        </p:spPr>
      </p:pic>
    </p:spTree>
    <p:extLst>
      <p:ext uri="{BB962C8B-B14F-4D97-AF65-F5344CB8AC3E}">
        <p14:creationId xmlns:p14="http://schemas.microsoft.com/office/powerpoint/2010/main" val="2911104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4DC13-FCD5-A1BC-85D5-4F543B95E191}"/>
              </a:ext>
            </a:extLst>
          </p:cNvPr>
          <p:cNvSpPr txBox="1">
            <a:spLocks/>
          </p:cNvSpPr>
          <p:nvPr/>
        </p:nvSpPr>
        <p:spPr>
          <a:xfrm>
            <a:off x="550863" y="373690"/>
            <a:ext cx="112259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7. Getting the results of differential expression analysis</a:t>
            </a:r>
          </a:p>
        </p:txBody>
      </p:sp>
      <p:sp>
        <p:nvSpPr>
          <p:cNvPr id="5" name="TextBox 4">
            <a:extLst>
              <a:ext uri="{FF2B5EF4-FFF2-40B4-BE49-F238E27FC236}">
                <a16:creationId xmlns:a16="http://schemas.microsoft.com/office/drawing/2014/main" id="{1515AEA7-D4DF-FB6C-BDC9-859E5AB66FF8}"/>
              </a:ext>
            </a:extLst>
          </p:cNvPr>
          <p:cNvSpPr txBox="1"/>
          <p:nvPr/>
        </p:nvSpPr>
        <p:spPr>
          <a:xfrm>
            <a:off x="119337" y="1611965"/>
            <a:ext cx="11640616" cy="2308324"/>
          </a:xfrm>
          <a:prstGeom prst="rect">
            <a:avLst/>
          </a:prstGeom>
          <a:noFill/>
        </p:spPr>
        <p:txBody>
          <a:bodyPr wrap="square">
            <a:spAutoFit/>
          </a:bodyPr>
          <a:lstStyle/>
          <a:p>
            <a:pPr marL="285750" indent="-285750">
              <a:buFont typeface="Arial" panose="020B0604020202020204" pitchFamily="34" charset="0"/>
              <a:buChar char="•"/>
            </a:pPr>
            <a:r>
              <a:rPr lang="en-US" sz="1600" dirty="0"/>
              <a:t>Run DE analysis (NOTE: Differential expression analysis operates on raw counts)</a:t>
            </a:r>
          </a:p>
          <a:p>
            <a:pPr marL="285750" indent="-285750">
              <a:buFont typeface="Arial" panose="020B0604020202020204" pitchFamily="34" charset="0"/>
              <a:buChar char="•"/>
            </a:pPr>
            <a:endParaRPr lang="en-US" sz="1600" dirty="0"/>
          </a:p>
          <a:p>
            <a:r>
              <a:rPr lang="en-US" sz="1600" dirty="0"/>
              <a:t>res &lt;- results(</a:t>
            </a:r>
            <a:r>
              <a:rPr lang="en-US" sz="1600" dirty="0" err="1"/>
              <a:t>dds</a:t>
            </a:r>
            <a:r>
              <a:rPr lang="en-US" sz="1600" dirty="0"/>
              <a:t>, contrast=c("group", "</a:t>
            </a:r>
            <a:r>
              <a:rPr lang="en-US" sz="1600" dirty="0" err="1"/>
              <a:t>chemo_sensitive</a:t>
            </a:r>
            <a:r>
              <a:rPr lang="en-US" sz="1600" dirty="0"/>
              <a:t>", "</a:t>
            </a:r>
            <a:r>
              <a:rPr lang="en-US" sz="1600" dirty="0" err="1"/>
              <a:t>chemo_resistant</a:t>
            </a:r>
            <a:r>
              <a:rPr lang="en-US" sz="1600" dirty="0"/>
              <a:t>"))</a:t>
            </a:r>
          </a:p>
          <a:p>
            <a:endParaRPr lang="en-US" sz="1600" dirty="0"/>
          </a:p>
          <a:p>
            <a:pPr marL="285750" indent="-285750">
              <a:buFont typeface="Arial" panose="020B0604020202020204" pitchFamily="34" charset="0"/>
              <a:buChar char="•"/>
            </a:pPr>
            <a:r>
              <a:rPr lang="en-US" sz="1600" dirty="0"/>
              <a:t>View summary of results</a:t>
            </a:r>
          </a:p>
          <a:p>
            <a:endParaRPr lang="en-US" sz="1600" dirty="0"/>
          </a:p>
          <a:p>
            <a:r>
              <a:rPr lang="en-US" sz="1600" dirty="0"/>
              <a:t>summary(res)</a:t>
            </a:r>
          </a:p>
          <a:p>
            <a:r>
              <a:rPr lang="en-US" sz="1600" dirty="0"/>
              <a:t>head(res)</a:t>
            </a:r>
          </a:p>
          <a:p>
            <a:r>
              <a:rPr lang="en-US" sz="1600" dirty="0" err="1"/>
              <a:t>mcols</a:t>
            </a:r>
            <a:r>
              <a:rPr lang="en-US" sz="1600" dirty="0"/>
              <a:t>(res)$description</a:t>
            </a:r>
          </a:p>
        </p:txBody>
      </p:sp>
      <p:sp>
        <p:nvSpPr>
          <p:cNvPr id="7" name="TextBox 6">
            <a:extLst>
              <a:ext uri="{FF2B5EF4-FFF2-40B4-BE49-F238E27FC236}">
                <a16:creationId xmlns:a16="http://schemas.microsoft.com/office/drawing/2014/main" id="{C6C760D6-AE44-9305-367C-A405A997E7D7}"/>
              </a:ext>
            </a:extLst>
          </p:cNvPr>
          <p:cNvSpPr txBox="1"/>
          <p:nvPr/>
        </p:nvSpPr>
        <p:spPr>
          <a:xfrm>
            <a:off x="1199456" y="5879013"/>
            <a:ext cx="11640616" cy="646331"/>
          </a:xfrm>
          <a:prstGeom prst="rect">
            <a:avLst/>
          </a:prstGeom>
          <a:noFill/>
        </p:spPr>
        <p:txBody>
          <a:bodyPr wrap="square">
            <a:spAutoFit/>
          </a:bodyPr>
          <a:lstStyle/>
          <a:p>
            <a:pPr marL="285750" indent="-285750">
              <a:buFont typeface="Arial" panose="020B0604020202020204" pitchFamily="34" charset="0"/>
              <a:buChar char="•"/>
            </a:pPr>
            <a:r>
              <a:rPr lang="en-US" sz="1800" dirty="0"/>
              <a:t>Exporting results to a .csv file</a:t>
            </a:r>
          </a:p>
          <a:p>
            <a:r>
              <a:rPr lang="en-US" sz="1800" dirty="0" err="1"/>
              <a:t>write.csv</a:t>
            </a:r>
            <a:r>
              <a:rPr lang="en-US" sz="1800" dirty="0"/>
              <a:t>(</a:t>
            </a:r>
            <a:r>
              <a:rPr lang="en-US" sz="1800" dirty="0" err="1"/>
              <a:t>as.data.frame</a:t>
            </a:r>
            <a:r>
              <a:rPr lang="en-US" sz="1800" dirty="0"/>
              <a:t>(res), file="</a:t>
            </a:r>
            <a:r>
              <a:rPr lang="en-US" sz="1800" dirty="0" err="1"/>
              <a:t>DE_sensitiveVSresistant_results.csv</a:t>
            </a:r>
            <a:r>
              <a:rPr lang="en-US" sz="1800" dirty="0"/>
              <a:t>")</a:t>
            </a:r>
            <a:endParaRPr lang="en-US" dirty="0"/>
          </a:p>
        </p:txBody>
      </p:sp>
      <p:pic>
        <p:nvPicPr>
          <p:cNvPr id="9" name="Picture 8">
            <a:extLst>
              <a:ext uri="{FF2B5EF4-FFF2-40B4-BE49-F238E27FC236}">
                <a16:creationId xmlns:a16="http://schemas.microsoft.com/office/drawing/2014/main" id="{140BC16E-3F00-8AA3-8695-5EC705CE9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8168" y="2477663"/>
            <a:ext cx="3674840" cy="1664078"/>
          </a:xfrm>
          <a:prstGeom prst="rect">
            <a:avLst/>
          </a:prstGeom>
        </p:spPr>
      </p:pic>
      <p:pic>
        <p:nvPicPr>
          <p:cNvPr id="11" name="Picture 10">
            <a:extLst>
              <a:ext uri="{FF2B5EF4-FFF2-40B4-BE49-F238E27FC236}">
                <a16:creationId xmlns:a16="http://schemas.microsoft.com/office/drawing/2014/main" id="{AF23ACE1-CE05-0D66-DE1E-7464B02DF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960" y="3075711"/>
            <a:ext cx="4120653" cy="1425481"/>
          </a:xfrm>
          <a:prstGeom prst="rect">
            <a:avLst/>
          </a:prstGeom>
        </p:spPr>
      </p:pic>
      <p:pic>
        <p:nvPicPr>
          <p:cNvPr id="13" name="Picture 12">
            <a:extLst>
              <a:ext uri="{FF2B5EF4-FFF2-40B4-BE49-F238E27FC236}">
                <a16:creationId xmlns:a16="http://schemas.microsoft.com/office/drawing/2014/main" id="{E475D514-95DA-70AD-F239-0645CFBF17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916" y="4705352"/>
            <a:ext cx="11564167" cy="869583"/>
          </a:xfrm>
          <a:prstGeom prst="rect">
            <a:avLst/>
          </a:prstGeom>
        </p:spPr>
      </p:pic>
      <p:sp>
        <p:nvSpPr>
          <p:cNvPr id="6" name="Rounded Rectangle 5">
            <a:extLst>
              <a:ext uri="{FF2B5EF4-FFF2-40B4-BE49-F238E27FC236}">
                <a16:creationId xmlns:a16="http://schemas.microsoft.com/office/drawing/2014/main" id="{284385C3-9222-573D-05F2-FEB0BD543F3E}"/>
              </a:ext>
            </a:extLst>
          </p:cNvPr>
          <p:cNvSpPr/>
          <p:nvPr/>
        </p:nvSpPr>
        <p:spPr>
          <a:xfrm>
            <a:off x="204899" y="4627602"/>
            <a:ext cx="11673183" cy="1206976"/>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134930C6-5A46-2338-4F2C-74D9F85F455C}"/>
              </a:ext>
            </a:extLst>
          </p:cNvPr>
          <p:cNvSpPr/>
          <p:nvPr/>
        </p:nvSpPr>
        <p:spPr>
          <a:xfrm>
            <a:off x="2847139" y="3007890"/>
            <a:ext cx="4265473" cy="1493301"/>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631E5A9F-2E06-60B7-C875-2C1910E3019F}"/>
              </a:ext>
            </a:extLst>
          </p:cNvPr>
          <p:cNvSpPr/>
          <p:nvPr/>
        </p:nvSpPr>
        <p:spPr>
          <a:xfrm>
            <a:off x="7401174" y="2443183"/>
            <a:ext cx="3674841" cy="1698558"/>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4E40DE34-518E-D5EA-3560-7D66BD58B141}"/>
              </a:ext>
            </a:extLst>
          </p:cNvPr>
          <p:cNvCxnSpPr>
            <a:cxnSpLocks/>
          </p:cNvCxnSpPr>
          <p:nvPr/>
        </p:nvCxnSpPr>
        <p:spPr>
          <a:xfrm>
            <a:off x="983432" y="3789040"/>
            <a:ext cx="0" cy="712151"/>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D86EDED-1A0A-A430-03C4-73D7213C7DD7}"/>
              </a:ext>
            </a:extLst>
          </p:cNvPr>
          <p:cNvCxnSpPr>
            <a:cxnSpLocks/>
          </p:cNvCxnSpPr>
          <p:nvPr/>
        </p:nvCxnSpPr>
        <p:spPr>
          <a:xfrm>
            <a:off x="1127448" y="3432964"/>
            <a:ext cx="1719691" cy="0"/>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AB418B9-9F28-5E20-F887-8264AE36DD47}"/>
              </a:ext>
            </a:extLst>
          </p:cNvPr>
          <p:cNvCxnSpPr>
            <a:cxnSpLocks/>
          </p:cNvCxnSpPr>
          <p:nvPr/>
        </p:nvCxnSpPr>
        <p:spPr>
          <a:xfrm flipV="1">
            <a:off x="1343472" y="2708920"/>
            <a:ext cx="6057702" cy="504056"/>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9C3D5D77-08B2-43B5-161E-E6D815169362}"/>
              </a:ext>
            </a:extLst>
          </p:cNvPr>
          <p:cNvSpPr/>
          <p:nvPr/>
        </p:nvSpPr>
        <p:spPr>
          <a:xfrm>
            <a:off x="119337" y="2128016"/>
            <a:ext cx="6683188" cy="349647"/>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0505CDFC-53F3-0DD1-FBE2-61C28BF674CE}"/>
              </a:ext>
            </a:extLst>
          </p:cNvPr>
          <p:cNvSpPr/>
          <p:nvPr/>
        </p:nvSpPr>
        <p:spPr>
          <a:xfrm>
            <a:off x="119337" y="3085950"/>
            <a:ext cx="2232248" cy="869583"/>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16458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667E7-FB93-07D3-9BD9-FEFF97A84FF5}"/>
              </a:ext>
            </a:extLst>
          </p:cNvPr>
          <p:cNvSpPr txBox="1">
            <a:spLocks/>
          </p:cNvSpPr>
          <p:nvPr/>
        </p:nvSpPr>
        <p:spPr>
          <a:xfrm>
            <a:off x="550863" y="332656"/>
            <a:ext cx="11089753"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7. What happens when running the DE analysis</a:t>
            </a:r>
          </a:p>
        </p:txBody>
      </p:sp>
      <p:sp>
        <p:nvSpPr>
          <p:cNvPr id="6" name="TextBox 5">
            <a:extLst>
              <a:ext uri="{FF2B5EF4-FFF2-40B4-BE49-F238E27FC236}">
                <a16:creationId xmlns:a16="http://schemas.microsoft.com/office/drawing/2014/main" id="{A007A495-8981-35EE-2708-A5E008F6EBC1}"/>
              </a:ext>
            </a:extLst>
          </p:cNvPr>
          <p:cNvSpPr txBox="1"/>
          <p:nvPr/>
        </p:nvSpPr>
        <p:spPr>
          <a:xfrm>
            <a:off x="767408" y="1798964"/>
            <a:ext cx="9793088" cy="2862322"/>
          </a:xfrm>
          <a:prstGeom prst="rect">
            <a:avLst/>
          </a:prstGeom>
          <a:noFill/>
        </p:spPr>
        <p:txBody>
          <a:bodyPr wrap="square">
            <a:spAutoFit/>
          </a:bodyPr>
          <a:lstStyle/>
          <a:p>
            <a:r>
              <a:rPr lang="en-GB" b="0" i="0" dirty="0">
                <a:solidFill>
                  <a:srgbClr val="24292F"/>
                </a:solidFill>
                <a:effectLst/>
                <a:latin typeface="-apple-system"/>
              </a:rPr>
              <a:t>Count data is modelled using the </a:t>
            </a:r>
            <a:r>
              <a:rPr lang="en-GB" b="1" i="0" dirty="0">
                <a:solidFill>
                  <a:srgbClr val="24292F"/>
                </a:solidFill>
                <a:effectLst/>
                <a:latin typeface="-apple-system"/>
              </a:rPr>
              <a:t>negative binomial distribution. </a:t>
            </a:r>
          </a:p>
          <a:p>
            <a:endParaRPr lang="en-GB" i="0" dirty="0">
              <a:solidFill>
                <a:srgbClr val="24292F"/>
              </a:solidFill>
              <a:effectLst/>
              <a:latin typeface="-apple-system"/>
            </a:endParaRPr>
          </a:p>
          <a:p>
            <a:r>
              <a:rPr lang="en-GB" i="0" dirty="0">
                <a:solidFill>
                  <a:srgbClr val="24292F"/>
                </a:solidFill>
                <a:effectLst/>
                <a:latin typeface="-apple-system"/>
              </a:rPr>
              <a:t>During the DE analysis DESEq2 :</a:t>
            </a:r>
          </a:p>
          <a:p>
            <a:endParaRPr lang="en-GB" b="1" i="0" dirty="0">
              <a:solidFill>
                <a:srgbClr val="24292F"/>
              </a:solidFill>
              <a:effectLst/>
              <a:latin typeface="-apple-system"/>
            </a:endParaRPr>
          </a:p>
          <a:p>
            <a:pPr marL="285750" indent="-285750">
              <a:buFont typeface="Arial" panose="020B0604020202020204" pitchFamily="34" charset="0"/>
              <a:buChar char="•"/>
            </a:pPr>
            <a:r>
              <a:rPr lang="en-US" dirty="0"/>
              <a:t>estimates size factors</a:t>
            </a:r>
          </a:p>
          <a:p>
            <a:pPr marL="285750" indent="-285750">
              <a:buFont typeface="Arial" panose="020B0604020202020204" pitchFamily="34" charset="0"/>
              <a:buChar char="•"/>
            </a:pPr>
            <a:r>
              <a:rPr lang="en-US" dirty="0"/>
              <a:t>estimates dispersions</a:t>
            </a:r>
          </a:p>
          <a:p>
            <a:pPr marL="285750" indent="-285750">
              <a:buFont typeface="Arial" panose="020B0604020202020204" pitchFamily="34" charset="0"/>
              <a:buChar char="•"/>
            </a:pPr>
            <a:r>
              <a:rPr lang="en-US" dirty="0"/>
              <a:t>computes gene-wise dispersion estimates</a:t>
            </a:r>
          </a:p>
          <a:p>
            <a:pPr marL="285750" indent="-285750">
              <a:buFont typeface="Arial" panose="020B0604020202020204" pitchFamily="34" charset="0"/>
              <a:buChar char="•"/>
            </a:pPr>
            <a:r>
              <a:rPr lang="en-US" dirty="0"/>
              <a:t>finds mean-dispersion relationship</a:t>
            </a:r>
          </a:p>
          <a:p>
            <a:pPr marL="285750" indent="-285750">
              <a:buFont typeface="Arial" panose="020B0604020202020204" pitchFamily="34" charset="0"/>
              <a:buChar char="•"/>
            </a:pPr>
            <a:r>
              <a:rPr lang="en-US" dirty="0"/>
              <a:t>final dispersion estimates</a:t>
            </a:r>
          </a:p>
          <a:p>
            <a:pPr marL="285750" indent="-285750">
              <a:buFont typeface="Arial" panose="020B0604020202020204" pitchFamily="34" charset="0"/>
              <a:buChar char="•"/>
            </a:pPr>
            <a:r>
              <a:rPr lang="en-US" dirty="0"/>
              <a:t>fitting model (the Generalized Linear Model) and testing</a:t>
            </a:r>
          </a:p>
        </p:txBody>
      </p:sp>
      <p:sp>
        <p:nvSpPr>
          <p:cNvPr id="8" name="TextBox 7">
            <a:extLst>
              <a:ext uri="{FF2B5EF4-FFF2-40B4-BE49-F238E27FC236}">
                <a16:creationId xmlns:a16="http://schemas.microsoft.com/office/drawing/2014/main" id="{C18FFB96-EBF4-E8A4-7D1D-71C7FE5B7CD6}"/>
              </a:ext>
            </a:extLst>
          </p:cNvPr>
          <p:cNvSpPr txBox="1"/>
          <p:nvPr/>
        </p:nvSpPr>
        <p:spPr>
          <a:xfrm>
            <a:off x="5393852" y="3045459"/>
            <a:ext cx="6096000" cy="369332"/>
          </a:xfrm>
          <a:prstGeom prst="rect">
            <a:avLst/>
          </a:prstGeom>
          <a:noFill/>
        </p:spPr>
        <p:txBody>
          <a:bodyPr wrap="square">
            <a:spAutoFit/>
          </a:bodyPr>
          <a:lstStyle/>
          <a:p>
            <a:r>
              <a:rPr lang="en-GB" dirty="0">
                <a:solidFill>
                  <a:srgbClr val="24292F"/>
                </a:solidFill>
                <a:latin typeface="-apple-system"/>
              </a:rPr>
              <a:t>*</a:t>
            </a:r>
            <a:r>
              <a:rPr lang="en-GB" b="0" i="0" dirty="0">
                <a:solidFill>
                  <a:srgbClr val="24292F"/>
                </a:solidFill>
                <a:effectLst/>
                <a:latin typeface="-apple-system"/>
              </a:rPr>
              <a:t>Dispersion is a measure of spread or variability in the data</a:t>
            </a:r>
            <a:endParaRPr lang="en-US" dirty="0"/>
          </a:p>
        </p:txBody>
      </p:sp>
      <p:sp>
        <p:nvSpPr>
          <p:cNvPr id="9" name="TextBox 8">
            <a:extLst>
              <a:ext uri="{FF2B5EF4-FFF2-40B4-BE49-F238E27FC236}">
                <a16:creationId xmlns:a16="http://schemas.microsoft.com/office/drawing/2014/main" id="{E8433466-E9C9-BF50-DFB6-C46F7CD836B8}"/>
              </a:ext>
            </a:extLst>
          </p:cNvPr>
          <p:cNvSpPr txBox="1"/>
          <p:nvPr/>
        </p:nvSpPr>
        <p:spPr>
          <a:xfrm>
            <a:off x="1199456" y="5169117"/>
            <a:ext cx="9793088" cy="1477328"/>
          </a:xfrm>
          <a:prstGeom prst="rect">
            <a:avLst/>
          </a:prstGeom>
          <a:noFill/>
        </p:spPr>
        <p:txBody>
          <a:bodyPr wrap="square" rtlCol="0">
            <a:spAutoFit/>
          </a:bodyPr>
          <a:lstStyle/>
          <a:p>
            <a:r>
              <a:rPr lang="en-GB" i="0" dirty="0">
                <a:solidFill>
                  <a:srgbClr val="C00000"/>
                </a:solidFill>
                <a:effectLst/>
              </a:rPr>
              <a:t>IMPORTANT! </a:t>
            </a:r>
            <a:r>
              <a:rPr lang="en-GB" b="0" i="0" dirty="0">
                <a:effectLst/>
              </a:rPr>
              <a:t>DESeq2 doesn't actually use normalized counts, rather it uses the raw counts and models the normalization inside the Generalized Linear Model (GLM). These normalized counts are useful for downstream visualization of results but cannot be used as input to DESeq2 or any other tools that perform differential expression analysis which use the negative binomial model.</a:t>
            </a:r>
          </a:p>
          <a:p>
            <a:endParaRPr lang="en-US" dirty="0"/>
          </a:p>
        </p:txBody>
      </p:sp>
    </p:spTree>
    <p:extLst>
      <p:ext uri="{BB962C8B-B14F-4D97-AF65-F5344CB8AC3E}">
        <p14:creationId xmlns:p14="http://schemas.microsoft.com/office/powerpoint/2010/main" val="363643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1E2FF-8A8F-D22B-CD68-FBE573C05128}"/>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7. Plot Dispersion Estimates</a:t>
            </a:r>
          </a:p>
        </p:txBody>
      </p:sp>
      <p:sp>
        <p:nvSpPr>
          <p:cNvPr id="6" name="TextBox 5">
            <a:extLst>
              <a:ext uri="{FF2B5EF4-FFF2-40B4-BE49-F238E27FC236}">
                <a16:creationId xmlns:a16="http://schemas.microsoft.com/office/drawing/2014/main" id="{E00230DF-7002-8DE0-F53A-D4A2F8B22902}"/>
              </a:ext>
            </a:extLst>
          </p:cNvPr>
          <p:cNvSpPr txBox="1"/>
          <p:nvPr/>
        </p:nvSpPr>
        <p:spPr>
          <a:xfrm>
            <a:off x="710097" y="3231371"/>
            <a:ext cx="2205688" cy="369332"/>
          </a:xfrm>
          <a:prstGeom prst="rect">
            <a:avLst/>
          </a:prstGeom>
          <a:noFill/>
        </p:spPr>
        <p:txBody>
          <a:bodyPr wrap="square">
            <a:spAutoFit/>
          </a:bodyPr>
          <a:lstStyle/>
          <a:p>
            <a:r>
              <a:rPr lang="en-US" dirty="0" err="1"/>
              <a:t>plotDispEsts</a:t>
            </a:r>
            <a:r>
              <a:rPr lang="en-US" dirty="0"/>
              <a:t>(</a:t>
            </a:r>
            <a:r>
              <a:rPr lang="en-US" dirty="0" err="1"/>
              <a:t>dds</a:t>
            </a:r>
            <a:r>
              <a:rPr lang="en-US" dirty="0"/>
              <a:t>)</a:t>
            </a:r>
          </a:p>
        </p:txBody>
      </p:sp>
      <p:sp>
        <p:nvSpPr>
          <p:cNvPr id="7" name="Rounded Rectangle 6">
            <a:extLst>
              <a:ext uri="{FF2B5EF4-FFF2-40B4-BE49-F238E27FC236}">
                <a16:creationId xmlns:a16="http://schemas.microsoft.com/office/drawing/2014/main" id="{57EFDE65-3747-9931-BCE8-E1A8B2252A00}"/>
              </a:ext>
            </a:extLst>
          </p:cNvPr>
          <p:cNvSpPr/>
          <p:nvPr/>
        </p:nvSpPr>
        <p:spPr>
          <a:xfrm>
            <a:off x="695325" y="3231371"/>
            <a:ext cx="1800276" cy="369332"/>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B35B3DB-C043-AB9D-0DC1-14777DD769C1}"/>
              </a:ext>
            </a:extLst>
          </p:cNvPr>
          <p:cNvSpPr txBox="1"/>
          <p:nvPr/>
        </p:nvSpPr>
        <p:spPr>
          <a:xfrm>
            <a:off x="265709" y="1181849"/>
            <a:ext cx="11446915" cy="1200329"/>
          </a:xfrm>
          <a:prstGeom prst="rect">
            <a:avLst/>
          </a:prstGeom>
          <a:noFill/>
        </p:spPr>
        <p:txBody>
          <a:bodyPr wrap="square">
            <a:spAutoFit/>
          </a:bodyPr>
          <a:lstStyle/>
          <a:p>
            <a:r>
              <a:rPr lang="en-GB" b="0" i="0" dirty="0">
                <a:solidFill>
                  <a:srgbClr val="333333"/>
                </a:solidFill>
                <a:effectLst/>
                <a:latin typeface="Helvetica Neue" panose="02000503000000020004" pitchFamily="2" charset="0"/>
              </a:rPr>
              <a:t>Plotting the dispersion estimates is a useful diagnostic to observe how well the data has been captured by the model. </a:t>
            </a:r>
            <a:r>
              <a:rPr lang="en-GB" dirty="0">
                <a:solidFill>
                  <a:srgbClr val="333333"/>
                </a:solidFill>
                <a:latin typeface="Helvetica Neue" panose="02000503000000020004" pitchFamily="2" charset="0"/>
              </a:rPr>
              <a:t>Our data produced the typical shape of the dispersion plot, showing </a:t>
            </a:r>
            <a:r>
              <a:rPr lang="en-GB" b="0" i="0" dirty="0">
                <a:solidFill>
                  <a:srgbClr val="333333"/>
                </a:solidFill>
                <a:effectLst/>
                <a:latin typeface="Helvetica Neue" panose="02000503000000020004" pitchFamily="2" charset="0"/>
              </a:rPr>
              <a:t>the final estimates shrunk from the gene-wise estimates towards the fitted estimates. Some gene-wise estimates are flagged as outliers and not shrunk towards the fitted value</a:t>
            </a:r>
            <a:r>
              <a:rPr lang="en-GB" dirty="0">
                <a:solidFill>
                  <a:srgbClr val="333333"/>
                </a:solidFill>
                <a:latin typeface="Helvetica Neue" panose="02000503000000020004" pitchFamily="2" charset="0"/>
              </a:rPr>
              <a:t>.</a:t>
            </a:r>
            <a:endParaRPr lang="en-US" dirty="0"/>
          </a:p>
        </p:txBody>
      </p:sp>
      <p:pic>
        <p:nvPicPr>
          <p:cNvPr id="10" name="Picture 9">
            <a:extLst>
              <a:ext uri="{FF2B5EF4-FFF2-40B4-BE49-F238E27FC236}">
                <a16:creationId xmlns:a16="http://schemas.microsoft.com/office/drawing/2014/main" id="{07D35587-0CBB-3DB2-63B3-6CD5BE2AB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720" y="2147409"/>
            <a:ext cx="6090363" cy="4593959"/>
          </a:xfrm>
          <a:prstGeom prst="rect">
            <a:avLst/>
          </a:prstGeom>
        </p:spPr>
      </p:pic>
    </p:spTree>
    <p:extLst>
      <p:ext uri="{BB962C8B-B14F-4D97-AF65-F5344CB8AC3E}">
        <p14:creationId xmlns:p14="http://schemas.microsoft.com/office/powerpoint/2010/main" val="2377729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C96C-5BA1-C50F-CE99-2228E192E9E0}"/>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Graphical Visualizations of the DE genes – MA plot</a:t>
            </a:r>
          </a:p>
        </p:txBody>
      </p:sp>
      <p:sp>
        <p:nvSpPr>
          <p:cNvPr id="6" name="TextBox 5">
            <a:extLst>
              <a:ext uri="{FF2B5EF4-FFF2-40B4-BE49-F238E27FC236}">
                <a16:creationId xmlns:a16="http://schemas.microsoft.com/office/drawing/2014/main" id="{DF5ACF98-8430-32BB-67AF-34C401E5793E}"/>
              </a:ext>
            </a:extLst>
          </p:cNvPr>
          <p:cNvSpPr txBox="1"/>
          <p:nvPr/>
        </p:nvSpPr>
        <p:spPr>
          <a:xfrm>
            <a:off x="479376" y="2564904"/>
            <a:ext cx="1872208" cy="369332"/>
          </a:xfrm>
          <a:prstGeom prst="rect">
            <a:avLst/>
          </a:prstGeom>
          <a:noFill/>
        </p:spPr>
        <p:txBody>
          <a:bodyPr wrap="square">
            <a:spAutoFit/>
          </a:bodyPr>
          <a:lstStyle/>
          <a:p>
            <a:r>
              <a:rPr lang="en-US" dirty="0" err="1"/>
              <a:t>plotMA</a:t>
            </a:r>
            <a:r>
              <a:rPr lang="en-US" dirty="0"/>
              <a:t>(res)</a:t>
            </a:r>
          </a:p>
        </p:txBody>
      </p:sp>
      <p:sp>
        <p:nvSpPr>
          <p:cNvPr id="3" name="Rounded Rectangle 2">
            <a:extLst>
              <a:ext uri="{FF2B5EF4-FFF2-40B4-BE49-F238E27FC236}">
                <a16:creationId xmlns:a16="http://schemas.microsoft.com/office/drawing/2014/main" id="{B1F90EC6-1B5A-F449-A4ED-9164AF777202}"/>
              </a:ext>
            </a:extLst>
          </p:cNvPr>
          <p:cNvSpPr/>
          <p:nvPr/>
        </p:nvSpPr>
        <p:spPr>
          <a:xfrm>
            <a:off x="459633" y="2470206"/>
            <a:ext cx="1459903" cy="696702"/>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F66286D-A877-4612-35F5-EE8B2BC56800}"/>
              </a:ext>
            </a:extLst>
          </p:cNvPr>
          <p:cNvSpPr txBox="1"/>
          <p:nvPr/>
        </p:nvSpPr>
        <p:spPr>
          <a:xfrm>
            <a:off x="695324" y="1345562"/>
            <a:ext cx="10009187" cy="646331"/>
          </a:xfrm>
          <a:prstGeom prst="rect">
            <a:avLst/>
          </a:prstGeom>
          <a:noFill/>
        </p:spPr>
        <p:txBody>
          <a:bodyPr wrap="square">
            <a:spAutoFit/>
          </a:bodyPr>
          <a:lstStyle/>
          <a:p>
            <a:r>
              <a:rPr lang="en-GB" b="0" i="1" dirty="0" err="1">
                <a:solidFill>
                  <a:srgbClr val="333333"/>
                </a:solidFill>
                <a:effectLst/>
              </a:rPr>
              <a:t>plotMA</a:t>
            </a:r>
            <a:r>
              <a:rPr lang="en-GB" b="0" i="0" dirty="0">
                <a:solidFill>
                  <a:srgbClr val="333333"/>
                </a:solidFill>
                <a:effectLst/>
              </a:rPr>
              <a:t> shows the log2 fold changes of the genes (each dot is a gene) over the mean of normalized counts for all samples in our data.</a:t>
            </a:r>
            <a:endParaRPr lang="en-US" dirty="0"/>
          </a:p>
        </p:txBody>
      </p:sp>
      <p:pic>
        <p:nvPicPr>
          <p:cNvPr id="8" name="Picture 7">
            <a:extLst>
              <a:ext uri="{FF2B5EF4-FFF2-40B4-BE49-F238E27FC236}">
                <a16:creationId xmlns:a16="http://schemas.microsoft.com/office/drawing/2014/main" id="{B4B9DB1C-3649-F4C1-26C7-B4D866113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7688" y="2470206"/>
            <a:ext cx="6622897" cy="4095877"/>
          </a:xfrm>
          <a:prstGeom prst="rect">
            <a:avLst/>
          </a:prstGeom>
        </p:spPr>
      </p:pic>
    </p:spTree>
    <p:extLst>
      <p:ext uri="{BB962C8B-B14F-4D97-AF65-F5344CB8AC3E}">
        <p14:creationId xmlns:p14="http://schemas.microsoft.com/office/powerpoint/2010/main" val="4202615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C96C-5BA1-C50F-CE99-2228E192E9E0}"/>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Graphical Visualizations of the DE genes – MA plot</a:t>
            </a:r>
          </a:p>
        </p:txBody>
      </p:sp>
      <p:sp>
        <p:nvSpPr>
          <p:cNvPr id="6" name="TextBox 5">
            <a:extLst>
              <a:ext uri="{FF2B5EF4-FFF2-40B4-BE49-F238E27FC236}">
                <a16:creationId xmlns:a16="http://schemas.microsoft.com/office/drawing/2014/main" id="{DF5ACF98-8430-32BB-67AF-34C401E5793E}"/>
              </a:ext>
            </a:extLst>
          </p:cNvPr>
          <p:cNvSpPr txBox="1"/>
          <p:nvPr/>
        </p:nvSpPr>
        <p:spPr>
          <a:xfrm>
            <a:off x="479376" y="2564904"/>
            <a:ext cx="1872208" cy="369332"/>
          </a:xfrm>
          <a:prstGeom prst="rect">
            <a:avLst/>
          </a:prstGeom>
          <a:noFill/>
        </p:spPr>
        <p:txBody>
          <a:bodyPr wrap="square">
            <a:spAutoFit/>
          </a:bodyPr>
          <a:lstStyle/>
          <a:p>
            <a:r>
              <a:rPr lang="en-US" dirty="0" err="1"/>
              <a:t>plotMA</a:t>
            </a:r>
            <a:r>
              <a:rPr lang="en-US" dirty="0"/>
              <a:t>(res)</a:t>
            </a:r>
          </a:p>
        </p:txBody>
      </p:sp>
      <p:sp>
        <p:nvSpPr>
          <p:cNvPr id="3" name="Rounded Rectangle 2">
            <a:extLst>
              <a:ext uri="{FF2B5EF4-FFF2-40B4-BE49-F238E27FC236}">
                <a16:creationId xmlns:a16="http://schemas.microsoft.com/office/drawing/2014/main" id="{B1F90EC6-1B5A-F449-A4ED-9164AF777202}"/>
              </a:ext>
            </a:extLst>
          </p:cNvPr>
          <p:cNvSpPr/>
          <p:nvPr/>
        </p:nvSpPr>
        <p:spPr>
          <a:xfrm>
            <a:off x="459633" y="2470206"/>
            <a:ext cx="1459903" cy="696702"/>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F66286D-A877-4612-35F5-EE8B2BC56800}"/>
              </a:ext>
            </a:extLst>
          </p:cNvPr>
          <p:cNvSpPr txBox="1"/>
          <p:nvPr/>
        </p:nvSpPr>
        <p:spPr>
          <a:xfrm>
            <a:off x="695324" y="1345562"/>
            <a:ext cx="10009187" cy="646331"/>
          </a:xfrm>
          <a:prstGeom prst="rect">
            <a:avLst/>
          </a:prstGeom>
          <a:noFill/>
        </p:spPr>
        <p:txBody>
          <a:bodyPr wrap="square">
            <a:spAutoFit/>
          </a:bodyPr>
          <a:lstStyle/>
          <a:p>
            <a:r>
              <a:rPr lang="en-GB" b="0" i="1" dirty="0" err="1">
                <a:solidFill>
                  <a:srgbClr val="333333"/>
                </a:solidFill>
                <a:effectLst/>
              </a:rPr>
              <a:t>plotMA</a:t>
            </a:r>
            <a:r>
              <a:rPr lang="en-GB" b="0" i="0" dirty="0">
                <a:solidFill>
                  <a:srgbClr val="333333"/>
                </a:solidFill>
                <a:effectLst/>
              </a:rPr>
              <a:t> shows the log2 fold changes of the genes (each dot is a gene) over the mean of normalized counts for all samples in our data.</a:t>
            </a:r>
            <a:endParaRPr lang="en-US" dirty="0"/>
          </a:p>
        </p:txBody>
      </p:sp>
      <p:pic>
        <p:nvPicPr>
          <p:cNvPr id="8" name="Picture 7">
            <a:extLst>
              <a:ext uri="{FF2B5EF4-FFF2-40B4-BE49-F238E27FC236}">
                <a16:creationId xmlns:a16="http://schemas.microsoft.com/office/drawing/2014/main" id="{B4B9DB1C-3649-F4C1-26C7-B4D866113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7688" y="2470206"/>
            <a:ext cx="6622897" cy="4095877"/>
          </a:xfrm>
          <a:prstGeom prst="rect">
            <a:avLst/>
          </a:prstGeom>
        </p:spPr>
      </p:pic>
      <p:sp>
        <p:nvSpPr>
          <p:cNvPr id="4" name="TextBox 3">
            <a:extLst>
              <a:ext uri="{FF2B5EF4-FFF2-40B4-BE49-F238E27FC236}">
                <a16:creationId xmlns:a16="http://schemas.microsoft.com/office/drawing/2014/main" id="{7AD0E5AD-8B33-4FB3-DC6F-F9603341BCF9}"/>
              </a:ext>
            </a:extLst>
          </p:cNvPr>
          <p:cNvSpPr txBox="1"/>
          <p:nvPr/>
        </p:nvSpPr>
        <p:spPr>
          <a:xfrm>
            <a:off x="3719736" y="2636912"/>
            <a:ext cx="6190849" cy="1584176"/>
          </a:xfrm>
          <a:prstGeom prst="rect">
            <a:avLst/>
          </a:prstGeom>
          <a:noFill/>
          <a:ln w="28575">
            <a:solidFill>
              <a:srgbClr val="FF0000"/>
            </a:solidFill>
          </a:ln>
        </p:spPr>
        <p:txBody>
          <a:bodyPr wrap="square" rtlCol="0">
            <a:spAutoFit/>
          </a:bodyPr>
          <a:lstStyle/>
          <a:p>
            <a:endParaRPr lang="en-US" dirty="0"/>
          </a:p>
        </p:txBody>
      </p:sp>
      <p:sp>
        <p:nvSpPr>
          <p:cNvPr id="5" name="TextBox 4">
            <a:extLst>
              <a:ext uri="{FF2B5EF4-FFF2-40B4-BE49-F238E27FC236}">
                <a16:creationId xmlns:a16="http://schemas.microsoft.com/office/drawing/2014/main" id="{509E68B8-332C-4C08-01B7-CCCFDEAF45B9}"/>
              </a:ext>
            </a:extLst>
          </p:cNvPr>
          <p:cNvSpPr txBox="1"/>
          <p:nvPr/>
        </p:nvSpPr>
        <p:spPr>
          <a:xfrm>
            <a:off x="3719736" y="4233308"/>
            <a:ext cx="6190849" cy="1584176"/>
          </a:xfrm>
          <a:prstGeom prst="rect">
            <a:avLst/>
          </a:prstGeom>
          <a:noFill/>
          <a:ln w="28575">
            <a:solidFill>
              <a:schemeClr val="accent4">
                <a:lumMod val="75000"/>
              </a:schemeClr>
            </a:solidFill>
          </a:ln>
        </p:spPr>
        <p:txBody>
          <a:bodyPr wrap="square" rtlCol="0">
            <a:spAutoFit/>
          </a:bodyPr>
          <a:lstStyle/>
          <a:p>
            <a:endParaRPr lang="en-US" dirty="0"/>
          </a:p>
        </p:txBody>
      </p:sp>
      <p:sp>
        <p:nvSpPr>
          <p:cNvPr id="9" name="TextBox 8">
            <a:extLst>
              <a:ext uri="{FF2B5EF4-FFF2-40B4-BE49-F238E27FC236}">
                <a16:creationId xmlns:a16="http://schemas.microsoft.com/office/drawing/2014/main" id="{511DB147-F984-F4F2-8C19-DF298F8AB8ED}"/>
              </a:ext>
            </a:extLst>
          </p:cNvPr>
          <p:cNvSpPr txBox="1"/>
          <p:nvPr/>
        </p:nvSpPr>
        <p:spPr>
          <a:xfrm>
            <a:off x="9912423" y="2600215"/>
            <a:ext cx="1584176" cy="1477328"/>
          </a:xfrm>
          <a:prstGeom prst="rect">
            <a:avLst/>
          </a:prstGeom>
          <a:noFill/>
          <a:ln>
            <a:noFill/>
          </a:ln>
        </p:spPr>
        <p:txBody>
          <a:bodyPr wrap="square" rtlCol="0">
            <a:spAutoFit/>
          </a:bodyPr>
          <a:lstStyle/>
          <a:p>
            <a:r>
              <a:rPr lang="en-US" dirty="0">
                <a:solidFill>
                  <a:srgbClr val="FF0000"/>
                </a:solidFill>
              </a:rPr>
              <a:t>Genes upregulated in sensitive compared to resistant</a:t>
            </a:r>
          </a:p>
        </p:txBody>
      </p:sp>
      <p:sp>
        <p:nvSpPr>
          <p:cNvPr id="11" name="TextBox 10">
            <a:extLst>
              <a:ext uri="{FF2B5EF4-FFF2-40B4-BE49-F238E27FC236}">
                <a16:creationId xmlns:a16="http://schemas.microsoft.com/office/drawing/2014/main" id="{9E4473F8-FD58-7338-A44A-EDC9322B2E6F}"/>
              </a:ext>
            </a:extLst>
          </p:cNvPr>
          <p:cNvSpPr txBox="1"/>
          <p:nvPr/>
        </p:nvSpPr>
        <p:spPr>
          <a:xfrm>
            <a:off x="9912422" y="4341078"/>
            <a:ext cx="1800201" cy="1477328"/>
          </a:xfrm>
          <a:prstGeom prst="rect">
            <a:avLst/>
          </a:prstGeom>
          <a:noFill/>
          <a:ln>
            <a:noFill/>
          </a:ln>
        </p:spPr>
        <p:txBody>
          <a:bodyPr wrap="square" rtlCol="0">
            <a:spAutoFit/>
          </a:bodyPr>
          <a:lstStyle/>
          <a:p>
            <a:r>
              <a:rPr lang="en-US" dirty="0">
                <a:solidFill>
                  <a:schemeClr val="accent4">
                    <a:lumMod val="75000"/>
                  </a:schemeClr>
                </a:solidFill>
              </a:rPr>
              <a:t>Genes downregulated in sensitive compared to resistant</a:t>
            </a:r>
          </a:p>
        </p:txBody>
      </p:sp>
    </p:spTree>
    <p:extLst>
      <p:ext uri="{BB962C8B-B14F-4D97-AF65-F5344CB8AC3E}">
        <p14:creationId xmlns:p14="http://schemas.microsoft.com/office/powerpoint/2010/main" val="1401002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204AD06C-8A04-0D2A-019B-43909D7FD0ED}"/>
              </a:ext>
            </a:extLst>
          </p:cNvPr>
          <p:cNvSpPr/>
          <p:nvPr/>
        </p:nvSpPr>
        <p:spPr>
          <a:xfrm>
            <a:off x="252666" y="3861048"/>
            <a:ext cx="4248472" cy="207749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9E82AF-8D38-5659-B821-D2DC94518542}"/>
              </a:ext>
            </a:extLst>
          </p:cNvPr>
          <p:cNvSpPr txBox="1">
            <a:spLocks/>
          </p:cNvSpPr>
          <p:nvPr/>
        </p:nvSpPr>
        <p:spPr>
          <a:xfrm>
            <a:off x="550863" y="332656"/>
            <a:ext cx="10910949"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Graphical Visualizations of the DE genes – Volcano plot</a:t>
            </a:r>
          </a:p>
        </p:txBody>
      </p:sp>
      <p:sp>
        <p:nvSpPr>
          <p:cNvPr id="4" name="TextBox 3">
            <a:extLst>
              <a:ext uri="{FF2B5EF4-FFF2-40B4-BE49-F238E27FC236}">
                <a16:creationId xmlns:a16="http://schemas.microsoft.com/office/drawing/2014/main" id="{F4DE2CEA-2874-2707-F6FF-E8B3A767C357}"/>
              </a:ext>
            </a:extLst>
          </p:cNvPr>
          <p:cNvSpPr txBox="1"/>
          <p:nvPr/>
        </p:nvSpPr>
        <p:spPr>
          <a:xfrm>
            <a:off x="396680" y="3861048"/>
            <a:ext cx="4248471" cy="2031325"/>
          </a:xfrm>
          <a:prstGeom prst="rect">
            <a:avLst/>
          </a:prstGeom>
          <a:noFill/>
        </p:spPr>
        <p:txBody>
          <a:bodyPr wrap="square">
            <a:spAutoFit/>
          </a:bodyPr>
          <a:lstStyle/>
          <a:p>
            <a:r>
              <a:rPr lang="en-US" dirty="0" err="1"/>
              <a:t>BiocManager</a:t>
            </a:r>
            <a:r>
              <a:rPr lang="en-US" dirty="0"/>
              <a:t>::install('</a:t>
            </a:r>
            <a:r>
              <a:rPr lang="en-US" dirty="0" err="1"/>
              <a:t>EnhancedVolcano</a:t>
            </a:r>
            <a:r>
              <a:rPr lang="en-US" dirty="0"/>
              <a:t>')</a:t>
            </a:r>
          </a:p>
          <a:p>
            <a:r>
              <a:rPr lang="en-US" dirty="0"/>
              <a:t>library(</a:t>
            </a:r>
            <a:r>
              <a:rPr lang="en-US" dirty="0" err="1"/>
              <a:t>EnhancedVolcano</a:t>
            </a:r>
            <a:r>
              <a:rPr lang="en-US" dirty="0"/>
              <a:t>, quite = TRUE)</a:t>
            </a:r>
          </a:p>
          <a:p>
            <a:endParaRPr lang="en-US" dirty="0"/>
          </a:p>
          <a:p>
            <a:r>
              <a:rPr lang="en-US" dirty="0" err="1"/>
              <a:t>EnhancedVolcano</a:t>
            </a:r>
            <a:r>
              <a:rPr lang="en-US" dirty="0"/>
              <a:t>(res,</a:t>
            </a:r>
          </a:p>
          <a:p>
            <a:r>
              <a:rPr lang="en-US" dirty="0"/>
              <a:t>    lab = </a:t>
            </a:r>
            <a:r>
              <a:rPr lang="en-US" dirty="0" err="1"/>
              <a:t>rownames</a:t>
            </a:r>
            <a:r>
              <a:rPr lang="en-US" dirty="0"/>
              <a:t>(res),</a:t>
            </a:r>
          </a:p>
          <a:p>
            <a:r>
              <a:rPr lang="en-US" dirty="0"/>
              <a:t>    x = 'log2FoldChange',</a:t>
            </a:r>
          </a:p>
          <a:p>
            <a:r>
              <a:rPr lang="en-US" dirty="0"/>
              <a:t>    y = ‘</a:t>
            </a:r>
            <a:r>
              <a:rPr lang="en-US" dirty="0" err="1"/>
              <a:t>padj</a:t>
            </a:r>
            <a:r>
              <a:rPr lang="en-US" dirty="0"/>
              <a:t>')</a:t>
            </a:r>
          </a:p>
        </p:txBody>
      </p:sp>
      <p:sp>
        <p:nvSpPr>
          <p:cNvPr id="5" name="TextBox 4">
            <a:extLst>
              <a:ext uri="{FF2B5EF4-FFF2-40B4-BE49-F238E27FC236}">
                <a16:creationId xmlns:a16="http://schemas.microsoft.com/office/drawing/2014/main" id="{9E9C15AA-4E44-4844-AD71-B331330A75E5}"/>
              </a:ext>
            </a:extLst>
          </p:cNvPr>
          <p:cNvSpPr txBox="1"/>
          <p:nvPr/>
        </p:nvSpPr>
        <p:spPr>
          <a:xfrm>
            <a:off x="252666" y="1412776"/>
            <a:ext cx="4979238" cy="1200329"/>
          </a:xfrm>
          <a:prstGeom prst="rect">
            <a:avLst/>
          </a:prstGeom>
          <a:noFill/>
        </p:spPr>
        <p:txBody>
          <a:bodyPr wrap="square" rtlCol="0">
            <a:spAutoFit/>
          </a:bodyPr>
          <a:lstStyle/>
          <a:p>
            <a:r>
              <a:rPr lang="en-US" dirty="0"/>
              <a:t>In a volcano plot we can visualize the Log2Fold changes of all genes (again each dot represents a gene) plotted against the -Log10 Adjusted </a:t>
            </a:r>
            <a:r>
              <a:rPr lang="en-US" dirty="0" err="1"/>
              <a:t>pvalue</a:t>
            </a:r>
            <a:r>
              <a:rPr lang="en-US" dirty="0"/>
              <a:t>. In red are genes with </a:t>
            </a:r>
            <a:r>
              <a:rPr lang="en-US" dirty="0" err="1"/>
              <a:t>padj</a:t>
            </a:r>
            <a:r>
              <a:rPr lang="en-US" dirty="0"/>
              <a:t> &lt; 0.05)</a:t>
            </a:r>
          </a:p>
        </p:txBody>
      </p:sp>
      <p:pic>
        <p:nvPicPr>
          <p:cNvPr id="8" name="Picture 7">
            <a:extLst>
              <a:ext uri="{FF2B5EF4-FFF2-40B4-BE49-F238E27FC236}">
                <a16:creationId xmlns:a16="http://schemas.microsoft.com/office/drawing/2014/main" id="{3D6301D6-F1CF-DC56-9EFF-ECE051E15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3992" y="1637279"/>
            <a:ext cx="4686758" cy="5046325"/>
          </a:xfrm>
          <a:prstGeom prst="rect">
            <a:avLst/>
          </a:prstGeom>
        </p:spPr>
      </p:pic>
    </p:spTree>
    <p:extLst>
      <p:ext uri="{BB962C8B-B14F-4D97-AF65-F5344CB8AC3E}">
        <p14:creationId xmlns:p14="http://schemas.microsoft.com/office/powerpoint/2010/main" val="1504957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5C8A1-8687-B6A3-5A2B-C0B08B5D2557}"/>
              </a:ext>
            </a:extLst>
          </p:cNvPr>
          <p:cNvSpPr txBox="1">
            <a:spLocks/>
          </p:cNvSpPr>
          <p:nvPr/>
        </p:nvSpPr>
        <p:spPr>
          <a:xfrm>
            <a:off x="550863" y="332656"/>
            <a:ext cx="1073214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Graphical Visualizations of the DE genes – </a:t>
            </a:r>
            <a:r>
              <a:rPr lang="en-US" sz="3600" dirty="0" err="1">
                <a:solidFill>
                  <a:schemeClr val="bg1"/>
                </a:solidFill>
              </a:rPr>
              <a:t>CountsPlot</a:t>
            </a:r>
            <a:endParaRPr lang="en-US" sz="3600" dirty="0">
              <a:solidFill>
                <a:schemeClr val="bg1"/>
              </a:solidFill>
            </a:endParaRPr>
          </a:p>
        </p:txBody>
      </p:sp>
      <p:pic>
        <p:nvPicPr>
          <p:cNvPr id="4" name="Picture 3">
            <a:extLst>
              <a:ext uri="{FF2B5EF4-FFF2-40B4-BE49-F238E27FC236}">
                <a16:creationId xmlns:a16="http://schemas.microsoft.com/office/drawing/2014/main" id="{E2B3A2EB-9B23-6C82-0292-B3D3504DE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1784" y="2414148"/>
            <a:ext cx="4824536" cy="4353302"/>
          </a:xfrm>
          <a:prstGeom prst="rect">
            <a:avLst/>
          </a:prstGeom>
        </p:spPr>
      </p:pic>
      <p:sp>
        <p:nvSpPr>
          <p:cNvPr id="6" name="TextBox 5">
            <a:extLst>
              <a:ext uri="{FF2B5EF4-FFF2-40B4-BE49-F238E27FC236}">
                <a16:creationId xmlns:a16="http://schemas.microsoft.com/office/drawing/2014/main" id="{BEBDC757-B19D-EAC3-F57B-6D551F93D0F6}"/>
              </a:ext>
            </a:extLst>
          </p:cNvPr>
          <p:cNvSpPr txBox="1"/>
          <p:nvPr/>
        </p:nvSpPr>
        <p:spPr>
          <a:xfrm>
            <a:off x="119336" y="1196752"/>
            <a:ext cx="12025336" cy="923330"/>
          </a:xfrm>
          <a:prstGeom prst="rect">
            <a:avLst/>
          </a:prstGeom>
          <a:noFill/>
        </p:spPr>
        <p:txBody>
          <a:bodyPr wrap="square">
            <a:spAutoFit/>
          </a:bodyPr>
          <a:lstStyle/>
          <a:p>
            <a:pPr marL="285750" indent="-285750">
              <a:buFont typeface="Arial" panose="020B0604020202020204" pitchFamily="34" charset="0"/>
              <a:buChar char="•"/>
            </a:pPr>
            <a:r>
              <a:rPr lang="en-GB" b="0" i="0" dirty="0">
                <a:solidFill>
                  <a:srgbClr val="333333"/>
                </a:solidFill>
                <a:effectLst/>
                <a:latin typeface="Calibri" panose="020F0502020204030204" pitchFamily="34" charset="0"/>
                <a:cs typeface="Calibri" panose="020F0502020204030204" pitchFamily="34" charset="0"/>
              </a:rPr>
              <a:t>It is also useful to examine the counts of reads for a single gene across the groups. </a:t>
            </a:r>
            <a:r>
              <a:rPr lang="en-GB" b="0" i="1" dirty="0" err="1">
                <a:solidFill>
                  <a:srgbClr val="333333"/>
                </a:solidFill>
                <a:effectLst/>
                <a:latin typeface="Calibri" panose="020F0502020204030204" pitchFamily="34" charset="0"/>
                <a:cs typeface="Calibri" panose="020F0502020204030204" pitchFamily="34" charset="0"/>
              </a:rPr>
              <a:t>plotCounts</a:t>
            </a:r>
            <a:r>
              <a:rPr lang="en-GB" b="0" i="0" dirty="0">
                <a:solidFill>
                  <a:srgbClr val="333333"/>
                </a:solidFill>
                <a:effectLst/>
                <a:latin typeface="Calibri" panose="020F0502020204030204" pitchFamily="34" charset="0"/>
                <a:cs typeface="Calibri" panose="020F0502020204030204" pitchFamily="34" charset="0"/>
              </a:rPr>
              <a:t>, produces a simple plot </a:t>
            </a:r>
            <a:r>
              <a:rPr lang="en-GB" dirty="0">
                <a:solidFill>
                  <a:srgbClr val="333333"/>
                </a:solidFill>
                <a:latin typeface="Calibri" panose="020F0502020204030204" pitchFamily="34" charset="0"/>
                <a:cs typeface="Calibri" panose="020F0502020204030204" pitchFamily="34" charset="0"/>
              </a:rPr>
              <a:t>of the </a:t>
            </a:r>
            <a:r>
              <a:rPr lang="en-GB" b="0" i="0" dirty="0">
                <a:solidFill>
                  <a:srgbClr val="333333"/>
                </a:solidFill>
                <a:effectLst/>
                <a:latin typeface="Calibri" panose="020F0502020204030204" pitchFamily="34" charset="0"/>
                <a:cs typeface="Calibri" panose="020F0502020204030204" pitchFamily="34" charset="0"/>
              </a:rPr>
              <a:t>normalizes counts grouped by our sample groups. We can specify which gene to plot, </a:t>
            </a:r>
            <a:r>
              <a:rPr lang="en-GB" dirty="0">
                <a:solidFill>
                  <a:srgbClr val="333333"/>
                </a:solidFill>
                <a:latin typeface="Calibri" panose="020F0502020204030204" pitchFamily="34" charset="0"/>
                <a:cs typeface="Calibri" panose="020F0502020204030204" pitchFamily="34" charset="0"/>
              </a:rPr>
              <a:t>here we are specifying to plot the </a:t>
            </a:r>
            <a:r>
              <a:rPr lang="en-GB" b="0" i="0" dirty="0">
                <a:solidFill>
                  <a:srgbClr val="333333"/>
                </a:solidFill>
                <a:effectLst/>
                <a:latin typeface="Calibri" panose="020F0502020204030204" pitchFamily="34" charset="0"/>
                <a:cs typeface="Calibri" panose="020F0502020204030204" pitchFamily="34" charset="0"/>
              </a:rPr>
              <a:t>gene which had the smallest adjusted </a:t>
            </a:r>
            <a:r>
              <a:rPr lang="en-GB" b="0" i="1" dirty="0">
                <a:solidFill>
                  <a:srgbClr val="333333"/>
                </a:solidFill>
                <a:effectLst/>
                <a:latin typeface="Calibri" panose="020F0502020204030204" pitchFamily="34" charset="0"/>
                <a:cs typeface="Calibri" panose="020F0502020204030204" pitchFamily="34" charset="0"/>
              </a:rPr>
              <a:t>p</a:t>
            </a:r>
            <a:r>
              <a:rPr lang="en-GB" b="0" i="0" dirty="0">
                <a:solidFill>
                  <a:srgbClr val="333333"/>
                </a:solidFill>
                <a:effectLst/>
                <a:latin typeface="Calibri" panose="020F0502020204030204" pitchFamily="34" charset="0"/>
                <a:cs typeface="Calibri" panose="020F0502020204030204" pitchFamily="34" charset="0"/>
              </a:rPr>
              <a:t> value from the results table.</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66004A1-BCF2-EF7E-1202-93F8D350FB93}"/>
              </a:ext>
            </a:extLst>
          </p:cNvPr>
          <p:cNvSpPr txBox="1"/>
          <p:nvPr/>
        </p:nvSpPr>
        <p:spPr>
          <a:xfrm>
            <a:off x="175148" y="2347883"/>
            <a:ext cx="6097904" cy="369332"/>
          </a:xfrm>
          <a:prstGeom prst="rect">
            <a:avLst/>
          </a:prstGeom>
          <a:noFill/>
        </p:spPr>
        <p:txBody>
          <a:bodyPr wrap="square">
            <a:spAutoFit/>
          </a:bodyPr>
          <a:lstStyle/>
          <a:p>
            <a:r>
              <a:rPr lang="en-US" dirty="0" err="1"/>
              <a:t>plotCounts</a:t>
            </a:r>
            <a:r>
              <a:rPr lang="en-US" dirty="0"/>
              <a:t>(</a:t>
            </a:r>
            <a:r>
              <a:rPr lang="en-US" dirty="0" err="1"/>
              <a:t>dds</a:t>
            </a:r>
            <a:r>
              <a:rPr lang="en-US" dirty="0"/>
              <a:t>, gene=</a:t>
            </a:r>
            <a:r>
              <a:rPr lang="en-US" dirty="0" err="1"/>
              <a:t>which.min</a:t>
            </a:r>
            <a:r>
              <a:rPr lang="en-US" dirty="0"/>
              <a:t>(</a:t>
            </a:r>
            <a:r>
              <a:rPr lang="en-US" dirty="0" err="1"/>
              <a:t>res$padj</a:t>
            </a:r>
            <a:r>
              <a:rPr lang="en-US" dirty="0"/>
              <a:t>), </a:t>
            </a:r>
            <a:r>
              <a:rPr lang="en-US" dirty="0" err="1"/>
              <a:t>intgroup</a:t>
            </a:r>
            <a:r>
              <a:rPr lang="en-US" dirty="0"/>
              <a:t>="group")</a:t>
            </a:r>
          </a:p>
        </p:txBody>
      </p:sp>
      <p:sp>
        <p:nvSpPr>
          <p:cNvPr id="3" name="Rounded Rectangle 2">
            <a:extLst>
              <a:ext uri="{FF2B5EF4-FFF2-40B4-BE49-F238E27FC236}">
                <a16:creationId xmlns:a16="http://schemas.microsoft.com/office/drawing/2014/main" id="{EA05B4FF-1D45-2E63-57C1-D9D129B64630}"/>
              </a:ext>
            </a:extLst>
          </p:cNvPr>
          <p:cNvSpPr/>
          <p:nvPr/>
        </p:nvSpPr>
        <p:spPr>
          <a:xfrm>
            <a:off x="229799" y="2327414"/>
            <a:ext cx="5866201" cy="38980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1170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5D5C0290-4559-7B38-5B63-69BD330BE02C}"/>
              </a:ext>
            </a:extLst>
          </p:cNvPr>
          <p:cNvSpPr/>
          <p:nvPr/>
        </p:nvSpPr>
        <p:spPr>
          <a:xfrm>
            <a:off x="1343472" y="3341103"/>
            <a:ext cx="5904655" cy="3096344"/>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0AA47E4-B8F3-D608-4848-C9F0843D51CB}"/>
              </a:ext>
            </a:extLst>
          </p:cNvPr>
          <p:cNvSpPr txBox="1"/>
          <p:nvPr/>
        </p:nvSpPr>
        <p:spPr>
          <a:xfrm>
            <a:off x="1376015" y="3596613"/>
            <a:ext cx="6097904" cy="2585323"/>
          </a:xfrm>
          <a:prstGeom prst="rect">
            <a:avLst/>
          </a:prstGeom>
          <a:noFill/>
        </p:spPr>
        <p:txBody>
          <a:bodyPr wrap="square">
            <a:spAutoFit/>
          </a:bodyPr>
          <a:lstStyle/>
          <a:p>
            <a:r>
              <a:rPr lang="en-US" dirty="0" err="1"/>
              <a:t>install.packages</a:t>
            </a:r>
            <a:r>
              <a:rPr lang="en-US" dirty="0"/>
              <a:t>(“</a:t>
            </a:r>
            <a:r>
              <a:rPr lang="en-US" dirty="0" err="1"/>
              <a:t>pheatmap</a:t>
            </a:r>
            <a:r>
              <a:rPr lang="en-US" dirty="0"/>
              <a:t>”)</a:t>
            </a:r>
          </a:p>
          <a:p>
            <a:r>
              <a:rPr lang="en-US" dirty="0"/>
              <a:t>library(</a:t>
            </a:r>
            <a:r>
              <a:rPr lang="en-US" dirty="0" err="1"/>
              <a:t>pheatmap</a:t>
            </a:r>
            <a:r>
              <a:rPr lang="en-US" dirty="0"/>
              <a:t>)</a:t>
            </a:r>
          </a:p>
          <a:p>
            <a:endParaRPr lang="en-US" dirty="0"/>
          </a:p>
          <a:p>
            <a:r>
              <a:rPr lang="en-US" dirty="0" err="1"/>
              <a:t>de.sign</a:t>
            </a:r>
            <a:r>
              <a:rPr lang="en-US" dirty="0"/>
              <a:t> &lt;- subset(res, </a:t>
            </a:r>
            <a:r>
              <a:rPr lang="en-US" dirty="0" err="1"/>
              <a:t>padj</a:t>
            </a:r>
            <a:r>
              <a:rPr lang="en-US" dirty="0"/>
              <a:t> &lt; 0.05 &amp; abs(log2FoldChange) &gt;1 )</a:t>
            </a:r>
          </a:p>
          <a:p>
            <a:r>
              <a:rPr lang="en-US" dirty="0" err="1"/>
              <a:t>de.sign.genes</a:t>
            </a:r>
            <a:r>
              <a:rPr lang="en-US" dirty="0"/>
              <a:t> &lt;- </a:t>
            </a:r>
            <a:r>
              <a:rPr lang="en-US" dirty="0" err="1"/>
              <a:t>rownames</a:t>
            </a:r>
            <a:r>
              <a:rPr lang="en-US" dirty="0"/>
              <a:t>(</a:t>
            </a:r>
            <a:r>
              <a:rPr lang="en-US" dirty="0" err="1"/>
              <a:t>de.sign</a:t>
            </a:r>
            <a:r>
              <a:rPr lang="en-US" dirty="0"/>
              <a:t>)</a:t>
            </a:r>
          </a:p>
          <a:p>
            <a:r>
              <a:rPr lang="en-US" dirty="0" err="1"/>
              <a:t>scale.dat</a:t>
            </a:r>
            <a:r>
              <a:rPr lang="en-US" dirty="0"/>
              <a:t> &lt;- t(scale(t(assay(</a:t>
            </a:r>
            <a:r>
              <a:rPr lang="en-US" dirty="0" err="1"/>
              <a:t>vsd</a:t>
            </a:r>
            <a:r>
              <a:rPr lang="en-US" dirty="0"/>
              <a:t>)[</a:t>
            </a:r>
            <a:r>
              <a:rPr lang="en-US" dirty="0" err="1"/>
              <a:t>de.sign.genes</a:t>
            </a:r>
            <a:r>
              <a:rPr lang="en-US" dirty="0"/>
              <a:t>,])))</a:t>
            </a:r>
          </a:p>
          <a:p>
            <a:endParaRPr lang="en-US" dirty="0"/>
          </a:p>
          <a:p>
            <a:r>
              <a:rPr lang="en-US" dirty="0" err="1"/>
              <a:t>pheatmap</a:t>
            </a:r>
            <a:r>
              <a:rPr lang="en-US" dirty="0"/>
              <a:t>(</a:t>
            </a:r>
            <a:r>
              <a:rPr lang="en-US" dirty="0" err="1"/>
              <a:t>scale.dat</a:t>
            </a:r>
            <a:r>
              <a:rPr lang="en-US" dirty="0"/>
              <a:t>[</a:t>
            </a:r>
            <a:r>
              <a:rPr lang="en-US" dirty="0" err="1"/>
              <a:t>de.sign.genes</a:t>
            </a:r>
            <a:r>
              <a:rPr lang="en-US" dirty="0"/>
              <a:t>,], </a:t>
            </a:r>
            <a:r>
              <a:rPr lang="en-US" dirty="0" err="1"/>
              <a:t>cluster_rows</a:t>
            </a:r>
            <a:r>
              <a:rPr lang="en-US" dirty="0"/>
              <a:t>=TRUE, </a:t>
            </a:r>
            <a:r>
              <a:rPr lang="en-US" dirty="0" err="1"/>
              <a:t>show_rownames</a:t>
            </a:r>
            <a:r>
              <a:rPr lang="en-US" dirty="0"/>
              <a:t>=FALSE, </a:t>
            </a:r>
            <a:r>
              <a:rPr lang="en-US" dirty="0" err="1"/>
              <a:t>cluster_cols</a:t>
            </a:r>
            <a:r>
              <a:rPr lang="en-US" dirty="0"/>
              <a:t>=TRUE)</a:t>
            </a:r>
          </a:p>
        </p:txBody>
      </p:sp>
      <p:sp>
        <p:nvSpPr>
          <p:cNvPr id="7" name="TextBox 6">
            <a:extLst>
              <a:ext uri="{FF2B5EF4-FFF2-40B4-BE49-F238E27FC236}">
                <a16:creationId xmlns:a16="http://schemas.microsoft.com/office/drawing/2014/main" id="{039D96F9-3F09-17D2-1C13-EE5997784028}"/>
              </a:ext>
            </a:extLst>
          </p:cNvPr>
          <p:cNvSpPr txBox="1"/>
          <p:nvPr/>
        </p:nvSpPr>
        <p:spPr>
          <a:xfrm>
            <a:off x="191344" y="1182023"/>
            <a:ext cx="7704856" cy="2031325"/>
          </a:xfrm>
          <a:prstGeom prst="rect">
            <a:avLst/>
          </a:prstGeom>
          <a:noFill/>
        </p:spPr>
        <p:txBody>
          <a:bodyPr wrap="square" rtlCol="0">
            <a:spAutoFit/>
          </a:bodyPr>
          <a:lstStyle/>
          <a:p>
            <a:r>
              <a:rPr lang="en-US" dirty="0"/>
              <a:t>We can also visualize the differentially expressed genes using a heatmap. We are </a:t>
            </a:r>
            <a:r>
              <a:rPr lang="en-US" dirty="0" err="1"/>
              <a:t>subseting</a:t>
            </a:r>
            <a:r>
              <a:rPr lang="en-US" dirty="0"/>
              <a:t> the DE genes with </a:t>
            </a:r>
            <a:r>
              <a:rPr lang="en-US" dirty="0" err="1"/>
              <a:t>padj</a:t>
            </a:r>
            <a:r>
              <a:rPr lang="en-US" dirty="0"/>
              <a:t> &lt; 0.05 and log2FC &gt; |1| i.e. at least two-fold change in expression. The heatmap is illustrating normalized gene expression, which has been scaled by raw, across the differentially expressed genes in our samples. Columns correspond to samples and rows correspond to genes. Columns and also rows have been clustered by hierarchical clustering (dendrogram).</a:t>
            </a:r>
          </a:p>
        </p:txBody>
      </p:sp>
      <p:sp>
        <p:nvSpPr>
          <p:cNvPr id="8" name="Title 1">
            <a:extLst>
              <a:ext uri="{FF2B5EF4-FFF2-40B4-BE49-F238E27FC236}">
                <a16:creationId xmlns:a16="http://schemas.microsoft.com/office/drawing/2014/main" id="{E8A2F321-4028-E5B0-2FEB-90F98F7FB4EE}"/>
              </a:ext>
            </a:extLst>
          </p:cNvPr>
          <p:cNvSpPr txBox="1">
            <a:spLocks/>
          </p:cNvSpPr>
          <p:nvPr/>
        </p:nvSpPr>
        <p:spPr>
          <a:xfrm>
            <a:off x="550863" y="404664"/>
            <a:ext cx="1061712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Graphical Visualizations of the DE genes – Heatmap</a:t>
            </a:r>
          </a:p>
        </p:txBody>
      </p:sp>
      <p:pic>
        <p:nvPicPr>
          <p:cNvPr id="5" name="Picture 4">
            <a:extLst>
              <a:ext uri="{FF2B5EF4-FFF2-40B4-BE49-F238E27FC236}">
                <a16:creationId xmlns:a16="http://schemas.microsoft.com/office/drawing/2014/main" id="{BE47359A-EDB8-C72D-ECA1-952198CE9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6360" y="1425646"/>
            <a:ext cx="2460607" cy="5432354"/>
          </a:xfrm>
          <a:prstGeom prst="rect">
            <a:avLst/>
          </a:prstGeom>
        </p:spPr>
      </p:pic>
    </p:spTree>
    <p:extLst>
      <p:ext uri="{BB962C8B-B14F-4D97-AF65-F5344CB8AC3E}">
        <p14:creationId xmlns:p14="http://schemas.microsoft.com/office/powerpoint/2010/main" val="3281954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ED3A4E39-90DF-F363-F2C7-221327C7AEFD}"/>
              </a:ext>
            </a:extLst>
          </p:cNvPr>
          <p:cNvSpPr/>
          <p:nvPr/>
        </p:nvSpPr>
        <p:spPr>
          <a:xfrm>
            <a:off x="263352" y="3186192"/>
            <a:ext cx="11377264" cy="1712597"/>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F6E6823-2037-12CB-84CB-C74F26D8B3D7}"/>
              </a:ext>
            </a:extLst>
          </p:cNvPr>
          <p:cNvSpPr txBox="1"/>
          <p:nvPr/>
        </p:nvSpPr>
        <p:spPr>
          <a:xfrm>
            <a:off x="258158" y="2101017"/>
            <a:ext cx="10875640" cy="2862322"/>
          </a:xfrm>
          <a:prstGeom prst="rect">
            <a:avLst/>
          </a:prstGeom>
          <a:noFill/>
        </p:spPr>
        <p:txBody>
          <a:bodyPr wrap="square">
            <a:spAutoFit/>
          </a:bodyPr>
          <a:lstStyle/>
          <a:p>
            <a:r>
              <a:rPr lang="en-US" dirty="0" err="1"/>
              <a:t>BiocManager</a:t>
            </a:r>
            <a:r>
              <a:rPr lang="en-US" dirty="0"/>
              <a:t>::install('</a:t>
            </a:r>
            <a:r>
              <a:rPr lang="en-US" dirty="0" err="1"/>
              <a:t>AnnotationDbi</a:t>
            </a:r>
            <a:r>
              <a:rPr lang="en-US" dirty="0"/>
              <a:t>')</a:t>
            </a:r>
          </a:p>
          <a:p>
            <a:r>
              <a:rPr lang="en-US" dirty="0"/>
              <a:t>library(</a:t>
            </a:r>
            <a:r>
              <a:rPr lang="en-US" dirty="0" err="1"/>
              <a:t>AnnotationDbi</a:t>
            </a:r>
            <a:r>
              <a:rPr lang="en-US" dirty="0"/>
              <a:t>)</a:t>
            </a:r>
          </a:p>
          <a:p>
            <a:r>
              <a:rPr lang="en-US" dirty="0"/>
              <a:t>library(</a:t>
            </a:r>
            <a:r>
              <a:rPr lang="en-US" dirty="0" err="1"/>
              <a:t>org.Hs.eg.db</a:t>
            </a:r>
            <a:r>
              <a:rPr lang="en-US" dirty="0"/>
              <a:t>)</a:t>
            </a:r>
          </a:p>
          <a:p>
            <a:endParaRPr lang="en-US" dirty="0"/>
          </a:p>
          <a:p>
            <a:r>
              <a:rPr lang="en-US" dirty="0" err="1"/>
              <a:t>res.df</a:t>
            </a:r>
            <a:r>
              <a:rPr lang="en-US" dirty="0"/>
              <a:t> &lt;- </a:t>
            </a:r>
            <a:r>
              <a:rPr lang="en-US" dirty="0" err="1"/>
              <a:t>as.data.frame</a:t>
            </a:r>
            <a:r>
              <a:rPr lang="en-US" dirty="0"/>
              <a:t>(res)</a:t>
            </a:r>
          </a:p>
          <a:p>
            <a:r>
              <a:rPr lang="en-US" dirty="0" err="1"/>
              <a:t>res.annot</a:t>
            </a:r>
            <a:r>
              <a:rPr lang="en-US" dirty="0"/>
              <a:t> &lt;- </a:t>
            </a:r>
            <a:r>
              <a:rPr lang="en-US" dirty="0" err="1"/>
              <a:t>mapIds</a:t>
            </a:r>
            <a:r>
              <a:rPr lang="en-US" dirty="0"/>
              <a:t>(</a:t>
            </a:r>
            <a:r>
              <a:rPr lang="en-US" dirty="0" err="1"/>
              <a:t>org.Hs.eg.db</a:t>
            </a:r>
            <a:r>
              <a:rPr lang="en-US" dirty="0"/>
              <a:t>, keys = </a:t>
            </a:r>
            <a:r>
              <a:rPr lang="en-US" dirty="0" err="1"/>
              <a:t>rownames</a:t>
            </a:r>
            <a:r>
              <a:rPr lang="en-US" dirty="0"/>
              <a:t>(</a:t>
            </a:r>
            <a:r>
              <a:rPr lang="en-US" dirty="0" err="1"/>
              <a:t>res.df</a:t>
            </a:r>
            <a:r>
              <a:rPr lang="en-US" dirty="0"/>
              <a:t>), </a:t>
            </a:r>
            <a:r>
              <a:rPr lang="en-US" dirty="0" err="1"/>
              <a:t>keytype</a:t>
            </a:r>
            <a:r>
              <a:rPr lang="en-US" dirty="0"/>
              <a:t> = "ENSEMBL", column = "SYMBOL")</a:t>
            </a:r>
          </a:p>
          <a:p>
            <a:r>
              <a:rPr lang="en-US" dirty="0" err="1"/>
              <a:t>res.df.annot</a:t>
            </a:r>
            <a:r>
              <a:rPr lang="en-US" dirty="0"/>
              <a:t> &lt;- </a:t>
            </a:r>
            <a:r>
              <a:rPr lang="en-US" dirty="0" err="1"/>
              <a:t>cbind</a:t>
            </a:r>
            <a:r>
              <a:rPr lang="en-US" dirty="0"/>
              <a:t>(</a:t>
            </a:r>
            <a:r>
              <a:rPr lang="en-US" dirty="0" err="1"/>
              <a:t>res.df,gene.symbol</a:t>
            </a:r>
            <a:r>
              <a:rPr lang="en-US" dirty="0"/>
              <a:t> = </a:t>
            </a:r>
            <a:r>
              <a:rPr lang="en-US" dirty="0" err="1"/>
              <a:t>res.annot</a:t>
            </a:r>
            <a:r>
              <a:rPr lang="en-US" dirty="0"/>
              <a:t>) #binding the annotations to the </a:t>
            </a:r>
            <a:r>
              <a:rPr lang="en-US" dirty="0" err="1"/>
              <a:t>sign.df</a:t>
            </a:r>
            <a:endParaRPr lang="en-US" dirty="0"/>
          </a:p>
          <a:p>
            <a:r>
              <a:rPr lang="en-US" dirty="0"/>
              <a:t>head(</a:t>
            </a:r>
            <a:r>
              <a:rPr lang="en-US" dirty="0" err="1"/>
              <a:t>res.df.annot</a:t>
            </a:r>
            <a:r>
              <a:rPr lang="en-US" dirty="0"/>
              <a:t>)</a:t>
            </a:r>
          </a:p>
          <a:p>
            <a:r>
              <a:rPr lang="en-US" dirty="0" err="1"/>
              <a:t>write.csv</a:t>
            </a:r>
            <a:r>
              <a:rPr lang="en-US" dirty="0"/>
              <a:t>(</a:t>
            </a:r>
            <a:r>
              <a:rPr lang="en-US" dirty="0" err="1"/>
              <a:t>res.df.annot</a:t>
            </a:r>
            <a:r>
              <a:rPr lang="en-US" dirty="0"/>
              <a:t>, file = "/Users/maniat01/Documents/</a:t>
            </a:r>
            <a:r>
              <a:rPr lang="en-US" dirty="0" err="1"/>
              <a:t>MSc_GCDS</a:t>
            </a:r>
            <a:r>
              <a:rPr lang="en-US" dirty="0"/>
              <a:t>/</a:t>
            </a:r>
            <a:r>
              <a:rPr lang="en-US" dirty="0" err="1"/>
              <a:t>RNASeq_practical</a:t>
            </a:r>
            <a:r>
              <a:rPr lang="en-US" dirty="0"/>
              <a:t>/</a:t>
            </a:r>
            <a:r>
              <a:rPr lang="en-US" dirty="0" err="1"/>
              <a:t>DE_sensitiveVSresistant_results_wGeneSymbol.csv</a:t>
            </a:r>
            <a:r>
              <a:rPr lang="en-US" dirty="0"/>
              <a:t>")</a:t>
            </a:r>
          </a:p>
        </p:txBody>
      </p:sp>
      <p:sp>
        <p:nvSpPr>
          <p:cNvPr id="2" name="Title 1">
            <a:extLst>
              <a:ext uri="{FF2B5EF4-FFF2-40B4-BE49-F238E27FC236}">
                <a16:creationId xmlns:a16="http://schemas.microsoft.com/office/drawing/2014/main" id="{4117DDEE-F46D-6125-1301-F93569B6D6C6}"/>
              </a:ext>
            </a:extLst>
          </p:cNvPr>
          <p:cNvSpPr txBox="1">
            <a:spLocks/>
          </p:cNvSpPr>
          <p:nvPr/>
        </p:nvSpPr>
        <p:spPr>
          <a:xfrm>
            <a:off x="550863" y="440391"/>
            <a:ext cx="1066006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8. Annotation of output tables </a:t>
            </a:r>
          </a:p>
        </p:txBody>
      </p:sp>
      <p:sp>
        <p:nvSpPr>
          <p:cNvPr id="5" name="Rounded Rectangle 4">
            <a:extLst>
              <a:ext uri="{FF2B5EF4-FFF2-40B4-BE49-F238E27FC236}">
                <a16:creationId xmlns:a16="http://schemas.microsoft.com/office/drawing/2014/main" id="{870BC2B3-A11A-2145-F5C4-69C8A7D38F13}"/>
              </a:ext>
            </a:extLst>
          </p:cNvPr>
          <p:cNvSpPr/>
          <p:nvPr/>
        </p:nvSpPr>
        <p:spPr>
          <a:xfrm>
            <a:off x="248000" y="2129077"/>
            <a:ext cx="3711995" cy="936104"/>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D07055F4-55D0-3E1C-DFE6-12E3A7CBECA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631504" y="5259860"/>
            <a:ext cx="7772400" cy="1287596"/>
          </a:xfrm>
          <a:prstGeom prst="rect">
            <a:avLst/>
          </a:prstGeom>
        </p:spPr>
      </p:pic>
      <p:sp>
        <p:nvSpPr>
          <p:cNvPr id="9" name="Down Arrow 8">
            <a:extLst>
              <a:ext uri="{FF2B5EF4-FFF2-40B4-BE49-F238E27FC236}">
                <a16:creationId xmlns:a16="http://schemas.microsoft.com/office/drawing/2014/main" id="{05D10BAD-901E-21D4-9C5F-7E02BF85850B}"/>
              </a:ext>
            </a:extLst>
          </p:cNvPr>
          <p:cNvSpPr/>
          <p:nvPr/>
        </p:nvSpPr>
        <p:spPr>
          <a:xfrm>
            <a:off x="8904312" y="4993830"/>
            <a:ext cx="144016" cy="23908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5982F1B-CB15-FA59-E327-FEFCCD9A614E}"/>
              </a:ext>
            </a:extLst>
          </p:cNvPr>
          <p:cNvSpPr/>
          <p:nvPr/>
        </p:nvSpPr>
        <p:spPr>
          <a:xfrm>
            <a:off x="1487488" y="5250429"/>
            <a:ext cx="7916416" cy="1323977"/>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A4AE3EE-AB77-1572-FBB8-9AE92F6AC71E}"/>
              </a:ext>
            </a:extLst>
          </p:cNvPr>
          <p:cNvSpPr txBox="1"/>
          <p:nvPr/>
        </p:nvSpPr>
        <p:spPr>
          <a:xfrm>
            <a:off x="515305" y="1315964"/>
            <a:ext cx="10875640" cy="646331"/>
          </a:xfrm>
          <a:prstGeom prst="rect">
            <a:avLst/>
          </a:prstGeom>
          <a:noFill/>
        </p:spPr>
        <p:txBody>
          <a:bodyPr wrap="square" rtlCol="0">
            <a:spAutoFit/>
          </a:bodyPr>
          <a:lstStyle/>
          <a:p>
            <a:r>
              <a:rPr lang="en-US" dirty="0"/>
              <a:t>It is useful to annotate our differential analysis results tables with Gene Symbols. We can do that using R package </a:t>
            </a:r>
            <a:r>
              <a:rPr lang="en-US" dirty="0" err="1"/>
              <a:t>AnnotationDbi</a:t>
            </a:r>
            <a:r>
              <a:rPr lang="en-US" dirty="0"/>
              <a:t> as shown below. </a:t>
            </a:r>
          </a:p>
        </p:txBody>
      </p:sp>
    </p:spTree>
    <p:extLst>
      <p:ext uri="{BB962C8B-B14F-4D97-AF65-F5344CB8AC3E}">
        <p14:creationId xmlns:p14="http://schemas.microsoft.com/office/powerpoint/2010/main" val="586171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A4679C-9163-2824-4E19-50766BFE99D9}"/>
              </a:ext>
            </a:extLst>
          </p:cNvPr>
          <p:cNvSpPr txBox="1"/>
          <p:nvPr/>
        </p:nvSpPr>
        <p:spPr>
          <a:xfrm>
            <a:off x="479376" y="1340768"/>
            <a:ext cx="8424936" cy="646331"/>
          </a:xfrm>
          <a:prstGeom prst="rect">
            <a:avLst/>
          </a:prstGeom>
          <a:noFill/>
        </p:spPr>
        <p:txBody>
          <a:bodyPr wrap="square" rtlCol="0">
            <a:spAutoFit/>
          </a:bodyPr>
          <a:lstStyle/>
          <a:p>
            <a:r>
              <a:rPr lang="en-US" dirty="0"/>
              <a:t>Now that we have annotated the DE results with Gene Symbols lets re-graph the volcano plot labeling the points with Gene Symbols instead of </a:t>
            </a:r>
            <a:r>
              <a:rPr lang="en-US" dirty="0" err="1"/>
              <a:t>Ensembl</a:t>
            </a:r>
            <a:r>
              <a:rPr lang="en-US" dirty="0"/>
              <a:t> IDs. </a:t>
            </a:r>
          </a:p>
        </p:txBody>
      </p:sp>
      <p:sp>
        <p:nvSpPr>
          <p:cNvPr id="4" name="Title 1">
            <a:extLst>
              <a:ext uri="{FF2B5EF4-FFF2-40B4-BE49-F238E27FC236}">
                <a16:creationId xmlns:a16="http://schemas.microsoft.com/office/drawing/2014/main" id="{C742666D-FBCD-D123-FD13-AEB7B30FD22C}"/>
              </a:ext>
            </a:extLst>
          </p:cNvPr>
          <p:cNvSpPr txBox="1">
            <a:spLocks/>
          </p:cNvSpPr>
          <p:nvPr/>
        </p:nvSpPr>
        <p:spPr>
          <a:xfrm>
            <a:off x="550863" y="476672"/>
            <a:ext cx="1164113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bg1"/>
                </a:solidFill>
              </a:rPr>
              <a:t>8. Replot the Volcano using Gene Symbols</a:t>
            </a:r>
          </a:p>
        </p:txBody>
      </p:sp>
      <p:sp>
        <p:nvSpPr>
          <p:cNvPr id="8" name="TextBox 7">
            <a:extLst>
              <a:ext uri="{FF2B5EF4-FFF2-40B4-BE49-F238E27FC236}">
                <a16:creationId xmlns:a16="http://schemas.microsoft.com/office/drawing/2014/main" id="{655E7FB5-7A91-AEDB-37BE-5E277E68B6B3}"/>
              </a:ext>
            </a:extLst>
          </p:cNvPr>
          <p:cNvSpPr txBox="1"/>
          <p:nvPr/>
        </p:nvSpPr>
        <p:spPr>
          <a:xfrm>
            <a:off x="119336" y="5551206"/>
            <a:ext cx="6192688" cy="646331"/>
          </a:xfrm>
          <a:prstGeom prst="rect">
            <a:avLst/>
          </a:prstGeom>
          <a:noFill/>
        </p:spPr>
        <p:txBody>
          <a:bodyPr wrap="square">
            <a:spAutoFit/>
          </a:bodyPr>
          <a:lstStyle/>
          <a:p>
            <a:r>
              <a:rPr lang="en-US" dirty="0"/>
              <a:t>Can you interpret this plot? What does it mean if a gene is </a:t>
            </a:r>
            <a:r>
              <a:rPr lang="en-US" dirty="0" err="1"/>
              <a:t>coloured</a:t>
            </a:r>
            <a:r>
              <a:rPr lang="en-US" dirty="0"/>
              <a:t> red and is on the right hand side of the volcano?</a:t>
            </a:r>
          </a:p>
        </p:txBody>
      </p:sp>
      <p:sp>
        <p:nvSpPr>
          <p:cNvPr id="10" name="TextBox 9">
            <a:extLst>
              <a:ext uri="{FF2B5EF4-FFF2-40B4-BE49-F238E27FC236}">
                <a16:creationId xmlns:a16="http://schemas.microsoft.com/office/drawing/2014/main" id="{021BF520-A337-694D-F23F-41EFC8777495}"/>
              </a:ext>
            </a:extLst>
          </p:cNvPr>
          <p:cNvSpPr txBox="1"/>
          <p:nvPr/>
        </p:nvSpPr>
        <p:spPr>
          <a:xfrm>
            <a:off x="839416" y="2939592"/>
            <a:ext cx="6096000" cy="1200329"/>
          </a:xfrm>
          <a:prstGeom prst="rect">
            <a:avLst/>
          </a:prstGeom>
          <a:noFill/>
        </p:spPr>
        <p:txBody>
          <a:bodyPr wrap="square">
            <a:spAutoFit/>
          </a:bodyPr>
          <a:lstStyle/>
          <a:p>
            <a:r>
              <a:rPr lang="en-US" dirty="0" err="1"/>
              <a:t>EnhancedVolcano</a:t>
            </a:r>
            <a:r>
              <a:rPr lang="en-US" dirty="0"/>
              <a:t>(</a:t>
            </a:r>
            <a:r>
              <a:rPr lang="en-US" dirty="0" err="1"/>
              <a:t>sigs.df.annot</a:t>
            </a:r>
            <a:r>
              <a:rPr lang="en-US" dirty="0"/>
              <a:t>,</a:t>
            </a:r>
          </a:p>
          <a:p>
            <a:r>
              <a:rPr lang="en-US" dirty="0"/>
              <a:t>    lab = </a:t>
            </a:r>
            <a:r>
              <a:rPr lang="en-US" dirty="0" err="1"/>
              <a:t>sigs.df.annot$gene.symbol</a:t>
            </a:r>
            <a:r>
              <a:rPr lang="en-US" dirty="0"/>
              <a:t>,</a:t>
            </a:r>
          </a:p>
          <a:p>
            <a:r>
              <a:rPr lang="en-US" dirty="0"/>
              <a:t>    x = 'log2FoldChange',</a:t>
            </a:r>
          </a:p>
          <a:p>
            <a:r>
              <a:rPr lang="en-US" dirty="0"/>
              <a:t>    y = '</a:t>
            </a:r>
            <a:r>
              <a:rPr lang="en-US" dirty="0" err="1"/>
              <a:t>padj</a:t>
            </a:r>
            <a:r>
              <a:rPr lang="en-US" dirty="0"/>
              <a:t>')</a:t>
            </a:r>
          </a:p>
        </p:txBody>
      </p:sp>
      <p:sp>
        <p:nvSpPr>
          <p:cNvPr id="11" name="Rounded Rectangle 10">
            <a:extLst>
              <a:ext uri="{FF2B5EF4-FFF2-40B4-BE49-F238E27FC236}">
                <a16:creationId xmlns:a16="http://schemas.microsoft.com/office/drawing/2014/main" id="{30EDA473-7C1F-6E9C-E306-0464EE9AC281}"/>
              </a:ext>
            </a:extLst>
          </p:cNvPr>
          <p:cNvSpPr/>
          <p:nvPr/>
        </p:nvSpPr>
        <p:spPr>
          <a:xfrm>
            <a:off x="683414" y="2960947"/>
            <a:ext cx="3711995" cy="1178973"/>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86411229-F4BC-C12F-027C-38748175AE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9609" y="2132856"/>
            <a:ext cx="3933967" cy="4484944"/>
          </a:xfrm>
          <a:prstGeom prst="rect">
            <a:avLst/>
          </a:prstGeom>
        </p:spPr>
      </p:pic>
    </p:spTree>
    <p:extLst>
      <p:ext uri="{BB962C8B-B14F-4D97-AF65-F5344CB8AC3E}">
        <p14:creationId xmlns:p14="http://schemas.microsoft.com/office/powerpoint/2010/main" val="3666526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0626-3087-6785-11EA-0228110C16F2}"/>
              </a:ext>
            </a:extLst>
          </p:cNvPr>
          <p:cNvSpPr>
            <a:spLocks noGrp="1"/>
          </p:cNvSpPr>
          <p:nvPr>
            <p:ph type="title"/>
          </p:nvPr>
        </p:nvSpPr>
        <p:spPr>
          <a:xfrm>
            <a:off x="550863" y="365125"/>
            <a:ext cx="10802937" cy="1325563"/>
          </a:xfrm>
        </p:spPr>
        <p:txBody>
          <a:bodyPr/>
          <a:lstStyle/>
          <a:p>
            <a:r>
              <a:rPr lang="en-US" dirty="0">
                <a:solidFill>
                  <a:schemeClr val="bg1"/>
                </a:solidFill>
              </a:rPr>
              <a:t>References</a:t>
            </a:r>
          </a:p>
        </p:txBody>
      </p:sp>
      <p:sp>
        <p:nvSpPr>
          <p:cNvPr id="3" name="TextBox 2">
            <a:extLst>
              <a:ext uri="{FF2B5EF4-FFF2-40B4-BE49-F238E27FC236}">
                <a16:creationId xmlns:a16="http://schemas.microsoft.com/office/drawing/2014/main" id="{7EC080E7-454A-92C5-4875-9C5406B31580}"/>
              </a:ext>
            </a:extLst>
          </p:cNvPr>
          <p:cNvSpPr txBox="1"/>
          <p:nvPr/>
        </p:nvSpPr>
        <p:spPr>
          <a:xfrm>
            <a:off x="725433" y="1690688"/>
            <a:ext cx="10370368" cy="4801314"/>
          </a:xfrm>
          <a:prstGeom prst="rect">
            <a:avLst/>
          </a:prstGeom>
          <a:noFill/>
        </p:spPr>
        <p:txBody>
          <a:bodyPr wrap="square" rtlCol="0">
            <a:spAutoFit/>
          </a:bodyPr>
          <a:lstStyle/>
          <a:p>
            <a:pPr marL="285750" indent="-285750">
              <a:buFont typeface="Arial" panose="020B0604020202020204" pitchFamily="34" charset="0"/>
              <a:buChar char="•"/>
            </a:pPr>
            <a:r>
              <a:rPr lang="en-GB" b="0" i="0" dirty="0">
                <a:solidFill>
                  <a:srgbClr val="000000"/>
                </a:solidFill>
                <a:effectLst/>
                <a:latin typeface="Calibri" panose="020F0502020204030204" pitchFamily="34" charset="0"/>
                <a:cs typeface="Calibri" panose="020F0502020204030204" pitchFamily="34" charset="0"/>
              </a:rPr>
              <a:t>Love MI, Huber W, Anders S (2014). “Moderated estimation of fold change and dispersion for RNA-</a:t>
            </a:r>
            <a:r>
              <a:rPr lang="en-GB" b="0" i="0" dirty="0" err="1">
                <a:solidFill>
                  <a:srgbClr val="000000"/>
                </a:solidFill>
                <a:effectLst/>
                <a:latin typeface="Calibri" panose="020F0502020204030204" pitchFamily="34" charset="0"/>
                <a:cs typeface="Calibri" panose="020F0502020204030204" pitchFamily="34" charset="0"/>
              </a:rPr>
              <a:t>seq</a:t>
            </a:r>
            <a:r>
              <a:rPr lang="en-GB" b="0" i="0" dirty="0">
                <a:solidFill>
                  <a:srgbClr val="000000"/>
                </a:solidFill>
                <a:effectLst/>
                <a:latin typeface="Calibri" panose="020F0502020204030204" pitchFamily="34" charset="0"/>
                <a:cs typeface="Calibri" panose="020F0502020204030204" pitchFamily="34" charset="0"/>
              </a:rPr>
              <a:t> data with DESeq2.” </a:t>
            </a:r>
            <a:r>
              <a:rPr lang="en-GB" b="0" i="1" dirty="0">
                <a:solidFill>
                  <a:srgbClr val="000000"/>
                </a:solidFill>
                <a:effectLst/>
                <a:latin typeface="Calibri" panose="020F0502020204030204" pitchFamily="34" charset="0"/>
                <a:cs typeface="Calibri" panose="020F0502020204030204" pitchFamily="34" charset="0"/>
              </a:rPr>
              <a:t>Genome Biology</a:t>
            </a:r>
            <a:r>
              <a:rPr lang="en-GB" b="0" i="0" dirty="0">
                <a:solidFill>
                  <a:srgbClr val="000000"/>
                </a:solidFill>
                <a:effectLst/>
                <a:latin typeface="Calibri" panose="020F0502020204030204" pitchFamily="34" charset="0"/>
                <a:cs typeface="Calibri" panose="020F0502020204030204" pitchFamily="34" charset="0"/>
              </a:rPr>
              <a:t>, </a:t>
            </a:r>
            <a:r>
              <a:rPr lang="en-GB" b="1" i="0" dirty="0">
                <a:solidFill>
                  <a:srgbClr val="000000"/>
                </a:solidFill>
                <a:effectLst/>
                <a:latin typeface="Calibri" panose="020F0502020204030204" pitchFamily="34" charset="0"/>
                <a:cs typeface="Calibri" panose="020F0502020204030204" pitchFamily="34" charset="0"/>
              </a:rPr>
              <a:t>15</a:t>
            </a:r>
            <a:r>
              <a:rPr lang="en-GB" b="0" i="0" dirty="0">
                <a:solidFill>
                  <a:srgbClr val="000000"/>
                </a:solidFill>
                <a:effectLst/>
                <a:latin typeface="Calibri" panose="020F0502020204030204" pitchFamily="34" charset="0"/>
                <a:cs typeface="Calibri" panose="020F0502020204030204" pitchFamily="34" charset="0"/>
              </a:rPr>
              <a:t>, 550. </a:t>
            </a:r>
            <a:r>
              <a:rPr lang="en-GB" b="0" i="0" dirty="0" err="1">
                <a:solidFill>
                  <a:srgbClr val="000000"/>
                </a:solidFill>
                <a:effectLst/>
                <a:latin typeface="Calibri" panose="020F0502020204030204" pitchFamily="34" charset="0"/>
                <a:cs typeface="Calibri" panose="020F0502020204030204" pitchFamily="34" charset="0"/>
              </a:rPr>
              <a:t>doi</a:t>
            </a:r>
            <a:r>
              <a:rPr lang="en-GB" b="0" i="0" dirty="0">
                <a:solidFill>
                  <a:srgbClr val="000000"/>
                </a:solidFill>
                <a:effectLst/>
                <a:latin typeface="Calibri" panose="020F0502020204030204" pitchFamily="34" charset="0"/>
                <a:cs typeface="Calibri" panose="020F0502020204030204" pitchFamily="34" charset="0"/>
              </a:rPr>
              <a:t>: </a:t>
            </a:r>
            <a:r>
              <a:rPr lang="en-GB" b="0" i="0" dirty="0">
                <a:solidFill>
                  <a:srgbClr val="1A81C2"/>
                </a:solidFill>
                <a:effectLst/>
                <a:latin typeface="Calibri" panose="020F0502020204030204" pitchFamily="34" charset="0"/>
                <a:cs typeface="Calibri" panose="020F0502020204030204" pitchFamily="34" charset="0"/>
                <a:hlinkClick r:id="rId2"/>
              </a:rPr>
              <a:t>10.1186/s13059-014-0550-8</a:t>
            </a:r>
            <a:r>
              <a:rPr lang="en-GB" b="0" i="0" dirty="0">
                <a:solidFill>
                  <a:srgbClr val="000000"/>
                </a:solidFill>
                <a:effectLst/>
                <a:latin typeface="Calibri" panose="020F0502020204030204" pitchFamily="34" charset="0"/>
                <a:cs typeface="Calibri" panose="020F0502020204030204" pitchFamily="34" charset="0"/>
              </a:rPr>
              <a:t>.</a:t>
            </a:r>
            <a:endParaRPr lang="en-GB" dirty="0">
              <a:solidFill>
                <a:srgbClr val="000000"/>
              </a:solidFill>
              <a:latin typeface="Calibri" panose="020F0502020204030204" pitchFamily="34" charset="0"/>
              <a:cs typeface="Calibri" panose="020F0502020204030204" pitchFamily="34" charset="0"/>
              <a:hlinkClick r:id="rId3"/>
            </a:endParaRP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3"/>
              </a:rPr>
              <a:t>https://bioconductor.org/packages/release/bioc/vignettes/DESeq2/inst/doc/DESeq2.html</a:t>
            </a:r>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0" i="0" dirty="0" err="1">
                <a:solidFill>
                  <a:srgbClr val="000000"/>
                </a:solidFill>
                <a:effectLst/>
                <a:latin typeface="Calibri" panose="020F0502020204030204" pitchFamily="34" charset="0"/>
                <a:cs typeface="Calibri" panose="020F0502020204030204" pitchFamily="34" charset="0"/>
              </a:rPr>
              <a:t>Blighe</a:t>
            </a:r>
            <a:r>
              <a:rPr lang="en-GB" b="0" i="0" dirty="0">
                <a:solidFill>
                  <a:srgbClr val="000000"/>
                </a:solidFill>
                <a:effectLst/>
                <a:latin typeface="Calibri" panose="020F0502020204030204" pitchFamily="34" charset="0"/>
                <a:cs typeface="Calibri" panose="020F0502020204030204" pitchFamily="34" charset="0"/>
              </a:rPr>
              <a:t> K, Rana S, Lewis M (2022). </a:t>
            </a:r>
            <a:r>
              <a:rPr lang="en-GB" b="0" i="1" dirty="0" err="1">
                <a:solidFill>
                  <a:srgbClr val="000000"/>
                </a:solidFill>
                <a:effectLst/>
                <a:latin typeface="Calibri" panose="020F0502020204030204" pitchFamily="34" charset="0"/>
                <a:cs typeface="Calibri" panose="020F0502020204030204" pitchFamily="34" charset="0"/>
              </a:rPr>
              <a:t>EnhancedVolcano</a:t>
            </a:r>
            <a:r>
              <a:rPr lang="en-GB" b="0" i="1" dirty="0">
                <a:solidFill>
                  <a:srgbClr val="000000"/>
                </a:solidFill>
                <a:effectLst/>
                <a:latin typeface="Calibri" panose="020F0502020204030204" pitchFamily="34" charset="0"/>
                <a:cs typeface="Calibri" panose="020F0502020204030204" pitchFamily="34" charset="0"/>
              </a:rPr>
              <a:t>: Publication-ready volcano plots with enhanced colouring and </a:t>
            </a:r>
            <a:r>
              <a:rPr lang="en-GB" b="0" i="1" dirty="0" err="1">
                <a:solidFill>
                  <a:srgbClr val="000000"/>
                </a:solidFill>
                <a:effectLst/>
                <a:latin typeface="Calibri" panose="020F0502020204030204" pitchFamily="34" charset="0"/>
                <a:cs typeface="Calibri" panose="020F0502020204030204" pitchFamily="34" charset="0"/>
              </a:rPr>
              <a:t>labeling</a:t>
            </a:r>
            <a:r>
              <a:rPr lang="en-GB" b="0" i="0" dirty="0">
                <a:solidFill>
                  <a:srgbClr val="000000"/>
                </a:solidFill>
                <a:effectLst/>
                <a:latin typeface="Calibri" panose="020F0502020204030204" pitchFamily="34" charset="0"/>
                <a:cs typeface="Calibri" panose="020F0502020204030204" pitchFamily="34" charset="0"/>
              </a:rPr>
              <a:t>. R package version 1.16.0, </a:t>
            </a:r>
            <a:r>
              <a:rPr lang="en-GB" b="0" i="0" dirty="0">
                <a:solidFill>
                  <a:srgbClr val="1A81C2"/>
                </a:solidFill>
                <a:effectLst/>
                <a:latin typeface="Calibri" panose="020F0502020204030204" pitchFamily="34" charset="0"/>
                <a:cs typeface="Calibri" panose="020F0502020204030204" pitchFamily="34" charset="0"/>
                <a:hlinkClick r:id="rId4"/>
              </a:rPr>
              <a:t>https://github.com/kevinblighe/EnhancedVolcano</a:t>
            </a:r>
            <a:r>
              <a:rPr lang="en-GB" b="0" i="0" dirty="0">
                <a:solidFill>
                  <a:srgbClr val="000000"/>
                </a:solidFill>
                <a:effectLst/>
                <a:latin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hlinkClick r:id="rId5"/>
              </a:rPr>
              <a:t>https://bioconductor.org/packages/devel/bioc/vignettes/EnhancedVolcano/inst/doc/EnhancedVolcano.html</a:t>
            </a:r>
            <a:endParaRPr lang="en-GB" dirty="0">
              <a:solidFill>
                <a:srgbClr val="000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Although on this practical we haven’t used </a:t>
            </a:r>
            <a:r>
              <a:rPr lang="en-US" dirty="0" err="1">
                <a:latin typeface="Calibri" panose="020F0502020204030204" pitchFamily="34" charset="0"/>
                <a:cs typeface="Calibri" panose="020F0502020204030204" pitchFamily="34" charset="0"/>
              </a:rPr>
              <a:t>EdgeR</a:t>
            </a: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ie</a:t>
            </a:r>
            <a:r>
              <a:rPr lang="en-US" dirty="0">
                <a:latin typeface="Calibri" panose="020F0502020204030204" pitchFamily="34" charset="0"/>
                <a:cs typeface="Calibri" panose="020F0502020204030204" pitchFamily="34" charset="0"/>
              </a:rPr>
              <a:t>. another popular DE analysis tool, be aware of it and look up in the future if needed, contains a lot of background information for experimental designs and DE analysis. 	</a:t>
            </a:r>
            <a:r>
              <a:rPr lang="en-US" dirty="0">
                <a:latin typeface="Calibri" panose="020F0502020204030204" pitchFamily="34" charset="0"/>
                <a:cs typeface="Calibri" panose="020F0502020204030204" pitchFamily="34" charset="0"/>
                <a:hlinkClick r:id="rId6"/>
              </a:rPr>
              <a:t>https://bioconductor.org/packages/release/bioc/vignettes/edgeR/inst/doc/edgeRUsersGuide.pdf</a:t>
            </a:r>
            <a:r>
              <a:rPr lang="en-US" dirty="0">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From Harvard Chan Bioinformatics Core </a:t>
            </a:r>
            <a:r>
              <a:rPr lang="en-US" dirty="0">
                <a:latin typeface="Calibri" panose="020F0502020204030204" pitchFamily="34" charset="0"/>
                <a:cs typeface="Calibri" panose="020F0502020204030204" pitchFamily="34" charset="0"/>
                <a:hlinkClick r:id="rId7"/>
              </a:rPr>
              <a:t>https://github.com/hbctraining/DGE_workshop/tree/master/lessons</a:t>
            </a: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5361602"/>
      </p:ext>
    </p:extLst>
  </p:cSld>
  <p:clrMapOvr>
    <a:masterClrMapping/>
  </p:clrMapOvr>
</p:sld>
</file>

<file path=ppt/theme/theme1.xml><?xml version="1.0" encoding="utf-8"?>
<a:theme xmlns:a="http://schemas.openxmlformats.org/drawingml/2006/main" name="Cancer Research UK">
  <a:themeElements>
    <a:clrScheme name="Cancer Research 2">
      <a:dk1>
        <a:srgbClr val="58595B"/>
      </a:dk1>
      <a:lt1>
        <a:sysClr val="window" lastClr="FFFFFF"/>
      </a:lt1>
      <a:dk2>
        <a:srgbClr val="2E008B"/>
      </a:dk2>
      <a:lt2>
        <a:srgbClr val="EC008C"/>
      </a:lt2>
      <a:accent1>
        <a:srgbClr val="00B6ED"/>
      </a:accent1>
      <a:accent2>
        <a:srgbClr val="A7A8AA"/>
      </a:accent2>
      <a:accent3>
        <a:srgbClr val="AB99D1"/>
      </a:accent3>
      <a:accent4>
        <a:srgbClr val="F799D1"/>
      </a:accent4>
      <a:accent5>
        <a:srgbClr val="99E2F8"/>
      </a:accent5>
      <a:accent6>
        <a:srgbClr val="D9D9D8"/>
      </a:accent6>
      <a:hlink>
        <a:srgbClr val="AB99D1"/>
      </a:hlink>
      <a:folHlink>
        <a:srgbClr val="99E2F8"/>
      </a:folHlink>
    </a:clrScheme>
    <a:fontScheme name="Cancer Research UK - specialist">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cer Research UK (Specialist)_16x9 template_draft4" id="{490E78E8-C2C9-433E-86D7-22AA4C5D3088}" vid="{15F283FA-0709-499B-976B-8A074D77DAE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11278</TotalTime>
  <Words>2501</Words>
  <Application>Microsoft Macintosh PowerPoint</Application>
  <PresentationFormat>Widescreen</PresentationFormat>
  <Paragraphs>190</Paragraphs>
  <Slides>25</Slides>
  <Notes>2</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25</vt:i4>
      </vt:variant>
    </vt:vector>
  </HeadingPairs>
  <TitlesOfParts>
    <vt:vector size="35" baseType="lpstr">
      <vt:lpstr>-apple-system</vt:lpstr>
      <vt:lpstr>Arial</vt:lpstr>
      <vt:lpstr>Calibri</vt:lpstr>
      <vt:lpstr>Calibri Light</vt:lpstr>
      <vt:lpstr>Helvetica Neue</vt:lpstr>
      <vt:lpstr>Cancer Research UK</vt:lpstr>
      <vt:lpstr>Custom Design</vt:lpstr>
      <vt:lpstr>2_Custom Design</vt:lpstr>
      <vt:lpstr>3_Custom Design</vt:lpstr>
      <vt:lpstr>1_Custom Design</vt:lpstr>
      <vt:lpstr>PowerPoint Presentation</vt:lpstr>
      <vt:lpstr>What is Differential Expression Analysis</vt:lpstr>
      <vt:lpstr>Dataset</vt:lpstr>
      <vt:lpstr>DE analysis workflow using DESeq2</vt:lpstr>
      <vt:lpstr>1. Getting started with DESeq2</vt:lpstr>
      <vt:lpstr>2. Input data – Read Counts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formatting instructions</dc:title>
  <dc:creator>Alex Allaway</dc:creator>
  <cp:lastModifiedBy>Eleni Maniati</cp:lastModifiedBy>
  <cp:revision>365</cp:revision>
  <dcterms:created xsi:type="dcterms:W3CDTF">2018-10-02T14:26:27Z</dcterms:created>
  <dcterms:modified xsi:type="dcterms:W3CDTF">2024-11-04T23:33:10Z</dcterms:modified>
</cp:coreProperties>
</file>