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705" r:id="rId3"/>
    <p:sldMasterId id="2147483717" r:id="rId4"/>
    <p:sldMasterId id="2147483693" r:id="rId5"/>
  </p:sldMasterIdLst>
  <p:notesMasterIdLst>
    <p:notesMasterId r:id="rId27"/>
  </p:notesMasterIdLst>
  <p:handoutMasterIdLst>
    <p:handoutMasterId r:id="rId28"/>
  </p:handoutMasterIdLst>
  <p:sldIdLst>
    <p:sldId id="302" r:id="rId6"/>
    <p:sldId id="326" r:id="rId7"/>
    <p:sldId id="363" r:id="rId8"/>
    <p:sldId id="364" r:id="rId9"/>
    <p:sldId id="342" r:id="rId10"/>
    <p:sldId id="365" r:id="rId11"/>
    <p:sldId id="379" r:id="rId12"/>
    <p:sldId id="366" r:id="rId13"/>
    <p:sldId id="367" r:id="rId14"/>
    <p:sldId id="368" r:id="rId15"/>
    <p:sldId id="369" r:id="rId16"/>
    <p:sldId id="377" r:id="rId17"/>
    <p:sldId id="378" r:id="rId18"/>
    <p:sldId id="370" r:id="rId19"/>
    <p:sldId id="371" r:id="rId20"/>
    <p:sldId id="372" r:id="rId21"/>
    <p:sldId id="373" r:id="rId22"/>
    <p:sldId id="374" r:id="rId23"/>
    <p:sldId id="375" r:id="rId24"/>
    <p:sldId id="376" r:id="rId25"/>
    <p:sldId id="32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08F56546-8063-4F91-8B94-EA18817DA36A}">
          <p14:sldIdLst/>
        </p14:section>
        <p14:section name="Example Layouts" id="{EA444CFD-9734-4821-B705-6E63F9671A70}">
          <p14:sldIdLst>
            <p14:sldId id="302"/>
            <p14:sldId id="326"/>
            <p14:sldId id="363"/>
            <p14:sldId id="364"/>
            <p14:sldId id="342"/>
            <p14:sldId id="365"/>
            <p14:sldId id="379"/>
            <p14:sldId id="366"/>
            <p14:sldId id="367"/>
            <p14:sldId id="368"/>
            <p14:sldId id="369"/>
            <p14:sldId id="377"/>
            <p14:sldId id="378"/>
            <p14:sldId id="370"/>
            <p14:sldId id="371"/>
            <p14:sldId id="372"/>
            <p14:sldId id="373"/>
            <p14:sldId id="374"/>
            <p14:sldId id="375"/>
            <p14:sldId id="376"/>
            <p14:sldId id="320"/>
          </p14:sldIdLst>
        </p14:section>
      </p14:sectionLst>
    </p:ext>
    <p:ext uri="{EFAFB233-063F-42B5-8137-9DF3F51BA10A}">
      <p15:sldGuideLst xmlns:p15="http://schemas.microsoft.com/office/powerpoint/2012/main">
        <p15:guide id="1" orient="horz" pos="2160" userDrawn="1">
          <p15:clr>
            <a:srgbClr val="A4A3A4"/>
          </p15:clr>
        </p15:guide>
        <p15:guide id="2" pos="4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79"/>
    <a:srgbClr val="2B167B"/>
    <a:srgbClr val="2E008B"/>
    <a:srgbClr val="A7A8AA"/>
    <a:srgbClr val="666666"/>
    <a:srgbClr val="00B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98"/>
    <p:restoredTop sz="90909" autoAdjust="0"/>
  </p:normalViewPr>
  <p:slideViewPr>
    <p:cSldViewPr showGuides="1">
      <p:cViewPr varScale="1">
        <p:scale>
          <a:sx n="99" d="100"/>
          <a:sy n="99" d="100"/>
        </p:scale>
        <p:origin x="624" y="176"/>
      </p:cViewPr>
      <p:guideLst>
        <p:guide orient="horz" pos="2160"/>
        <p:guide pos="438"/>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112" d="100"/>
          <a:sy n="112" d="100"/>
        </p:scale>
        <p:origin x="5280"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641B21-BD86-4201-8FF4-D6385DF043FF}" type="datetimeFigureOut">
              <a:rPr lang="en-GB" smtClean="0"/>
              <a:t>19/11/2023</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14A784-0364-45B9-8516-0E04A55EE18D}" type="slidenum">
              <a:rPr lang="en-GB" smtClean="0"/>
              <a:t>‹#›</a:t>
            </a:fld>
            <a:endParaRPr lang="en-GB"/>
          </a:p>
        </p:txBody>
      </p:sp>
    </p:spTree>
    <p:extLst>
      <p:ext uri="{BB962C8B-B14F-4D97-AF65-F5344CB8AC3E}">
        <p14:creationId xmlns:p14="http://schemas.microsoft.com/office/powerpoint/2010/main" val="2047353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764B69-A079-4E1A-BD87-9A9812A69E87}" type="datetimeFigureOut">
              <a:rPr lang="en-GB" smtClean="0"/>
              <a:t>19/11/2023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6AE7D0-3DF3-4127-8202-6081F850489D}" type="slidenum">
              <a:rPr lang="en-GB" smtClean="0"/>
              <a:t>‹#›</a:t>
            </a:fld>
            <a:endParaRPr lang="en-GB"/>
          </a:p>
        </p:txBody>
      </p:sp>
    </p:spTree>
    <p:extLst>
      <p:ext uri="{BB962C8B-B14F-4D97-AF65-F5344CB8AC3E}">
        <p14:creationId xmlns:p14="http://schemas.microsoft.com/office/powerpoint/2010/main" val="3779801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a:t>
            </a:r>
            <a:r>
              <a:rPr lang="en-GB" baseline="0" dirty="0"/>
              <a:t> title slide should be used directly (with the addition of your presentation title, your name and your centre). </a:t>
            </a:r>
          </a:p>
          <a:p>
            <a:r>
              <a:rPr lang="en-GB" baseline="0" dirty="0"/>
              <a:t>Please do not add any additional logos to this slide.</a:t>
            </a:r>
          </a:p>
          <a:p>
            <a:endParaRPr lang="en-GB" baseline="0" dirty="0"/>
          </a:p>
          <a:p>
            <a:r>
              <a:rPr lang="en-GB" baseline="0" dirty="0"/>
              <a:t>If you would like to customise the image on the right-hand side of the slide, please use slide 2 which will allow you to add your own image.</a:t>
            </a:r>
            <a:endParaRPr lang="en-GB" dirty="0"/>
          </a:p>
        </p:txBody>
      </p:sp>
      <p:sp>
        <p:nvSpPr>
          <p:cNvPr id="4" name="Slide Number Placeholder 3"/>
          <p:cNvSpPr>
            <a:spLocks noGrp="1"/>
          </p:cNvSpPr>
          <p:nvPr>
            <p:ph type="sldNum" sz="quarter" idx="10"/>
          </p:nvPr>
        </p:nvSpPr>
        <p:spPr/>
        <p:txBody>
          <a:bodyPr/>
          <a:lstStyle/>
          <a:p>
            <a:fld id="{256AE7D0-3DF3-4127-8202-6081F850489D}" type="slidenum">
              <a:rPr lang="en-GB" smtClean="0"/>
              <a:t>1</a:t>
            </a:fld>
            <a:endParaRPr lang="en-GB"/>
          </a:p>
        </p:txBody>
      </p:sp>
    </p:spTree>
    <p:extLst>
      <p:ext uri="{BB962C8B-B14F-4D97-AF65-F5344CB8AC3E}">
        <p14:creationId xmlns:p14="http://schemas.microsoft.com/office/powerpoint/2010/main" val="3930398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6AE7D0-3DF3-4127-8202-6081F850489D}" type="slidenum">
              <a:rPr lang="en-GB" smtClean="0"/>
              <a:t>8</a:t>
            </a:fld>
            <a:endParaRPr lang="en-GB"/>
          </a:p>
        </p:txBody>
      </p:sp>
    </p:spTree>
    <p:extLst>
      <p:ext uri="{BB962C8B-B14F-4D97-AF65-F5344CB8AC3E}">
        <p14:creationId xmlns:p14="http://schemas.microsoft.com/office/powerpoint/2010/main" val="2214827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6AE7D0-3DF3-4127-8202-6081F850489D}" type="slidenum">
              <a:rPr lang="en-GB" smtClean="0"/>
              <a:t>9</a:t>
            </a:fld>
            <a:endParaRPr lang="en-GB"/>
          </a:p>
        </p:txBody>
      </p:sp>
    </p:spTree>
    <p:extLst>
      <p:ext uri="{BB962C8B-B14F-4D97-AF65-F5344CB8AC3E}">
        <p14:creationId xmlns:p14="http://schemas.microsoft.com/office/powerpoint/2010/main" val="2496975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6AE7D0-3DF3-4127-8202-6081F850489D}" type="slidenum">
              <a:rPr lang="en-GB" smtClean="0"/>
              <a:t>10</a:t>
            </a:fld>
            <a:endParaRPr lang="en-GB"/>
          </a:p>
        </p:txBody>
      </p:sp>
    </p:spTree>
    <p:extLst>
      <p:ext uri="{BB962C8B-B14F-4D97-AF65-F5344CB8AC3E}">
        <p14:creationId xmlns:p14="http://schemas.microsoft.com/office/powerpoint/2010/main" val="4222292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6AE7D0-3DF3-4127-8202-6081F850489D}" type="slidenum">
              <a:rPr lang="en-GB" smtClean="0"/>
              <a:t>14</a:t>
            </a:fld>
            <a:endParaRPr lang="en-GB"/>
          </a:p>
        </p:txBody>
      </p:sp>
    </p:spTree>
    <p:extLst>
      <p:ext uri="{BB962C8B-B14F-4D97-AF65-F5344CB8AC3E}">
        <p14:creationId xmlns:p14="http://schemas.microsoft.com/office/powerpoint/2010/main" val="3697867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6AE7D0-3DF3-4127-8202-6081F850489D}" type="slidenum">
              <a:rPr lang="en-GB" smtClean="0"/>
              <a:t>21</a:t>
            </a:fld>
            <a:endParaRPr lang="en-GB"/>
          </a:p>
        </p:txBody>
      </p:sp>
    </p:spTree>
    <p:extLst>
      <p:ext uri="{BB962C8B-B14F-4D97-AF65-F5344CB8AC3E}">
        <p14:creationId xmlns:p14="http://schemas.microsoft.com/office/powerpoint/2010/main" val="29324718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8.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option 3">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839416" y="1916830"/>
            <a:ext cx="5472000" cy="2088232"/>
          </a:xfrm>
          <a:prstGeom prst="rect">
            <a:avLst/>
          </a:prstGeom>
          <a:ln>
            <a:noFill/>
          </a:ln>
        </p:spPr>
        <p:txBody>
          <a:bodyPr bIns="0" anchor="ctr" anchorCtr="0">
            <a:noAutofit/>
          </a:bodyPr>
          <a:lstStyle>
            <a:lvl1pPr algn="ctr">
              <a:lnSpc>
                <a:spcPct val="70000"/>
              </a:lnSpc>
              <a:defRPr sz="60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1055416" y="4201343"/>
            <a:ext cx="5040000" cy="307777"/>
          </a:xfrm>
        </p:spPr>
        <p:txBody>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8" name="Picture Placeholder 10">
            <a:extLst>
              <a:ext uri="{FF2B5EF4-FFF2-40B4-BE49-F238E27FC236}">
                <a16:creationId xmlns:a16="http://schemas.microsoft.com/office/drawing/2014/main" id="{4A112773-0389-44C1-9A6C-D346A4A5026D}"/>
              </a:ext>
            </a:extLst>
          </p:cNvPr>
          <p:cNvSpPr>
            <a:spLocks noGrp="1"/>
          </p:cNvSpPr>
          <p:nvPr>
            <p:ph type="pic" sz="quarter" idx="10"/>
          </p:nvPr>
        </p:nvSpPr>
        <p:spPr>
          <a:xfrm>
            <a:off x="7272445" y="0"/>
            <a:ext cx="4919555" cy="6858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endParaRPr lang="en-GB" dirty="0"/>
          </a:p>
        </p:txBody>
      </p:sp>
      <p:pic>
        <p:nvPicPr>
          <p:cNvPr id="14" name="Picture 13">
            <a:extLst>
              <a:ext uri="{FF2B5EF4-FFF2-40B4-BE49-F238E27FC236}">
                <a16:creationId xmlns:a16="http://schemas.microsoft.com/office/drawing/2014/main" id="{FEAECAE8-8B32-4E0B-BC3B-F2E9E64868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135560" y="5589240"/>
            <a:ext cx="2772612" cy="691636"/>
          </a:xfrm>
          <a:prstGeom prst="rect">
            <a:avLst/>
          </a:prstGeom>
        </p:spPr>
      </p:pic>
      <p:sp>
        <p:nvSpPr>
          <p:cNvPr id="19" name="Oval 18">
            <a:extLst>
              <a:ext uri="{FF2B5EF4-FFF2-40B4-BE49-F238E27FC236}">
                <a16:creationId xmlns:a16="http://schemas.microsoft.com/office/drawing/2014/main" id="{F0892D67-F81D-4EAF-91FC-295D8C2F6020}"/>
              </a:ext>
            </a:extLst>
          </p:cNvPr>
          <p:cNvSpPr/>
          <p:nvPr userDrawn="1"/>
        </p:nvSpPr>
        <p:spPr>
          <a:xfrm>
            <a:off x="6655081" y="507294"/>
            <a:ext cx="414656" cy="414656"/>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 name="Oval 19">
            <a:extLst>
              <a:ext uri="{FF2B5EF4-FFF2-40B4-BE49-F238E27FC236}">
                <a16:creationId xmlns:a16="http://schemas.microsoft.com/office/drawing/2014/main" id="{673C406D-B215-4935-8E9E-66DD87522B2E}"/>
              </a:ext>
            </a:extLst>
          </p:cNvPr>
          <p:cNvSpPr/>
          <p:nvPr userDrawn="1"/>
        </p:nvSpPr>
        <p:spPr>
          <a:xfrm>
            <a:off x="6875715" y="1673947"/>
            <a:ext cx="170476" cy="170476"/>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Oval 20">
            <a:extLst>
              <a:ext uri="{FF2B5EF4-FFF2-40B4-BE49-F238E27FC236}">
                <a16:creationId xmlns:a16="http://schemas.microsoft.com/office/drawing/2014/main" id="{68AEAD39-6F92-40BC-B53B-719F85124F3E}"/>
              </a:ext>
            </a:extLst>
          </p:cNvPr>
          <p:cNvSpPr/>
          <p:nvPr userDrawn="1"/>
        </p:nvSpPr>
        <p:spPr>
          <a:xfrm>
            <a:off x="6127577" y="373944"/>
            <a:ext cx="266700" cy="2667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9653" y="116632"/>
            <a:ext cx="2621213" cy="1080120"/>
          </a:xfrm>
          <a:prstGeom prst="rect">
            <a:avLst/>
          </a:prstGeom>
        </p:spPr>
      </p:pic>
    </p:spTree>
    <p:extLst>
      <p:ext uri="{BB962C8B-B14F-4D97-AF65-F5344CB8AC3E}">
        <p14:creationId xmlns:p14="http://schemas.microsoft.com/office/powerpoint/2010/main" val="6832876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pos="2116" userDrawn="1">
          <p15:clr>
            <a:srgbClr val="FBAE40"/>
          </p15:clr>
        </p15:guide>
        <p15:guide id="3" pos="55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E5FA-BEBB-4862-9C43-D14CCB29FFFA}"/>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D33DF61-D91B-41EB-AE86-A0DBDBFF582B}"/>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3BE4DDFD-0837-41FA-8FBA-D37B3BB687F1}"/>
              </a:ext>
            </a:extLst>
          </p:cNvPr>
          <p:cNvSpPr>
            <a:spLocks noGrp="1"/>
          </p:cNvSpPr>
          <p:nvPr>
            <p:ph type="dt" sz="half" idx="10"/>
          </p:nvPr>
        </p:nvSpPr>
        <p:spPr/>
        <p:txBody>
          <a:bodyPr/>
          <a:lstStyle>
            <a:lvl1pPr>
              <a:defRPr>
                <a:solidFill>
                  <a:schemeClr val="tx2"/>
                </a:solidFill>
              </a:defRPr>
            </a:lvl1pPr>
          </a:lstStyle>
          <a:p>
            <a:fld id="{3C404475-5ECB-4D36-A4F5-040C1856A096}" type="datetime2">
              <a:rPr lang="en-GB" smtClean="0"/>
              <a:pPr/>
              <a:t>Sunday, 19 November 2023</a:t>
            </a:fld>
            <a:endParaRPr lang="en-GB"/>
          </a:p>
        </p:txBody>
      </p:sp>
      <p:sp>
        <p:nvSpPr>
          <p:cNvPr id="5" name="Footer Placeholder 4">
            <a:extLst>
              <a:ext uri="{FF2B5EF4-FFF2-40B4-BE49-F238E27FC236}">
                <a16:creationId xmlns:a16="http://schemas.microsoft.com/office/drawing/2014/main" id="{0A34EAA5-9395-4AA0-96B6-BD23C5245551}"/>
              </a:ext>
            </a:extLst>
          </p:cNvPr>
          <p:cNvSpPr>
            <a:spLocks noGrp="1"/>
          </p:cNvSpPr>
          <p:nvPr>
            <p:ph type="ftr" sz="quarter" idx="11"/>
          </p:nvPr>
        </p:nvSpPr>
        <p:spPr/>
        <p:txBody>
          <a:bodyPr/>
          <a:lstStyle>
            <a:lvl1pPr>
              <a:defRPr>
                <a:solidFill>
                  <a:schemeClr val="tx2"/>
                </a:solidFill>
              </a:defRPr>
            </a:lvl1pPr>
          </a:lstStyle>
          <a:p>
            <a:r>
              <a:rPr lang="en-GB"/>
              <a:t>Footer Goes Here</a:t>
            </a:r>
          </a:p>
        </p:txBody>
      </p:sp>
      <p:sp>
        <p:nvSpPr>
          <p:cNvPr id="6" name="Slide Number Placeholder 5">
            <a:extLst>
              <a:ext uri="{FF2B5EF4-FFF2-40B4-BE49-F238E27FC236}">
                <a16:creationId xmlns:a16="http://schemas.microsoft.com/office/drawing/2014/main" id="{031C2346-9DC9-4EFE-9CC7-58A873883353}"/>
              </a:ext>
            </a:extLst>
          </p:cNvPr>
          <p:cNvSpPr>
            <a:spLocks noGrp="1"/>
          </p:cNvSpPr>
          <p:nvPr>
            <p:ph type="sldNum" sz="quarter" idx="12"/>
          </p:nvPr>
        </p:nvSpPr>
        <p:spPr/>
        <p:txBody>
          <a:bodyPr/>
          <a:lstStyle>
            <a:lvl1pPr>
              <a:defRPr>
                <a:solidFill>
                  <a:schemeClr val="tx2"/>
                </a:solidFill>
              </a:defRPr>
            </a:lvl1pPr>
          </a:lstStyle>
          <a:p>
            <a:fld id="{F90E331C-8DD5-41DE-A1D8-42719F204B7E}" type="slidenum">
              <a:rPr lang="en-GB" smtClean="0"/>
              <a:pPr/>
              <a:t>‹#›</a:t>
            </a:fld>
            <a:endParaRPr lang="en-GB"/>
          </a:p>
        </p:txBody>
      </p:sp>
    </p:spTree>
    <p:extLst>
      <p:ext uri="{BB962C8B-B14F-4D97-AF65-F5344CB8AC3E}">
        <p14:creationId xmlns:p14="http://schemas.microsoft.com/office/powerpoint/2010/main" val="847925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10">
            <a:extLst>
              <a:ext uri="{FF2B5EF4-FFF2-40B4-BE49-F238E27FC236}">
                <a16:creationId xmlns:a16="http://schemas.microsoft.com/office/drawing/2014/main" id="{997D0358-D1A5-4615-A65D-68C0B35BE606}"/>
              </a:ext>
            </a:extLst>
          </p:cNvPr>
          <p:cNvSpPr>
            <a:spLocks noGrp="1"/>
          </p:cNvSpPr>
          <p:nvPr>
            <p:ph type="pic" sz="quarter" idx="10"/>
          </p:nvPr>
        </p:nvSpPr>
        <p:spPr>
          <a:xfrm>
            <a:off x="7272445" y="0"/>
            <a:ext cx="4919555" cy="6858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endParaRPr lang="en-GB" dirty="0"/>
          </a:p>
        </p:txBody>
      </p:sp>
      <p:sp>
        <p:nvSpPr>
          <p:cNvPr id="6" name="Title 1">
            <a:extLst>
              <a:ext uri="{FF2B5EF4-FFF2-40B4-BE49-F238E27FC236}">
                <a16:creationId xmlns:a16="http://schemas.microsoft.com/office/drawing/2014/main" id="{13936653-3080-447B-B85A-CA4AC2D8E173}"/>
              </a:ext>
            </a:extLst>
          </p:cNvPr>
          <p:cNvSpPr>
            <a:spLocks noGrp="1"/>
          </p:cNvSpPr>
          <p:nvPr>
            <p:ph type="ctrTitle"/>
          </p:nvPr>
        </p:nvSpPr>
        <p:spPr>
          <a:xfrm>
            <a:off x="839416" y="1844824"/>
            <a:ext cx="5472000" cy="2088232"/>
          </a:xfrm>
          <a:prstGeom prst="rect">
            <a:avLst/>
          </a:prstGeom>
          <a:ln>
            <a:noFill/>
          </a:ln>
        </p:spPr>
        <p:txBody>
          <a:bodyPr bIns="0" anchor="ctr" anchorCtr="0">
            <a:noAutofit/>
          </a:bodyPr>
          <a:lstStyle>
            <a:lvl1pPr algn="ctr">
              <a:lnSpc>
                <a:spcPct val="70000"/>
              </a:lnSpc>
              <a:defRPr sz="6000">
                <a:solidFill>
                  <a:schemeClr val="bg1"/>
                </a:solidFill>
              </a:defRPr>
            </a:lvl1pPr>
          </a:lstStyle>
          <a:p>
            <a:r>
              <a:rPr lang="en-US"/>
              <a:t>Click to edit Master title style</a:t>
            </a:r>
            <a:endParaRPr lang="en-GB" dirty="0"/>
          </a:p>
        </p:txBody>
      </p:sp>
      <p:sp>
        <p:nvSpPr>
          <p:cNvPr id="7" name="Rectangle 6">
            <a:extLst>
              <a:ext uri="{FF2B5EF4-FFF2-40B4-BE49-F238E27FC236}">
                <a16:creationId xmlns:a16="http://schemas.microsoft.com/office/drawing/2014/main" id="{1B083680-74B4-4455-AFC5-36F2C960F739}"/>
              </a:ext>
            </a:extLst>
          </p:cNvPr>
          <p:cNvSpPr/>
          <p:nvPr userDrawn="1"/>
        </p:nvSpPr>
        <p:spPr>
          <a:xfrm>
            <a:off x="335360" y="5034992"/>
            <a:ext cx="2448272" cy="1706376"/>
          </a:xfrm>
          <a:prstGeom prst="rect">
            <a:avLst/>
          </a:prstGeom>
          <a:solidFill>
            <a:srgbClr val="2E008B"/>
          </a:solidFill>
          <a:ln>
            <a:solidFill>
              <a:srgbClr val="2E00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9" name="Picture 8">
            <a:extLst>
              <a:ext uri="{FF2B5EF4-FFF2-40B4-BE49-F238E27FC236}">
                <a16:creationId xmlns:a16="http://schemas.microsoft.com/office/drawing/2014/main" id="{330DC25F-9AEB-4A63-A2DF-AAAB31C65E5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3352" y="5931278"/>
            <a:ext cx="2952328" cy="738082"/>
          </a:xfrm>
          <a:prstGeom prst="rect">
            <a:avLst/>
          </a:prstGeom>
        </p:spPr>
      </p:pic>
    </p:spTree>
    <p:extLst>
      <p:ext uri="{BB962C8B-B14F-4D97-AF65-F5344CB8AC3E}">
        <p14:creationId xmlns:p14="http://schemas.microsoft.com/office/powerpoint/2010/main" val="704807507"/>
      </p:ext>
    </p:extLst>
  </p:cSld>
  <p:clrMapOvr>
    <a:masterClrMapping/>
  </p:clrMapOvr>
  <p:extLst>
    <p:ext uri="{DCECCB84-F9BA-43D5-87BE-67443E8EF086}">
      <p15:sldGuideLst xmlns:p15="http://schemas.microsoft.com/office/powerpoint/2012/main">
        <p15:guide id="1" pos="3840" userDrawn="1">
          <p15:clr>
            <a:srgbClr val="FBAE40"/>
          </p15:clr>
        </p15:guide>
        <p15:guide id="2" pos="2116" userDrawn="1">
          <p15:clr>
            <a:srgbClr val="FBAE40"/>
          </p15:clr>
        </p15:guide>
        <p15:guide id="3" pos="556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option 3">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5FA3-A20D-40FB-8BE3-44CD88DDEC22}"/>
              </a:ext>
            </a:extLst>
          </p:cNvPr>
          <p:cNvSpPr>
            <a:spLocks noGrp="1"/>
          </p:cNvSpPr>
          <p:nvPr>
            <p:ph type="ctrTitle"/>
          </p:nvPr>
        </p:nvSpPr>
        <p:spPr>
          <a:xfrm>
            <a:off x="839416" y="1700808"/>
            <a:ext cx="5472000" cy="2088232"/>
          </a:xfrm>
          <a:prstGeom prst="rect">
            <a:avLst/>
          </a:prstGeom>
          <a:ln>
            <a:noFill/>
          </a:ln>
        </p:spPr>
        <p:txBody>
          <a:bodyPr bIns="0" anchor="ctr" anchorCtr="0">
            <a:noAutofit/>
          </a:bodyPr>
          <a:lstStyle>
            <a:lvl1pPr algn="ctr">
              <a:lnSpc>
                <a:spcPct val="70000"/>
              </a:lnSpc>
              <a:defRPr sz="6000">
                <a:solidFill>
                  <a:schemeClr val="tx2"/>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2EE91C51-1E93-4B29-9242-2D33D6D5A8FE}"/>
              </a:ext>
            </a:extLst>
          </p:cNvPr>
          <p:cNvSpPr>
            <a:spLocks noGrp="1"/>
          </p:cNvSpPr>
          <p:nvPr>
            <p:ph type="subTitle" idx="1"/>
          </p:nvPr>
        </p:nvSpPr>
        <p:spPr>
          <a:xfrm>
            <a:off x="1055416" y="4057329"/>
            <a:ext cx="5040000" cy="307777"/>
          </a:xfrm>
        </p:spPr>
        <p:txBody>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8" name="Picture Placeholder 10">
            <a:extLst>
              <a:ext uri="{FF2B5EF4-FFF2-40B4-BE49-F238E27FC236}">
                <a16:creationId xmlns:a16="http://schemas.microsoft.com/office/drawing/2014/main" id="{4A112773-0389-44C1-9A6C-D346A4A5026D}"/>
              </a:ext>
            </a:extLst>
          </p:cNvPr>
          <p:cNvSpPr>
            <a:spLocks noGrp="1"/>
          </p:cNvSpPr>
          <p:nvPr>
            <p:ph type="pic" sz="quarter" idx="10"/>
          </p:nvPr>
        </p:nvSpPr>
        <p:spPr>
          <a:xfrm>
            <a:off x="7272445" y="0"/>
            <a:ext cx="4919555" cy="68580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2281 w 12281"/>
              <a:gd name="connsiteY0" fmla="*/ 0 h 10000"/>
              <a:gd name="connsiteX1" fmla="*/ 12281 w 12281"/>
              <a:gd name="connsiteY1" fmla="*/ 0 h 10000"/>
              <a:gd name="connsiteX2" fmla="*/ 12281 w 12281"/>
              <a:gd name="connsiteY2" fmla="*/ 10000 h 10000"/>
              <a:gd name="connsiteX3" fmla="*/ 2281 w 12281"/>
              <a:gd name="connsiteY3" fmla="*/ 10000 h 10000"/>
              <a:gd name="connsiteX4" fmla="*/ 2281 w 12281"/>
              <a:gd name="connsiteY4" fmla="*/ 0 h 10000"/>
              <a:gd name="connsiteX0" fmla="*/ 2718 w 12718"/>
              <a:gd name="connsiteY0" fmla="*/ 0 h 10000"/>
              <a:gd name="connsiteX1" fmla="*/ 12718 w 12718"/>
              <a:gd name="connsiteY1" fmla="*/ 0 h 10000"/>
              <a:gd name="connsiteX2" fmla="*/ 12718 w 12718"/>
              <a:gd name="connsiteY2" fmla="*/ 10000 h 10000"/>
              <a:gd name="connsiteX3" fmla="*/ 2718 w 12718"/>
              <a:gd name="connsiteY3" fmla="*/ 10000 h 10000"/>
              <a:gd name="connsiteX4" fmla="*/ 2718 w 12718"/>
              <a:gd name="connsiteY4" fmla="*/ 0 h 10000"/>
              <a:gd name="connsiteX0" fmla="*/ 2205 w 12205"/>
              <a:gd name="connsiteY0" fmla="*/ 0 h 10000"/>
              <a:gd name="connsiteX1" fmla="*/ 12205 w 12205"/>
              <a:gd name="connsiteY1" fmla="*/ 0 h 10000"/>
              <a:gd name="connsiteX2" fmla="*/ 12205 w 12205"/>
              <a:gd name="connsiteY2" fmla="*/ 10000 h 10000"/>
              <a:gd name="connsiteX3" fmla="*/ 2205 w 12205"/>
              <a:gd name="connsiteY3" fmla="*/ 10000 h 10000"/>
              <a:gd name="connsiteX4" fmla="*/ 2205 w 12205"/>
              <a:gd name="connsiteY4" fmla="*/ 0 h 10000"/>
              <a:gd name="connsiteX0" fmla="*/ 2264 w 12264"/>
              <a:gd name="connsiteY0" fmla="*/ 0 h 10000"/>
              <a:gd name="connsiteX1" fmla="*/ 12264 w 12264"/>
              <a:gd name="connsiteY1" fmla="*/ 0 h 10000"/>
              <a:gd name="connsiteX2" fmla="*/ 12264 w 12264"/>
              <a:gd name="connsiteY2" fmla="*/ 10000 h 10000"/>
              <a:gd name="connsiteX3" fmla="*/ 2264 w 12264"/>
              <a:gd name="connsiteY3" fmla="*/ 10000 h 10000"/>
              <a:gd name="connsiteX4" fmla="*/ 2264 w 12264"/>
              <a:gd name="connsiteY4" fmla="*/ 0 h 10000"/>
              <a:gd name="connsiteX0" fmla="*/ 2303 w 12303"/>
              <a:gd name="connsiteY0" fmla="*/ 0 h 10000"/>
              <a:gd name="connsiteX1" fmla="*/ 12303 w 12303"/>
              <a:gd name="connsiteY1" fmla="*/ 0 h 10000"/>
              <a:gd name="connsiteX2" fmla="*/ 12303 w 12303"/>
              <a:gd name="connsiteY2" fmla="*/ 10000 h 10000"/>
              <a:gd name="connsiteX3" fmla="*/ 2303 w 12303"/>
              <a:gd name="connsiteY3" fmla="*/ 10000 h 10000"/>
              <a:gd name="connsiteX4" fmla="*/ 2303 w 12303"/>
              <a:gd name="connsiteY4" fmla="*/ 0 h 10000"/>
              <a:gd name="connsiteX0" fmla="*/ 2273 w 12273"/>
              <a:gd name="connsiteY0" fmla="*/ 0 h 10000"/>
              <a:gd name="connsiteX1" fmla="*/ 12273 w 12273"/>
              <a:gd name="connsiteY1" fmla="*/ 0 h 10000"/>
              <a:gd name="connsiteX2" fmla="*/ 12273 w 12273"/>
              <a:gd name="connsiteY2" fmla="*/ 10000 h 10000"/>
              <a:gd name="connsiteX3" fmla="*/ 2273 w 12273"/>
              <a:gd name="connsiteY3" fmla="*/ 10000 h 10000"/>
              <a:gd name="connsiteX4" fmla="*/ 2273 w 12273"/>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 h="10000">
                <a:moveTo>
                  <a:pt x="2273" y="0"/>
                </a:moveTo>
                <a:lnTo>
                  <a:pt x="12273" y="0"/>
                </a:lnTo>
                <a:lnTo>
                  <a:pt x="12273" y="10000"/>
                </a:lnTo>
                <a:lnTo>
                  <a:pt x="2273" y="10000"/>
                </a:lnTo>
                <a:cubicBezTo>
                  <a:pt x="215" y="7508"/>
                  <a:pt x="-1596" y="4260"/>
                  <a:pt x="2273" y="0"/>
                </a:cubicBezTo>
                <a:close/>
              </a:path>
            </a:pathLst>
          </a:custGeom>
          <a:blipFill dpi="0" rotWithShape="1">
            <a:blip r:embed="rId2" cstate="print">
              <a:extLst>
                <a:ext uri="{28A0092B-C50C-407E-A947-70E740481C1C}">
                  <a14:useLocalDpi xmlns:a14="http://schemas.microsoft.com/office/drawing/2010/main"/>
                </a:ext>
              </a:extLst>
            </a:blip>
            <a:srcRect/>
            <a:stretch>
              <a:fillRect/>
            </a:stretch>
          </a:blipFill>
          <a:ln w="28575">
            <a:noFill/>
          </a:ln>
        </p:spPr>
        <p:txBody>
          <a:bodyPr anchor="ctr" anchorCtr="0">
            <a:noAutofit/>
          </a:bodyPr>
          <a:lstStyle>
            <a:lvl1pPr marL="0" indent="0" algn="ctr">
              <a:buNone/>
              <a:defRPr b="1">
                <a:solidFill>
                  <a:schemeClr val="bg1"/>
                </a:solidFill>
              </a:defRPr>
            </a:lvl1pPr>
          </a:lstStyle>
          <a:p>
            <a:endParaRPr lang="en-GB" dirty="0"/>
          </a:p>
        </p:txBody>
      </p:sp>
      <p:sp>
        <p:nvSpPr>
          <p:cNvPr id="5" name="Oval 4">
            <a:extLst>
              <a:ext uri="{FF2B5EF4-FFF2-40B4-BE49-F238E27FC236}">
                <a16:creationId xmlns:a16="http://schemas.microsoft.com/office/drawing/2014/main" id="{F0892D67-F81D-4EAF-91FC-295D8C2F6020}"/>
              </a:ext>
            </a:extLst>
          </p:cNvPr>
          <p:cNvSpPr/>
          <p:nvPr userDrawn="1"/>
        </p:nvSpPr>
        <p:spPr>
          <a:xfrm>
            <a:off x="6655081" y="507294"/>
            <a:ext cx="414656" cy="414656"/>
          </a:xfrm>
          <a:prstGeom prst="ellipse">
            <a:avLst/>
          </a:prstGeom>
          <a:solidFill>
            <a:srgbClr val="17298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 name="Oval 5">
            <a:extLst>
              <a:ext uri="{FF2B5EF4-FFF2-40B4-BE49-F238E27FC236}">
                <a16:creationId xmlns:a16="http://schemas.microsoft.com/office/drawing/2014/main" id="{673C406D-B215-4935-8E9E-66DD87522B2E}"/>
              </a:ext>
            </a:extLst>
          </p:cNvPr>
          <p:cNvSpPr/>
          <p:nvPr userDrawn="1"/>
        </p:nvSpPr>
        <p:spPr>
          <a:xfrm>
            <a:off x="6875715" y="1673947"/>
            <a:ext cx="170476" cy="170476"/>
          </a:xfrm>
          <a:prstGeom prst="ellipse">
            <a:avLst/>
          </a:prstGeom>
          <a:solidFill>
            <a:srgbClr val="00B6ED"/>
          </a:solidFill>
          <a:ln>
            <a:solidFill>
              <a:srgbClr val="00B6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Oval 6">
            <a:extLst>
              <a:ext uri="{FF2B5EF4-FFF2-40B4-BE49-F238E27FC236}">
                <a16:creationId xmlns:a16="http://schemas.microsoft.com/office/drawing/2014/main" id="{68AEAD39-6F92-40BC-B53B-719F85124F3E}"/>
              </a:ext>
            </a:extLst>
          </p:cNvPr>
          <p:cNvSpPr/>
          <p:nvPr userDrawn="1"/>
        </p:nvSpPr>
        <p:spPr>
          <a:xfrm>
            <a:off x="6127577" y="373944"/>
            <a:ext cx="266700" cy="266700"/>
          </a:xfrm>
          <a:prstGeom prst="ellipse">
            <a:avLst/>
          </a:prstGeom>
          <a:solidFill>
            <a:srgbClr val="EC008C"/>
          </a:solidFill>
          <a:ln>
            <a:solidFill>
              <a:srgbClr val="EC0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65907" y="5805264"/>
            <a:ext cx="1456740" cy="869021"/>
          </a:xfrm>
          <a:prstGeom prst="rect">
            <a:avLst/>
          </a:prstGeom>
        </p:spPr>
      </p:pic>
      <p:pic>
        <p:nvPicPr>
          <p:cNvPr id="19" name="Picture 18">
            <a:extLst>
              <a:ext uri="{FF2B5EF4-FFF2-40B4-BE49-F238E27FC236}">
                <a16:creationId xmlns:a16="http://schemas.microsoft.com/office/drawing/2014/main" id="{FEAECAE8-8B32-4E0B-BC3B-F2E9E64868C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2591" y="5924204"/>
            <a:ext cx="2530106" cy="631142"/>
          </a:xfrm>
          <a:prstGeom prst="rect">
            <a:avLst/>
          </a:prstGeom>
        </p:spPr>
      </p:pic>
      <p:pic>
        <p:nvPicPr>
          <p:cNvPr id="22" name="Picture 2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49653" y="116632"/>
            <a:ext cx="2621213" cy="1080120"/>
          </a:xfrm>
          <a:prstGeom prst="rect">
            <a:avLst/>
          </a:prstGeom>
        </p:spPr>
      </p:pic>
    </p:spTree>
    <p:extLst>
      <p:ext uri="{BB962C8B-B14F-4D97-AF65-F5344CB8AC3E}">
        <p14:creationId xmlns:p14="http://schemas.microsoft.com/office/powerpoint/2010/main" val="22304490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pos="2116" userDrawn="1">
          <p15:clr>
            <a:srgbClr val="FBAE40"/>
          </p15:clr>
        </p15:guide>
        <p15:guide id="3" pos="556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19/11/2023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30140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19/11/2023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708362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DFA11-9616-41BC-915F-FAF0C22C93A7}" type="datetimeFigureOut">
              <a:rPr lang="en-GB" smtClean="0"/>
              <a:t>19/11/2023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2170605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28DFA11-9616-41BC-915F-FAF0C22C93A7}" type="datetimeFigureOut">
              <a:rPr lang="en-GB" smtClean="0"/>
              <a:t>19/11/2023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253305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28DFA11-9616-41BC-915F-FAF0C22C93A7}" type="datetimeFigureOut">
              <a:rPr lang="en-GB" smtClean="0"/>
              <a:t>19/11/2023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545450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28DFA11-9616-41BC-915F-FAF0C22C93A7}" type="datetimeFigureOut">
              <a:rPr lang="en-GB" smtClean="0"/>
              <a:t>19/11/2023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513666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DFA11-9616-41BC-915F-FAF0C22C93A7}" type="datetimeFigureOut">
              <a:rPr lang="en-GB" smtClean="0"/>
              <a:t>19/11/2023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2798702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8DFA11-9616-41BC-915F-FAF0C22C93A7}" type="datetimeFigureOut">
              <a:rPr lang="en-GB" smtClean="0"/>
              <a:t>19/11/2023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4094163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8DFA11-9616-41BC-915F-FAF0C22C93A7}" type="datetimeFigureOut">
              <a:rPr lang="en-GB" smtClean="0"/>
              <a:t>19/11/2023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90020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19/11/2023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1570463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8DFA11-9616-41BC-915F-FAF0C22C93A7}" type="datetimeFigureOut">
              <a:rPr lang="en-GB" smtClean="0"/>
              <a:t>19/11/2023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92768A-EFD8-40F2-8B7D-E875485359F3}" type="slidenum">
              <a:rPr lang="en-GB" smtClean="0"/>
              <a:t>‹#›</a:t>
            </a:fld>
            <a:endParaRPr lang="en-GB"/>
          </a:p>
        </p:txBody>
      </p:sp>
    </p:spTree>
    <p:extLst>
      <p:ext uri="{BB962C8B-B14F-4D97-AF65-F5344CB8AC3E}">
        <p14:creationId xmlns:p14="http://schemas.microsoft.com/office/powerpoint/2010/main" val="3152866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78533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751208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8929679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9141238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369061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186823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5342074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8282915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964973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3484680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4772237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8725335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0463715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0812441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5022225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42927322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6574409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42534009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8874412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31254464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17371064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2C4134F-6C38-49F6-A4BA-62E2BC5ABF59}" type="datetimeFigureOut">
              <a:rPr lang="en-GB" smtClean="0"/>
              <a:t>19/11/2023</a:t>
            </a:fld>
            <a:endParaRPr lang="en-GB"/>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DC729DC-42C9-468A-8D4C-E1E9306F89EB}" type="slidenum">
              <a:rPr lang="en-GB" smtClean="0"/>
              <a:t>‹#›</a:t>
            </a:fld>
            <a:endParaRPr lang="en-GB"/>
          </a:p>
        </p:txBody>
      </p:sp>
    </p:spTree>
    <p:extLst>
      <p:ext uri="{BB962C8B-B14F-4D97-AF65-F5344CB8AC3E}">
        <p14:creationId xmlns:p14="http://schemas.microsoft.com/office/powerpoint/2010/main" val="2044435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8704168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41171459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6683599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2935975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a:t>Click to edit Master title style</a:t>
            </a:r>
            <a:endParaRPr lang="en-GB"/>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GB"/>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1324557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38705700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36364957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5906098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7"/>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GB"/>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13499882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2439453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CF6C3886-FE44-4283-9137-CBBA050D84B0}" type="datetimeFigureOut">
              <a:rPr lang="en-GB" smtClean="0"/>
              <a:t>19/11/2023</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4251808-5BF7-4C2D-9816-F39977B488D9}" type="slidenum">
              <a:rPr lang="en-GB" smtClean="0"/>
              <a:t>‹#›</a:t>
            </a:fld>
            <a:endParaRPr lang="en-GB"/>
          </a:p>
        </p:txBody>
      </p:sp>
    </p:spTree>
    <p:extLst>
      <p:ext uri="{BB962C8B-B14F-4D97-AF65-F5344CB8AC3E}">
        <p14:creationId xmlns:p14="http://schemas.microsoft.com/office/powerpoint/2010/main" val="2145348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9.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10.gif"/><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25EF75-4D52-440A-A177-AD7D86E621B3}"/>
              </a:ext>
            </a:extLst>
          </p:cNvPr>
          <p:cNvSpPr>
            <a:spLocks noGrp="1"/>
          </p:cNvSpPr>
          <p:nvPr>
            <p:ph type="title"/>
          </p:nvPr>
        </p:nvSpPr>
        <p:spPr>
          <a:xfrm>
            <a:off x="838200" y="404666"/>
            <a:ext cx="10515600" cy="615553"/>
          </a:xfrm>
          <a:prstGeom prst="rect">
            <a:avLst/>
          </a:prstGeom>
        </p:spPr>
        <p:txBody>
          <a:bodyPr vert="horz" lIns="0" tIns="0" rIns="0" bIns="0" rtlCol="0" anchor="t" anchorCtr="0">
            <a:sp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A660E384-7329-4F48-9513-487423506C14}"/>
              </a:ext>
            </a:extLst>
          </p:cNvPr>
          <p:cNvSpPr>
            <a:spLocks noGrp="1"/>
          </p:cNvSpPr>
          <p:nvPr>
            <p:ph type="body" idx="1"/>
          </p:nvPr>
        </p:nvSpPr>
        <p:spPr>
          <a:xfrm>
            <a:off x="838200" y="1772818"/>
            <a:ext cx="10515600" cy="1608133"/>
          </a:xfrm>
          <a:prstGeom prst="rect">
            <a:avLst/>
          </a:prstGeom>
        </p:spPr>
        <p:txBody>
          <a:bodyPr vert="horz"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A02CADF-0F3F-4A6D-8357-3E5A35796082}"/>
              </a:ext>
            </a:extLst>
          </p:cNvPr>
          <p:cNvSpPr>
            <a:spLocks noGrp="1"/>
          </p:cNvSpPr>
          <p:nvPr>
            <p:ph type="dt" sz="half" idx="2"/>
          </p:nvPr>
        </p:nvSpPr>
        <p:spPr>
          <a:xfrm>
            <a:off x="839788" y="6330227"/>
            <a:ext cx="5256000" cy="123111"/>
          </a:xfrm>
          <a:prstGeom prst="rect">
            <a:avLst/>
          </a:prstGeom>
        </p:spPr>
        <p:txBody>
          <a:bodyPr vert="horz" wrap="square" lIns="0" tIns="0" rIns="0" bIns="0" rtlCol="0" anchor="b" anchorCtr="0">
            <a:spAutoFit/>
          </a:bodyPr>
          <a:lstStyle>
            <a:lvl1pPr algn="l">
              <a:defRPr sz="800">
                <a:solidFill>
                  <a:schemeClr val="tx2"/>
                </a:solidFill>
              </a:defRPr>
            </a:lvl1pPr>
          </a:lstStyle>
          <a:p>
            <a:fld id="{7BFF6A76-928D-4240-A973-B16EE178E0D9}" type="datetime2">
              <a:rPr lang="en-GB" smtClean="0"/>
              <a:pPr/>
              <a:t>Sunday, 19 November 2023</a:t>
            </a:fld>
            <a:endParaRPr lang="en-GB" dirty="0"/>
          </a:p>
        </p:txBody>
      </p:sp>
      <p:sp>
        <p:nvSpPr>
          <p:cNvPr id="5" name="Footer Placeholder 4">
            <a:extLst>
              <a:ext uri="{FF2B5EF4-FFF2-40B4-BE49-F238E27FC236}">
                <a16:creationId xmlns:a16="http://schemas.microsoft.com/office/drawing/2014/main" id="{99B8B8C9-4F22-4557-AE82-C88DC9015F8B}"/>
              </a:ext>
            </a:extLst>
          </p:cNvPr>
          <p:cNvSpPr>
            <a:spLocks noGrp="1"/>
          </p:cNvSpPr>
          <p:nvPr>
            <p:ph type="ftr" sz="quarter" idx="3"/>
          </p:nvPr>
        </p:nvSpPr>
        <p:spPr>
          <a:xfrm>
            <a:off x="839788" y="6525346"/>
            <a:ext cx="10512000" cy="123111"/>
          </a:xfrm>
          <a:prstGeom prst="rect">
            <a:avLst/>
          </a:prstGeom>
        </p:spPr>
        <p:txBody>
          <a:bodyPr vert="horz" wrap="square" lIns="0" tIns="0" rIns="0" bIns="0" rtlCol="0" anchor="t" anchorCtr="0">
            <a:spAutoFit/>
          </a:bodyPr>
          <a:lstStyle>
            <a:lvl1pPr algn="l">
              <a:defRPr sz="800">
                <a:solidFill>
                  <a:schemeClr val="tx2"/>
                </a:solidFill>
              </a:defRPr>
            </a:lvl1pPr>
          </a:lstStyle>
          <a:p>
            <a:r>
              <a:rPr lang="en-GB"/>
              <a:t>Footer Goes Here</a:t>
            </a:r>
            <a:endParaRPr lang="en-GB" dirty="0"/>
          </a:p>
        </p:txBody>
      </p:sp>
      <p:sp>
        <p:nvSpPr>
          <p:cNvPr id="6" name="Slide Number Placeholder 5">
            <a:extLst>
              <a:ext uri="{FF2B5EF4-FFF2-40B4-BE49-F238E27FC236}">
                <a16:creationId xmlns:a16="http://schemas.microsoft.com/office/drawing/2014/main" id="{3B240DCD-F5B7-4664-87EE-F1FFDD430D8C}"/>
              </a:ext>
            </a:extLst>
          </p:cNvPr>
          <p:cNvSpPr>
            <a:spLocks noGrp="1"/>
          </p:cNvSpPr>
          <p:nvPr>
            <p:ph type="sldNum" sz="quarter" idx="4"/>
          </p:nvPr>
        </p:nvSpPr>
        <p:spPr>
          <a:xfrm>
            <a:off x="0" y="6330227"/>
            <a:ext cx="767408" cy="123111"/>
          </a:xfrm>
          <a:prstGeom prst="rect">
            <a:avLst/>
          </a:prstGeom>
        </p:spPr>
        <p:txBody>
          <a:bodyPr vert="horz" wrap="square" lIns="0" tIns="0" rIns="0" bIns="0" rtlCol="0" anchor="b" anchorCtr="0">
            <a:spAutoFit/>
          </a:bodyPr>
          <a:lstStyle>
            <a:lvl1pPr algn="r">
              <a:defRPr sz="800">
                <a:solidFill>
                  <a:schemeClr val="tx2"/>
                </a:solidFill>
              </a:defRPr>
            </a:lvl1pPr>
          </a:lstStyle>
          <a:p>
            <a:fld id="{F90E331C-8DD5-41DE-A1D8-42719F204B7E}" type="slidenum">
              <a:rPr lang="en-GB" smtClean="0"/>
              <a:pPr/>
              <a:t>‹#›</a:t>
            </a:fld>
            <a:endParaRPr lang="en-GB" dirty="0"/>
          </a:p>
        </p:txBody>
      </p:sp>
    </p:spTree>
    <p:extLst>
      <p:ext uri="{BB962C8B-B14F-4D97-AF65-F5344CB8AC3E}">
        <p14:creationId xmlns:p14="http://schemas.microsoft.com/office/powerpoint/2010/main" val="639640934"/>
      </p:ext>
    </p:extLst>
  </p:cSld>
  <p:clrMap bg1="lt1" tx1="dk1" bg2="lt2" tx2="dk2" accent1="accent1" accent2="accent2" accent3="accent3" accent4="accent4" accent5="accent5" accent6="accent6" hlink="hlink" folHlink="folHlink"/>
  <p:sldLayoutIdLst>
    <p:sldLayoutId id="2147483657" r:id="rId1"/>
    <p:sldLayoutId id="2147483650" r:id="rId2"/>
    <p:sldLayoutId id="2147483678" r:id="rId3"/>
  </p:sldLayoutIdLst>
  <p:hf hdr="0"/>
  <p:txStyles>
    <p:titleStyle>
      <a:lvl1pPr algn="l" defTabSz="914400" rtl="0" eaLnBrk="1" latinLnBrk="0" hangingPunct="1">
        <a:lnSpc>
          <a:spcPct val="100000"/>
        </a:lnSpc>
        <a:spcBef>
          <a:spcPct val="0"/>
        </a:spcBef>
        <a:buNone/>
        <a:defRPr sz="4000" kern="1200" cap="all" baseline="0">
          <a:solidFill>
            <a:schemeClr val="accent3"/>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400" kern="1200">
          <a:solidFill>
            <a:schemeClr val="tx1"/>
          </a:solidFill>
          <a:latin typeface="+mn-lt"/>
          <a:ea typeface="+mn-ea"/>
          <a:cs typeface="+mn-cs"/>
        </a:defRPr>
      </a:lvl1pPr>
      <a:lvl2pPr marL="358775" indent="-358775" algn="l" defTabSz="914400" rtl="0" eaLnBrk="1" latinLnBrk="0" hangingPunct="1">
        <a:lnSpc>
          <a:spcPct val="100000"/>
        </a:lnSpc>
        <a:spcBef>
          <a:spcPts val="600"/>
        </a:spcBef>
        <a:spcAft>
          <a:spcPts val="300"/>
        </a:spcAft>
        <a:buClr>
          <a:schemeClr val="bg2"/>
        </a:buClr>
        <a:buFont typeface="Arial" panose="020B0604020202020204" pitchFamily="34" charset="0"/>
        <a:buChar char="‒"/>
        <a:defRPr sz="2000" kern="1200">
          <a:solidFill>
            <a:schemeClr val="tx1"/>
          </a:solidFill>
          <a:latin typeface="+mn-lt"/>
          <a:ea typeface="+mn-ea"/>
          <a:cs typeface="+mn-cs"/>
        </a:defRPr>
      </a:lvl2pPr>
      <a:lvl3pPr marL="631825" indent="-273050" algn="l" defTabSz="914400" rtl="0" eaLnBrk="1" latinLnBrk="0" hangingPunct="1">
        <a:lnSpc>
          <a:spcPct val="100000"/>
        </a:lnSpc>
        <a:spcBef>
          <a:spcPts val="0"/>
        </a:spcBef>
        <a:spcAft>
          <a:spcPts val="300"/>
        </a:spcAft>
        <a:buClr>
          <a:schemeClr val="bg2"/>
        </a:buClr>
        <a:buFont typeface="Arial" panose="020B0604020202020204" pitchFamily="34" charset="0"/>
        <a:buChar char="•"/>
        <a:defRPr sz="1800" kern="1200">
          <a:solidFill>
            <a:schemeClr val="tx1"/>
          </a:solidFill>
          <a:latin typeface="+mn-lt"/>
          <a:ea typeface="+mn-ea"/>
          <a:cs typeface="+mn-cs"/>
        </a:defRPr>
      </a:lvl3pPr>
      <a:lvl4pPr marL="990600" indent="-358775" algn="l" defTabSz="914400" rtl="0" eaLnBrk="1" latinLnBrk="0" hangingPunct="1">
        <a:lnSpc>
          <a:spcPct val="100000"/>
        </a:lnSpc>
        <a:spcBef>
          <a:spcPts val="0"/>
        </a:spcBef>
        <a:spcAft>
          <a:spcPts val="300"/>
        </a:spcAft>
        <a:buClr>
          <a:schemeClr val="bg2"/>
        </a:buClr>
        <a:buFont typeface="Arial" panose="020B0604020202020204" pitchFamily="34" charset="0"/>
        <a:buChar char="‒"/>
        <a:defRPr sz="1600" kern="1200">
          <a:solidFill>
            <a:schemeClr val="tx1"/>
          </a:solidFill>
          <a:latin typeface="+mn-lt"/>
          <a:ea typeface="+mn-ea"/>
          <a:cs typeface="+mn-cs"/>
        </a:defRPr>
      </a:lvl4pPr>
      <a:lvl5pPr marL="1254125" indent="-263525" algn="l" defTabSz="914400" rtl="0" eaLnBrk="1" latinLnBrk="0" hangingPunct="1">
        <a:lnSpc>
          <a:spcPct val="100000"/>
        </a:lnSpc>
        <a:spcBef>
          <a:spcPts val="0"/>
        </a:spcBef>
        <a:spcAft>
          <a:spcPts val="300"/>
        </a:spcAft>
        <a:buClr>
          <a:schemeClr val="bg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7151" userDrawn="1">
          <p15:clr>
            <a:srgbClr val="F26B43"/>
          </p15:clr>
        </p15:guide>
        <p15:guide id="3" pos="3840" userDrawn="1">
          <p15:clr>
            <a:srgbClr val="F26B43"/>
          </p15:clr>
        </p15:guide>
        <p15:guide id="4" orient="horz" pos="1117" userDrawn="1">
          <p15:clr>
            <a:srgbClr val="F26B43"/>
          </p15:clr>
        </p15:guide>
        <p15:guide id="5" orient="horz" pos="4065" userDrawn="1">
          <p15:clr>
            <a:srgbClr val="F26B43"/>
          </p15:clr>
        </p15:guide>
        <p15:guide id="7" orient="horz" pos="41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DFA11-9616-41BC-915F-FAF0C22C93A7}" type="datetimeFigureOut">
              <a:rPr lang="en-GB" smtClean="0"/>
              <a:t>19/11/2023</a:t>
            </a:fld>
            <a:endParaRPr lang="en-GB"/>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92768A-EFD8-40F2-8B7D-E875485359F3}" type="slidenum">
              <a:rPr lang="en-GB" smtClean="0"/>
              <a:t>‹#›</a:t>
            </a:fld>
            <a:endParaRPr lang="en-GB"/>
          </a:p>
        </p:txBody>
      </p:sp>
    </p:spTree>
    <p:extLst>
      <p:ext uri="{BB962C8B-B14F-4D97-AF65-F5344CB8AC3E}">
        <p14:creationId xmlns:p14="http://schemas.microsoft.com/office/powerpoint/2010/main" val="1310695190"/>
      </p:ext>
    </p:extLst>
  </p:cSld>
  <p:clrMap bg1="lt1" tx1="dk1" bg2="lt2" tx2="dk2" accent1="accent1" accent2="accent2" accent3="accent3" accent4="accent4" accent5="accent5" accent6="accent6" hlink="hlink" folHlink="folHlink"/>
  <p:sldLayoutIdLst>
    <p:sldLayoutId id="2147483692"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2"/>
          <p:cNvSpPr txBox="1">
            <a:spLocks noChangeArrowheads="1"/>
          </p:cNvSpPr>
          <p:nvPr userDrawn="1"/>
        </p:nvSpPr>
        <p:spPr bwMode="auto">
          <a:xfrm>
            <a:off x="0" y="0"/>
            <a:ext cx="12192000" cy="1124744"/>
          </a:xfrm>
          <a:prstGeom prst="rect">
            <a:avLst/>
          </a:prstGeom>
          <a:solidFill>
            <a:srgbClr val="2B167B"/>
          </a:solidFill>
          <a:ln w="9525">
            <a:noFill/>
            <a:miter lim="800000"/>
            <a:headEnd/>
            <a:tailEnd/>
          </a:ln>
        </p:spPr>
        <p:txBody>
          <a:bodyPr anchor="ctr"/>
          <a:lstStyle/>
          <a:p>
            <a:pPr algn="ctr">
              <a:defRPr/>
            </a:pPr>
            <a:endParaRPr lang="en-GB" sz="4400" kern="0" dirty="0">
              <a:solidFill>
                <a:schemeClr val="accent1"/>
              </a:solidFill>
              <a:latin typeface="+mj-lt"/>
              <a:ea typeface="+mj-ea"/>
              <a:cs typeface="+mj-cs"/>
            </a:endParaRPr>
          </a:p>
        </p:txBody>
      </p:sp>
      <p:sp>
        <p:nvSpPr>
          <p:cNvPr id="3" name="Rectangle 2"/>
          <p:cNvSpPr/>
          <p:nvPr userDrawn="1"/>
        </p:nvSpPr>
        <p:spPr>
          <a:xfrm>
            <a:off x="9672898" y="6334002"/>
            <a:ext cx="2226187" cy="338554"/>
          </a:xfrm>
          <a:prstGeom prst="rect">
            <a:avLst/>
          </a:prstGeom>
        </p:spPr>
        <p:txBody>
          <a:bodyPr wrap="none">
            <a:spAutoFit/>
          </a:bodyPr>
          <a:lstStyle/>
          <a:p>
            <a:pPr algn="ctr"/>
            <a:r>
              <a:rPr lang="en-GB" sz="1600" b="0" dirty="0">
                <a:solidFill>
                  <a:srgbClr val="2B167B"/>
                </a:solidFill>
                <a:latin typeface="+mj-lt"/>
              </a:rPr>
              <a:t>www.bartscancer.london</a:t>
            </a:r>
          </a:p>
        </p:txBody>
      </p:sp>
      <p:sp>
        <p:nvSpPr>
          <p:cNvPr id="4" name="TextBox 10"/>
          <p:cNvSpPr txBox="1">
            <a:spLocks noChangeArrowheads="1"/>
          </p:cNvSpPr>
          <p:nvPr userDrawn="1"/>
        </p:nvSpPr>
        <p:spPr bwMode="auto">
          <a:xfrm>
            <a:off x="407368" y="6345235"/>
            <a:ext cx="8674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1200" dirty="0">
                <a:solidFill>
                  <a:srgbClr val="2B167B"/>
                </a:solidFill>
                <a:latin typeface="+mn-lt"/>
              </a:rPr>
              <a:t>@QMBCI</a:t>
            </a:r>
          </a:p>
        </p:txBody>
      </p:sp>
      <p:pic>
        <p:nvPicPr>
          <p:cNvPr id="5" name="Picture 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42460" y="6331964"/>
            <a:ext cx="288000" cy="288000"/>
          </a:xfrm>
          <a:prstGeom prst="rect">
            <a:avLst/>
          </a:prstGeom>
        </p:spPr>
      </p:pic>
    </p:spTree>
    <p:extLst>
      <p:ext uri="{BB962C8B-B14F-4D97-AF65-F5344CB8AC3E}">
        <p14:creationId xmlns:p14="http://schemas.microsoft.com/office/powerpoint/2010/main" val="3365015177"/>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2"/>
          <p:cNvSpPr txBox="1">
            <a:spLocks noChangeArrowheads="1"/>
          </p:cNvSpPr>
          <p:nvPr userDrawn="1"/>
        </p:nvSpPr>
        <p:spPr bwMode="auto">
          <a:xfrm>
            <a:off x="0" y="0"/>
            <a:ext cx="12192000" cy="1124744"/>
          </a:xfrm>
          <a:prstGeom prst="rect">
            <a:avLst/>
          </a:prstGeom>
          <a:solidFill>
            <a:srgbClr val="2B167B"/>
          </a:solidFill>
          <a:ln w="9525">
            <a:noFill/>
            <a:miter lim="800000"/>
            <a:headEnd/>
            <a:tailEnd/>
          </a:ln>
        </p:spPr>
        <p:txBody>
          <a:bodyPr anchor="ctr"/>
          <a:lstStyle/>
          <a:p>
            <a:pPr algn="ctr">
              <a:defRPr/>
            </a:pPr>
            <a:endParaRPr lang="en-GB" sz="4400" kern="0" dirty="0">
              <a:solidFill>
                <a:schemeClr val="accent1"/>
              </a:solidFill>
              <a:latin typeface="+mj-lt"/>
              <a:ea typeface="+mj-ea"/>
              <a:cs typeface="+mj-cs"/>
            </a:endParaRPr>
          </a:p>
        </p:txBody>
      </p:sp>
      <p:sp>
        <p:nvSpPr>
          <p:cNvPr id="2" name="TextBox 1"/>
          <p:cNvSpPr txBox="1"/>
          <p:nvPr userDrawn="1"/>
        </p:nvSpPr>
        <p:spPr>
          <a:xfrm>
            <a:off x="2963652" y="260648"/>
            <a:ext cx="6264696" cy="707886"/>
          </a:xfrm>
          <a:prstGeom prst="rect">
            <a:avLst/>
          </a:prstGeom>
          <a:noFill/>
        </p:spPr>
        <p:txBody>
          <a:bodyPr wrap="square" rtlCol="0">
            <a:spAutoFit/>
          </a:bodyPr>
          <a:lstStyle/>
          <a:p>
            <a:pPr algn="ctr"/>
            <a:r>
              <a:rPr lang="en-GB" sz="4000" dirty="0">
                <a:solidFill>
                  <a:schemeClr val="bg1"/>
                </a:solidFill>
                <a:latin typeface="+mj-lt"/>
              </a:rPr>
              <a:t>Acknowledgements</a:t>
            </a:r>
          </a:p>
        </p:txBody>
      </p:sp>
    </p:spTree>
    <p:extLst>
      <p:ext uri="{BB962C8B-B14F-4D97-AF65-F5344CB8AC3E}">
        <p14:creationId xmlns:p14="http://schemas.microsoft.com/office/powerpoint/2010/main" val="2845711733"/>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2"/>
          <p:cNvSpPr txBox="1">
            <a:spLocks noChangeArrowheads="1"/>
          </p:cNvSpPr>
          <p:nvPr userDrawn="1"/>
        </p:nvSpPr>
        <p:spPr bwMode="auto">
          <a:xfrm>
            <a:off x="0" y="0"/>
            <a:ext cx="12192000" cy="1268760"/>
          </a:xfrm>
          <a:prstGeom prst="rect">
            <a:avLst/>
          </a:prstGeom>
          <a:solidFill>
            <a:srgbClr val="2B167B"/>
          </a:solidFill>
          <a:ln w="9525">
            <a:noFill/>
            <a:miter lim="800000"/>
            <a:headEnd/>
            <a:tailEnd/>
          </a:ln>
        </p:spPr>
        <p:txBody>
          <a:bodyPr anchor="ctr"/>
          <a:lstStyle/>
          <a:p>
            <a:pPr algn="ctr">
              <a:defRPr/>
            </a:pPr>
            <a:endParaRPr lang="en-GB" sz="4400" kern="0" dirty="0">
              <a:solidFill>
                <a:schemeClr val="accent1"/>
              </a:solidFill>
              <a:latin typeface="+mj-lt"/>
              <a:ea typeface="+mj-ea"/>
              <a:cs typeface="+mj-cs"/>
            </a:endParaRPr>
          </a:p>
        </p:txBody>
      </p:sp>
      <p:pic>
        <p:nvPicPr>
          <p:cNvPr id="8" name="Picture 2" descr="\\uk-chs-lnetb\QMCR-USERS\baker17\My Pictures\Logos\BCI logos\BCI_w_Queen_Mary_nocommaWhite.gif"/>
          <p:cNvPicPr>
            <a:picLocks noChangeAspect="1" noChangeArrowheads="1"/>
          </p:cNvPicPr>
          <p:nvPr userDrawn="1"/>
        </p:nvPicPr>
        <p:blipFill>
          <a:blip r:embed="rId13" cstate="print"/>
          <a:srcRect/>
          <a:stretch>
            <a:fillRect/>
          </a:stretch>
        </p:blipFill>
        <p:spPr bwMode="auto">
          <a:xfrm>
            <a:off x="113980" y="59933"/>
            <a:ext cx="2476821" cy="1087529"/>
          </a:xfrm>
          <a:prstGeom prst="rect">
            <a:avLst/>
          </a:prstGeom>
          <a:noFill/>
        </p:spPr>
      </p:pic>
      <p:pic>
        <p:nvPicPr>
          <p:cNvPr id="9" name="Picture 8"/>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9984432" y="59933"/>
            <a:ext cx="1965365" cy="704773"/>
          </a:xfrm>
          <a:prstGeom prst="rect">
            <a:avLst/>
          </a:prstGeom>
        </p:spPr>
      </p:pic>
    </p:spTree>
    <p:extLst>
      <p:ext uri="{BB962C8B-B14F-4D97-AF65-F5344CB8AC3E}">
        <p14:creationId xmlns:p14="http://schemas.microsoft.com/office/powerpoint/2010/main" val="206354362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hyperlink" Target="https://www.gsea-msigdb.org/gsea/msigdb/" TargetMode="Externa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hyperlink" Target="http://www.pantherdb.org/" TargetMode="External"/><Relationship Id="rId2" Type="http://schemas.openxmlformats.org/officeDocument/2006/relationships/hyperlink" Target="https://metascape.org/gp/index.html#/main/step1" TargetMode="External"/><Relationship Id="rId1" Type="http://schemas.openxmlformats.org/officeDocument/2006/relationships/slideLayout" Target="../slideLayouts/slideLayout17.xml"/><Relationship Id="rId6" Type="http://schemas.openxmlformats.org/officeDocument/2006/relationships/hyperlink" Target="https://www.genepattern.org/#gsc.tab=0" TargetMode="External"/><Relationship Id="rId5" Type="http://schemas.openxmlformats.org/officeDocument/2006/relationships/hyperlink" Target="https://maayanlab.cloud/Enrichr/" TargetMode="External"/><Relationship Id="rId4" Type="http://schemas.openxmlformats.org/officeDocument/2006/relationships/hyperlink" Target="https://david.ncifcrf.go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gsea-msigdb.org/gsea/msigdb/human/collections.jsp#H" TargetMode="Externa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hyperlink" Target="https://www.gsea-msigdb.org/gsea/doc/GSEAUserGuideFrame.html" TargetMode="External"/><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89/omi.2011.0118" TargetMode="External"/><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hyperlink" Target="http://biorxiv.org/content/early/2016/06/20/060012" TargetMode="External"/><Relationship Id="rId5" Type="http://schemas.openxmlformats.org/officeDocument/2006/relationships/hyperlink" Target="https://doi.org/10.1101/060012" TargetMode="External"/><Relationship Id="rId4" Type="http://schemas.openxmlformats.org/officeDocument/2006/relationships/hyperlink" Target="https://doi.org/10.1016/j.xinn.2021.10014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AD3E822-8A43-4565-A312-94C56561FF1A}"/>
              </a:ext>
            </a:extLst>
          </p:cNvPr>
          <p:cNvSpPr txBox="1">
            <a:spLocks/>
          </p:cNvSpPr>
          <p:nvPr/>
        </p:nvSpPr>
        <p:spPr>
          <a:xfrm>
            <a:off x="83356" y="2384884"/>
            <a:ext cx="6840152" cy="2088232"/>
          </a:xfrm>
          <a:prstGeom prst="rect">
            <a:avLst/>
          </a:prstGeom>
          <a:ln>
            <a:noFill/>
          </a:ln>
        </p:spPr>
        <p:txBody>
          <a:bodyPr vert="horz" lIns="91440" tIns="45720" rIns="91440" bIns="0" rtlCol="0" anchor="ctr" anchorCtr="0">
            <a:noAutofit/>
          </a:bodyPr>
          <a:lstStyle>
            <a:lvl1pPr algn="ctr" defTabSz="914400" rtl="0" eaLnBrk="1" latinLnBrk="0" hangingPunct="1">
              <a:lnSpc>
                <a:spcPct val="70000"/>
              </a:lnSpc>
              <a:spcBef>
                <a:spcPct val="0"/>
              </a:spcBef>
              <a:buNone/>
              <a:defRPr sz="6000" kern="1200">
                <a:solidFill>
                  <a:schemeClr val="tx2"/>
                </a:solidFill>
                <a:latin typeface="+mj-lt"/>
                <a:ea typeface="+mj-ea"/>
                <a:cs typeface="+mj-cs"/>
              </a:defRPr>
            </a:lvl1pPr>
          </a:lstStyle>
          <a:p>
            <a:pPr>
              <a:spcAft>
                <a:spcPts val="1200"/>
              </a:spcAft>
            </a:pPr>
            <a:r>
              <a:rPr lang="en-GB" dirty="0">
                <a:solidFill>
                  <a:srgbClr val="2B167B"/>
                </a:solidFill>
              </a:rPr>
              <a:t>RNA-</a:t>
            </a:r>
            <a:r>
              <a:rPr lang="en-GB" dirty="0" err="1">
                <a:solidFill>
                  <a:srgbClr val="2B167B"/>
                </a:solidFill>
              </a:rPr>
              <a:t>Seq</a:t>
            </a:r>
            <a:r>
              <a:rPr lang="en-GB" dirty="0">
                <a:solidFill>
                  <a:srgbClr val="2B167B"/>
                </a:solidFill>
              </a:rPr>
              <a:t> Analysis </a:t>
            </a:r>
          </a:p>
          <a:p>
            <a:pPr>
              <a:spcAft>
                <a:spcPts val="1200"/>
              </a:spcAft>
            </a:pPr>
            <a:r>
              <a:rPr lang="en-GB" sz="3600" dirty="0">
                <a:solidFill>
                  <a:srgbClr val="2B167B"/>
                </a:solidFill>
              </a:rPr>
              <a:t>Part 3: Gene Set Enrichment</a:t>
            </a:r>
            <a:br>
              <a:rPr lang="en-GB" dirty="0">
                <a:solidFill>
                  <a:srgbClr val="2B167B"/>
                </a:solidFill>
              </a:rPr>
            </a:br>
            <a:endParaRPr lang="en-GB" dirty="0">
              <a:solidFill>
                <a:srgbClr val="2B167B"/>
              </a:solidFill>
            </a:endParaRPr>
          </a:p>
        </p:txBody>
      </p:sp>
      <p:sp>
        <p:nvSpPr>
          <p:cNvPr id="9" name="Subtitle 2">
            <a:extLst>
              <a:ext uri="{FF2B5EF4-FFF2-40B4-BE49-F238E27FC236}">
                <a16:creationId xmlns:a16="http://schemas.microsoft.com/office/drawing/2014/main" id="{2C8B18EE-7374-4FE3-A69B-EDD56315976F}"/>
              </a:ext>
            </a:extLst>
          </p:cNvPr>
          <p:cNvSpPr txBox="1">
            <a:spLocks/>
          </p:cNvSpPr>
          <p:nvPr/>
        </p:nvSpPr>
        <p:spPr>
          <a:xfrm>
            <a:off x="983432" y="4126867"/>
            <a:ext cx="5040000" cy="69249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000"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rgbClr val="2B167B"/>
                </a:solidFill>
                <a:latin typeface="+mj-lt"/>
              </a:rPr>
              <a:t>Eleni </a:t>
            </a:r>
            <a:r>
              <a:rPr lang="en-GB" dirty="0" err="1">
                <a:solidFill>
                  <a:srgbClr val="2B167B"/>
                </a:solidFill>
                <a:latin typeface="+mj-lt"/>
              </a:rPr>
              <a:t>Maniati</a:t>
            </a:r>
            <a:r>
              <a:rPr lang="en-GB" dirty="0">
                <a:solidFill>
                  <a:srgbClr val="2B167B"/>
                </a:solidFill>
                <a:latin typeface="+mj-lt"/>
              </a:rPr>
              <a:t>, PhD</a:t>
            </a:r>
          </a:p>
          <a:p>
            <a:r>
              <a:rPr lang="en-GB" dirty="0">
                <a:solidFill>
                  <a:srgbClr val="2B167B"/>
                </a:solidFill>
                <a:latin typeface="+mj-lt"/>
              </a:rPr>
              <a:t>Centre for Cancer Genomics and Data Science</a:t>
            </a:r>
          </a:p>
        </p:txBody>
      </p:sp>
      <p:pic>
        <p:nvPicPr>
          <p:cNvPr id="5" name="Picture Placeholder 4">
            <a:extLst>
              <a:ext uri="{FF2B5EF4-FFF2-40B4-BE49-F238E27FC236}">
                <a16:creationId xmlns:a16="http://schemas.microsoft.com/office/drawing/2014/main" id="{AA2042DB-4320-7E09-93A1-C22E10088BDD}"/>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4809" r="24809"/>
          <a:stretch>
            <a:fillRect/>
          </a:stretch>
        </p:blipFill>
        <p:spPr/>
      </p:pic>
    </p:spTree>
    <p:extLst>
      <p:ext uri="{BB962C8B-B14F-4D97-AF65-F5344CB8AC3E}">
        <p14:creationId xmlns:p14="http://schemas.microsoft.com/office/powerpoint/2010/main" val="350430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4F87-C9D7-B676-C387-9D8999CFB382}"/>
              </a:ext>
            </a:extLst>
          </p:cNvPr>
          <p:cNvSpPr>
            <a:spLocks noGrp="1"/>
          </p:cNvSpPr>
          <p:nvPr>
            <p:ph type="title"/>
          </p:nvPr>
        </p:nvSpPr>
        <p:spPr>
          <a:xfrm>
            <a:off x="767408" y="332656"/>
            <a:ext cx="10515600" cy="1325563"/>
          </a:xfrm>
        </p:spPr>
        <p:txBody>
          <a:bodyPr/>
          <a:lstStyle/>
          <a:p>
            <a:r>
              <a:rPr lang="en-US" dirty="0">
                <a:solidFill>
                  <a:schemeClr val="bg1"/>
                </a:solidFill>
              </a:rPr>
              <a:t>Gene Set Analysis</a:t>
            </a:r>
          </a:p>
        </p:txBody>
      </p:sp>
      <p:sp>
        <p:nvSpPr>
          <p:cNvPr id="16" name="TextBox 15">
            <a:extLst>
              <a:ext uri="{FF2B5EF4-FFF2-40B4-BE49-F238E27FC236}">
                <a16:creationId xmlns:a16="http://schemas.microsoft.com/office/drawing/2014/main" id="{8563C7EE-7B5F-0DB3-5EBF-8CE69399CB90}"/>
              </a:ext>
            </a:extLst>
          </p:cNvPr>
          <p:cNvSpPr txBox="1"/>
          <p:nvPr/>
        </p:nvSpPr>
        <p:spPr>
          <a:xfrm>
            <a:off x="409800" y="1844824"/>
            <a:ext cx="10873208" cy="4431983"/>
          </a:xfrm>
          <a:prstGeom prst="rect">
            <a:avLst/>
          </a:prstGeom>
          <a:noFill/>
        </p:spPr>
        <p:txBody>
          <a:bodyPr wrap="square" rtlCol="0">
            <a:spAutoFit/>
          </a:bodyPr>
          <a:lstStyle/>
          <a:p>
            <a:pPr algn="l" fontAlgn="base">
              <a:spcAft>
                <a:spcPts val="1800"/>
              </a:spcAft>
            </a:pPr>
            <a:r>
              <a:rPr lang="en-GB" dirty="0">
                <a:solidFill>
                  <a:srgbClr val="1A1A1A"/>
                </a:solidFill>
                <a:latin typeface="Calibri" panose="020F0502020204030204" pitchFamily="34" charset="0"/>
                <a:cs typeface="Calibri" panose="020F0502020204030204" pitchFamily="34" charset="0"/>
              </a:rPr>
              <a:t>From the Differential Expression analysis we can extract thousands of genes that alter in expression between experimental conditions. To help infer the biological processes and pathways that are affected and gain an insight into biological mechanisms a number of methods have been developed. The two most common approaches are :</a:t>
            </a:r>
          </a:p>
          <a:p>
            <a:pPr marL="342900" indent="-342900" fontAlgn="base">
              <a:spcAft>
                <a:spcPts val="1800"/>
              </a:spcAft>
              <a:buFontTx/>
              <a:buAutoNum type="arabicPeriod"/>
            </a:pPr>
            <a:r>
              <a:rPr lang="en-GB" dirty="0">
                <a:solidFill>
                  <a:schemeClr val="accent6">
                    <a:lumMod val="75000"/>
                  </a:schemeClr>
                </a:solidFill>
                <a:latin typeface="Calibri" panose="020F0502020204030204" pitchFamily="34" charset="0"/>
                <a:cs typeface="Calibri" panose="020F0502020204030204" pitchFamily="34" charset="0"/>
              </a:rPr>
              <a:t>Over-representation analysis. </a:t>
            </a:r>
            <a:r>
              <a:rPr lang="en-GB" dirty="0">
                <a:solidFill>
                  <a:srgbClr val="1A1A1A"/>
                </a:solidFill>
                <a:latin typeface="Calibri" panose="020F0502020204030204" pitchFamily="34" charset="0"/>
                <a:cs typeface="Calibri" panose="020F0502020204030204" pitchFamily="34" charset="0"/>
              </a:rPr>
              <a:t>This method employs a hypergeometric test to determine whether genes from a predefined set (for example those belonging to the same pathway/biological process) are present more than would be expected by random chance in our gene list of interest (this would be for example the list of significantly upregulated genes in the DESeq2 results, </a:t>
            </a:r>
            <a:r>
              <a:rPr lang="en-GB" dirty="0" err="1">
                <a:solidFill>
                  <a:srgbClr val="1A1A1A"/>
                </a:solidFill>
                <a:latin typeface="Calibri" panose="020F0502020204030204" pitchFamily="34" charset="0"/>
                <a:cs typeface="Calibri" panose="020F0502020204030204" pitchFamily="34" charset="0"/>
              </a:rPr>
              <a:t>ie</a:t>
            </a:r>
            <a:r>
              <a:rPr lang="en-GB" dirty="0">
                <a:solidFill>
                  <a:srgbClr val="1A1A1A"/>
                </a:solidFill>
                <a:latin typeface="Calibri" panose="020F0502020204030204" pitchFamily="34" charset="0"/>
                <a:cs typeface="Calibri" panose="020F0502020204030204" pitchFamily="34" charset="0"/>
              </a:rPr>
              <a:t> genes with an adjusted </a:t>
            </a:r>
            <a:r>
              <a:rPr lang="en-GB" dirty="0" err="1">
                <a:solidFill>
                  <a:srgbClr val="1A1A1A"/>
                </a:solidFill>
                <a:latin typeface="Calibri" panose="020F0502020204030204" pitchFamily="34" charset="0"/>
                <a:cs typeface="Calibri" panose="020F0502020204030204" pitchFamily="34" charset="0"/>
              </a:rPr>
              <a:t>pvalue</a:t>
            </a:r>
            <a:r>
              <a:rPr lang="en-GB" dirty="0">
                <a:solidFill>
                  <a:srgbClr val="1A1A1A"/>
                </a:solidFill>
                <a:latin typeface="Calibri" panose="020F0502020204030204" pitchFamily="34" charset="0"/>
                <a:cs typeface="Calibri" panose="020F0502020204030204" pitchFamily="34" charset="0"/>
              </a:rPr>
              <a:t> &lt; 0.05 and log2 fold-change &gt; 1)  </a:t>
            </a:r>
          </a:p>
          <a:p>
            <a:pPr marL="342900" indent="-342900" fontAlgn="base">
              <a:spcAft>
                <a:spcPts val="1800"/>
              </a:spcAft>
              <a:buAutoNum type="arabicPeriod"/>
            </a:pPr>
            <a:r>
              <a:rPr lang="en-GB" b="0" i="0" dirty="0">
                <a:solidFill>
                  <a:schemeClr val="accent2">
                    <a:lumMod val="75000"/>
                  </a:schemeClr>
                </a:solidFill>
                <a:effectLst/>
                <a:latin typeface="Calibri" panose="020F0502020204030204" pitchFamily="34" charset="0"/>
                <a:cs typeface="Calibri" panose="020F0502020204030204" pitchFamily="34" charset="0"/>
              </a:rPr>
              <a:t>Pre-Ranked Gene Set Enrichment Analysis (GSEA Pre-Ranked). </a:t>
            </a:r>
            <a:r>
              <a:rPr lang="en-GB" dirty="0">
                <a:solidFill>
                  <a:srgbClr val="1A1A1A"/>
                </a:solidFill>
                <a:latin typeface="Calibri" panose="020F0502020204030204" pitchFamily="34" charset="0"/>
                <a:cs typeface="Calibri" panose="020F0502020204030204" pitchFamily="34" charset="0"/>
              </a:rPr>
              <a:t>This method was originally developed by Subramanian et al. in 2005 (PMID: </a:t>
            </a:r>
            <a:r>
              <a:rPr lang="en-GB" b="0" i="0" dirty="0">
                <a:solidFill>
                  <a:srgbClr val="212121"/>
                </a:solidFill>
                <a:effectLst/>
                <a:latin typeface="system-ui"/>
              </a:rPr>
              <a:t>16199517</a:t>
            </a:r>
            <a:r>
              <a:rPr lang="en-GB" dirty="0">
                <a:solidFill>
                  <a:srgbClr val="1A1A1A"/>
                </a:solidFill>
                <a:latin typeface="Calibri" panose="020F0502020204030204" pitchFamily="34" charset="0"/>
                <a:cs typeface="Calibri" panose="020F0502020204030204" pitchFamily="34" charset="0"/>
              </a:rPr>
              <a:t>). Unlike the overrepresentation test, it does not require to threshold the differential expression matrix with </a:t>
            </a:r>
            <a:r>
              <a:rPr lang="en-GB" dirty="0" err="1">
                <a:solidFill>
                  <a:srgbClr val="1A1A1A"/>
                </a:solidFill>
                <a:latin typeface="Calibri" panose="020F0502020204030204" pitchFamily="34" charset="0"/>
                <a:cs typeface="Calibri" panose="020F0502020204030204" pitchFamily="34" charset="0"/>
              </a:rPr>
              <a:t>pvalue</a:t>
            </a:r>
            <a:r>
              <a:rPr lang="en-GB" dirty="0">
                <a:solidFill>
                  <a:srgbClr val="1A1A1A"/>
                </a:solidFill>
                <a:latin typeface="Calibri" panose="020F0502020204030204" pitchFamily="34" charset="0"/>
                <a:cs typeface="Calibri" panose="020F0502020204030204" pitchFamily="34" charset="0"/>
              </a:rPr>
              <a:t> thresholds. Instead we provide all genes in the data ranked by a metric of differential expression, this is usually the log2 fold-change or the test-statistic. </a:t>
            </a:r>
            <a:r>
              <a:rPr lang="en-GB" b="0" i="0" dirty="0">
                <a:solidFill>
                  <a:srgbClr val="3F3F3F"/>
                </a:solidFill>
                <a:effectLst/>
                <a:latin typeface="Lato" panose="020F0502020204030203" pitchFamily="34" charset="0"/>
              </a:rPr>
              <a:t>For each pre-defined gene set the method determines whether there is significant enrichment at either end of the ranking. </a:t>
            </a:r>
            <a:endParaRPr lang="en-GB" dirty="0">
              <a:solidFill>
                <a:srgbClr val="1A1A1A"/>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0166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118D7-AB5B-D52A-5B64-0B477E56C98F}"/>
              </a:ext>
            </a:extLst>
          </p:cNvPr>
          <p:cNvSpPr>
            <a:spLocks noGrp="1"/>
          </p:cNvSpPr>
          <p:nvPr>
            <p:ph type="title"/>
          </p:nvPr>
        </p:nvSpPr>
        <p:spPr/>
        <p:txBody>
          <a:bodyPr/>
          <a:lstStyle/>
          <a:p>
            <a:r>
              <a:rPr lang="en-US" dirty="0">
                <a:solidFill>
                  <a:schemeClr val="bg1"/>
                </a:solidFill>
              </a:rPr>
              <a:t>Gene-set collections</a:t>
            </a:r>
          </a:p>
        </p:txBody>
      </p:sp>
      <p:sp>
        <p:nvSpPr>
          <p:cNvPr id="3" name="Content Placeholder 2">
            <a:extLst>
              <a:ext uri="{FF2B5EF4-FFF2-40B4-BE49-F238E27FC236}">
                <a16:creationId xmlns:a16="http://schemas.microsoft.com/office/drawing/2014/main" id="{F62DF1C9-9A4B-93CE-0C41-C378B06E5282}"/>
              </a:ext>
            </a:extLst>
          </p:cNvPr>
          <p:cNvSpPr>
            <a:spLocks noGrp="1"/>
          </p:cNvSpPr>
          <p:nvPr>
            <p:ph idx="1"/>
          </p:nvPr>
        </p:nvSpPr>
        <p:spPr>
          <a:xfrm>
            <a:off x="407368" y="1484784"/>
            <a:ext cx="11377264" cy="4557242"/>
          </a:xfrm>
        </p:spPr>
        <p:txBody>
          <a:bodyPr/>
          <a:lstStyle/>
          <a:p>
            <a:pPr marL="0" indent="0">
              <a:buNone/>
            </a:pPr>
            <a:r>
              <a:rPr lang="en-US" sz="2000" dirty="0"/>
              <a:t>There is a large number of collections that provide pre-defined gene lists that relate to biological processes and pathways. Below are some of the major collections:</a:t>
            </a:r>
          </a:p>
          <a:p>
            <a:pPr marL="0" indent="0">
              <a:buNone/>
            </a:pPr>
            <a:endParaRPr lang="en-US" sz="2000" dirty="0"/>
          </a:p>
          <a:p>
            <a:r>
              <a:rPr lang="en-US" sz="2000" dirty="0"/>
              <a:t>Gene Ontology gene sets</a:t>
            </a:r>
          </a:p>
          <a:p>
            <a:pPr lvl="1"/>
            <a:r>
              <a:rPr lang="en-US" sz="2000" dirty="0"/>
              <a:t>Biological Processes</a:t>
            </a:r>
          </a:p>
          <a:p>
            <a:pPr lvl="1"/>
            <a:r>
              <a:rPr lang="en-US" sz="2000" dirty="0"/>
              <a:t>Cellular Compartment</a:t>
            </a:r>
          </a:p>
          <a:p>
            <a:pPr lvl="1"/>
            <a:r>
              <a:rPr lang="en-US" sz="2000" dirty="0"/>
              <a:t>Molecular Function</a:t>
            </a:r>
          </a:p>
          <a:p>
            <a:r>
              <a:rPr lang="en-US" sz="2000" dirty="0"/>
              <a:t>Hallmark gene sets</a:t>
            </a:r>
          </a:p>
          <a:p>
            <a:r>
              <a:rPr lang="en-US" sz="2000" dirty="0"/>
              <a:t>Canonical Pathways</a:t>
            </a:r>
          </a:p>
          <a:p>
            <a:pPr lvl="1"/>
            <a:r>
              <a:rPr lang="en-US" sz="2000" dirty="0"/>
              <a:t>KEGG</a:t>
            </a:r>
          </a:p>
          <a:p>
            <a:pPr lvl="1"/>
            <a:r>
              <a:rPr lang="en-US" sz="2000" dirty="0"/>
              <a:t>REACTOME</a:t>
            </a:r>
          </a:p>
          <a:p>
            <a:pPr marL="0" indent="0">
              <a:buNone/>
            </a:pPr>
            <a:r>
              <a:rPr lang="en-US" sz="2000" dirty="0"/>
              <a:t>The </a:t>
            </a:r>
            <a:r>
              <a:rPr lang="en-US" sz="2000" dirty="0" err="1"/>
              <a:t>MSigDB</a:t>
            </a:r>
            <a:r>
              <a:rPr lang="en-US" sz="2000" dirty="0"/>
              <a:t> database provide comprehensive access to all these collections plus many more. We can access it through this link: </a:t>
            </a:r>
            <a:r>
              <a:rPr lang="en-US" sz="2000" dirty="0">
                <a:hlinkClick r:id="rId2"/>
              </a:rPr>
              <a:t>https://www.gsea-msigdb.org/gsea/msigdb/</a:t>
            </a:r>
            <a:r>
              <a:rPr lang="en-US" sz="2000" dirty="0"/>
              <a:t> </a:t>
            </a:r>
          </a:p>
          <a:p>
            <a:pPr marL="457200" lvl="1" indent="0">
              <a:buNone/>
            </a:pPr>
            <a:endParaRPr lang="en-US" sz="2000" dirty="0"/>
          </a:p>
        </p:txBody>
      </p:sp>
    </p:spTree>
    <p:extLst>
      <p:ext uri="{BB962C8B-B14F-4D97-AF65-F5344CB8AC3E}">
        <p14:creationId xmlns:p14="http://schemas.microsoft.com/office/powerpoint/2010/main" val="192284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1AA2437-074F-AD7B-C4FA-9C6DE1F896E6}"/>
              </a:ext>
            </a:extLst>
          </p:cNvPr>
          <p:cNvSpPr>
            <a:spLocks noGrp="1"/>
          </p:cNvSpPr>
          <p:nvPr>
            <p:ph type="title"/>
          </p:nvPr>
        </p:nvSpPr>
        <p:spPr>
          <a:xfrm>
            <a:off x="838200" y="365125"/>
            <a:ext cx="10515600" cy="1325563"/>
          </a:xfrm>
        </p:spPr>
        <p:txBody>
          <a:bodyPr/>
          <a:lstStyle/>
          <a:p>
            <a:r>
              <a:rPr lang="en-US" dirty="0">
                <a:solidFill>
                  <a:schemeClr val="bg1"/>
                </a:solidFill>
              </a:rPr>
              <a:t>A gene-set example</a:t>
            </a:r>
          </a:p>
        </p:txBody>
      </p:sp>
      <p:sp>
        <p:nvSpPr>
          <p:cNvPr id="7" name="TextBox 6">
            <a:extLst>
              <a:ext uri="{FF2B5EF4-FFF2-40B4-BE49-F238E27FC236}">
                <a16:creationId xmlns:a16="http://schemas.microsoft.com/office/drawing/2014/main" id="{4A6E37A9-4424-5117-80E1-070C509CFDD5}"/>
              </a:ext>
            </a:extLst>
          </p:cNvPr>
          <p:cNvSpPr txBox="1"/>
          <p:nvPr/>
        </p:nvSpPr>
        <p:spPr>
          <a:xfrm>
            <a:off x="307635" y="1321356"/>
            <a:ext cx="6094070" cy="369332"/>
          </a:xfrm>
          <a:prstGeom prst="rect">
            <a:avLst/>
          </a:prstGeom>
          <a:noFill/>
        </p:spPr>
        <p:txBody>
          <a:bodyPr wrap="square">
            <a:spAutoFit/>
          </a:bodyPr>
          <a:lstStyle/>
          <a:p>
            <a:r>
              <a:rPr lang="en-GB" b="0" i="0" dirty="0">
                <a:solidFill>
                  <a:srgbClr val="000000"/>
                </a:solidFill>
                <a:effectLst/>
                <a:latin typeface="Verdana" panose="020B0604030504040204" pitchFamily="34" charset="0"/>
              </a:rPr>
              <a:t>KEGG_PROTEIN_EXPORT</a:t>
            </a:r>
            <a:endParaRPr lang="en-US" dirty="0"/>
          </a:p>
        </p:txBody>
      </p:sp>
      <p:sp>
        <p:nvSpPr>
          <p:cNvPr id="12" name="TextBox 11">
            <a:extLst>
              <a:ext uri="{FF2B5EF4-FFF2-40B4-BE49-F238E27FC236}">
                <a16:creationId xmlns:a16="http://schemas.microsoft.com/office/drawing/2014/main" id="{E9EF0FD8-85E3-0FB0-7AB0-EE2B619AE1A8}"/>
              </a:ext>
            </a:extLst>
          </p:cNvPr>
          <p:cNvSpPr txBox="1"/>
          <p:nvPr/>
        </p:nvSpPr>
        <p:spPr>
          <a:xfrm>
            <a:off x="307635" y="1690688"/>
            <a:ext cx="11451342" cy="1384995"/>
          </a:xfrm>
          <a:prstGeom prst="rect">
            <a:avLst/>
          </a:prstGeom>
          <a:noFill/>
        </p:spPr>
        <p:txBody>
          <a:bodyPr wrap="square">
            <a:spAutoFit/>
          </a:bodyPr>
          <a:lstStyle/>
          <a:p>
            <a:r>
              <a:rPr lang="en-US" sz="1400" dirty="0"/>
              <a:t>The protein export is the active transport of proteins from the cytoplasm to the exterior of the cell, or to the periplasmic compartment in Gram-negative bacteria. The sec dependent pathway is the general protein export system that transports newly synthesized proteins into or across the cell membrane. The translocation channel is formed from a conserved trimeric membrane protein complex, called the Sec61/</a:t>
            </a:r>
            <a:r>
              <a:rPr lang="en-US" sz="1400" dirty="0" err="1"/>
              <a:t>SecY</a:t>
            </a:r>
            <a:r>
              <a:rPr lang="en-US" sz="1400" dirty="0"/>
              <a:t> complex. The twin-arginine translocation (Tat) pathway is another protein transport system that transports folded proteins in bacteria, archaea, and chloroplasts. Many Tat systems comprise three functionally different membrane proteins, </a:t>
            </a:r>
            <a:r>
              <a:rPr lang="en-US" sz="1400" dirty="0" err="1"/>
              <a:t>TatA</a:t>
            </a:r>
            <a:r>
              <a:rPr lang="en-US" sz="1400" dirty="0"/>
              <a:t>, </a:t>
            </a:r>
            <a:r>
              <a:rPr lang="en-US" sz="1400" dirty="0" err="1"/>
              <a:t>TatB</a:t>
            </a:r>
            <a:r>
              <a:rPr lang="en-US" sz="1400" dirty="0"/>
              <a:t>, and </a:t>
            </a:r>
            <a:r>
              <a:rPr lang="en-US" sz="1400" dirty="0" err="1"/>
              <a:t>TatC</a:t>
            </a:r>
            <a:r>
              <a:rPr lang="en-US" sz="1400" dirty="0"/>
              <a:t>, but </a:t>
            </a:r>
            <a:r>
              <a:rPr lang="en-US" sz="1400" dirty="0" err="1"/>
              <a:t>TatA</a:t>
            </a:r>
            <a:r>
              <a:rPr lang="en-US" sz="1400" dirty="0"/>
              <a:t> and </a:t>
            </a:r>
            <a:r>
              <a:rPr lang="en-US" sz="1400" dirty="0" err="1"/>
              <a:t>TatE</a:t>
            </a:r>
            <a:r>
              <a:rPr lang="en-US" sz="1400" dirty="0"/>
              <a:t> seem to have overlapping functions, with </a:t>
            </a:r>
            <a:r>
              <a:rPr lang="en-US" sz="1400" dirty="0" err="1"/>
              <a:t>TatA</a:t>
            </a:r>
            <a:r>
              <a:rPr lang="en-US" sz="1400" dirty="0"/>
              <a:t> having by far the more important role.</a:t>
            </a:r>
          </a:p>
        </p:txBody>
      </p:sp>
      <p:pic>
        <p:nvPicPr>
          <p:cNvPr id="14" name="Picture 13">
            <a:extLst>
              <a:ext uri="{FF2B5EF4-FFF2-40B4-BE49-F238E27FC236}">
                <a16:creationId xmlns:a16="http://schemas.microsoft.com/office/drawing/2014/main" id="{8D0DBEC7-E857-1E05-5C1D-9699E3E21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794" y="3075683"/>
            <a:ext cx="3866972" cy="3708055"/>
          </a:xfrm>
          <a:prstGeom prst="rect">
            <a:avLst/>
          </a:prstGeom>
        </p:spPr>
      </p:pic>
      <p:sp>
        <p:nvSpPr>
          <p:cNvPr id="15" name="TextBox 14">
            <a:extLst>
              <a:ext uri="{FF2B5EF4-FFF2-40B4-BE49-F238E27FC236}">
                <a16:creationId xmlns:a16="http://schemas.microsoft.com/office/drawing/2014/main" id="{B3584E7E-1878-B261-AE13-88BA766C130A}"/>
              </a:ext>
            </a:extLst>
          </p:cNvPr>
          <p:cNvSpPr txBox="1"/>
          <p:nvPr/>
        </p:nvSpPr>
        <p:spPr>
          <a:xfrm>
            <a:off x="479376" y="3284984"/>
            <a:ext cx="2160240" cy="369332"/>
          </a:xfrm>
          <a:prstGeom prst="rect">
            <a:avLst/>
          </a:prstGeom>
          <a:noFill/>
        </p:spPr>
        <p:txBody>
          <a:bodyPr wrap="square" rtlCol="0">
            <a:spAutoFit/>
          </a:bodyPr>
          <a:lstStyle/>
          <a:p>
            <a:r>
              <a:rPr lang="en-US" dirty="0"/>
              <a:t>Contains 24 genes</a:t>
            </a:r>
          </a:p>
        </p:txBody>
      </p:sp>
      <p:cxnSp>
        <p:nvCxnSpPr>
          <p:cNvPr id="17" name="Straight Arrow Connector 16">
            <a:extLst>
              <a:ext uri="{FF2B5EF4-FFF2-40B4-BE49-F238E27FC236}">
                <a16:creationId xmlns:a16="http://schemas.microsoft.com/office/drawing/2014/main" id="{EDE909D9-B90B-8DDD-43C5-73832466F787}"/>
              </a:ext>
            </a:extLst>
          </p:cNvPr>
          <p:cNvCxnSpPr/>
          <p:nvPr/>
        </p:nvCxnSpPr>
        <p:spPr>
          <a:xfrm>
            <a:off x="2310554" y="3480484"/>
            <a:ext cx="2088232" cy="766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6020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94F87-C9D7-B676-C387-9D8999CFB382}"/>
              </a:ext>
            </a:extLst>
          </p:cNvPr>
          <p:cNvSpPr>
            <a:spLocks noGrp="1"/>
          </p:cNvSpPr>
          <p:nvPr>
            <p:ph type="title"/>
          </p:nvPr>
        </p:nvSpPr>
        <p:spPr>
          <a:xfrm>
            <a:off x="479376" y="260648"/>
            <a:ext cx="11881320" cy="1325563"/>
          </a:xfrm>
        </p:spPr>
        <p:txBody>
          <a:bodyPr/>
          <a:lstStyle/>
          <a:p>
            <a:r>
              <a:rPr lang="en-US" sz="3600" dirty="0">
                <a:solidFill>
                  <a:schemeClr val="bg1"/>
                </a:solidFill>
              </a:rPr>
              <a:t>Implementation of Gene Set Analysis – Online Platforms </a:t>
            </a:r>
          </a:p>
        </p:txBody>
      </p:sp>
      <p:sp>
        <p:nvSpPr>
          <p:cNvPr id="16" name="TextBox 15">
            <a:extLst>
              <a:ext uri="{FF2B5EF4-FFF2-40B4-BE49-F238E27FC236}">
                <a16:creationId xmlns:a16="http://schemas.microsoft.com/office/drawing/2014/main" id="{8563C7EE-7B5F-0DB3-5EBF-8CE69399CB90}"/>
              </a:ext>
            </a:extLst>
          </p:cNvPr>
          <p:cNvSpPr txBox="1"/>
          <p:nvPr/>
        </p:nvSpPr>
        <p:spPr>
          <a:xfrm>
            <a:off x="911424" y="1412776"/>
            <a:ext cx="10153128" cy="5109091"/>
          </a:xfrm>
          <a:prstGeom prst="rect">
            <a:avLst/>
          </a:prstGeom>
          <a:noFill/>
        </p:spPr>
        <p:txBody>
          <a:bodyPr wrap="square" rtlCol="0">
            <a:spAutoFit/>
          </a:bodyPr>
          <a:lstStyle/>
          <a:p>
            <a:pPr algn="l" fontAlgn="base">
              <a:spcAft>
                <a:spcPts val="1800"/>
              </a:spcAft>
            </a:pPr>
            <a:r>
              <a:rPr lang="en-GB" dirty="0">
                <a:latin typeface="Calibri" panose="020F0502020204030204" pitchFamily="34" charset="0"/>
                <a:cs typeface="Calibri" panose="020F0502020204030204" pitchFamily="34" charset="0"/>
              </a:rPr>
              <a:t>Both methods can be implemented using online platforms. Below are commonly used online platforms which you can look up in your own time.</a:t>
            </a:r>
          </a:p>
          <a:p>
            <a:pPr algn="l" fontAlgn="base">
              <a:spcAft>
                <a:spcPts val="1800"/>
              </a:spcAft>
            </a:pPr>
            <a:endParaRPr lang="en-GB" dirty="0">
              <a:solidFill>
                <a:srgbClr val="1A1A1A"/>
              </a:solidFill>
              <a:latin typeface="Calibri" panose="020F0502020204030204" pitchFamily="34" charset="0"/>
              <a:cs typeface="Calibri" panose="020F0502020204030204" pitchFamily="34" charset="0"/>
            </a:endParaRPr>
          </a:p>
          <a:p>
            <a:pPr algn="l" fontAlgn="base">
              <a:spcAft>
                <a:spcPts val="1800"/>
              </a:spcAft>
            </a:pPr>
            <a:r>
              <a:rPr lang="en-GB" dirty="0">
                <a:solidFill>
                  <a:srgbClr val="1A1A1A"/>
                </a:solidFill>
                <a:latin typeface="Calibri" panose="020F0502020204030204" pitchFamily="34" charset="0"/>
                <a:cs typeface="Calibri" panose="020F0502020204030204" pitchFamily="34" charset="0"/>
              </a:rPr>
              <a:t>Platforms for over-representation test analysis:</a:t>
            </a:r>
          </a:p>
          <a:p>
            <a:pPr marL="285750" indent="-285750" algn="l" fontAlgn="base">
              <a:spcAft>
                <a:spcPts val="600"/>
              </a:spcAft>
              <a:buFont typeface="Arial" panose="020B0604020202020204" pitchFamily="34" charset="0"/>
              <a:buChar char="•"/>
            </a:pPr>
            <a:r>
              <a:rPr lang="en-GB" dirty="0" err="1">
                <a:solidFill>
                  <a:srgbClr val="1A1A1A"/>
                </a:solidFill>
                <a:latin typeface="Calibri" panose="020F0502020204030204" pitchFamily="34" charset="0"/>
                <a:cs typeface="Calibri" panose="020F0502020204030204" pitchFamily="34" charset="0"/>
              </a:rPr>
              <a:t>Metascape</a:t>
            </a:r>
            <a:r>
              <a:rPr lang="en-GB" dirty="0">
                <a:solidFill>
                  <a:srgbClr val="1A1A1A"/>
                </a:solidFill>
                <a:latin typeface="Calibri" panose="020F0502020204030204" pitchFamily="34" charset="0"/>
                <a:cs typeface="Calibri" panose="020F0502020204030204" pitchFamily="34" charset="0"/>
              </a:rPr>
              <a:t> </a:t>
            </a:r>
            <a:r>
              <a:rPr lang="en-GB" dirty="0">
                <a:solidFill>
                  <a:srgbClr val="1A1A1A"/>
                </a:solidFill>
                <a:latin typeface="Calibri" panose="020F0502020204030204" pitchFamily="34" charset="0"/>
                <a:cs typeface="Calibri" panose="020F0502020204030204" pitchFamily="34" charset="0"/>
                <a:hlinkClick r:id="rId2"/>
              </a:rPr>
              <a:t>https://metascape.org/gp/index.html#/main/step1</a:t>
            </a:r>
            <a:r>
              <a:rPr lang="en-GB" dirty="0">
                <a:solidFill>
                  <a:srgbClr val="1A1A1A"/>
                </a:solidFill>
                <a:latin typeface="Calibri" panose="020F0502020204030204" pitchFamily="34" charset="0"/>
                <a:cs typeface="Calibri" panose="020F0502020204030204" pitchFamily="34" charset="0"/>
              </a:rPr>
              <a:t> </a:t>
            </a:r>
          </a:p>
          <a:p>
            <a:pPr marL="285750" indent="-285750" algn="l" fontAlgn="base">
              <a:spcAft>
                <a:spcPts val="600"/>
              </a:spcAft>
              <a:buFont typeface="Arial" panose="020B0604020202020204" pitchFamily="34" charset="0"/>
              <a:buChar char="•"/>
            </a:pPr>
            <a:r>
              <a:rPr lang="en-GB" dirty="0">
                <a:solidFill>
                  <a:srgbClr val="1A1A1A"/>
                </a:solidFill>
                <a:latin typeface="Calibri" panose="020F0502020204030204" pitchFamily="34" charset="0"/>
                <a:cs typeface="Calibri" panose="020F0502020204030204" pitchFamily="34" charset="0"/>
              </a:rPr>
              <a:t>Panther DB </a:t>
            </a:r>
            <a:r>
              <a:rPr lang="en-GB" dirty="0">
                <a:solidFill>
                  <a:srgbClr val="1A1A1A"/>
                </a:solidFill>
                <a:latin typeface="Calibri" panose="020F0502020204030204" pitchFamily="34" charset="0"/>
                <a:cs typeface="Calibri" panose="020F0502020204030204" pitchFamily="34" charset="0"/>
                <a:hlinkClick r:id="rId3"/>
              </a:rPr>
              <a:t>http://www.pantherdb.org/</a:t>
            </a:r>
            <a:r>
              <a:rPr lang="en-GB" dirty="0">
                <a:solidFill>
                  <a:srgbClr val="1A1A1A"/>
                </a:solidFill>
                <a:latin typeface="Calibri" panose="020F0502020204030204" pitchFamily="34" charset="0"/>
                <a:cs typeface="Calibri" panose="020F0502020204030204" pitchFamily="34" charset="0"/>
              </a:rPr>
              <a:t> </a:t>
            </a:r>
          </a:p>
          <a:p>
            <a:pPr marL="285750" indent="-285750" algn="l" fontAlgn="base">
              <a:spcAft>
                <a:spcPts val="600"/>
              </a:spcAft>
              <a:buFont typeface="Arial" panose="020B0604020202020204" pitchFamily="34" charset="0"/>
              <a:buChar char="•"/>
            </a:pPr>
            <a:r>
              <a:rPr lang="en-GB" dirty="0">
                <a:solidFill>
                  <a:srgbClr val="1A1A1A"/>
                </a:solidFill>
                <a:latin typeface="Calibri" panose="020F0502020204030204" pitchFamily="34" charset="0"/>
                <a:cs typeface="Calibri" panose="020F0502020204030204" pitchFamily="34" charset="0"/>
              </a:rPr>
              <a:t>DAVID </a:t>
            </a:r>
            <a:r>
              <a:rPr lang="en-GB" dirty="0">
                <a:solidFill>
                  <a:srgbClr val="1A1A1A"/>
                </a:solidFill>
                <a:latin typeface="Calibri" panose="020F0502020204030204" pitchFamily="34" charset="0"/>
                <a:cs typeface="Calibri" panose="020F0502020204030204" pitchFamily="34" charset="0"/>
                <a:hlinkClick r:id="rId4"/>
              </a:rPr>
              <a:t>https://david.ncifcrf.gov/</a:t>
            </a:r>
            <a:endParaRPr lang="en-GB" dirty="0">
              <a:solidFill>
                <a:srgbClr val="1A1A1A"/>
              </a:solidFill>
              <a:latin typeface="Calibri" panose="020F0502020204030204" pitchFamily="34" charset="0"/>
              <a:cs typeface="Calibri" panose="020F0502020204030204" pitchFamily="34" charset="0"/>
            </a:endParaRPr>
          </a:p>
          <a:p>
            <a:pPr marL="285750" indent="-285750" algn="l" fontAlgn="base">
              <a:spcAft>
                <a:spcPts val="600"/>
              </a:spcAft>
              <a:buFont typeface="Arial" panose="020B0604020202020204" pitchFamily="34" charset="0"/>
              <a:buChar char="•"/>
            </a:pPr>
            <a:r>
              <a:rPr lang="en-GB" dirty="0" err="1">
                <a:solidFill>
                  <a:srgbClr val="1A1A1A"/>
                </a:solidFill>
                <a:latin typeface="Calibri" panose="020F0502020204030204" pitchFamily="34" charset="0"/>
                <a:cs typeface="Calibri" panose="020F0502020204030204" pitchFamily="34" charset="0"/>
              </a:rPr>
              <a:t>Enrichr</a:t>
            </a:r>
            <a:r>
              <a:rPr lang="en-GB" dirty="0">
                <a:solidFill>
                  <a:srgbClr val="1A1A1A"/>
                </a:solidFill>
                <a:latin typeface="Calibri" panose="020F0502020204030204" pitchFamily="34" charset="0"/>
                <a:cs typeface="Calibri" panose="020F0502020204030204" pitchFamily="34" charset="0"/>
              </a:rPr>
              <a:t>  </a:t>
            </a:r>
            <a:r>
              <a:rPr lang="en-GB" dirty="0">
                <a:solidFill>
                  <a:srgbClr val="1A1A1A"/>
                </a:solidFill>
                <a:latin typeface="Calibri" panose="020F0502020204030204" pitchFamily="34" charset="0"/>
                <a:cs typeface="Calibri" panose="020F0502020204030204" pitchFamily="34" charset="0"/>
                <a:hlinkClick r:id="rId5"/>
              </a:rPr>
              <a:t>https://maayanlab.cloud/Enrichr/</a:t>
            </a:r>
            <a:r>
              <a:rPr lang="en-GB" dirty="0">
                <a:solidFill>
                  <a:srgbClr val="1A1A1A"/>
                </a:solidFill>
                <a:latin typeface="Calibri" panose="020F0502020204030204" pitchFamily="34" charset="0"/>
                <a:cs typeface="Calibri" panose="020F0502020204030204" pitchFamily="34" charset="0"/>
              </a:rPr>
              <a:t> </a:t>
            </a:r>
          </a:p>
          <a:p>
            <a:pPr algn="l" fontAlgn="base">
              <a:spcAft>
                <a:spcPts val="1800"/>
              </a:spcAft>
            </a:pPr>
            <a:endParaRPr lang="en-GB" b="0" i="0" dirty="0">
              <a:solidFill>
                <a:srgbClr val="1A1A1A"/>
              </a:solidFill>
              <a:effectLst/>
              <a:latin typeface="Calibri" panose="020F0502020204030204" pitchFamily="34" charset="0"/>
              <a:cs typeface="Calibri" panose="020F0502020204030204" pitchFamily="34" charset="0"/>
            </a:endParaRPr>
          </a:p>
          <a:p>
            <a:pPr algn="l" fontAlgn="base">
              <a:spcAft>
                <a:spcPts val="1800"/>
              </a:spcAft>
            </a:pPr>
            <a:r>
              <a:rPr lang="en-GB" dirty="0">
                <a:solidFill>
                  <a:srgbClr val="1A1A1A"/>
                </a:solidFill>
                <a:latin typeface="Calibri" panose="020F0502020204030204" pitchFamily="34" charset="0"/>
                <a:cs typeface="Calibri" panose="020F0502020204030204" pitchFamily="34" charset="0"/>
              </a:rPr>
              <a:t>Platform for GSEA analysis</a:t>
            </a:r>
          </a:p>
          <a:p>
            <a:pPr marL="285750" indent="-285750" algn="l" fontAlgn="base">
              <a:spcAft>
                <a:spcPts val="1800"/>
              </a:spcAft>
              <a:buFont typeface="Arial" panose="020B0604020202020204" pitchFamily="34" charset="0"/>
              <a:buChar char="•"/>
            </a:pPr>
            <a:r>
              <a:rPr lang="en-GB" dirty="0" err="1">
                <a:solidFill>
                  <a:srgbClr val="1A1A1A"/>
                </a:solidFill>
                <a:latin typeface="Calibri" panose="020F0502020204030204" pitchFamily="34" charset="0"/>
                <a:cs typeface="Calibri" panose="020F0502020204030204" pitchFamily="34" charset="0"/>
              </a:rPr>
              <a:t>GenePattern</a:t>
            </a:r>
            <a:r>
              <a:rPr lang="en-GB" dirty="0">
                <a:solidFill>
                  <a:srgbClr val="1A1A1A"/>
                </a:solidFill>
                <a:latin typeface="Calibri" panose="020F0502020204030204" pitchFamily="34" charset="0"/>
                <a:cs typeface="Calibri" panose="020F0502020204030204" pitchFamily="34" charset="0"/>
              </a:rPr>
              <a:t> </a:t>
            </a:r>
            <a:r>
              <a:rPr lang="en-GB" dirty="0">
                <a:solidFill>
                  <a:srgbClr val="1A1A1A"/>
                </a:solidFill>
                <a:latin typeface="Calibri" panose="020F0502020204030204" pitchFamily="34" charset="0"/>
                <a:cs typeface="Calibri" panose="020F0502020204030204" pitchFamily="34" charset="0"/>
                <a:hlinkClick r:id="rId6"/>
              </a:rPr>
              <a:t>https://www.genepattern.org/#gsc.tab=0</a:t>
            </a:r>
            <a:r>
              <a:rPr lang="en-GB" dirty="0">
                <a:solidFill>
                  <a:srgbClr val="1A1A1A"/>
                </a:solidFill>
                <a:latin typeface="Calibri" panose="020F0502020204030204" pitchFamily="34" charset="0"/>
                <a:cs typeface="Calibri" panose="020F0502020204030204" pitchFamily="34" charset="0"/>
              </a:rPr>
              <a:t> </a:t>
            </a:r>
            <a:endParaRPr lang="en-GB" b="0" i="0" dirty="0">
              <a:solidFill>
                <a:srgbClr val="1A1A1A"/>
              </a:solidFill>
              <a:effectLst/>
              <a:latin typeface="Calibri" panose="020F0502020204030204" pitchFamily="34" charset="0"/>
              <a:cs typeface="Calibri" panose="020F0502020204030204" pitchFamily="34" charset="0"/>
            </a:endParaRPr>
          </a:p>
          <a:p>
            <a:pPr algn="l" fontAlgn="base">
              <a:spcAft>
                <a:spcPts val="1800"/>
              </a:spcAft>
            </a:pPr>
            <a:endParaRPr lang="en-GB" b="0" i="0" dirty="0">
              <a:solidFill>
                <a:srgbClr val="1A1A1A"/>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1937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B4E4594-F317-7E22-000B-1CCF14B601FF}"/>
              </a:ext>
            </a:extLst>
          </p:cNvPr>
          <p:cNvSpPr>
            <a:spLocks noGrp="1"/>
          </p:cNvSpPr>
          <p:nvPr>
            <p:ph type="title"/>
          </p:nvPr>
        </p:nvSpPr>
        <p:spPr>
          <a:xfrm>
            <a:off x="479376" y="260648"/>
            <a:ext cx="11881320" cy="1325563"/>
          </a:xfrm>
        </p:spPr>
        <p:txBody>
          <a:bodyPr/>
          <a:lstStyle/>
          <a:p>
            <a:r>
              <a:rPr lang="en-US" sz="3600" dirty="0">
                <a:solidFill>
                  <a:schemeClr val="bg1"/>
                </a:solidFill>
              </a:rPr>
              <a:t>Implementation of Gene Set Analysis – R packages</a:t>
            </a:r>
          </a:p>
        </p:txBody>
      </p:sp>
      <p:sp>
        <p:nvSpPr>
          <p:cNvPr id="2" name="TextBox 1">
            <a:extLst>
              <a:ext uri="{FF2B5EF4-FFF2-40B4-BE49-F238E27FC236}">
                <a16:creationId xmlns:a16="http://schemas.microsoft.com/office/drawing/2014/main" id="{7F60AC7A-849C-2093-0BC5-FBD4C8A841F2}"/>
              </a:ext>
            </a:extLst>
          </p:cNvPr>
          <p:cNvSpPr txBox="1"/>
          <p:nvPr/>
        </p:nvSpPr>
        <p:spPr>
          <a:xfrm>
            <a:off x="839416" y="1988840"/>
            <a:ext cx="9001000" cy="1231106"/>
          </a:xfrm>
          <a:prstGeom prst="rect">
            <a:avLst/>
          </a:prstGeom>
          <a:noFill/>
        </p:spPr>
        <p:txBody>
          <a:bodyPr wrap="square" rtlCol="0">
            <a:spAutoFit/>
          </a:bodyPr>
          <a:lstStyle/>
          <a:p>
            <a:pPr>
              <a:spcAft>
                <a:spcPts val="1200"/>
              </a:spcAft>
            </a:pPr>
            <a:r>
              <a:rPr lang="en-US" dirty="0"/>
              <a:t>Gene set analysis can also be implemented in R through R packages. We are going to use:</a:t>
            </a:r>
          </a:p>
          <a:p>
            <a:pPr marL="285750" indent="-285750">
              <a:spcAft>
                <a:spcPts val="1200"/>
              </a:spcAft>
              <a:buFont typeface="Arial" panose="020B0604020202020204" pitchFamily="34" charset="0"/>
              <a:buChar char="•"/>
            </a:pPr>
            <a:r>
              <a:rPr lang="en-US" dirty="0" err="1"/>
              <a:t>clusterProfiler</a:t>
            </a:r>
            <a:r>
              <a:rPr lang="en-US" dirty="0"/>
              <a:t> for over-representation analysis</a:t>
            </a:r>
          </a:p>
          <a:p>
            <a:pPr marL="285750" indent="-285750">
              <a:spcAft>
                <a:spcPts val="1200"/>
              </a:spcAft>
              <a:buFont typeface="Arial" panose="020B0604020202020204" pitchFamily="34" charset="0"/>
              <a:buChar char="•"/>
            </a:pPr>
            <a:r>
              <a:rPr lang="en-US" dirty="0" err="1"/>
              <a:t>fgsea</a:t>
            </a:r>
            <a:r>
              <a:rPr lang="en-US" dirty="0"/>
              <a:t> for pre-ranked </a:t>
            </a:r>
            <a:r>
              <a:rPr lang="en-US" dirty="0" err="1"/>
              <a:t>gsea</a:t>
            </a:r>
            <a:endParaRPr lang="en-US" dirty="0"/>
          </a:p>
        </p:txBody>
      </p:sp>
    </p:spTree>
    <p:extLst>
      <p:ext uri="{BB962C8B-B14F-4D97-AF65-F5344CB8AC3E}">
        <p14:creationId xmlns:p14="http://schemas.microsoft.com/office/powerpoint/2010/main" val="2509017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2802B0-DBD4-9EA7-6597-AF8D24246C0C}"/>
              </a:ext>
            </a:extLst>
          </p:cNvPr>
          <p:cNvSpPr txBox="1"/>
          <p:nvPr/>
        </p:nvSpPr>
        <p:spPr>
          <a:xfrm>
            <a:off x="1559496" y="3039259"/>
            <a:ext cx="7416824" cy="523220"/>
          </a:xfrm>
          <a:prstGeom prst="rect">
            <a:avLst/>
          </a:prstGeom>
          <a:noFill/>
        </p:spPr>
        <p:txBody>
          <a:bodyPr wrap="square" rtlCol="0">
            <a:spAutoFit/>
          </a:bodyPr>
          <a:lstStyle/>
          <a:p>
            <a:r>
              <a:rPr lang="en-US" sz="2800" dirty="0"/>
              <a:t>Over-representation test with </a:t>
            </a:r>
            <a:r>
              <a:rPr lang="en-US" sz="2800" dirty="0" err="1"/>
              <a:t>clusterProfiler</a:t>
            </a:r>
            <a:endParaRPr lang="en-US" sz="2800" dirty="0"/>
          </a:p>
        </p:txBody>
      </p:sp>
    </p:spTree>
    <p:extLst>
      <p:ext uri="{BB962C8B-B14F-4D97-AF65-F5344CB8AC3E}">
        <p14:creationId xmlns:p14="http://schemas.microsoft.com/office/powerpoint/2010/main" val="2374557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68C6C88-775C-76AD-6D8D-D5D8C6A26478}"/>
              </a:ext>
            </a:extLst>
          </p:cNvPr>
          <p:cNvSpPr txBox="1">
            <a:spLocks/>
          </p:cNvSpPr>
          <p:nvPr/>
        </p:nvSpPr>
        <p:spPr>
          <a:xfrm>
            <a:off x="670113" y="404664"/>
            <a:ext cx="1188132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Gene Set Analysis with </a:t>
            </a:r>
            <a:r>
              <a:rPr lang="en-US" sz="3600" dirty="0" err="1">
                <a:solidFill>
                  <a:schemeClr val="bg1"/>
                </a:solidFill>
              </a:rPr>
              <a:t>clusterProfiler</a:t>
            </a:r>
            <a:endParaRPr lang="en-US" sz="3600" dirty="0">
              <a:solidFill>
                <a:schemeClr val="bg1"/>
              </a:solidFill>
            </a:endParaRPr>
          </a:p>
        </p:txBody>
      </p:sp>
      <p:sp>
        <p:nvSpPr>
          <p:cNvPr id="6" name="TextBox 5">
            <a:extLst>
              <a:ext uri="{FF2B5EF4-FFF2-40B4-BE49-F238E27FC236}">
                <a16:creationId xmlns:a16="http://schemas.microsoft.com/office/drawing/2014/main" id="{498101E7-9F13-62A8-7543-538588449D8F}"/>
              </a:ext>
            </a:extLst>
          </p:cNvPr>
          <p:cNvSpPr txBox="1"/>
          <p:nvPr/>
        </p:nvSpPr>
        <p:spPr>
          <a:xfrm>
            <a:off x="652694" y="1556792"/>
            <a:ext cx="10009112" cy="1200329"/>
          </a:xfrm>
          <a:prstGeom prst="rect">
            <a:avLst/>
          </a:prstGeom>
          <a:noFill/>
        </p:spPr>
        <p:txBody>
          <a:bodyPr wrap="square" rtlCol="0">
            <a:spAutoFit/>
          </a:bodyPr>
          <a:lstStyle/>
          <a:p>
            <a:r>
              <a:rPr lang="en-US" dirty="0">
                <a:solidFill>
                  <a:srgbClr val="C00000"/>
                </a:solidFill>
              </a:rPr>
              <a:t>Aim: </a:t>
            </a:r>
            <a:r>
              <a:rPr lang="en-US" dirty="0"/>
              <a:t>We are going to examine which biological processes are enriched in the significantly differentially expressed genes that are upregulated in chemotherapy sensitive cells compared to the resistant cells</a:t>
            </a:r>
          </a:p>
          <a:p>
            <a:endParaRPr lang="en-US" dirty="0"/>
          </a:p>
          <a:p>
            <a:r>
              <a:rPr lang="en-US" dirty="0"/>
              <a:t>Let’s start by installing </a:t>
            </a:r>
            <a:r>
              <a:rPr lang="en-US" dirty="0" err="1"/>
              <a:t>clusterProfiler</a:t>
            </a:r>
            <a:r>
              <a:rPr lang="en-US" dirty="0"/>
              <a:t> and it’s associated packages</a:t>
            </a:r>
          </a:p>
        </p:txBody>
      </p:sp>
      <p:sp>
        <p:nvSpPr>
          <p:cNvPr id="8" name="TextBox 7">
            <a:extLst>
              <a:ext uri="{FF2B5EF4-FFF2-40B4-BE49-F238E27FC236}">
                <a16:creationId xmlns:a16="http://schemas.microsoft.com/office/drawing/2014/main" id="{5FE80B61-09BB-D1F3-8706-714E52A0C871}"/>
              </a:ext>
            </a:extLst>
          </p:cNvPr>
          <p:cNvSpPr txBox="1"/>
          <p:nvPr/>
        </p:nvSpPr>
        <p:spPr>
          <a:xfrm>
            <a:off x="695325" y="3068960"/>
            <a:ext cx="5544691" cy="2585323"/>
          </a:xfrm>
          <a:prstGeom prst="rect">
            <a:avLst/>
          </a:prstGeom>
          <a:noFill/>
        </p:spPr>
        <p:txBody>
          <a:bodyPr wrap="square">
            <a:spAutoFit/>
          </a:bodyPr>
          <a:lstStyle/>
          <a:p>
            <a:r>
              <a:rPr lang="en-US" dirty="0" err="1"/>
              <a:t>BiocManager</a:t>
            </a:r>
            <a:r>
              <a:rPr lang="en-US" dirty="0"/>
              <a:t>::install("</a:t>
            </a:r>
            <a:r>
              <a:rPr lang="en-US" dirty="0" err="1"/>
              <a:t>clusterProfiler</a:t>
            </a:r>
            <a:r>
              <a:rPr lang="en-US" dirty="0"/>
              <a:t>")</a:t>
            </a:r>
          </a:p>
          <a:p>
            <a:r>
              <a:rPr lang="en-US" dirty="0"/>
              <a:t>library(</a:t>
            </a:r>
            <a:r>
              <a:rPr lang="en-US" dirty="0" err="1"/>
              <a:t>clusterProfiler</a:t>
            </a:r>
            <a:r>
              <a:rPr lang="en-US" dirty="0"/>
              <a:t>)</a:t>
            </a:r>
          </a:p>
          <a:p>
            <a:endParaRPr lang="en-US" dirty="0"/>
          </a:p>
          <a:p>
            <a:r>
              <a:rPr lang="en-US" dirty="0" err="1"/>
              <a:t>install.packages</a:t>
            </a:r>
            <a:r>
              <a:rPr lang="en-US" dirty="0"/>
              <a:t>("</a:t>
            </a:r>
            <a:r>
              <a:rPr lang="en-US" dirty="0" err="1"/>
              <a:t>msigdbr</a:t>
            </a:r>
            <a:r>
              <a:rPr lang="en-US" dirty="0"/>
              <a:t>")</a:t>
            </a:r>
          </a:p>
          <a:p>
            <a:r>
              <a:rPr lang="en-US" dirty="0"/>
              <a:t>library(</a:t>
            </a:r>
            <a:r>
              <a:rPr lang="en-US" dirty="0" err="1"/>
              <a:t>msigdbr</a:t>
            </a:r>
            <a:r>
              <a:rPr lang="en-US" dirty="0"/>
              <a:t>)</a:t>
            </a:r>
          </a:p>
          <a:p>
            <a:endParaRPr lang="en-US" dirty="0"/>
          </a:p>
          <a:p>
            <a:r>
              <a:rPr lang="en-US" i="1" dirty="0"/>
              <a:t>#we also need R package </a:t>
            </a:r>
            <a:r>
              <a:rPr lang="en-US" i="1" dirty="0" err="1"/>
              <a:t>dplyr</a:t>
            </a:r>
            <a:r>
              <a:rPr lang="en-US" i="1" dirty="0"/>
              <a:t> for data wrangling</a:t>
            </a:r>
          </a:p>
          <a:p>
            <a:r>
              <a:rPr lang="en-US" dirty="0" err="1"/>
              <a:t>install.packages</a:t>
            </a:r>
            <a:r>
              <a:rPr lang="en-US" dirty="0"/>
              <a:t>("</a:t>
            </a:r>
            <a:r>
              <a:rPr lang="en-US" dirty="0" err="1"/>
              <a:t>dplyr</a:t>
            </a:r>
            <a:r>
              <a:rPr lang="en-US" dirty="0"/>
              <a:t>")</a:t>
            </a:r>
          </a:p>
          <a:p>
            <a:r>
              <a:rPr lang="en-US" dirty="0"/>
              <a:t>library(</a:t>
            </a:r>
            <a:r>
              <a:rPr lang="en-US" dirty="0" err="1"/>
              <a:t>dplyr</a:t>
            </a:r>
            <a:r>
              <a:rPr lang="en-US" dirty="0"/>
              <a:t>)</a:t>
            </a:r>
          </a:p>
        </p:txBody>
      </p:sp>
      <p:sp>
        <p:nvSpPr>
          <p:cNvPr id="9" name="Rounded Rectangle 8">
            <a:extLst>
              <a:ext uri="{FF2B5EF4-FFF2-40B4-BE49-F238E27FC236}">
                <a16:creationId xmlns:a16="http://schemas.microsoft.com/office/drawing/2014/main" id="{359A8992-67C7-927F-0D71-866570DC7A8E}"/>
              </a:ext>
            </a:extLst>
          </p:cNvPr>
          <p:cNvSpPr/>
          <p:nvPr/>
        </p:nvSpPr>
        <p:spPr>
          <a:xfrm>
            <a:off x="629237" y="3020627"/>
            <a:ext cx="4890700" cy="2633656"/>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09046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DDA6A36-0CF8-3A08-CF7F-6EFFE46AD3CC}"/>
              </a:ext>
            </a:extLst>
          </p:cNvPr>
          <p:cNvSpPr txBox="1">
            <a:spLocks/>
          </p:cNvSpPr>
          <p:nvPr/>
        </p:nvSpPr>
        <p:spPr>
          <a:xfrm>
            <a:off x="670113" y="404664"/>
            <a:ext cx="1188132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Gene Set Analysis with </a:t>
            </a:r>
            <a:r>
              <a:rPr lang="en-US" sz="2800" dirty="0" err="1">
                <a:solidFill>
                  <a:schemeClr val="bg1"/>
                </a:solidFill>
              </a:rPr>
              <a:t>clusterProfiler</a:t>
            </a:r>
            <a:r>
              <a:rPr lang="en-US" sz="2800" dirty="0">
                <a:solidFill>
                  <a:schemeClr val="bg1"/>
                </a:solidFill>
              </a:rPr>
              <a:t> – preparing the gene-set collection</a:t>
            </a:r>
          </a:p>
        </p:txBody>
      </p:sp>
      <p:sp>
        <p:nvSpPr>
          <p:cNvPr id="6" name="TextBox 5">
            <a:extLst>
              <a:ext uri="{FF2B5EF4-FFF2-40B4-BE49-F238E27FC236}">
                <a16:creationId xmlns:a16="http://schemas.microsoft.com/office/drawing/2014/main" id="{7B7CBEF9-CDF8-2787-D0B0-84381634421E}"/>
              </a:ext>
            </a:extLst>
          </p:cNvPr>
          <p:cNvSpPr txBox="1"/>
          <p:nvPr/>
        </p:nvSpPr>
        <p:spPr>
          <a:xfrm>
            <a:off x="687127" y="2895687"/>
            <a:ext cx="9289107" cy="1200329"/>
          </a:xfrm>
          <a:prstGeom prst="rect">
            <a:avLst/>
          </a:prstGeom>
          <a:noFill/>
        </p:spPr>
        <p:txBody>
          <a:bodyPr wrap="square">
            <a:spAutoFit/>
          </a:bodyPr>
          <a:lstStyle/>
          <a:p>
            <a:r>
              <a:rPr lang="en-US" dirty="0" err="1"/>
              <a:t>go_gene_sets</a:t>
            </a:r>
            <a:r>
              <a:rPr lang="en-US" dirty="0"/>
              <a:t> &lt;- </a:t>
            </a:r>
            <a:r>
              <a:rPr lang="en-US" dirty="0" err="1"/>
              <a:t>msigdbr</a:t>
            </a:r>
            <a:r>
              <a:rPr lang="en-US" dirty="0"/>
              <a:t>(species = "human", category = "C5") </a:t>
            </a:r>
          </a:p>
          <a:p>
            <a:endParaRPr lang="en-US" dirty="0"/>
          </a:p>
          <a:p>
            <a:r>
              <a:rPr lang="en-US" dirty="0"/>
              <a:t>msigdbr_t2g &lt;- </a:t>
            </a:r>
            <a:r>
              <a:rPr lang="en-US" dirty="0" err="1"/>
              <a:t>go_gene_sets</a:t>
            </a:r>
            <a:r>
              <a:rPr lang="en-US" dirty="0"/>
              <a:t> %&gt;% </a:t>
            </a:r>
            <a:r>
              <a:rPr lang="en-US" dirty="0" err="1"/>
              <a:t>dplyr</a:t>
            </a:r>
            <a:r>
              <a:rPr lang="en-US" dirty="0"/>
              <a:t>::distinct(</a:t>
            </a:r>
            <a:r>
              <a:rPr lang="en-US" dirty="0" err="1"/>
              <a:t>gs_name,gene_symbol</a:t>
            </a:r>
            <a:r>
              <a:rPr lang="en-US" dirty="0"/>
              <a:t>) %&gt;% </a:t>
            </a:r>
            <a:r>
              <a:rPr lang="en-US" dirty="0" err="1"/>
              <a:t>as.data.frame</a:t>
            </a:r>
            <a:r>
              <a:rPr lang="en-US" dirty="0"/>
              <a:t>()</a:t>
            </a:r>
          </a:p>
          <a:p>
            <a:r>
              <a:rPr lang="en-US" dirty="0"/>
              <a:t>head(msigdbr_t2g )</a:t>
            </a:r>
          </a:p>
        </p:txBody>
      </p:sp>
      <p:sp>
        <p:nvSpPr>
          <p:cNvPr id="7" name="TextBox 6">
            <a:extLst>
              <a:ext uri="{FF2B5EF4-FFF2-40B4-BE49-F238E27FC236}">
                <a16:creationId xmlns:a16="http://schemas.microsoft.com/office/drawing/2014/main" id="{5418BA8F-A563-634D-5204-3CF703845DA7}"/>
              </a:ext>
            </a:extLst>
          </p:cNvPr>
          <p:cNvSpPr txBox="1"/>
          <p:nvPr/>
        </p:nvSpPr>
        <p:spPr>
          <a:xfrm>
            <a:off x="646901" y="1628800"/>
            <a:ext cx="9793088" cy="923330"/>
          </a:xfrm>
          <a:prstGeom prst="rect">
            <a:avLst/>
          </a:prstGeom>
          <a:noFill/>
        </p:spPr>
        <p:txBody>
          <a:bodyPr wrap="square" rtlCol="0">
            <a:spAutoFit/>
          </a:bodyPr>
          <a:lstStyle/>
          <a:p>
            <a:r>
              <a:rPr lang="en-US" dirty="0"/>
              <a:t>Here we are going to load the C5 collection from </a:t>
            </a:r>
            <a:r>
              <a:rPr lang="en-US" dirty="0" err="1"/>
              <a:t>MSigDB</a:t>
            </a:r>
            <a:r>
              <a:rPr lang="en-US" dirty="0"/>
              <a:t> which corresponds to gene ontologies and then select the gene set name and the corresponding gene symbols into a separate </a:t>
            </a:r>
            <a:r>
              <a:rPr lang="en-US" dirty="0" err="1"/>
              <a:t>dataframe</a:t>
            </a:r>
            <a:r>
              <a:rPr lang="en-US" dirty="0"/>
              <a:t> that we are going to use for the over-representation test.</a:t>
            </a:r>
          </a:p>
        </p:txBody>
      </p:sp>
      <p:pic>
        <p:nvPicPr>
          <p:cNvPr id="9" name="Picture 8">
            <a:extLst>
              <a:ext uri="{FF2B5EF4-FFF2-40B4-BE49-F238E27FC236}">
                <a16:creationId xmlns:a16="http://schemas.microsoft.com/office/drawing/2014/main" id="{F2B4416F-161E-850C-A13E-0A7083487A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432" y="4439573"/>
            <a:ext cx="5613400" cy="1413892"/>
          </a:xfrm>
          <a:prstGeom prst="rect">
            <a:avLst/>
          </a:prstGeom>
        </p:spPr>
      </p:pic>
      <p:sp>
        <p:nvSpPr>
          <p:cNvPr id="10" name="Rounded Rectangle 9">
            <a:extLst>
              <a:ext uri="{FF2B5EF4-FFF2-40B4-BE49-F238E27FC236}">
                <a16:creationId xmlns:a16="http://schemas.microsoft.com/office/drawing/2014/main" id="{0A5A6A6D-F1C5-4B12-28E0-7F400A136EFC}"/>
              </a:ext>
            </a:extLst>
          </p:cNvPr>
          <p:cNvSpPr/>
          <p:nvPr/>
        </p:nvSpPr>
        <p:spPr>
          <a:xfrm>
            <a:off x="639108" y="2838637"/>
            <a:ext cx="9137743" cy="1314427"/>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32254BBF-2EB1-426B-7ECD-E08755E05327}"/>
              </a:ext>
            </a:extLst>
          </p:cNvPr>
          <p:cNvSpPr/>
          <p:nvPr/>
        </p:nvSpPr>
        <p:spPr>
          <a:xfrm>
            <a:off x="967807" y="4439571"/>
            <a:ext cx="5400600" cy="1413893"/>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6467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D6282F8B-CE2B-74D8-81CF-16ECDAA06B68}"/>
              </a:ext>
            </a:extLst>
          </p:cNvPr>
          <p:cNvSpPr/>
          <p:nvPr/>
        </p:nvSpPr>
        <p:spPr>
          <a:xfrm>
            <a:off x="551384" y="2564904"/>
            <a:ext cx="11161240" cy="2175341"/>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742670ED-254B-AE84-4C69-5FB262C54520}"/>
              </a:ext>
            </a:extLst>
          </p:cNvPr>
          <p:cNvSpPr txBox="1">
            <a:spLocks/>
          </p:cNvSpPr>
          <p:nvPr/>
        </p:nvSpPr>
        <p:spPr>
          <a:xfrm>
            <a:off x="663503" y="476672"/>
            <a:ext cx="1188132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Gene Set Analysis with </a:t>
            </a:r>
            <a:r>
              <a:rPr lang="en-US" sz="2800" dirty="0" err="1">
                <a:solidFill>
                  <a:schemeClr val="bg1"/>
                </a:solidFill>
              </a:rPr>
              <a:t>clusterProfiler</a:t>
            </a:r>
            <a:r>
              <a:rPr lang="en-US" sz="2800" dirty="0">
                <a:solidFill>
                  <a:schemeClr val="bg1"/>
                </a:solidFill>
              </a:rPr>
              <a:t> – Preparing our gene-list of interest</a:t>
            </a:r>
          </a:p>
        </p:txBody>
      </p:sp>
      <p:sp>
        <p:nvSpPr>
          <p:cNvPr id="5" name="TextBox 4">
            <a:extLst>
              <a:ext uri="{FF2B5EF4-FFF2-40B4-BE49-F238E27FC236}">
                <a16:creationId xmlns:a16="http://schemas.microsoft.com/office/drawing/2014/main" id="{AB613444-4363-4BF1-29E5-6973885164BD}"/>
              </a:ext>
            </a:extLst>
          </p:cNvPr>
          <p:cNvSpPr txBox="1"/>
          <p:nvPr/>
        </p:nvSpPr>
        <p:spPr>
          <a:xfrm>
            <a:off x="646901" y="1628800"/>
            <a:ext cx="9793088" cy="646331"/>
          </a:xfrm>
          <a:prstGeom prst="rect">
            <a:avLst/>
          </a:prstGeom>
          <a:noFill/>
        </p:spPr>
        <p:txBody>
          <a:bodyPr wrap="square" rtlCol="0">
            <a:spAutoFit/>
          </a:bodyPr>
          <a:lstStyle/>
          <a:p>
            <a:r>
              <a:rPr lang="en-US" dirty="0"/>
              <a:t>Here we are going to load DESeq2 results with the differential gene expression and then subset the data to obtain the significantly upregulated genes. </a:t>
            </a:r>
          </a:p>
        </p:txBody>
      </p:sp>
      <p:sp>
        <p:nvSpPr>
          <p:cNvPr id="7" name="TextBox 6">
            <a:extLst>
              <a:ext uri="{FF2B5EF4-FFF2-40B4-BE49-F238E27FC236}">
                <a16:creationId xmlns:a16="http://schemas.microsoft.com/office/drawing/2014/main" id="{24B2CC46-4C94-67F5-F419-1D4E2610A7DA}"/>
              </a:ext>
            </a:extLst>
          </p:cNvPr>
          <p:cNvSpPr txBox="1"/>
          <p:nvPr/>
        </p:nvSpPr>
        <p:spPr>
          <a:xfrm>
            <a:off x="551384" y="2708920"/>
            <a:ext cx="11305331" cy="2031325"/>
          </a:xfrm>
          <a:prstGeom prst="rect">
            <a:avLst/>
          </a:prstGeom>
          <a:noFill/>
        </p:spPr>
        <p:txBody>
          <a:bodyPr wrap="square">
            <a:spAutoFit/>
          </a:bodyPr>
          <a:lstStyle/>
          <a:p>
            <a:r>
              <a:rPr lang="en-US" dirty="0" err="1"/>
              <a:t>DE.res</a:t>
            </a:r>
            <a:r>
              <a:rPr lang="en-US" dirty="0"/>
              <a:t> &lt;- </a:t>
            </a:r>
            <a:r>
              <a:rPr lang="en-US" dirty="0" err="1"/>
              <a:t>read.csv</a:t>
            </a:r>
            <a:r>
              <a:rPr lang="en-US" dirty="0"/>
              <a:t>("/Users/maniat01/Documents/</a:t>
            </a:r>
            <a:r>
              <a:rPr lang="en-US" dirty="0" err="1"/>
              <a:t>DE_sensitiveVSresistant_results_wGeneSymbol.csv</a:t>
            </a:r>
            <a:r>
              <a:rPr lang="en-US" dirty="0"/>
              <a:t>", header = TRUE, </a:t>
            </a:r>
            <a:r>
              <a:rPr lang="en-US" dirty="0" err="1"/>
              <a:t>row.names</a:t>
            </a:r>
            <a:r>
              <a:rPr lang="en-US" dirty="0"/>
              <a:t> = 1)</a:t>
            </a:r>
          </a:p>
          <a:p>
            <a:endParaRPr lang="en-US" dirty="0"/>
          </a:p>
          <a:p>
            <a:r>
              <a:rPr lang="en-US" dirty="0" err="1"/>
              <a:t>DE.res.sign</a:t>
            </a:r>
            <a:r>
              <a:rPr lang="en-US" dirty="0"/>
              <a:t> &lt;- subset(</a:t>
            </a:r>
            <a:r>
              <a:rPr lang="en-US" dirty="0" err="1"/>
              <a:t>DE.res</a:t>
            </a:r>
            <a:r>
              <a:rPr lang="en-US" dirty="0"/>
              <a:t>, </a:t>
            </a:r>
            <a:r>
              <a:rPr lang="en-US" dirty="0" err="1"/>
              <a:t>padj</a:t>
            </a:r>
            <a:r>
              <a:rPr lang="en-US" dirty="0"/>
              <a:t> &lt; 0.05 &amp; log2FoldChange &gt; 1)</a:t>
            </a:r>
          </a:p>
          <a:p>
            <a:endParaRPr lang="en-US" dirty="0"/>
          </a:p>
          <a:p>
            <a:r>
              <a:rPr lang="en-US" i="1" dirty="0"/>
              <a:t>#Let’s check how many they are </a:t>
            </a:r>
          </a:p>
          <a:p>
            <a:r>
              <a:rPr lang="en-US" dirty="0" err="1"/>
              <a:t>nrow</a:t>
            </a:r>
            <a:r>
              <a:rPr lang="en-US" dirty="0"/>
              <a:t>(</a:t>
            </a:r>
            <a:r>
              <a:rPr lang="en-US" dirty="0" err="1"/>
              <a:t>DE.res.sign</a:t>
            </a:r>
            <a:r>
              <a:rPr lang="en-US" dirty="0"/>
              <a:t>) </a:t>
            </a:r>
          </a:p>
        </p:txBody>
      </p:sp>
      <p:pic>
        <p:nvPicPr>
          <p:cNvPr id="10" name="Picture 9">
            <a:extLst>
              <a:ext uri="{FF2B5EF4-FFF2-40B4-BE49-F238E27FC236}">
                <a16:creationId xmlns:a16="http://schemas.microsoft.com/office/drawing/2014/main" id="{6BF8C71C-630B-E177-E698-6FEC2B252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408" y="5164330"/>
            <a:ext cx="1739900" cy="482600"/>
          </a:xfrm>
          <a:prstGeom prst="rect">
            <a:avLst/>
          </a:prstGeom>
        </p:spPr>
      </p:pic>
      <p:sp>
        <p:nvSpPr>
          <p:cNvPr id="11" name="Rounded Rectangle 10">
            <a:extLst>
              <a:ext uri="{FF2B5EF4-FFF2-40B4-BE49-F238E27FC236}">
                <a16:creationId xmlns:a16="http://schemas.microsoft.com/office/drawing/2014/main" id="{AF33DFA8-1F16-304A-A69B-15B64DA1578C}"/>
              </a:ext>
            </a:extLst>
          </p:cNvPr>
          <p:cNvSpPr/>
          <p:nvPr/>
        </p:nvSpPr>
        <p:spPr>
          <a:xfrm>
            <a:off x="673581" y="5164330"/>
            <a:ext cx="1966035" cy="378882"/>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484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8C03-4332-B50E-8BDC-92D8F45E94CA}"/>
              </a:ext>
            </a:extLst>
          </p:cNvPr>
          <p:cNvSpPr txBox="1">
            <a:spLocks/>
          </p:cNvSpPr>
          <p:nvPr/>
        </p:nvSpPr>
        <p:spPr>
          <a:xfrm>
            <a:off x="346010" y="476672"/>
            <a:ext cx="1188132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Gene Set Analysis with </a:t>
            </a:r>
            <a:r>
              <a:rPr lang="en-US" sz="2800" dirty="0" err="1">
                <a:solidFill>
                  <a:schemeClr val="bg1"/>
                </a:solidFill>
              </a:rPr>
              <a:t>clusterProfiler</a:t>
            </a:r>
            <a:r>
              <a:rPr lang="en-US" sz="2800" dirty="0">
                <a:solidFill>
                  <a:schemeClr val="bg1"/>
                </a:solidFill>
              </a:rPr>
              <a:t> – Performing the over-representation test</a:t>
            </a:r>
          </a:p>
        </p:txBody>
      </p:sp>
      <p:sp>
        <p:nvSpPr>
          <p:cNvPr id="3" name="TextBox 2">
            <a:extLst>
              <a:ext uri="{FF2B5EF4-FFF2-40B4-BE49-F238E27FC236}">
                <a16:creationId xmlns:a16="http://schemas.microsoft.com/office/drawing/2014/main" id="{54BEC9B4-690D-525A-ADCA-61BCD85160C5}"/>
              </a:ext>
            </a:extLst>
          </p:cNvPr>
          <p:cNvSpPr txBox="1"/>
          <p:nvPr/>
        </p:nvSpPr>
        <p:spPr>
          <a:xfrm>
            <a:off x="684806" y="1466241"/>
            <a:ext cx="9793088" cy="646331"/>
          </a:xfrm>
          <a:prstGeom prst="rect">
            <a:avLst/>
          </a:prstGeom>
          <a:noFill/>
        </p:spPr>
        <p:txBody>
          <a:bodyPr wrap="square" rtlCol="0">
            <a:spAutoFit/>
          </a:bodyPr>
          <a:lstStyle/>
          <a:p>
            <a:r>
              <a:rPr lang="en-US" dirty="0"/>
              <a:t>Now we are going to perform the over-representation test using our gene list of interest (</a:t>
            </a:r>
            <a:r>
              <a:rPr lang="en-US" dirty="0" err="1"/>
              <a:t>ie</a:t>
            </a:r>
            <a:r>
              <a:rPr lang="en-US" dirty="0"/>
              <a:t> the significantly up-regulated genes in sensitive vs resistant cells) and the Gene Ontology collection. </a:t>
            </a:r>
          </a:p>
        </p:txBody>
      </p:sp>
      <p:sp>
        <p:nvSpPr>
          <p:cNvPr id="5" name="TextBox 4">
            <a:extLst>
              <a:ext uri="{FF2B5EF4-FFF2-40B4-BE49-F238E27FC236}">
                <a16:creationId xmlns:a16="http://schemas.microsoft.com/office/drawing/2014/main" id="{85EF1AFB-B2F5-44BA-AFBE-7755B5273749}"/>
              </a:ext>
            </a:extLst>
          </p:cNvPr>
          <p:cNvSpPr txBox="1"/>
          <p:nvPr/>
        </p:nvSpPr>
        <p:spPr>
          <a:xfrm>
            <a:off x="881182" y="2262063"/>
            <a:ext cx="9649072" cy="923330"/>
          </a:xfrm>
          <a:prstGeom prst="rect">
            <a:avLst/>
          </a:prstGeom>
          <a:noFill/>
        </p:spPr>
        <p:txBody>
          <a:bodyPr wrap="square">
            <a:spAutoFit/>
          </a:bodyPr>
          <a:lstStyle/>
          <a:p>
            <a:r>
              <a:rPr lang="en-US" dirty="0" err="1"/>
              <a:t>enrichRes</a:t>
            </a:r>
            <a:r>
              <a:rPr lang="en-US" dirty="0"/>
              <a:t> &lt;- enricher(gene = </a:t>
            </a:r>
            <a:r>
              <a:rPr lang="en-US" dirty="0" err="1"/>
              <a:t>DE.res.sign$gene.symbol</a:t>
            </a:r>
            <a:r>
              <a:rPr lang="en-US" dirty="0"/>
              <a:t>, TERM2GENE = msigdbr_t2g, </a:t>
            </a:r>
            <a:r>
              <a:rPr lang="en-US" dirty="0" err="1"/>
              <a:t>pvalueCutoff</a:t>
            </a:r>
            <a:r>
              <a:rPr lang="en-US" dirty="0"/>
              <a:t> = 0.05, </a:t>
            </a:r>
            <a:r>
              <a:rPr lang="en-US" dirty="0" err="1"/>
              <a:t>pAdjustMethod</a:t>
            </a:r>
            <a:r>
              <a:rPr lang="en-US" dirty="0"/>
              <a:t> = "BH")</a:t>
            </a:r>
          </a:p>
          <a:p>
            <a:r>
              <a:rPr lang="en-US" dirty="0"/>
              <a:t>head(</a:t>
            </a:r>
            <a:r>
              <a:rPr lang="en-US" dirty="0" err="1"/>
              <a:t>enrichRes</a:t>
            </a:r>
            <a:r>
              <a:rPr lang="en-US" dirty="0"/>
              <a:t>)</a:t>
            </a:r>
          </a:p>
        </p:txBody>
      </p:sp>
      <p:sp>
        <p:nvSpPr>
          <p:cNvPr id="7" name="TextBox 6">
            <a:extLst>
              <a:ext uri="{FF2B5EF4-FFF2-40B4-BE49-F238E27FC236}">
                <a16:creationId xmlns:a16="http://schemas.microsoft.com/office/drawing/2014/main" id="{F2B94C7B-E8C2-4F99-58EA-B15B87A14796}"/>
              </a:ext>
            </a:extLst>
          </p:cNvPr>
          <p:cNvSpPr txBox="1"/>
          <p:nvPr/>
        </p:nvSpPr>
        <p:spPr>
          <a:xfrm>
            <a:off x="767408" y="5231184"/>
            <a:ext cx="11243898" cy="923330"/>
          </a:xfrm>
          <a:prstGeom prst="rect">
            <a:avLst/>
          </a:prstGeom>
          <a:noFill/>
        </p:spPr>
        <p:txBody>
          <a:bodyPr wrap="square">
            <a:spAutoFit/>
          </a:bodyPr>
          <a:lstStyle/>
          <a:p>
            <a:r>
              <a:rPr lang="en-US" dirty="0"/>
              <a:t>Also, let’s write the output into a file</a:t>
            </a:r>
          </a:p>
          <a:p>
            <a:r>
              <a:rPr lang="en-US" dirty="0" err="1"/>
              <a:t>write.csv</a:t>
            </a:r>
            <a:r>
              <a:rPr lang="en-US" dirty="0"/>
              <a:t>(</a:t>
            </a:r>
            <a:r>
              <a:rPr lang="en-US" dirty="0" err="1"/>
              <a:t>enrichRes</a:t>
            </a:r>
            <a:r>
              <a:rPr lang="en-US" dirty="0"/>
              <a:t>, file = "/Users/maniat01/Documents/</a:t>
            </a:r>
            <a:r>
              <a:rPr lang="en-US" dirty="0" err="1"/>
              <a:t>RNASeq_practical</a:t>
            </a:r>
            <a:r>
              <a:rPr lang="en-US" dirty="0"/>
              <a:t>/</a:t>
            </a:r>
            <a:r>
              <a:rPr lang="en-US" dirty="0" err="1"/>
              <a:t>GO_sensitiveVSresistant_up.csv</a:t>
            </a:r>
            <a:r>
              <a:rPr lang="en-US" dirty="0"/>
              <a:t>", </a:t>
            </a:r>
            <a:r>
              <a:rPr lang="en-US" dirty="0" err="1"/>
              <a:t>row.names</a:t>
            </a:r>
            <a:r>
              <a:rPr lang="en-US" dirty="0"/>
              <a:t> = FALSE)</a:t>
            </a:r>
          </a:p>
        </p:txBody>
      </p:sp>
      <p:pic>
        <p:nvPicPr>
          <p:cNvPr id="9" name="Picture 8">
            <a:extLst>
              <a:ext uri="{FF2B5EF4-FFF2-40B4-BE49-F238E27FC236}">
                <a16:creationId xmlns:a16="http://schemas.microsoft.com/office/drawing/2014/main" id="{E560D2BD-515D-D541-295E-79900F59B2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230" y="4798173"/>
            <a:ext cx="7772400" cy="284468"/>
          </a:xfrm>
          <a:prstGeom prst="rect">
            <a:avLst/>
          </a:prstGeom>
        </p:spPr>
      </p:pic>
      <p:sp>
        <p:nvSpPr>
          <p:cNvPr id="14" name="Rounded Rectangle 13">
            <a:extLst>
              <a:ext uri="{FF2B5EF4-FFF2-40B4-BE49-F238E27FC236}">
                <a16:creationId xmlns:a16="http://schemas.microsoft.com/office/drawing/2014/main" id="{68A5F4A1-877A-1F4B-3530-B99DF732123B}"/>
              </a:ext>
            </a:extLst>
          </p:cNvPr>
          <p:cNvSpPr/>
          <p:nvPr/>
        </p:nvSpPr>
        <p:spPr>
          <a:xfrm>
            <a:off x="809172" y="2275131"/>
            <a:ext cx="9649073" cy="862355"/>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ounded Rectangle 14">
            <a:extLst>
              <a:ext uri="{FF2B5EF4-FFF2-40B4-BE49-F238E27FC236}">
                <a16:creationId xmlns:a16="http://schemas.microsoft.com/office/drawing/2014/main" id="{AD18EC22-EC33-BA8C-DBEB-6BE98C301ACF}"/>
              </a:ext>
            </a:extLst>
          </p:cNvPr>
          <p:cNvSpPr/>
          <p:nvPr/>
        </p:nvSpPr>
        <p:spPr>
          <a:xfrm>
            <a:off x="790916" y="5568865"/>
            <a:ext cx="10417652" cy="585650"/>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ounded Rectangle 16">
            <a:extLst>
              <a:ext uri="{FF2B5EF4-FFF2-40B4-BE49-F238E27FC236}">
                <a16:creationId xmlns:a16="http://schemas.microsoft.com/office/drawing/2014/main" id="{AF5B96B6-B96C-4D37-6820-87513FDC7DE2}"/>
              </a:ext>
            </a:extLst>
          </p:cNvPr>
          <p:cNvSpPr/>
          <p:nvPr/>
        </p:nvSpPr>
        <p:spPr>
          <a:xfrm>
            <a:off x="695325" y="4724835"/>
            <a:ext cx="7488907" cy="357806"/>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4A0BA8E5-A35D-5FDD-97E4-C626EFFF9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8649" y="3523074"/>
            <a:ext cx="10254702" cy="1066366"/>
          </a:xfrm>
          <a:prstGeom prst="rect">
            <a:avLst/>
          </a:prstGeom>
        </p:spPr>
      </p:pic>
      <p:sp>
        <p:nvSpPr>
          <p:cNvPr id="16" name="Rounded Rectangle 15">
            <a:extLst>
              <a:ext uri="{FF2B5EF4-FFF2-40B4-BE49-F238E27FC236}">
                <a16:creationId xmlns:a16="http://schemas.microsoft.com/office/drawing/2014/main" id="{26FEEC53-DBDC-A645-6306-5C55213331C7}"/>
              </a:ext>
            </a:extLst>
          </p:cNvPr>
          <p:cNvSpPr/>
          <p:nvPr/>
        </p:nvSpPr>
        <p:spPr>
          <a:xfrm>
            <a:off x="684806" y="3389584"/>
            <a:ext cx="10716278" cy="1270054"/>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32452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2802B0-DBD4-9EA7-6597-AF8D24246C0C}"/>
              </a:ext>
            </a:extLst>
          </p:cNvPr>
          <p:cNvSpPr txBox="1"/>
          <p:nvPr/>
        </p:nvSpPr>
        <p:spPr>
          <a:xfrm>
            <a:off x="1559496" y="3039259"/>
            <a:ext cx="7416824" cy="523220"/>
          </a:xfrm>
          <a:prstGeom prst="rect">
            <a:avLst/>
          </a:prstGeom>
          <a:noFill/>
        </p:spPr>
        <p:txBody>
          <a:bodyPr wrap="square" rtlCol="0">
            <a:spAutoFit/>
          </a:bodyPr>
          <a:lstStyle/>
          <a:p>
            <a:r>
              <a:rPr lang="en-US" sz="2800" dirty="0"/>
              <a:t>GSEA Pre-Ranked</a:t>
            </a:r>
          </a:p>
        </p:txBody>
      </p:sp>
    </p:spTree>
    <p:extLst>
      <p:ext uri="{BB962C8B-B14F-4D97-AF65-F5344CB8AC3E}">
        <p14:creationId xmlns:p14="http://schemas.microsoft.com/office/powerpoint/2010/main" val="2333559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649879-F471-1654-3FB6-D76FA61D04A7}"/>
              </a:ext>
            </a:extLst>
          </p:cNvPr>
          <p:cNvSpPr txBox="1"/>
          <p:nvPr/>
        </p:nvSpPr>
        <p:spPr>
          <a:xfrm>
            <a:off x="528953" y="1340768"/>
            <a:ext cx="10585176" cy="923330"/>
          </a:xfrm>
          <a:prstGeom prst="rect">
            <a:avLst/>
          </a:prstGeom>
          <a:noFill/>
        </p:spPr>
        <p:txBody>
          <a:bodyPr wrap="square">
            <a:spAutoFit/>
          </a:bodyPr>
          <a:lstStyle/>
          <a:p>
            <a:r>
              <a:rPr lang="en-US" dirty="0"/>
              <a:t>In Pre-Ranked GSEA we rank the genes in our data by decreasing differential expression metric (log fold-change or test-statistic). The method then looks into whether there is significant enrichment of each gene-set in our collection. We are aiming to get information that when plotted for an example gene-set looks like these.</a:t>
            </a:r>
          </a:p>
        </p:txBody>
      </p:sp>
      <p:sp>
        <p:nvSpPr>
          <p:cNvPr id="4" name="Title 1">
            <a:extLst>
              <a:ext uri="{FF2B5EF4-FFF2-40B4-BE49-F238E27FC236}">
                <a16:creationId xmlns:a16="http://schemas.microsoft.com/office/drawing/2014/main" id="{F36BE268-9009-8452-EED9-0C76BF59A61D}"/>
              </a:ext>
            </a:extLst>
          </p:cNvPr>
          <p:cNvSpPr txBox="1">
            <a:spLocks/>
          </p:cNvSpPr>
          <p:nvPr/>
        </p:nvSpPr>
        <p:spPr>
          <a:xfrm>
            <a:off x="623392" y="476672"/>
            <a:ext cx="1144927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Pre-ranked GSEA with R package </a:t>
            </a:r>
            <a:r>
              <a:rPr lang="en-US" sz="2800" dirty="0" err="1">
                <a:solidFill>
                  <a:schemeClr val="bg1"/>
                </a:solidFill>
              </a:rPr>
              <a:t>fgsea</a:t>
            </a:r>
            <a:endParaRPr lang="en-US" sz="2800" dirty="0">
              <a:solidFill>
                <a:schemeClr val="bg1"/>
              </a:solidFill>
            </a:endParaRPr>
          </a:p>
        </p:txBody>
      </p:sp>
      <p:sp>
        <p:nvSpPr>
          <p:cNvPr id="14" name="TextBox 13">
            <a:extLst>
              <a:ext uri="{FF2B5EF4-FFF2-40B4-BE49-F238E27FC236}">
                <a16:creationId xmlns:a16="http://schemas.microsoft.com/office/drawing/2014/main" id="{7515BAC7-F8ED-0046-17C4-D70E670019EC}"/>
              </a:ext>
            </a:extLst>
          </p:cNvPr>
          <p:cNvSpPr txBox="1"/>
          <p:nvPr/>
        </p:nvSpPr>
        <p:spPr>
          <a:xfrm>
            <a:off x="1199456" y="2420888"/>
            <a:ext cx="4248472" cy="369332"/>
          </a:xfrm>
          <a:prstGeom prst="rect">
            <a:avLst/>
          </a:prstGeom>
          <a:noFill/>
        </p:spPr>
        <p:txBody>
          <a:bodyPr wrap="square" rtlCol="0">
            <a:spAutoFit/>
          </a:bodyPr>
          <a:lstStyle/>
          <a:p>
            <a:r>
              <a:rPr lang="en-US" dirty="0"/>
              <a:t>Example of an upregulated pathway</a:t>
            </a:r>
          </a:p>
        </p:txBody>
      </p:sp>
      <p:sp>
        <p:nvSpPr>
          <p:cNvPr id="15" name="TextBox 14">
            <a:extLst>
              <a:ext uri="{FF2B5EF4-FFF2-40B4-BE49-F238E27FC236}">
                <a16:creationId xmlns:a16="http://schemas.microsoft.com/office/drawing/2014/main" id="{8868D2B8-946E-2DE0-26E2-0BEEAF68BE2B}"/>
              </a:ext>
            </a:extLst>
          </p:cNvPr>
          <p:cNvSpPr txBox="1"/>
          <p:nvPr/>
        </p:nvSpPr>
        <p:spPr>
          <a:xfrm>
            <a:off x="6865657" y="2420888"/>
            <a:ext cx="4248472" cy="369332"/>
          </a:xfrm>
          <a:prstGeom prst="rect">
            <a:avLst/>
          </a:prstGeom>
          <a:noFill/>
        </p:spPr>
        <p:txBody>
          <a:bodyPr wrap="square" rtlCol="0">
            <a:spAutoFit/>
          </a:bodyPr>
          <a:lstStyle/>
          <a:p>
            <a:r>
              <a:rPr lang="en-US" dirty="0"/>
              <a:t>Example of </a:t>
            </a:r>
            <a:r>
              <a:rPr lang="en-US" dirty="0" err="1"/>
              <a:t>adownregulated</a:t>
            </a:r>
            <a:r>
              <a:rPr lang="en-US" dirty="0"/>
              <a:t> pathway</a:t>
            </a:r>
          </a:p>
        </p:txBody>
      </p:sp>
      <p:pic>
        <p:nvPicPr>
          <p:cNvPr id="5" name="Picture 4">
            <a:extLst>
              <a:ext uri="{FF2B5EF4-FFF2-40B4-BE49-F238E27FC236}">
                <a16:creationId xmlns:a16="http://schemas.microsoft.com/office/drawing/2014/main" id="{3B5F4189-C1FB-422A-F17C-EE78FE22C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52" y="2776375"/>
            <a:ext cx="5482910" cy="3390861"/>
          </a:xfrm>
          <a:prstGeom prst="rect">
            <a:avLst/>
          </a:prstGeom>
        </p:spPr>
      </p:pic>
      <p:pic>
        <p:nvPicPr>
          <p:cNvPr id="6" name="Picture 5">
            <a:extLst>
              <a:ext uri="{FF2B5EF4-FFF2-40B4-BE49-F238E27FC236}">
                <a16:creationId xmlns:a16="http://schemas.microsoft.com/office/drawing/2014/main" id="{FF256E68-0FA1-D293-0773-0DF03586A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5592" y="2754456"/>
            <a:ext cx="5483458" cy="3391200"/>
          </a:xfrm>
          <a:prstGeom prst="rect">
            <a:avLst/>
          </a:prstGeom>
        </p:spPr>
      </p:pic>
    </p:spTree>
    <p:extLst>
      <p:ext uri="{BB962C8B-B14F-4D97-AF65-F5344CB8AC3E}">
        <p14:creationId xmlns:p14="http://schemas.microsoft.com/office/powerpoint/2010/main" val="3998590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6BC26-B564-09DA-41B9-1EB3BC84CE9B}"/>
              </a:ext>
            </a:extLst>
          </p:cNvPr>
          <p:cNvSpPr txBox="1">
            <a:spLocks/>
          </p:cNvSpPr>
          <p:nvPr/>
        </p:nvSpPr>
        <p:spPr>
          <a:xfrm>
            <a:off x="623392" y="476672"/>
            <a:ext cx="999846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bg1"/>
                </a:solidFill>
              </a:rPr>
              <a:t>Pre-ranked GSEA with R package </a:t>
            </a:r>
            <a:r>
              <a:rPr lang="en-US" sz="3600" dirty="0" err="1">
                <a:solidFill>
                  <a:schemeClr val="bg1"/>
                </a:solidFill>
              </a:rPr>
              <a:t>fgsea</a:t>
            </a:r>
            <a:endParaRPr lang="en-US" sz="3600" dirty="0">
              <a:solidFill>
                <a:schemeClr val="bg1"/>
              </a:solidFill>
            </a:endParaRPr>
          </a:p>
        </p:txBody>
      </p:sp>
      <p:sp>
        <p:nvSpPr>
          <p:cNvPr id="3" name="TextBox 2">
            <a:extLst>
              <a:ext uri="{FF2B5EF4-FFF2-40B4-BE49-F238E27FC236}">
                <a16:creationId xmlns:a16="http://schemas.microsoft.com/office/drawing/2014/main" id="{AF1041DB-2AE8-EF14-1937-6D948D0006EA}"/>
              </a:ext>
            </a:extLst>
          </p:cNvPr>
          <p:cNvSpPr txBox="1"/>
          <p:nvPr/>
        </p:nvSpPr>
        <p:spPr>
          <a:xfrm>
            <a:off x="663713" y="1340768"/>
            <a:ext cx="10009112" cy="1754326"/>
          </a:xfrm>
          <a:prstGeom prst="rect">
            <a:avLst/>
          </a:prstGeom>
          <a:noFill/>
        </p:spPr>
        <p:txBody>
          <a:bodyPr wrap="square" rtlCol="0">
            <a:spAutoFit/>
          </a:bodyPr>
          <a:lstStyle/>
          <a:p>
            <a:r>
              <a:rPr lang="en-US" dirty="0">
                <a:solidFill>
                  <a:srgbClr val="C00000"/>
                </a:solidFill>
              </a:rPr>
              <a:t>Aim: </a:t>
            </a:r>
            <a:r>
              <a:rPr lang="en-US" dirty="0"/>
              <a:t>This time we are not going to threshold the DE results but we are going to rank them on the basis of a differential expression metric, the log</a:t>
            </a:r>
            <a:r>
              <a:rPr lang="en-US" baseline="-25000" dirty="0"/>
              <a:t>2</a:t>
            </a:r>
            <a:r>
              <a:rPr lang="en-US" dirty="0"/>
              <a:t> fold-change (you could also use the test statistic). The we will look into which Gene Ontologies are significantly enriched in the data and in which direction </a:t>
            </a:r>
            <a:r>
              <a:rPr lang="en-US" dirty="0" err="1"/>
              <a:t>ie</a:t>
            </a:r>
            <a:r>
              <a:rPr lang="en-US" dirty="0"/>
              <a:t> are they up or down-regulated in sensitive versus resistant cells. </a:t>
            </a:r>
          </a:p>
          <a:p>
            <a:endParaRPr lang="en-US" dirty="0"/>
          </a:p>
          <a:p>
            <a:r>
              <a:rPr lang="en-US" dirty="0"/>
              <a:t>Let’s start by installing </a:t>
            </a:r>
            <a:r>
              <a:rPr lang="en-US" dirty="0" err="1"/>
              <a:t>fgsea</a:t>
            </a:r>
            <a:r>
              <a:rPr lang="en-US" dirty="0"/>
              <a:t> and the associated packages that we will need</a:t>
            </a:r>
          </a:p>
        </p:txBody>
      </p:sp>
      <p:sp>
        <p:nvSpPr>
          <p:cNvPr id="5" name="TextBox 4">
            <a:extLst>
              <a:ext uri="{FF2B5EF4-FFF2-40B4-BE49-F238E27FC236}">
                <a16:creationId xmlns:a16="http://schemas.microsoft.com/office/drawing/2014/main" id="{A38C7FA4-CEF3-7796-C0AE-C85939650061}"/>
              </a:ext>
            </a:extLst>
          </p:cNvPr>
          <p:cNvSpPr txBox="1"/>
          <p:nvPr/>
        </p:nvSpPr>
        <p:spPr>
          <a:xfrm>
            <a:off x="1703512" y="3378989"/>
            <a:ext cx="6096000" cy="3139321"/>
          </a:xfrm>
          <a:prstGeom prst="rect">
            <a:avLst/>
          </a:prstGeom>
          <a:noFill/>
        </p:spPr>
        <p:txBody>
          <a:bodyPr wrap="square">
            <a:spAutoFit/>
          </a:bodyPr>
          <a:lstStyle/>
          <a:p>
            <a:r>
              <a:rPr lang="en-US" dirty="0" err="1"/>
              <a:t>BiocManager</a:t>
            </a:r>
            <a:r>
              <a:rPr lang="en-US" dirty="0"/>
              <a:t>::install("</a:t>
            </a:r>
            <a:r>
              <a:rPr lang="en-US" dirty="0" err="1"/>
              <a:t>fgsea</a:t>
            </a:r>
            <a:r>
              <a:rPr lang="en-US" dirty="0"/>
              <a:t>")</a:t>
            </a:r>
          </a:p>
          <a:p>
            <a:r>
              <a:rPr lang="en-US" dirty="0"/>
              <a:t>library(</a:t>
            </a:r>
            <a:r>
              <a:rPr lang="en-US" dirty="0" err="1"/>
              <a:t>fgsea</a:t>
            </a:r>
            <a:r>
              <a:rPr lang="en-US" dirty="0"/>
              <a:t>)</a:t>
            </a:r>
          </a:p>
          <a:p>
            <a:endParaRPr lang="en-US" dirty="0"/>
          </a:p>
          <a:p>
            <a:r>
              <a:rPr lang="en-US" dirty="0" err="1"/>
              <a:t>install.packages</a:t>
            </a:r>
            <a:r>
              <a:rPr lang="en-US" dirty="0"/>
              <a:t>("</a:t>
            </a:r>
            <a:r>
              <a:rPr lang="en-US" dirty="0" err="1"/>
              <a:t>data.table</a:t>
            </a:r>
            <a:r>
              <a:rPr lang="en-US" dirty="0"/>
              <a:t>")</a:t>
            </a:r>
          </a:p>
          <a:p>
            <a:r>
              <a:rPr lang="en-US" dirty="0"/>
              <a:t>library(</a:t>
            </a:r>
            <a:r>
              <a:rPr lang="en-US" dirty="0" err="1"/>
              <a:t>data.table</a:t>
            </a:r>
            <a:r>
              <a:rPr lang="en-US" dirty="0"/>
              <a:t>)</a:t>
            </a:r>
          </a:p>
          <a:p>
            <a:endParaRPr lang="en-US" dirty="0"/>
          </a:p>
          <a:p>
            <a:r>
              <a:rPr lang="en-US" dirty="0" err="1"/>
              <a:t>BiocManager</a:t>
            </a:r>
            <a:r>
              <a:rPr lang="en-US" dirty="0"/>
              <a:t>::install("</a:t>
            </a:r>
            <a:r>
              <a:rPr lang="en-US" dirty="0" err="1"/>
              <a:t>qusage</a:t>
            </a:r>
            <a:r>
              <a:rPr lang="en-US" dirty="0"/>
              <a:t>")</a:t>
            </a:r>
          </a:p>
          <a:p>
            <a:r>
              <a:rPr lang="en-US" dirty="0"/>
              <a:t>library(</a:t>
            </a:r>
            <a:r>
              <a:rPr lang="en-US" dirty="0" err="1"/>
              <a:t>qusage</a:t>
            </a:r>
            <a:r>
              <a:rPr lang="en-US" dirty="0"/>
              <a:t>)</a:t>
            </a:r>
          </a:p>
          <a:p>
            <a:endParaRPr lang="en-US" dirty="0"/>
          </a:p>
          <a:p>
            <a:r>
              <a:rPr lang="en-US" dirty="0" err="1"/>
              <a:t>install.packages</a:t>
            </a:r>
            <a:r>
              <a:rPr lang="en-US" dirty="0"/>
              <a:t>("ggplot2")</a:t>
            </a:r>
          </a:p>
          <a:p>
            <a:r>
              <a:rPr lang="en-US" dirty="0"/>
              <a:t>library(ggplot2)</a:t>
            </a:r>
          </a:p>
        </p:txBody>
      </p:sp>
      <p:sp>
        <p:nvSpPr>
          <p:cNvPr id="6" name="Rounded Rectangle 5">
            <a:extLst>
              <a:ext uri="{FF2B5EF4-FFF2-40B4-BE49-F238E27FC236}">
                <a16:creationId xmlns:a16="http://schemas.microsoft.com/office/drawing/2014/main" id="{57F48D4F-D461-266A-CD5A-B0D8B11DD984}"/>
              </a:ext>
            </a:extLst>
          </p:cNvPr>
          <p:cNvSpPr/>
          <p:nvPr/>
        </p:nvSpPr>
        <p:spPr>
          <a:xfrm>
            <a:off x="1530194" y="3311118"/>
            <a:ext cx="3917734" cy="3207192"/>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8470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647A6-870B-86E3-E950-06B8974AFA04}"/>
              </a:ext>
            </a:extLst>
          </p:cNvPr>
          <p:cNvSpPr txBox="1">
            <a:spLocks/>
          </p:cNvSpPr>
          <p:nvPr/>
        </p:nvSpPr>
        <p:spPr>
          <a:xfrm>
            <a:off x="623392" y="476672"/>
            <a:ext cx="1144927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Pre-ranked GSEA with R package </a:t>
            </a:r>
            <a:r>
              <a:rPr lang="en-US" sz="2800" dirty="0" err="1">
                <a:solidFill>
                  <a:schemeClr val="bg1"/>
                </a:solidFill>
              </a:rPr>
              <a:t>fgsea</a:t>
            </a:r>
            <a:r>
              <a:rPr lang="en-US" sz="2800" dirty="0">
                <a:solidFill>
                  <a:schemeClr val="bg1"/>
                </a:solidFill>
              </a:rPr>
              <a:t> – Loading the Gene Ontology Collection</a:t>
            </a:r>
          </a:p>
        </p:txBody>
      </p:sp>
      <p:sp>
        <p:nvSpPr>
          <p:cNvPr id="4" name="TextBox 3">
            <a:extLst>
              <a:ext uri="{FF2B5EF4-FFF2-40B4-BE49-F238E27FC236}">
                <a16:creationId xmlns:a16="http://schemas.microsoft.com/office/drawing/2014/main" id="{23B5AA28-ED11-4F74-571F-F0BBC981B4C1}"/>
              </a:ext>
            </a:extLst>
          </p:cNvPr>
          <p:cNvSpPr txBox="1"/>
          <p:nvPr/>
        </p:nvSpPr>
        <p:spPr>
          <a:xfrm>
            <a:off x="695325" y="3212976"/>
            <a:ext cx="9816752" cy="369332"/>
          </a:xfrm>
          <a:prstGeom prst="rect">
            <a:avLst/>
          </a:prstGeom>
          <a:noFill/>
        </p:spPr>
        <p:txBody>
          <a:bodyPr wrap="square">
            <a:spAutoFit/>
          </a:bodyPr>
          <a:lstStyle/>
          <a:p>
            <a:r>
              <a:rPr lang="en-US" dirty="0" err="1"/>
              <a:t>gmt.file</a:t>
            </a:r>
            <a:r>
              <a:rPr lang="en-US" dirty="0"/>
              <a:t> &lt;- </a:t>
            </a:r>
            <a:r>
              <a:rPr lang="en-US" dirty="0" err="1"/>
              <a:t>read.gmt</a:t>
            </a:r>
            <a:r>
              <a:rPr lang="en-US" dirty="0"/>
              <a:t>("/Documents/</a:t>
            </a:r>
            <a:r>
              <a:rPr lang="en-US" dirty="0" err="1"/>
              <a:t>Bix_related_BCI</a:t>
            </a:r>
            <a:r>
              <a:rPr lang="en-US" dirty="0"/>
              <a:t>/</a:t>
            </a:r>
            <a:r>
              <a:rPr lang="en-US" dirty="0" err="1"/>
              <a:t>gsea</a:t>
            </a:r>
            <a:r>
              <a:rPr lang="en-US" dirty="0"/>
              <a:t>/c5.go.bp.v7.4.symbols.gmt")</a:t>
            </a:r>
          </a:p>
        </p:txBody>
      </p:sp>
      <p:sp>
        <p:nvSpPr>
          <p:cNvPr id="5" name="TextBox 4">
            <a:extLst>
              <a:ext uri="{FF2B5EF4-FFF2-40B4-BE49-F238E27FC236}">
                <a16:creationId xmlns:a16="http://schemas.microsoft.com/office/drawing/2014/main" id="{70EA0F78-C92F-8314-092F-0390651A1A04}"/>
              </a:ext>
            </a:extLst>
          </p:cNvPr>
          <p:cNvSpPr txBox="1"/>
          <p:nvPr/>
        </p:nvSpPr>
        <p:spPr>
          <a:xfrm>
            <a:off x="695325" y="1988840"/>
            <a:ext cx="10680848" cy="923330"/>
          </a:xfrm>
          <a:prstGeom prst="rect">
            <a:avLst/>
          </a:prstGeom>
          <a:noFill/>
        </p:spPr>
        <p:txBody>
          <a:bodyPr wrap="square" rtlCol="0">
            <a:spAutoFit/>
          </a:bodyPr>
          <a:lstStyle/>
          <a:p>
            <a:r>
              <a:rPr lang="en-US" dirty="0"/>
              <a:t>Firstly, you need to download the </a:t>
            </a:r>
            <a:r>
              <a:rPr lang="en-US" dirty="0" err="1"/>
              <a:t>gmt</a:t>
            </a:r>
            <a:r>
              <a:rPr lang="en-US" dirty="0"/>
              <a:t> file for the collection of your interest from </a:t>
            </a:r>
            <a:r>
              <a:rPr lang="en-US" dirty="0" err="1"/>
              <a:t>MSigDB</a:t>
            </a:r>
            <a:r>
              <a:rPr lang="en-US" dirty="0"/>
              <a:t>, I use the versions of Gene Symbol (</a:t>
            </a:r>
            <a:r>
              <a:rPr lang="en-US" dirty="0">
                <a:hlinkClick r:id="rId2"/>
              </a:rPr>
              <a:t>https://www.gsea-msigdb.org/gsea/msigdb/human/collections.jsp#H</a:t>
            </a:r>
            <a:r>
              <a:rPr lang="en-US" dirty="0"/>
              <a:t> ) and have already downloaded it for you. So, let’s read it in R.</a:t>
            </a:r>
          </a:p>
        </p:txBody>
      </p:sp>
      <p:sp>
        <p:nvSpPr>
          <p:cNvPr id="6" name="Rounded Rectangle 5">
            <a:extLst>
              <a:ext uri="{FF2B5EF4-FFF2-40B4-BE49-F238E27FC236}">
                <a16:creationId xmlns:a16="http://schemas.microsoft.com/office/drawing/2014/main" id="{94DE6F9E-7F9D-DBD1-D0C5-8E130FA3EE78}"/>
              </a:ext>
            </a:extLst>
          </p:cNvPr>
          <p:cNvSpPr/>
          <p:nvPr/>
        </p:nvSpPr>
        <p:spPr>
          <a:xfrm>
            <a:off x="695325" y="3212976"/>
            <a:ext cx="8280920" cy="502315"/>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61729068-852F-2F01-F788-5EDCBA6062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405" y="4155655"/>
            <a:ext cx="9509415" cy="1656184"/>
          </a:xfrm>
          <a:prstGeom prst="rect">
            <a:avLst/>
          </a:prstGeom>
        </p:spPr>
      </p:pic>
      <p:sp>
        <p:nvSpPr>
          <p:cNvPr id="8" name="Rounded Rectangle 7">
            <a:extLst>
              <a:ext uri="{FF2B5EF4-FFF2-40B4-BE49-F238E27FC236}">
                <a16:creationId xmlns:a16="http://schemas.microsoft.com/office/drawing/2014/main" id="{25A032ED-0C45-9166-D40C-5CF91AE1CEB6}"/>
              </a:ext>
            </a:extLst>
          </p:cNvPr>
          <p:cNvSpPr/>
          <p:nvPr/>
        </p:nvSpPr>
        <p:spPr>
          <a:xfrm>
            <a:off x="839416" y="4155655"/>
            <a:ext cx="9509414" cy="1721617"/>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9602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0DBDBF4-4102-71C4-021D-BBF7571567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332" y="5722249"/>
            <a:ext cx="4991100" cy="635000"/>
          </a:xfrm>
          <a:prstGeom prst="rect">
            <a:avLst/>
          </a:prstGeom>
        </p:spPr>
      </p:pic>
      <p:sp>
        <p:nvSpPr>
          <p:cNvPr id="2" name="Title 1">
            <a:extLst>
              <a:ext uri="{FF2B5EF4-FFF2-40B4-BE49-F238E27FC236}">
                <a16:creationId xmlns:a16="http://schemas.microsoft.com/office/drawing/2014/main" id="{095FE155-6C1A-3D81-151C-FDC544882AFA}"/>
              </a:ext>
            </a:extLst>
          </p:cNvPr>
          <p:cNvSpPr txBox="1">
            <a:spLocks/>
          </p:cNvSpPr>
          <p:nvPr/>
        </p:nvSpPr>
        <p:spPr>
          <a:xfrm>
            <a:off x="623392" y="476672"/>
            <a:ext cx="1144927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Pre-ranked GSEA with R package </a:t>
            </a:r>
            <a:r>
              <a:rPr lang="en-US" sz="2800" dirty="0" err="1">
                <a:solidFill>
                  <a:schemeClr val="bg1"/>
                </a:solidFill>
              </a:rPr>
              <a:t>fgsea</a:t>
            </a:r>
            <a:r>
              <a:rPr lang="en-US" sz="2800" dirty="0">
                <a:solidFill>
                  <a:schemeClr val="bg1"/>
                </a:solidFill>
              </a:rPr>
              <a:t> – Ranking our gene list</a:t>
            </a:r>
          </a:p>
        </p:txBody>
      </p:sp>
      <p:sp>
        <p:nvSpPr>
          <p:cNvPr id="3" name="TextBox 2">
            <a:extLst>
              <a:ext uri="{FF2B5EF4-FFF2-40B4-BE49-F238E27FC236}">
                <a16:creationId xmlns:a16="http://schemas.microsoft.com/office/drawing/2014/main" id="{A363BC62-04E5-7239-B2C3-F6D2A42C102B}"/>
              </a:ext>
            </a:extLst>
          </p:cNvPr>
          <p:cNvSpPr txBox="1"/>
          <p:nvPr/>
        </p:nvSpPr>
        <p:spPr>
          <a:xfrm>
            <a:off x="695325" y="1753262"/>
            <a:ext cx="10680848" cy="646331"/>
          </a:xfrm>
          <a:prstGeom prst="rect">
            <a:avLst/>
          </a:prstGeom>
          <a:noFill/>
        </p:spPr>
        <p:txBody>
          <a:bodyPr wrap="square" rtlCol="0">
            <a:spAutoFit/>
          </a:bodyPr>
          <a:lstStyle/>
          <a:p>
            <a:r>
              <a:rPr lang="en-US" dirty="0"/>
              <a:t>Now we need to rank our DE results by </a:t>
            </a:r>
            <a:r>
              <a:rPr lang="en-US" dirty="0" err="1"/>
              <a:t>decresing</a:t>
            </a:r>
            <a:r>
              <a:rPr lang="en-US" dirty="0"/>
              <a:t> Log2 Fold-change and then we need to create a named vector of the log2 fold changes with the names being the gene symbols.</a:t>
            </a:r>
          </a:p>
        </p:txBody>
      </p:sp>
      <p:sp>
        <p:nvSpPr>
          <p:cNvPr id="5" name="TextBox 4">
            <a:extLst>
              <a:ext uri="{FF2B5EF4-FFF2-40B4-BE49-F238E27FC236}">
                <a16:creationId xmlns:a16="http://schemas.microsoft.com/office/drawing/2014/main" id="{A40176C1-3D09-EBE7-51E9-BDCDD6EBE221}"/>
              </a:ext>
            </a:extLst>
          </p:cNvPr>
          <p:cNvSpPr txBox="1"/>
          <p:nvPr/>
        </p:nvSpPr>
        <p:spPr>
          <a:xfrm>
            <a:off x="797670" y="2752853"/>
            <a:ext cx="8096692" cy="923330"/>
          </a:xfrm>
          <a:prstGeom prst="rect">
            <a:avLst/>
          </a:prstGeom>
          <a:noFill/>
        </p:spPr>
        <p:txBody>
          <a:bodyPr wrap="square">
            <a:spAutoFit/>
          </a:bodyPr>
          <a:lstStyle/>
          <a:p>
            <a:r>
              <a:rPr lang="en-US" dirty="0" err="1"/>
              <a:t>DE.res.ranked</a:t>
            </a:r>
            <a:r>
              <a:rPr lang="en-US" dirty="0"/>
              <a:t> &lt;- </a:t>
            </a:r>
            <a:r>
              <a:rPr lang="en-US" dirty="0" err="1"/>
              <a:t>DE.res</a:t>
            </a:r>
            <a:r>
              <a:rPr lang="en-US" dirty="0"/>
              <a:t>[order(DE.res$log2FoldChange, decreasing = T), ]</a:t>
            </a:r>
          </a:p>
          <a:p>
            <a:endParaRPr lang="en-US" dirty="0"/>
          </a:p>
          <a:p>
            <a:r>
              <a:rPr lang="en-US" dirty="0" err="1"/>
              <a:t>DE.ranks</a:t>
            </a:r>
            <a:r>
              <a:rPr lang="en-US" dirty="0"/>
              <a:t> &lt;- </a:t>
            </a:r>
            <a:r>
              <a:rPr lang="en-US" dirty="0" err="1"/>
              <a:t>setNames</a:t>
            </a:r>
            <a:r>
              <a:rPr lang="en-US" dirty="0"/>
              <a:t>(DE.res.ranked$log2FoldChange, </a:t>
            </a:r>
            <a:r>
              <a:rPr lang="en-US" dirty="0" err="1"/>
              <a:t>DE.res.ranked$gene.symbol</a:t>
            </a:r>
            <a:r>
              <a:rPr lang="en-US" dirty="0"/>
              <a:t>)</a:t>
            </a:r>
          </a:p>
        </p:txBody>
      </p:sp>
      <p:sp>
        <p:nvSpPr>
          <p:cNvPr id="6" name="Rounded Rectangle 5">
            <a:extLst>
              <a:ext uri="{FF2B5EF4-FFF2-40B4-BE49-F238E27FC236}">
                <a16:creationId xmlns:a16="http://schemas.microsoft.com/office/drawing/2014/main" id="{ADA1F488-FA58-47B3-EFC0-327094775687}"/>
              </a:ext>
            </a:extLst>
          </p:cNvPr>
          <p:cNvSpPr/>
          <p:nvPr/>
        </p:nvSpPr>
        <p:spPr>
          <a:xfrm>
            <a:off x="829391" y="2752853"/>
            <a:ext cx="7848947" cy="923330"/>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477C4C5D-560F-FB92-E38E-33E623A40D26}"/>
              </a:ext>
            </a:extLst>
          </p:cNvPr>
          <p:cNvSpPr/>
          <p:nvPr/>
        </p:nvSpPr>
        <p:spPr>
          <a:xfrm>
            <a:off x="1909586" y="5708228"/>
            <a:ext cx="5328592" cy="673100"/>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F752AF42-17BC-50EB-292F-954F0E4403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722" y="3994217"/>
            <a:ext cx="7772400" cy="1407786"/>
          </a:xfrm>
          <a:prstGeom prst="rect">
            <a:avLst/>
          </a:prstGeom>
        </p:spPr>
      </p:pic>
      <p:sp>
        <p:nvSpPr>
          <p:cNvPr id="10" name="Rounded Rectangle 9">
            <a:extLst>
              <a:ext uri="{FF2B5EF4-FFF2-40B4-BE49-F238E27FC236}">
                <a16:creationId xmlns:a16="http://schemas.microsoft.com/office/drawing/2014/main" id="{EE0AA64F-5572-89FA-E87A-779B1BD47E7F}"/>
              </a:ext>
            </a:extLst>
          </p:cNvPr>
          <p:cNvSpPr/>
          <p:nvPr/>
        </p:nvSpPr>
        <p:spPr>
          <a:xfrm>
            <a:off x="677986" y="3950997"/>
            <a:ext cx="8439872" cy="1494227"/>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24955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3DE5A-E7C3-C97E-CF40-7017177F0849}"/>
              </a:ext>
            </a:extLst>
          </p:cNvPr>
          <p:cNvSpPr txBox="1">
            <a:spLocks/>
          </p:cNvSpPr>
          <p:nvPr/>
        </p:nvSpPr>
        <p:spPr>
          <a:xfrm>
            <a:off x="623392" y="476672"/>
            <a:ext cx="1144927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Pre-ranked GSEA with R package </a:t>
            </a:r>
            <a:r>
              <a:rPr lang="en-US" sz="2800" dirty="0" err="1">
                <a:solidFill>
                  <a:schemeClr val="bg1"/>
                </a:solidFill>
              </a:rPr>
              <a:t>fgsea</a:t>
            </a:r>
            <a:r>
              <a:rPr lang="en-US" sz="2800" dirty="0">
                <a:solidFill>
                  <a:schemeClr val="bg1"/>
                </a:solidFill>
              </a:rPr>
              <a:t> – Running the </a:t>
            </a:r>
            <a:r>
              <a:rPr lang="en-US" sz="2800" dirty="0" err="1">
                <a:solidFill>
                  <a:schemeClr val="bg1"/>
                </a:solidFill>
              </a:rPr>
              <a:t>fgsea</a:t>
            </a:r>
            <a:r>
              <a:rPr lang="en-US" sz="2800" dirty="0">
                <a:solidFill>
                  <a:schemeClr val="bg1"/>
                </a:solidFill>
              </a:rPr>
              <a:t> function</a:t>
            </a:r>
          </a:p>
        </p:txBody>
      </p:sp>
      <p:sp>
        <p:nvSpPr>
          <p:cNvPr id="4" name="TextBox 3">
            <a:extLst>
              <a:ext uri="{FF2B5EF4-FFF2-40B4-BE49-F238E27FC236}">
                <a16:creationId xmlns:a16="http://schemas.microsoft.com/office/drawing/2014/main" id="{806675DB-D89C-5D1D-88BF-AAB8439157B7}"/>
              </a:ext>
            </a:extLst>
          </p:cNvPr>
          <p:cNvSpPr txBox="1"/>
          <p:nvPr/>
        </p:nvSpPr>
        <p:spPr>
          <a:xfrm>
            <a:off x="911424" y="2564904"/>
            <a:ext cx="6096000" cy="646331"/>
          </a:xfrm>
          <a:prstGeom prst="rect">
            <a:avLst/>
          </a:prstGeom>
          <a:noFill/>
        </p:spPr>
        <p:txBody>
          <a:bodyPr wrap="square">
            <a:spAutoFit/>
          </a:bodyPr>
          <a:lstStyle/>
          <a:p>
            <a:r>
              <a:rPr lang="en-US" dirty="0" err="1"/>
              <a:t>fgseaRes</a:t>
            </a:r>
            <a:r>
              <a:rPr lang="en-US" dirty="0"/>
              <a:t> &lt;- </a:t>
            </a:r>
            <a:r>
              <a:rPr lang="en-US" dirty="0" err="1"/>
              <a:t>fgsea</a:t>
            </a:r>
            <a:r>
              <a:rPr lang="en-US" dirty="0"/>
              <a:t>(</a:t>
            </a:r>
            <a:r>
              <a:rPr lang="en-US" dirty="0" err="1"/>
              <a:t>gmt.file</a:t>
            </a:r>
            <a:r>
              <a:rPr lang="en-US" dirty="0"/>
              <a:t>, </a:t>
            </a:r>
            <a:r>
              <a:rPr lang="en-US" dirty="0" err="1"/>
              <a:t>DE.ranks</a:t>
            </a:r>
            <a:r>
              <a:rPr lang="en-US" dirty="0"/>
              <a:t>, </a:t>
            </a:r>
            <a:r>
              <a:rPr lang="en-US" dirty="0" err="1"/>
              <a:t>minSize</a:t>
            </a:r>
            <a:r>
              <a:rPr lang="en-US" dirty="0"/>
              <a:t>=15, </a:t>
            </a:r>
            <a:r>
              <a:rPr lang="en-US" dirty="0" err="1"/>
              <a:t>maxSize</a:t>
            </a:r>
            <a:r>
              <a:rPr lang="en-US" dirty="0"/>
              <a:t>=500)</a:t>
            </a:r>
          </a:p>
          <a:p>
            <a:r>
              <a:rPr lang="en-US" dirty="0"/>
              <a:t>head(</a:t>
            </a:r>
            <a:r>
              <a:rPr lang="en-US" dirty="0" err="1"/>
              <a:t>fgseaRes</a:t>
            </a:r>
            <a:r>
              <a:rPr lang="en-US" dirty="0"/>
              <a:t>)</a:t>
            </a:r>
          </a:p>
        </p:txBody>
      </p:sp>
      <p:sp>
        <p:nvSpPr>
          <p:cNvPr id="5" name="TextBox 4">
            <a:extLst>
              <a:ext uri="{FF2B5EF4-FFF2-40B4-BE49-F238E27FC236}">
                <a16:creationId xmlns:a16="http://schemas.microsoft.com/office/drawing/2014/main" id="{76542626-5F84-EFE0-8ABD-0E65412CABDA}"/>
              </a:ext>
            </a:extLst>
          </p:cNvPr>
          <p:cNvSpPr txBox="1"/>
          <p:nvPr/>
        </p:nvSpPr>
        <p:spPr>
          <a:xfrm>
            <a:off x="623392" y="1537238"/>
            <a:ext cx="10680848" cy="369332"/>
          </a:xfrm>
          <a:prstGeom prst="rect">
            <a:avLst/>
          </a:prstGeom>
          <a:noFill/>
        </p:spPr>
        <p:txBody>
          <a:bodyPr wrap="square" rtlCol="0">
            <a:spAutoFit/>
          </a:bodyPr>
          <a:lstStyle/>
          <a:p>
            <a:r>
              <a:rPr lang="en-US" dirty="0"/>
              <a:t>Here we run </a:t>
            </a:r>
            <a:r>
              <a:rPr lang="en-US" dirty="0" err="1"/>
              <a:t>fgsea</a:t>
            </a:r>
            <a:r>
              <a:rPr lang="en-US" dirty="0"/>
              <a:t> using as input the </a:t>
            </a:r>
            <a:r>
              <a:rPr lang="en-US" dirty="0" err="1"/>
              <a:t>gmt</a:t>
            </a:r>
            <a:r>
              <a:rPr lang="en-US" dirty="0"/>
              <a:t> file and the </a:t>
            </a:r>
            <a:r>
              <a:rPr lang="en-US" dirty="0" err="1"/>
              <a:t>DE.ranks</a:t>
            </a:r>
            <a:r>
              <a:rPr lang="en-US" dirty="0"/>
              <a:t> that we created in the previous two steps.</a:t>
            </a:r>
          </a:p>
        </p:txBody>
      </p:sp>
      <p:sp>
        <p:nvSpPr>
          <p:cNvPr id="6" name="TextBox 5">
            <a:extLst>
              <a:ext uri="{FF2B5EF4-FFF2-40B4-BE49-F238E27FC236}">
                <a16:creationId xmlns:a16="http://schemas.microsoft.com/office/drawing/2014/main" id="{A5BE9A78-5AB2-8AD4-196B-7B537AB17A64}"/>
              </a:ext>
            </a:extLst>
          </p:cNvPr>
          <p:cNvSpPr txBox="1"/>
          <p:nvPr/>
        </p:nvSpPr>
        <p:spPr>
          <a:xfrm>
            <a:off x="695325" y="5237900"/>
            <a:ext cx="10680848" cy="369332"/>
          </a:xfrm>
          <a:prstGeom prst="rect">
            <a:avLst/>
          </a:prstGeom>
          <a:noFill/>
        </p:spPr>
        <p:txBody>
          <a:bodyPr wrap="square" rtlCol="0">
            <a:spAutoFit/>
          </a:bodyPr>
          <a:lstStyle/>
          <a:p>
            <a:r>
              <a:rPr lang="en-US" dirty="0"/>
              <a:t>Also let’s write the results into a file</a:t>
            </a:r>
          </a:p>
        </p:txBody>
      </p:sp>
      <p:sp>
        <p:nvSpPr>
          <p:cNvPr id="8" name="TextBox 7">
            <a:extLst>
              <a:ext uri="{FF2B5EF4-FFF2-40B4-BE49-F238E27FC236}">
                <a16:creationId xmlns:a16="http://schemas.microsoft.com/office/drawing/2014/main" id="{FBFBF6B4-FC29-D551-EFD5-3FF8917B3B33}"/>
              </a:ext>
            </a:extLst>
          </p:cNvPr>
          <p:cNvSpPr txBox="1"/>
          <p:nvPr/>
        </p:nvSpPr>
        <p:spPr>
          <a:xfrm>
            <a:off x="713653" y="5665401"/>
            <a:ext cx="11154744" cy="646331"/>
          </a:xfrm>
          <a:prstGeom prst="rect">
            <a:avLst/>
          </a:prstGeom>
          <a:noFill/>
        </p:spPr>
        <p:txBody>
          <a:bodyPr wrap="square">
            <a:spAutoFit/>
          </a:bodyPr>
          <a:lstStyle/>
          <a:p>
            <a:r>
              <a:rPr lang="en-US" dirty="0" err="1"/>
              <a:t>fwrite</a:t>
            </a:r>
            <a:r>
              <a:rPr lang="en-US" dirty="0"/>
              <a:t>(</a:t>
            </a:r>
            <a:r>
              <a:rPr lang="en-US" dirty="0" err="1"/>
              <a:t>fgseaRes</a:t>
            </a:r>
            <a:r>
              <a:rPr lang="en-US" dirty="0"/>
              <a:t>, file = "/Documents/</a:t>
            </a:r>
            <a:r>
              <a:rPr lang="en-US" dirty="0" err="1"/>
              <a:t>RNASeq_practical</a:t>
            </a:r>
            <a:r>
              <a:rPr lang="en-US" dirty="0"/>
              <a:t>/</a:t>
            </a:r>
            <a:r>
              <a:rPr lang="en-US" dirty="0" err="1"/>
              <a:t>PrerankedGSEA_gobp_sensitiveVSresistant.txt</a:t>
            </a:r>
            <a:r>
              <a:rPr lang="en-US" dirty="0"/>
              <a:t>", </a:t>
            </a:r>
            <a:r>
              <a:rPr lang="en-US" dirty="0" err="1"/>
              <a:t>sep</a:t>
            </a:r>
            <a:r>
              <a:rPr lang="en-US" dirty="0"/>
              <a:t> = "\t", sep2=c("", " ", ""))</a:t>
            </a:r>
          </a:p>
        </p:txBody>
      </p:sp>
      <p:sp>
        <p:nvSpPr>
          <p:cNvPr id="9" name="Rounded Rectangle 8">
            <a:extLst>
              <a:ext uri="{FF2B5EF4-FFF2-40B4-BE49-F238E27FC236}">
                <a16:creationId xmlns:a16="http://schemas.microsoft.com/office/drawing/2014/main" id="{64132959-B4D9-F917-25E6-121D490806C7}"/>
              </a:ext>
            </a:extLst>
          </p:cNvPr>
          <p:cNvSpPr/>
          <p:nvPr/>
        </p:nvSpPr>
        <p:spPr>
          <a:xfrm>
            <a:off x="886527" y="2564904"/>
            <a:ext cx="6120898" cy="646331"/>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1E72091D-7DEB-B175-3727-EEB25114E76C}"/>
              </a:ext>
            </a:extLst>
          </p:cNvPr>
          <p:cNvSpPr/>
          <p:nvPr/>
        </p:nvSpPr>
        <p:spPr>
          <a:xfrm>
            <a:off x="695325" y="5654495"/>
            <a:ext cx="10813032" cy="646331"/>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Up Arrow 12">
            <a:extLst>
              <a:ext uri="{FF2B5EF4-FFF2-40B4-BE49-F238E27FC236}">
                <a16:creationId xmlns:a16="http://schemas.microsoft.com/office/drawing/2014/main" id="{BA3B6AF8-626D-445A-6156-3A79DFC75153}"/>
              </a:ext>
            </a:extLst>
          </p:cNvPr>
          <p:cNvSpPr/>
          <p:nvPr/>
        </p:nvSpPr>
        <p:spPr>
          <a:xfrm>
            <a:off x="3287688" y="4539513"/>
            <a:ext cx="288032" cy="336271"/>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Up Arrow 13">
            <a:extLst>
              <a:ext uri="{FF2B5EF4-FFF2-40B4-BE49-F238E27FC236}">
                <a16:creationId xmlns:a16="http://schemas.microsoft.com/office/drawing/2014/main" id="{01A8F93D-DDCB-E7FD-D0D2-B11F0801DCD9}"/>
              </a:ext>
            </a:extLst>
          </p:cNvPr>
          <p:cNvSpPr/>
          <p:nvPr/>
        </p:nvSpPr>
        <p:spPr>
          <a:xfrm>
            <a:off x="5303912" y="4539513"/>
            <a:ext cx="288032" cy="336271"/>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4">
            <a:extLst>
              <a:ext uri="{FF2B5EF4-FFF2-40B4-BE49-F238E27FC236}">
                <a16:creationId xmlns:a16="http://schemas.microsoft.com/office/drawing/2014/main" id="{A7753BEC-F637-9367-AD44-FBC46525CF8F}"/>
              </a:ext>
            </a:extLst>
          </p:cNvPr>
          <p:cNvSpPr/>
          <p:nvPr/>
        </p:nvSpPr>
        <p:spPr>
          <a:xfrm>
            <a:off x="7536160" y="4539513"/>
            <a:ext cx="288032" cy="336271"/>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1C96FAF-A114-4D69-FE16-26ACD92E320B}"/>
              </a:ext>
            </a:extLst>
          </p:cNvPr>
          <p:cNvSpPr txBox="1"/>
          <p:nvPr/>
        </p:nvSpPr>
        <p:spPr>
          <a:xfrm>
            <a:off x="6888090" y="4844937"/>
            <a:ext cx="3816424" cy="369332"/>
          </a:xfrm>
          <a:prstGeom prst="rect">
            <a:avLst/>
          </a:prstGeom>
          <a:noFill/>
        </p:spPr>
        <p:txBody>
          <a:bodyPr wrap="square" rtlCol="0">
            <a:spAutoFit/>
          </a:bodyPr>
          <a:lstStyle/>
          <a:p>
            <a:r>
              <a:rPr lang="en-US" dirty="0" err="1"/>
              <a:t>Normalised</a:t>
            </a:r>
            <a:r>
              <a:rPr lang="en-US" dirty="0"/>
              <a:t> Enrichment Score (NES)</a:t>
            </a:r>
          </a:p>
        </p:txBody>
      </p:sp>
      <p:sp>
        <p:nvSpPr>
          <p:cNvPr id="18" name="TextBox 17">
            <a:extLst>
              <a:ext uri="{FF2B5EF4-FFF2-40B4-BE49-F238E27FC236}">
                <a16:creationId xmlns:a16="http://schemas.microsoft.com/office/drawing/2014/main" id="{6345E2D2-927E-0DB6-4A96-1A6D329487B8}"/>
              </a:ext>
            </a:extLst>
          </p:cNvPr>
          <p:cNvSpPr txBox="1"/>
          <p:nvPr/>
        </p:nvSpPr>
        <p:spPr>
          <a:xfrm>
            <a:off x="4321439" y="4868568"/>
            <a:ext cx="1984721" cy="369332"/>
          </a:xfrm>
          <a:prstGeom prst="rect">
            <a:avLst/>
          </a:prstGeom>
          <a:noFill/>
        </p:spPr>
        <p:txBody>
          <a:bodyPr wrap="square" rtlCol="0">
            <a:spAutoFit/>
          </a:bodyPr>
          <a:lstStyle/>
          <a:p>
            <a:r>
              <a:rPr lang="en-US" dirty="0"/>
              <a:t>Adjusted p-value</a:t>
            </a:r>
          </a:p>
        </p:txBody>
      </p:sp>
      <p:sp>
        <p:nvSpPr>
          <p:cNvPr id="19" name="TextBox 18">
            <a:extLst>
              <a:ext uri="{FF2B5EF4-FFF2-40B4-BE49-F238E27FC236}">
                <a16:creationId xmlns:a16="http://schemas.microsoft.com/office/drawing/2014/main" id="{4D87C1FB-F89D-E48A-DFDB-5F790021B73E}"/>
              </a:ext>
            </a:extLst>
          </p:cNvPr>
          <p:cNvSpPr txBox="1"/>
          <p:nvPr/>
        </p:nvSpPr>
        <p:spPr>
          <a:xfrm>
            <a:off x="2536990" y="4879275"/>
            <a:ext cx="1984721" cy="369332"/>
          </a:xfrm>
          <a:prstGeom prst="rect">
            <a:avLst/>
          </a:prstGeom>
          <a:noFill/>
        </p:spPr>
        <p:txBody>
          <a:bodyPr wrap="square" rtlCol="0">
            <a:spAutoFit/>
          </a:bodyPr>
          <a:lstStyle/>
          <a:p>
            <a:r>
              <a:rPr lang="en-US" dirty="0"/>
              <a:t>Pathway name</a:t>
            </a:r>
          </a:p>
        </p:txBody>
      </p:sp>
      <p:pic>
        <p:nvPicPr>
          <p:cNvPr id="7" name="Picture 6">
            <a:extLst>
              <a:ext uri="{FF2B5EF4-FFF2-40B4-BE49-F238E27FC236}">
                <a16:creationId xmlns:a16="http://schemas.microsoft.com/office/drawing/2014/main" id="{3516C1E7-CB3C-AEC7-7C78-50F90BDF7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410" y="3359659"/>
            <a:ext cx="10224452" cy="1049873"/>
          </a:xfrm>
          <a:prstGeom prst="rect">
            <a:avLst/>
          </a:prstGeom>
        </p:spPr>
      </p:pic>
      <p:sp>
        <p:nvSpPr>
          <p:cNvPr id="20" name="Rounded Rectangle 19">
            <a:extLst>
              <a:ext uri="{FF2B5EF4-FFF2-40B4-BE49-F238E27FC236}">
                <a16:creationId xmlns:a16="http://schemas.microsoft.com/office/drawing/2014/main" id="{C2DE6C31-EF84-FB68-3F2F-01196D2B9BED}"/>
              </a:ext>
            </a:extLst>
          </p:cNvPr>
          <p:cNvSpPr/>
          <p:nvPr/>
        </p:nvSpPr>
        <p:spPr>
          <a:xfrm>
            <a:off x="530916" y="3279334"/>
            <a:ext cx="10977440" cy="1193606"/>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21575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A1D6055-76C7-0F3C-E931-C0B1EA58E5B2}"/>
              </a:ext>
            </a:extLst>
          </p:cNvPr>
          <p:cNvSpPr txBox="1"/>
          <p:nvPr/>
        </p:nvSpPr>
        <p:spPr>
          <a:xfrm>
            <a:off x="623392" y="5429914"/>
            <a:ext cx="8915727" cy="646331"/>
          </a:xfrm>
          <a:prstGeom prst="rect">
            <a:avLst/>
          </a:prstGeom>
          <a:noFill/>
        </p:spPr>
        <p:txBody>
          <a:bodyPr wrap="square">
            <a:spAutoFit/>
          </a:bodyPr>
          <a:lstStyle/>
          <a:p>
            <a:r>
              <a:rPr lang="en-US" dirty="0"/>
              <a:t>EnPlot2 &lt;- </a:t>
            </a:r>
            <a:r>
              <a:rPr lang="en-US" dirty="0" err="1"/>
              <a:t>plotEnrichment</a:t>
            </a:r>
            <a:r>
              <a:rPr lang="en-US" dirty="0"/>
              <a:t>(</a:t>
            </a:r>
            <a:r>
              <a:rPr lang="en-US" dirty="0" err="1"/>
              <a:t>gmt.file</a:t>
            </a:r>
            <a:r>
              <a:rPr lang="en-US" dirty="0"/>
              <a:t>[["GOBP_DEFENSE_RESPONSE_TO_VIRUS"]],</a:t>
            </a:r>
            <a:r>
              <a:rPr lang="en-US" dirty="0" err="1"/>
              <a:t>DE.ranks</a:t>
            </a:r>
            <a:r>
              <a:rPr lang="en-US" dirty="0"/>
              <a:t>) + labs(title="GOBP_DEFENSE_RESPONSE_TO_VIRUS") + theme(text = </a:t>
            </a:r>
            <a:r>
              <a:rPr lang="en-US" dirty="0" err="1"/>
              <a:t>element_text</a:t>
            </a:r>
            <a:r>
              <a:rPr lang="en-US" dirty="0"/>
              <a:t>(size=20))</a:t>
            </a:r>
          </a:p>
        </p:txBody>
      </p:sp>
      <p:sp>
        <p:nvSpPr>
          <p:cNvPr id="3" name="TextBox 2">
            <a:extLst>
              <a:ext uri="{FF2B5EF4-FFF2-40B4-BE49-F238E27FC236}">
                <a16:creationId xmlns:a16="http://schemas.microsoft.com/office/drawing/2014/main" id="{F0C9E7A5-6F80-3795-E299-13A14E730876}"/>
              </a:ext>
            </a:extLst>
          </p:cNvPr>
          <p:cNvSpPr txBox="1"/>
          <p:nvPr/>
        </p:nvSpPr>
        <p:spPr>
          <a:xfrm>
            <a:off x="671228" y="4743112"/>
            <a:ext cx="10585176" cy="646331"/>
          </a:xfrm>
          <a:prstGeom prst="rect">
            <a:avLst/>
          </a:prstGeom>
          <a:noFill/>
        </p:spPr>
        <p:txBody>
          <a:bodyPr wrap="square">
            <a:spAutoFit/>
          </a:bodyPr>
          <a:lstStyle/>
          <a:p>
            <a:r>
              <a:rPr lang="en-US" dirty="0" err="1"/>
              <a:t>EnPlot</a:t>
            </a:r>
            <a:r>
              <a:rPr lang="en-US" dirty="0"/>
              <a:t> &lt;- </a:t>
            </a:r>
            <a:r>
              <a:rPr lang="en-US" dirty="0" err="1"/>
              <a:t>plotEnrichment</a:t>
            </a:r>
            <a:r>
              <a:rPr lang="en-US" dirty="0"/>
              <a:t>(</a:t>
            </a:r>
            <a:r>
              <a:rPr lang="en-US" dirty="0" err="1"/>
              <a:t>gmt.file</a:t>
            </a:r>
            <a:r>
              <a:rPr lang="en-US" dirty="0"/>
              <a:t>[["GOBP_EPITHELIUM_DEVELOPMENT"]],</a:t>
            </a:r>
            <a:r>
              <a:rPr lang="en-US" dirty="0" err="1"/>
              <a:t>DE.ranks</a:t>
            </a:r>
            <a:r>
              <a:rPr lang="en-US" dirty="0"/>
              <a:t>) + labs(title="GOBP_EPITHELIUM_DEVELOPMENT") + theme(text = </a:t>
            </a:r>
            <a:r>
              <a:rPr lang="en-US" dirty="0" err="1"/>
              <a:t>element_text</a:t>
            </a:r>
            <a:r>
              <a:rPr lang="en-US" dirty="0"/>
              <a:t>(size=20))</a:t>
            </a:r>
          </a:p>
        </p:txBody>
      </p:sp>
      <p:sp>
        <p:nvSpPr>
          <p:cNvPr id="5" name="TextBox 4">
            <a:extLst>
              <a:ext uri="{FF2B5EF4-FFF2-40B4-BE49-F238E27FC236}">
                <a16:creationId xmlns:a16="http://schemas.microsoft.com/office/drawing/2014/main" id="{706CE2C5-180F-C145-4809-A770E5C2FCC6}"/>
              </a:ext>
            </a:extLst>
          </p:cNvPr>
          <p:cNvSpPr txBox="1"/>
          <p:nvPr/>
        </p:nvSpPr>
        <p:spPr>
          <a:xfrm>
            <a:off x="732384" y="2426795"/>
            <a:ext cx="8929067" cy="369332"/>
          </a:xfrm>
          <a:prstGeom prst="rect">
            <a:avLst/>
          </a:prstGeom>
          <a:noFill/>
        </p:spPr>
        <p:txBody>
          <a:bodyPr wrap="square">
            <a:spAutoFit/>
          </a:bodyPr>
          <a:lstStyle/>
          <a:p>
            <a:r>
              <a:rPr lang="en-US" dirty="0" err="1"/>
              <a:t>topPathways</a:t>
            </a:r>
            <a:r>
              <a:rPr lang="en-US" dirty="0"/>
              <a:t> &lt;- </a:t>
            </a:r>
            <a:r>
              <a:rPr lang="en-US" dirty="0" err="1"/>
              <a:t>fgseaRes</a:t>
            </a:r>
            <a:r>
              <a:rPr lang="en-US" dirty="0"/>
              <a:t>[order(</a:t>
            </a:r>
            <a:r>
              <a:rPr lang="en-US" dirty="0" err="1"/>
              <a:t>padj</a:t>
            </a:r>
            <a:r>
              <a:rPr lang="en-US" dirty="0"/>
              <a:t>)][</a:t>
            </a:r>
            <a:r>
              <a:rPr lang="en-US" dirty="0" err="1"/>
              <a:t>padj</a:t>
            </a:r>
            <a:r>
              <a:rPr lang="en-US" dirty="0"/>
              <a:t> &lt;= 0.05]$pathway</a:t>
            </a:r>
          </a:p>
        </p:txBody>
      </p:sp>
      <p:sp>
        <p:nvSpPr>
          <p:cNvPr id="6" name="Title 1">
            <a:extLst>
              <a:ext uri="{FF2B5EF4-FFF2-40B4-BE49-F238E27FC236}">
                <a16:creationId xmlns:a16="http://schemas.microsoft.com/office/drawing/2014/main" id="{83FF0CA1-6FDB-E238-C6D3-86DCA2458BF6}"/>
              </a:ext>
            </a:extLst>
          </p:cNvPr>
          <p:cNvSpPr txBox="1">
            <a:spLocks/>
          </p:cNvSpPr>
          <p:nvPr/>
        </p:nvSpPr>
        <p:spPr>
          <a:xfrm>
            <a:off x="623392" y="476672"/>
            <a:ext cx="1144927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Pre-ranked GSEA with R package </a:t>
            </a:r>
            <a:r>
              <a:rPr lang="en-US" sz="2800" dirty="0" err="1">
                <a:solidFill>
                  <a:schemeClr val="bg1"/>
                </a:solidFill>
              </a:rPr>
              <a:t>fgsea</a:t>
            </a:r>
            <a:r>
              <a:rPr lang="en-US" sz="2800" dirty="0">
                <a:solidFill>
                  <a:schemeClr val="bg1"/>
                </a:solidFill>
              </a:rPr>
              <a:t> – Enrichment Plot</a:t>
            </a:r>
          </a:p>
        </p:txBody>
      </p:sp>
      <p:sp>
        <p:nvSpPr>
          <p:cNvPr id="7" name="TextBox 6">
            <a:extLst>
              <a:ext uri="{FF2B5EF4-FFF2-40B4-BE49-F238E27FC236}">
                <a16:creationId xmlns:a16="http://schemas.microsoft.com/office/drawing/2014/main" id="{277ED138-07B6-FF8A-9AE2-91E0DD855A62}"/>
              </a:ext>
            </a:extLst>
          </p:cNvPr>
          <p:cNvSpPr txBox="1"/>
          <p:nvPr/>
        </p:nvSpPr>
        <p:spPr>
          <a:xfrm>
            <a:off x="623392" y="1537238"/>
            <a:ext cx="10680848" cy="646331"/>
          </a:xfrm>
          <a:prstGeom prst="rect">
            <a:avLst/>
          </a:prstGeom>
          <a:noFill/>
        </p:spPr>
        <p:txBody>
          <a:bodyPr wrap="square" rtlCol="0">
            <a:spAutoFit/>
          </a:bodyPr>
          <a:lstStyle/>
          <a:p>
            <a:r>
              <a:rPr lang="en-US" dirty="0"/>
              <a:t>Finally, lets look into the significantly enriched pathways and make an enrichment plot for one with a positive enrichment score and one with a negative</a:t>
            </a:r>
          </a:p>
        </p:txBody>
      </p:sp>
      <p:pic>
        <p:nvPicPr>
          <p:cNvPr id="11" name="Picture 10">
            <a:extLst>
              <a:ext uri="{FF2B5EF4-FFF2-40B4-BE49-F238E27FC236}">
                <a16:creationId xmlns:a16="http://schemas.microsoft.com/office/drawing/2014/main" id="{3323DA46-8053-0DA4-9E89-166AF7526E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002" y="2870449"/>
            <a:ext cx="7772400" cy="1610139"/>
          </a:xfrm>
          <a:prstGeom prst="rect">
            <a:avLst/>
          </a:prstGeom>
        </p:spPr>
      </p:pic>
      <p:sp>
        <p:nvSpPr>
          <p:cNvPr id="14" name="TextBox 13">
            <a:extLst>
              <a:ext uri="{FF2B5EF4-FFF2-40B4-BE49-F238E27FC236}">
                <a16:creationId xmlns:a16="http://schemas.microsoft.com/office/drawing/2014/main" id="{C4D86C13-02BF-B004-D78B-B8B469358893}"/>
              </a:ext>
            </a:extLst>
          </p:cNvPr>
          <p:cNvSpPr txBox="1"/>
          <p:nvPr/>
        </p:nvSpPr>
        <p:spPr>
          <a:xfrm>
            <a:off x="3287688" y="6242907"/>
            <a:ext cx="3240360" cy="369332"/>
          </a:xfrm>
          <a:prstGeom prst="rect">
            <a:avLst/>
          </a:prstGeom>
          <a:noFill/>
        </p:spPr>
        <p:txBody>
          <a:bodyPr wrap="square" rtlCol="0">
            <a:spAutoFit/>
          </a:bodyPr>
          <a:lstStyle/>
          <a:p>
            <a:r>
              <a:rPr lang="en-US" dirty="0"/>
              <a:t>Plots on next slide</a:t>
            </a:r>
          </a:p>
        </p:txBody>
      </p:sp>
      <p:sp>
        <p:nvSpPr>
          <p:cNvPr id="15" name="Rounded Rectangle 14">
            <a:extLst>
              <a:ext uri="{FF2B5EF4-FFF2-40B4-BE49-F238E27FC236}">
                <a16:creationId xmlns:a16="http://schemas.microsoft.com/office/drawing/2014/main" id="{19D154DA-FBB5-F52B-1D4A-0E4E3AFB2B45}"/>
              </a:ext>
            </a:extLst>
          </p:cNvPr>
          <p:cNvSpPr/>
          <p:nvPr/>
        </p:nvSpPr>
        <p:spPr>
          <a:xfrm>
            <a:off x="623392" y="2423578"/>
            <a:ext cx="5976664" cy="369333"/>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ounded Rectangle 15">
            <a:extLst>
              <a:ext uri="{FF2B5EF4-FFF2-40B4-BE49-F238E27FC236}">
                <a16:creationId xmlns:a16="http://schemas.microsoft.com/office/drawing/2014/main" id="{637F0693-C5EC-69B4-397E-EF1AD511EF08}"/>
              </a:ext>
            </a:extLst>
          </p:cNvPr>
          <p:cNvSpPr/>
          <p:nvPr/>
        </p:nvSpPr>
        <p:spPr>
          <a:xfrm>
            <a:off x="695325" y="4732599"/>
            <a:ext cx="8284334" cy="646331"/>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ounded Rectangle 16">
            <a:extLst>
              <a:ext uri="{FF2B5EF4-FFF2-40B4-BE49-F238E27FC236}">
                <a16:creationId xmlns:a16="http://schemas.microsoft.com/office/drawing/2014/main" id="{8EE6B812-5F7C-33A6-4179-C6AF0A662CE8}"/>
              </a:ext>
            </a:extLst>
          </p:cNvPr>
          <p:cNvSpPr/>
          <p:nvPr/>
        </p:nvSpPr>
        <p:spPr>
          <a:xfrm>
            <a:off x="684806" y="2862801"/>
            <a:ext cx="7772400" cy="1610139"/>
          </a:xfrm>
          <a:prstGeom prst="roundRect">
            <a:avLst/>
          </a:prstGeom>
          <a:solidFill>
            <a:schemeClr val="bg1">
              <a:lumMod val="65000"/>
              <a:alpha val="17031"/>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ounded Rectangle 1">
            <a:extLst>
              <a:ext uri="{FF2B5EF4-FFF2-40B4-BE49-F238E27FC236}">
                <a16:creationId xmlns:a16="http://schemas.microsoft.com/office/drawing/2014/main" id="{5CCF3802-E305-DDA9-6C91-E5EB779581A3}"/>
              </a:ext>
            </a:extLst>
          </p:cNvPr>
          <p:cNvSpPr/>
          <p:nvPr/>
        </p:nvSpPr>
        <p:spPr>
          <a:xfrm>
            <a:off x="695400" y="5445224"/>
            <a:ext cx="8453921" cy="646331"/>
          </a:xfrm>
          <a:prstGeom prst="roundRect">
            <a:avLst/>
          </a:prstGeom>
          <a:solidFill>
            <a:srgbClr val="FFFF00">
              <a:alpha val="2414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65602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6BE268-9009-8452-EED9-0C76BF59A61D}"/>
              </a:ext>
            </a:extLst>
          </p:cNvPr>
          <p:cNvSpPr txBox="1">
            <a:spLocks/>
          </p:cNvSpPr>
          <p:nvPr/>
        </p:nvSpPr>
        <p:spPr>
          <a:xfrm>
            <a:off x="623392" y="476672"/>
            <a:ext cx="1144927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Pre-ranked GSEA with R package </a:t>
            </a:r>
            <a:r>
              <a:rPr lang="en-US" sz="2800" dirty="0" err="1">
                <a:solidFill>
                  <a:schemeClr val="bg1"/>
                </a:solidFill>
              </a:rPr>
              <a:t>fgsea</a:t>
            </a:r>
            <a:r>
              <a:rPr lang="en-US" sz="2800" dirty="0">
                <a:solidFill>
                  <a:schemeClr val="bg1"/>
                </a:solidFill>
              </a:rPr>
              <a:t> – Enrichment Plot</a:t>
            </a:r>
          </a:p>
        </p:txBody>
      </p:sp>
      <p:sp>
        <p:nvSpPr>
          <p:cNvPr id="6" name="TextBox 5">
            <a:extLst>
              <a:ext uri="{FF2B5EF4-FFF2-40B4-BE49-F238E27FC236}">
                <a16:creationId xmlns:a16="http://schemas.microsoft.com/office/drawing/2014/main" id="{48596A58-59B5-4A1F-0E2D-6AFD10E91D60}"/>
              </a:ext>
            </a:extLst>
          </p:cNvPr>
          <p:cNvSpPr txBox="1"/>
          <p:nvPr/>
        </p:nvSpPr>
        <p:spPr>
          <a:xfrm>
            <a:off x="732984" y="1413548"/>
            <a:ext cx="11089232" cy="369332"/>
          </a:xfrm>
          <a:prstGeom prst="rect">
            <a:avLst/>
          </a:prstGeom>
          <a:noFill/>
        </p:spPr>
        <p:txBody>
          <a:bodyPr wrap="square" rtlCol="0">
            <a:spAutoFit/>
          </a:bodyPr>
          <a:lstStyle/>
          <a:p>
            <a:r>
              <a:rPr lang="en-US" dirty="0"/>
              <a:t>Here we can see the enrichment plots of one upregulated and one downregulated pathway</a:t>
            </a:r>
          </a:p>
        </p:txBody>
      </p:sp>
      <p:pic>
        <p:nvPicPr>
          <p:cNvPr id="5" name="Picture 4">
            <a:extLst>
              <a:ext uri="{FF2B5EF4-FFF2-40B4-BE49-F238E27FC236}">
                <a16:creationId xmlns:a16="http://schemas.microsoft.com/office/drawing/2014/main" id="{39180329-B49F-16EC-CAD3-834598C5D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360" y="2492896"/>
            <a:ext cx="5482910" cy="3390861"/>
          </a:xfrm>
          <a:prstGeom prst="rect">
            <a:avLst/>
          </a:prstGeom>
        </p:spPr>
      </p:pic>
      <p:pic>
        <p:nvPicPr>
          <p:cNvPr id="8" name="Picture 7">
            <a:extLst>
              <a:ext uri="{FF2B5EF4-FFF2-40B4-BE49-F238E27FC236}">
                <a16:creationId xmlns:a16="http://schemas.microsoft.com/office/drawing/2014/main" id="{1829CEB4-9B5B-0D7E-E73A-EE89D2A10F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7600" y="2348880"/>
            <a:ext cx="5483458" cy="3391200"/>
          </a:xfrm>
          <a:prstGeom prst="rect">
            <a:avLst/>
          </a:prstGeom>
        </p:spPr>
      </p:pic>
    </p:spTree>
    <p:extLst>
      <p:ext uri="{BB962C8B-B14F-4D97-AF65-F5344CB8AC3E}">
        <p14:creationId xmlns:p14="http://schemas.microsoft.com/office/powerpoint/2010/main" val="1843370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353CD8-9781-4A0A-CB22-26FEC2D2E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453" y="2453164"/>
            <a:ext cx="5482910" cy="3390861"/>
          </a:xfrm>
          <a:prstGeom prst="rect">
            <a:avLst/>
          </a:prstGeom>
        </p:spPr>
      </p:pic>
      <p:sp>
        <p:nvSpPr>
          <p:cNvPr id="4" name="Title 1">
            <a:extLst>
              <a:ext uri="{FF2B5EF4-FFF2-40B4-BE49-F238E27FC236}">
                <a16:creationId xmlns:a16="http://schemas.microsoft.com/office/drawing/2014/main" id="{F36BE268-9009-8452-EED9-0C76BF59A61D}"/>
              </a:ext>
            </a:extLst>
          </p:cNvPr>
          <p:cNvSpPr txBox="1">
            <a:spLocks/>
          </p:cNvSpPr>
          <p:nvPr/>
        </p:nvSpPr>
        <p:spPr>
          <a:xfrm>
            <a:off x="623392" y="476672"/>
            <a:ext cx="11449272"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bg1"/>
                </a:solidFill>
              </a:rPr>
              <a:t>Pre-ranked GSEA with R package </a:t>
            </a:r>
            <a:r>
              <a:rPr lang="en-US" sz="2800" dirty="0" err="1">
                <a:solidFill>
                  <a:schemeClr val="bg1"/>
                </a:solidFill>
              </a:rPr>
              <a:t>fgsea</a:t>
            </a:r>
            <a:r>
              <a:rPr lang="en-US" sz="2800" dirty="0">
                <a:solidFill>
                  <a:schemeClr val="bg1"/>
                </a:solidFill>
              </a:rPr>
              <a:t> – Enrichment Plot</a:t>
            </a:r>
          </a:p>
        </p:txBody>
      </p:sp>
      <p:cxnSp>
        <p:nvCxnSpPr>
          <p:cNvPr id="7" name="Straight Connector 6">
            <a:extLst>
              <a:ext uri="{FF2B5EF4-FFF2-40B4-BE49-F238E27FC236}">
                <a16:creationId xmlns:a16="http://schemas.microsoft.com/office/drawing/2014/main" id="{F7CC1D35-DCD9-A278-B1B1-DA3C48376B0D}"/>
              </a:ext>
            </a:extLst>
          </p:cNvPr>
          <p:cNvCxnSpPr/>
          <p:nvPr/>
        </p:nvCxnSpPr>
        <p:spPr>
          <a:xfrm>
            <a:off x="2624372" y="2083311"/>
            <a:ext cx="0" cy="3675698"/>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CD36A31-42A9-ED72-F801-AF635731FEB7}"/>
              </a:ext>
            </a:extLst>
          </p:cNvPr>
          <p:cNvSpPr txBox="1"/>
          <p:nvPr/>
        </p:nvSpPr>
        <p:spPr>
          <a:xfrm>
            <a:off x="7248128" y="5520720"/>
            <a:ext cx="4824536" cy="923330"/>
          </a:xfrm>
          <a:prstGeom prst="rect">
            <a:avLst/>
          </a:prstGeom>
          <a:noFill/>
        </p:spPr>
        <p:txBody>
          <a:bodyPr wrap="square" rtlCol="0">
            <a:spAutoFit/>
          </a:bodyPr>
          <a:lstStyle/>
          <a:p>
            <a:r>
              <a:rPr lang="en-US" dirty="0"/>
              <a:t>For more details check: </a:t>
            </a:r>
          </a:p>
          <a:p>
            <a:r>
              <a:rPr lang="en-US" dirty="0">
                <a:hlinkClick r:id="rId3"/>
              </a:rPr>
              <a:t>https://www.gsea-msigdb.org/gsea/doc/GSEAUserGuideFrame.html</a:t>
            </a:r>
            <a:r>
              <a:rPr lang="en-US" dirty="0"/>
              <a:t> </a:t>
            </a:r>
          </a:p>
        </p:txBody>
      </p:sp>
      <p:sp>
        <p:nvSpPr>
          <p:cNvPr id="9" name="TextBox 8">
            <a:extLst>
              <a:ext uri="{FF2B5EF4-FFF2-40B4-BE49-F238E27FC236}">
                <a16:creationId xmlns:a16="http://schemas.microsoft.com/office/drawing/2014/main" id="{3944DB2C-9791-B823-6F07-99CD7C1B3274}"/>
              </a:ext>
            </a:extLst>
          </p:cNvPr>
          <p:cNvSpPr txBox="1"/>
          <p:nvPr/>
        </p:nvSpPr>
        <p:spPr>
          <a:xfrm>
            <a:off x="2008725" y="5768660"/>
            <a:ext cx="1656183" cy="369332"/>
          </a:xfrm>
          <a:prstGeom prst="rect">
            <a:avLst/>
          </a:prstGeom>
          <a:noFill/>
        </p:spPr>
        <p:txBody>
          <a:bodyPr wrap="square" rtlCol="0">
            <a:spAutoFit/>
          </a:bodyPr>
          <a:lstStyle/>
          <a:p>
            <a:r>
              <a:rPr lang="en-US" dirty="0">
                <a:solidFill>
                  <a:srgbClr val="C00000"/>
                </a:solidFill>
              </a:rPr>
              <a:t>Rank at max</a:t>
            </a:r>
          </a:p>
        </p:txBody>
      </p:sp>
      <p:sp>
        <p:nvSpPr>
          <p:cNvPr id="10" name="TextBox 9">
            <a:extLst>
              <a:ext uri="{FF2B5EF4-FFF2-40B4-BE49-F238E27FC236}">
                <a16:creationId xmlns:a16="http://schemas.microsoft.com/office/drawing/2014/main" id="{2D90C065-3F79-A67F-192B-7A8E8164CE25}"/>
              </a:ext>
            </a:extLst>
          </p:cNvPr>
          <p:cNvSpPr txBox="1"/>
          <p:nvPr/>
        </p:nvSpPr>
        <p:spPr>
          <a:xfrm>
            <a:off x="2624370" y="2834472"/>
            <a:ext cx="1980219" cy="369332"/>
          </a:xfrm>
          <a:prstGeom prst="rect">
            <a:avLst/>
          </a:prstGeom>
          <a:noFill/>
        </p:spPr>
        <p:txBody>
          <a:bodyPr wrap="square" rtlCol="0">
            <a:spAutoFit/>
          </a:bodyPr>
          <a:lstStyle/>
          <a:p>
            <a:r>
              <a:rPr lang="en-US" dirty="0">
                <a:solidFill>
                  <a:srgbClr val="C00000"/>
                </a:solidFill>
              </a:rPr>
              <a:t>Enrichment score</a:t>
            </a:r>
          </a:p>
        </p:txBody>
      </p:sp>
      <p:sp>
        <p:nvSpPr>
          <p:cNvPr id="11" name="TextBox 10">
            <a:extLst>
              <a:ext uri="{FF2B5EF4-FFF2-40B4-BE49-F238E27FC236}">
                <a16:creationId xmlns:a16="http://schemas.microsoft.com/office/drawing/2014/main" id="{5EFAB75B-469D-DAF6-202C-15F04441D15D}"/>
              </a:ext>
            </a:extLst>
          </p:cNvPr>
          <p:cNvSpPr txBox="1"/>
          <p:nvPr/>
        </p:nvSpPr>
        <p:spPr>
          <a:xfrm>
            <a:off x="2008725" y="4009942"/>
            <a:ext cx="1980219" cy="369332"/>
          </a:xfrm>
          <a:prstGeom prst="rect">
            <a:avLst/>
          </a:prstGeom>
          <a:noFill/>
        </p:spPr>
        <p:txBody>
          <a:bodyPr wrap="square" rtlCol="0">
            <a:spAutoFit/>
          </a:bodyPr>
          <a:lstStyle/>
          <a:p>
            <a:r>
              <a:rPr lang="en-US" dirty="0">
                <a:solidFill>
                  <a:srgbClr val="C00000"/>
                </a:solidFill>
              </a:rPr>
              <a:t>Leading edge</a:t>
            </a:r>
          </a:p>
        </p:txBody>
      </p:sp>
      <p:sp>
        <p:nvSpPr>
          <p:cNvPr id="12" name="Right Brace 11">
            <a:extLst>
              <a:ext uri="{FF2B5EF4-FFF2-40B4-BE49-F238E27FC236}">
                <a16:creationId xmlns:a16="http://schemas.microsoft.com/office/drawing/2014/main" id="{52AF0A84-D1E7-146F-B5A1-8380B4CCCCCC}"/>
              </a:ext>
            </a:extLst>
          </p:cNvPr>
          <p:cNvSpPr/>
          <p:nvPr/>
        </p:nvSpPr>
        <p:spPr>
          <a:xfrm rot="16200000">
            <a:off x="2136531" y="4217060"/>
            <a:ext cx="360040" cy="615648"/>
          </a:xfrm>
          <a:prstGeom prst="rightBrace">
            <a:avLst/>
          </a:prstGeom>
          <a:ln w="158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19118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0626-3087-6785-11EA-0228110C16F2}"/>
              </a:ext>
            </a:extLst>
          </p:cNvPr>
          <p:cNvSpPr>
            <a:spLocks noGrp="1"/>
          </p:cNvSpPr>
          <p:nvPr>
            <p:ph type="title"/>
          </p:nvPr>
        </p:nvSpPr>
        <p:spPr/>
        <p:txBody>
          <a:bodyPr/>
          <a:lstStyle/>
          <a:p>
            <a:r>
              <a:rPr lang="en-US" dirty="0">
                <a:solidFill>
                  <a:schemeClr val="bg1"/>
                </a:solidFill>
              </a:rPr>
              <a:t>References</a:t>
            </a:r>
          </a:p>
        </p:txBody>
      </p:sp>
      <p:sp>
        <p:nvSpPr>
          <p:cNvPr id="3" name="TextBox 2">
            <a:extLst>
              <a:ext uri="{FF2B5EF4-FFF2-40B4-BE49-F238E27FC236}">
                <a16:creationId xmlns:a16="http://schemas.microsoft.com/office/drawing/2014/main" id="{CE3F8355-B104-1E5E-D530-DB799517F86C}"/>
              </a:ext>
            </a:extLst>
          </p:cNvPr>
          <p:cNvSpPr txBox="1"/>
          <p:nvPr/>
        </p:nvSpPr>
        <p:spPr>
          <a:xfrm>
            <a:off x="659396" y="1268760"/>
            <a:ext cx="10873208" cy="5355312"/>
          </a:xfrm>
          <a:prstGeom prst="rect">
            <a:avLst/>
          </a:prstGeom>
          <a:noFill/>
        </p:spPr>
        <p:txBody>
          <a:bodyPr wrap="square" rtlCol="0">
            <a:spAutoFit/>
          </a:bodyPr>
          <a:lstStyle/>
          <a:p>
            <a:r>
              <a:rPr lang="en-GB" dirty="0"/>
              <a:t>This is the original version of </a:t>
            </a:r>
            <a:r>
              <a:rPr lang="en-GB" dirty="0" err="1"/>
              <a:t>clusterProfiler</a:t>
            </a:r>
            <a:endParaRPr lang="en-GB" dirty="0"/>
          </a:p>
          <a:p>
            <a:pPr marL="285750" indent="-285750">
              <a:buFont typeface="Arial" panose="020B0604020202020204" pitchFamily="34" charset="0"/>
              <a:buChar char="•"/>
            </a:pPr>
            <a:r>
              <a:rPr lang="en-GB" dirty="0"/>
              <a:t>Yu G, Wang L, Han Y, He Q (2012). “</a:t>
            </a:r>
            <a:r>
              <a:rPr lang="en-GB" dirty="0" err="1"/>
              <a:t>clusterProfiler</a:t>
            </a:r>
            <a:r>
              <a:rPr lang="en-GB" dirty="0"/>
              <a:t>: an R package for comparing biological themes among gene clusters.” </a:t>
            </a:r>
            <a:r>
              <a:rPr lang="en-GB" i="1" dirty="0"/>
              <a:t>OMICS: A Journal of Integrative Biology</a:t>
            </a:r>
            <a:r>
              <a:rPr lang="en-GB" dirty="0"/>
              <a:t>, 16(5), 284-287. </a:t>
            </a:r>
            <a:r>
              <a:rPr lang="en-GB" dirty="0" err="1"/>
              <a:t>doi</a:t>
            </a:r>
            <a:r>
              <a:rPr lang="en-GB" dirty="0"/>
              <a:t>: </a:t>
            </a:r>
            <a:r>
              <a:rPr lang="en-GB" dirty="0">
                <a:hlinkClick r:id="rId3">
                  <a:extLst>
                    <a:ext uri="{A12FA001-AC4F-418D-AE19-62706E023703}">
                      <ahyp:hlinkClr xmlns:ahyp="http://schemas.microsoft.com/office/drawing/2018/hyperlinkcolor" val="tx"/>
                    </a:ext>
                  </a:extLst>
                </a:hlinkClick>
              </a:rPr>
              <a:t>10.1089/omi.2011.0118</a:t>
            </a:r>
            <a:r>
              <a:rPr lang="en-GB" dirty="0"/>
              <a:t>.</a:t>
            </a:r>
          </a:p>
          <a:p>
            <a:pPr marL="285750" indent="-285750">
              <a:buFont typeface="Arial" panose="020B0604020202020204" pitchFamily="34" charset="0"/>
              <a:buChar char="•"/>
            </a:pPr>
            <a:endParaRPr lang="en-GB" dirty="0"/>
          </a:p>
          <a:p>
            <a:r>
              <a:rPr lang="en-GB" dirty="0"/>
              <a:t>This is the newest version of </a:t>
            </a:r>
            <a:r>
              <a:rPr lang="en-GB" dirty="0" err="1"/>
              <a:t>clusterprofiler</a:t>
            </a:r>
            <a:r>
              <a:rPr lang="en-GB" dirty="0"/>
              <a:t> with a lot of visualisations and further functions</a:t>
            </a:r>
          </a:p>
          <a:p>
            <a:pPr marL="285750" indent="-285750">
              <a:buFont typeface="Arial" panose="020B0604020202020204" pitchFamily="34" charset="0"/>
              <a:buChar char="•"/>
            </a:pPr>
            <a:r>
              <a:rPr lang="en-GB" b="0" i="0" dirty="0">
                <a:effectLst/>
              </a:rPr>
              <a:t>Wu T, Hu E, Xu S, Chen M, Guo P, Dai Z, Feng T, Zhou L, Tang W, Zhan L, Fu x, Liu S, Bo X, Yu G (2021). “</a:t>
            </a:r>
            <a:r>
              <a:rPr lang="en-GB" b="0" i="0" dirty="0" err="1">
                <a:effectLst/>
              </a:rPr>
              <a:t>clusterProfiler</a:t>
            </a:r>
            <a:r>
              <a:rPr lang="en-GB" b="0" i="0" dirty="0">
                <a:effectLst/>
              </a:rPr>
              <a:t> 4.0: A universal enrichment tool for interpreting omics data.” </a:t>
            </a:r>
            <a:r>
              <a:rPr lang="en-GB" b="0" i="1" dirty="0">
                <a:effectLst/>
              </a:rPr>
              <a:t>The Innovation</a:t>
            </a:r>
            <a:r>
              <a:rPr lang="en-GB" b="0" i="0" dirty="0">
                <a:effectLst/>
              </a:rPr>
              <a:t>, </a:t>
            </a:r>
            <a:r>
              <a:rPr lang="en-GB" b="1" i="0" dirty="0">
                <a:effectLst/>
              </a:rPr>
              <a:t>2</a:t>
            </a:r>
            <a:r>
              <a:rPr lang="en-GB" b="0" i="0" dirty="0">
                <a:effectLst/>
              </a:rPr>
              <a:t>(3), 100141. </a:t>
            </a:r>
            <a:r>
              <a:rPr lang="en-GB" b="0" i="0" dirty="0" err="1">
                <a:effectLst/>
              </a:rPr>
              <a:t>doi</a:t>
            </a:r>
            <a:r>
              <a:rPr lang="en-GB" b="0" i="0" dirty="0">
                <a:effectLst/>
              </a:rPr>
              <a:t>: </a:t>
            </a:r>
            <a:r>
              <a:rPr lang="en-GB" b="0" i="0" dirty="0">
                <a:effectLst/>
                <a:hlinkClick r:id="rId4">
                  <a:extLst>
                    <a:ext uri="{A12FA001-AC4F-418D-AE19-62706E023703}">
                      <ahyp:hlinkClr xmlns:ahyp="http://schemas.microsoft.com/office/drawing/2018/hyperlinkcolor" val="tx"/>
                    </a:ext>
                  </a:extLst>
                </a:hlinkClick>
              </a:rPr>
              <a:t>10.1016/j.xinn.2021.100141</a:t>
            </a:r>
            <a:r>
              <a:rPr lang="en-GB" b="0" i="0" dirty="0">
                <a:effectLst/>
              </a:rPr>
              <a:t>.</a:t>
            </a:r>
            <a:endParaRPr lang="en-GB" dirty="0"/>
          </a:p>
          <a:p>
            <a:endParaRPr lang="en-GB" dirty="0"/>
          </a:p>
          <a:p>
            <a:pPr marL="285750" indent="-285750">
              <a:buFont typeface="Arial" panose="020B0604020202020204" pitchFamily="34" charset="0"/>
              <a:buChar char="•"/>
            </a:pPr>
            <a:r>
              <a:rPr lang="en-GB" i="0" dirty="0">
                <a:effectLst/>
              </a:rPr>
              <a:t>Subramanian</a:t>
            </a:r>
            <a:r>
              <a:rPr lang="en-GB" i="1" dirty="0">
                <a:effectLst/>
              </a:rPr>
              <a:t> et al </a:t>
            </a:r>
            <a:r>
              <a:rPr lang="en-GB" i="0" dirty="0">
                <a:effectLst/>
              </a:rPr>
              <a:t>(2005). Gene set enrichment analysis: A knowledge-based approach for interpreting genome-wide expression profiles. PNAS 102 (43) 15545-15550</a:t>
            </a:r>
          </a:p>
          <a:p>
            <a:endParaRPr lang="en-GB" dirty="0"/>
          </a:p>
          <a:p>
            <a:pPr marL="285750" indent="-285750">
              <a:buFont typeface="Arial" panose="020B0604020202020204" pitchFamily="34" charset="0"/>
              <a:buChar char="•"/>
            </a:pPr>
            <a:r>
              <a:rPr lang="en-GB" i="0" dirty="0" err="1">
                <a:effectLst/>
              </a:rPr>
              <a:t>Korotkevich</a:t>
            </a:r>
            <a:r>
              <a:rPr lang="en-GB" i="0" dirty="0">
                <a:effectLst/>
              </a:rPr>
              <a:t> G, </a:t>
            </a:r>
            <a:r>
              <a:rPr lang="en-GB" i="0" dirty="0" err="1">
                <a:effectLst/>
              </a:rPr>
              <a:t>Sukhov</a:t>
            </a:r>
            <a:r>
              <a:rPr lang="en-GB" i="0" dirty="0">
                <a:effectLst/>
              </a:rPr>
              <a:t> V, </a:t>
            </a:r>
            <a:r>
              <a:rPr lang="en-GB" i="0" dirty="0" err="1">
                <a:effectLst/>
              </a:rPr>
              <a:t>Sergushichev</a:t>
            </a:r>
            <a:r>
              <a:rPr lang="en-GB" i="0" dirty="0">
                <a:effectLst/>
              </a:rPr>
              <a:t> A (2019). “Fast gene set enrichment analysis.” </a:t>
            </a:r>
            <a:r>
              <a:rPr lang="en-GB" i="1" dirty="0" err="1">
                <a:effectLst/>
              </a:rPr>
              <a:t>bioRxiv</a:t>
            </a:r>
            <a:r>
              <a:rPr lang="en-GB" i="0" dirty="0">
                <a:effectLst/>
              </a:rPr>
              <a:t>. </a:t>
            </a:r>
            <a:r>
              <a:rPr lang="en-GB" i="0" dirty="0" err="1">
                <a:effectLst/>
              </a:rPr>
              <a:t>doi</a:t>
            </a:r>
            <a:r>
              <a:rPr lang="en-GB" i="0" dirty="0">
                <a:effectLst/>
              </a:rPr>
              <a:t>: </a:t>
            </a:r>
            <a:r>
              <a:rPr lang="en-GB" i="0" dirty="0">
                <a:effectLst/>
                <a:hlinkClick r:id="rId5">
                  <a:extLst>
                    <a:ext uri="{A12FA001-AC4F-418D-AE19-62706E023703}">
                      <ahyp:hlinkClr xmlns:ahyp="http://schemas.microsoft.com/office/drawing/2018/hyperlinkcolor" val="tx"/>
                    </a:ext>
                  </a:extLst>
                </a:hlinkClick>
              </a:rPr>
              <a:t>10.1101/060012</a:t>
            </a:r>
            <a:r>
              <a:rPr lang="en-GB" i="0" dirty="0">
                <a:effectLst/>
              </a:rPr>
              <a:t>, </a:t>
            </a:r>
            <a:r>
              <a:rPr lang="en-GB" i="0" dirty="0">
                <a:effectLst/>
                <a:hlinkClick r:id="rId6">
                  <a:extLst>
                    <a:ext uri="{A12FA001-AC4F-418D-AE19-62706E023703}">
                      <ahyp:hlinkClr xmlns:ahyp="http://schemas.microsoft.com/office/drawing/2018/hyperlinkcolor" val="tx"/>
                    </a:ext>
                  </a:extLst>
                </a:hlinkClick>
              </a:rPr>
              <a:t>http://biorxiv.org/content/early/2016/06/20/060012</a:t>
            </a:r>
            <a:r>
              <a:rPr lang="en-GB" i="0" dirty="0">
                <a:effectLst/>
              </a:rPr>
              <a:t>.</a:t>
            </a:r>
          </a:p>
          <a:p>
            <a:endParaRPr lang="en-GB" dirty="0"/>
          </a:p>
          <a:p>
            <a:r>
              <a:rPr lang="en-GB" dirty="0"/>
              <a:t>Further Reading</a:t>
            </a:r>
          </a:p>
          <a:p>
            <a:pPr marL="285750" indent="-285750" algn="l">
              <a:buFont typeface="Arial" panose="020B0604020202020204" pitchFamily="34" charset="0"/>
              <a:buChar char="•"/>
            </a:pPr>
            <a:r>
              <a:rPr lang="en-GB" i="0" dirty="0">
                <a:effectLst/>
              </a:rPr>
              <a:t>Pathway enrichment analysis and visualization of omics data using </a:t>
            </a:r>
            <a:r>
              <a:rPr lang="en-GB" i="0" dirty="0" err="1">
                <a:effectLst/>
              </a:rPr>
              <a:t>g:Profiler</a:t>
            </a:r>
            <a:r>
              <a:rPr lang="en-GB" i="0" dirty="0">
                <a:effectLst/>
              </a:rPr>
              <a:t>, GSEA, </a:t>
            </a:r>
            <a:r>
              <a:rPr lang="en-GB" i="0" dirty="0" err="1">
                <a:effectLst/>
              </a:rPr>
              <a:t>Cytoscape</a:t>
            </a:r>
            <a:r>
              <a:rPr lang="en-GB" i="0" dirty="0">
                <a:effectLst/>
              </a:rPr>
              <a:t> and </a:t>
            </a:r>
            <a:r>
              <a:rPr lang="en-GB" i="0" dirty="0" err="1">
                <a:effectLst/>
              </a:rPr>
              <a:t>EnrichmentMap</a:t>
            </a:r>
            <a:r>
              <a:rPr lang="en-GB" i="0" dirty="0">
                <a:effectLst/>
              </a:rPr>
              <a:t>. Nat </a:t>
            </a:r>
            <a:r>
              <a:rPr lang="en-GB" i="0" dirty="0" err="1">
                <a:effectLst/>
              </a:rPr>
              <a:t>Protoc</a:t>
            </a:r>
            <a:r>
              <a:rPr lang="en-GB" i="0" dirty="0">
                <a:effectLst/>
              </a:rPr>
              <a:t>. 2019 Feb;14(2):482-517. </a:t>
            </a:r>
            <a:r>
              <a:rPr lang="en-GB" i="0" dirty="0" err="1">
                <a:effectLst/>
              </a:rPr>
              <a:t>doi</a:t>
            </a:r>
            <a:r>
              <a:rPr lang="en-GB" i="0" dirty="0">
                <a:effectLst/>
              </a:rPr>
              <a:t>: 10.1038/s41596-018-0103-9</a:t>
            </a:r>
            <a:r>
              <a:rPr lang="en-GB" b="0" i="0" dirty="0">
                <a:effectLst/>
              </a:rPr>
              <a:t>. </a:t>
            </a:r>
            <a:endParaRPr lang="en-GB" b="1" i="0" dirty="0">
              <a:effectLst/>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15361602"/>
      </p:ext>
    </p:extLst>
  </p:cSld>
  <p:clrMapOvr>
    <a:masterClrMapping/>
  </p:clrMapOvr>
</p:sld>
</file>

<file path=ppt/theme/theme1.xml><?xml version="1.0" encoding="utf-8"?>
<a:theme xmlns:a="http://schemas.openxmlformats.org/drawingml/2006/main" name="Cancer Research UK">
  <a:themeElements>
    <a:clrScheme name="Cancer Research 2">
      <a:dk1>
        <a:srgbClr val="58595B"/>
      </a:dk1>
      <a:lt1>
        <a:sysClr val="window" lastClr="FFFFFF"/>
      </a:lt1>
      <a:dk2>
        <a:srgbClr val="2E008B"/>
      </a:dk2>
      <a:lt2>
        <a:srgbClr val="EC008C"/>
      </a:lt2>
      <a:accent1>
        <a:srgbClr val="00B6ED"/>
      </a:accent1>
      <a:accent2>
        <a:srgbClr val="A7A8AA"/>
      </a:accent2>
      <a:accent3>
        <a:srgbClr val="AB99D1"/>
      </a:accent3>
      <a:accent4>
        <a:srgbClr val="F799D1"/>
      </a:accent4>
      <a:accent5>
        <a:srgbClr val="99E2F8"/>
      </a:accent5>
      <a:accent6>
        <a:srgbClr val="D9D9D8"/>
      </a:accent6>
      <a:hlink>
        <a:srgbClr val="AB99D1"/>
      </a:hlink>
      <a:folHlink>
        <a:srgbClr val="99E2F8"/>
      </a:folHlink>
    </a:clrScheme>
    <a:fontScheme name="Cancer Research UK - specialist">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cer Research UK (Specialist)_16x9 template_draft4" id="{490E78E8-C2C9-433E-86D7-22AA4C5D3088}" vid="{15F283FA-0709-499B-976B-8A074D77DAEE}"/>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11847</TotalTime>
  <Words>2049</Words>
  <Application>Microsoft Macintosh PowerPoint</Application>
  <PresentationFormat>Widescreen</PresentationFormat>
  <Paragraphs>147</Paragraphs>
  <Slides>21</Slides>
  <Notes>6</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21</vt:i4>
      </vt:variant>
    </vt:vector>
  </HeadingPairs>
  <TitlesOfParts>
    <vt:vector size="32" baseType="lpstr">
      <vt:lpstr>Arial</vt:lpstr>
      <vt:lpstr>Calibri</vt:lpstr>
      <vt:lpstr>Calibri Light</vt:lpstr>
      <vt:lpstr>Lato</vt:lpstr>
      <vt:lpstr>system-ui</vt:lpstr>
      <vt:lpstr>Verdana</vt:lpstr>
      <vt:lpstr>Cancer Research UK</vt:lpstr>
      <vt:lpstr>Custom Design</vt:lpstr>
      <vt:lpstr>2_Custom Design</vt:lpstr>
      <vt:lpstr>3_Custom Design</vt:lpstr>
      <vt:lpstr>1_Custom Design</vt:lpstr>
      <vt:lpstr>PowerPoint Presentation</vt:lpstr>
      <vt:lpstr>Gene Set Analysis</vt:lpstr>
      <vt:lpstr>Gene-set collections</vt:lpstr>
      <vt:lpstr>A gene-set example</vt:lpstr>
      <vt:lpstr>Implementation of Gene Set Analysis – Online Platforms </vt:lpstr>
      <vt:lpstr>Implementation of Gene Set Analysis – R packages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formatting instructions</dc:title>
  <dc:creator>Alex Allaway</dc:creator>
  <cp:lastModifiedBy>Eleni Maniati</cp:lastModifiedBy>
  <cp:revision>365</cp:revision>
  <dcterms:created xsi:type="dcterms:W3CDTF">2018-10-02T14:26:27Z</dcterms:created>
  <dcterms:modified xsi:type="dcterms:W3CDTF">2023-11-19T22:31:05Z</dcterms:modified>
</cp:coreProperties>
</file>